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0.xml" ContentType="application/vnd.openxmlformats-officedocument.presentationml.slide+xml"/>
  <Override PartName="/ppt/slides/slide71.xml" ContentType="application/vnd.openxmlformats-officedocument.presentationml.slide+xml"/>
  <Override PartName="/ppt/slides/slide72.xml" ContentType="application/vnd.openxmlformats-officedocument.presentationml.slide+xml"/>
  <Override PartName="/ppt/slides/slide73.xml" ContentType="application/vnd.openxmlformats-officedocument.presentationml.slide+xml"/>
  <Override PartName="/ppt/slides/slide74.xml" ContentType="application/vnd.openxmlformats-officedocument.presentationml.slide+xml"/>
  <Override PartName="/ppt/slides/slide75.xml" ContentType="application/vnd.openxmlformats-officedocument.presentationml.slide+xml"/>
  <Override PartName="/ppt/slides/slide76.xml" ContentType="application/vnd.openxmlformats-officedocument.presentationml.slide+xml"/>
  <Override PartName="/ppt/slides/slide77.xml" ContentType="application/vnd.openxmlformats-officedocument.presentationml.slide+xml"/>
  <Override PartName="/ppt/slides/slide78.xml" ContentType="application/vnd.openxmlformats-officedocument.presentationml.slide+xml"/>
  <Override PartName="/ppt/slides/slide79.xml" ContentType="application/vnd.openxmlformats-officedocument.presentationml.slide+xml"/>
  <Override PartName="/ppt/slides/slide80.xml" ContentType="application/vnd.openxmlformats-officedocument.presentationml.slide+xml"/>
  <Override PartName="/ppt/slides/slide81.xml" ContentType="application/vnd.openxmlformats-officedocument.presentationml.slide+xml"/>
  <Override PartName="/ppt/slides/slide82.xml" ContentType="application/vnd.openxmlformats-officedocument.presentationml.slide+xml"/>
  <Override PartName="/ppt/slides/slide83.xml" ContentType="application/vnd.openxmlformats-officedocument.presentationml.slide+xml"/>
  <Override PartName="/ppt/slides/slide84.xml" ContentType="application/vnd.openxmlformats-officedocument.presentationml.slide+xml"/>
  <Override PartName="/ppt/slides/slide85.xml" ContentType="application/vnd.openxmlformats-officedocument.presentationml.slide+xml"/>
  <Override PartName="/ppt/slides/slide86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88"/>
  </p:notesMasterIdLst>
  <p:sldIdLst>
    <p:sldId id="375" r:id="rId2"/>
    <p:sldId id="260" r:id="rId3"/>
    <p:sldId id="376" r:id="rId4"/>
    <p:sldId id="379" r:id="rId5"/>
    <p:sldId id="380" r:id="rId6"/>
    <p:sldId id="377" r:id="rId7"/>
    <p:sldId id="378" r:id="rId8"/>
    <p:sldId id="446" r:id="rId9"/>
    <p:sldId id="445" r:id="rId10"/>
    <p:sldId id="528" r:id="rId11"/>
    <p:sldId id="428" r:id="rId12"/>
    <p:sldId id="418" r:id="rId13"/>
    <p:sldId id="381" r:id="rId14"/>
    <p:sldId id="382" r:id="rId15"/>
    <p:sldId id="386" r:id="rId16"/>
    <p:sldId id="383" r:id="rId17"/>
    <p:sldId id="419" r:id="rId18"/>
    <p:sldId id="384" r:id="rId19"/>
    <p:sldId id="387" r:id="rId20"/>
    <p:sldId id="388" r:id="rId21"/>
    <p:sldId id="264" r:id="rId22"/>
    <p:sldId id="393" r:id="rId23"/>
    <p:sldId id="394" r:id="rId24"/>
    <p:sldId id="420" r:id="rId25"/>
    <p:sldId id="396" r:id="rId26"/>
    <p:sldId id="392" r:id="rId27"/>
    <p:sldId id="279" r:id="rId28"/>
    <p:sldId id="280" r:id="rId29"/>
    <p:sldId id="273" r:id="rId30"/>
    <p:sldId id="270" r:id="rId31"/>
    <p:sldId id="281" r:id="rId32"/>
    <p:sldId id="421" r:id="rId33"/>
    <p:sldId id="389" r:id="rId34"/>
    <p:sldId id="298" r:id="rId35"/>
    <p:sldId id="422" r:id="rId36"/>
    <p:sldId id="390" r:id="rId37"/>
    <p:sldId id="532" r:id="rId38"/>
    <p:sldId id="531" r:id="rId39"/>
    <p:sldId id="533" r:id="rId40"/>
    <p:sldId id="534" r:id="rId41"/>
    <p:sldId id="538" r:id="rId42"/>
    <p:sldId id="535" r:id="rId43"/>
    <p:sldId id="537" r:id="rId44"/>
    <p:sldId id="529" r:id="rId45"/>
    <p:sldId id="540" r:id="rId46"/>
    <p:sldId id="539" r:id="rId47"/>
    <p:sldId id="397" r:id="rId48"/>
    <p:sldId id="402" r:id="rId49"/>
    <p:sldId id="423" r:id="rId50"/>
    <p:sldId id="530" r:id="rId51"/>
    <p:sldId id="398" r:id="rId52"/>
    <p:sldId id="399" r:id="rId53"/>
    <p:sldId id="400" r:id="rId54"/>
    <p:sldId id="401" r:id="rId55"/>
    <p:sldId id="403" r:id="rId56"/>
    <p:sldId id="404" r:id="rId57"/>
    <p:sldId id="424" r:id="rId58"/>
    <p:sldId id="405" r:id="rId59"/>
    <p:sldId id="406" r:id="rId60"/>
    <p:sldId id="425" r:id="rId61"/>
    <p:sldId id="429" r:id="rId62"/>
    <p:sldId id="407" r:id="rId63"/>
    <p:sldId id="444" r:id="rId64"/>
    <p:sldId id="408" r:id="rId65"/>
    <p:sldId id="426" r:id="rId66"/>
    <p:sldId id="409" r:id="rId67"/>
    <p:sldId id="410" r:id="rId68"/>
    <p:sldId id="411" r:id="rId69"/>
    <p:sldId id="412" r:id="rId70"/>
    <p:sldId id="413" r:id="rId71"/>
    <p:sldId id="414" r:id="rId72"/>
    <p:sldId id="415" r:id="rId73"/>
    <p:sldId id="416" r:id="rId74"/>
    <p:sldId id="427" r:id="rId75"/>
    <p:sldId id="431" r:id="rId76"/>
    <p:sldId id="432" r:id="rId77"/>
    <p:sldId id="434" r:id="rId78"/>
    <p:sldId id="435" r:id="rId79"/>
    <p:sldId id="436" r:id="rId80"/>
    <p:sldId id="439" r:id="rId81"/>
    <p:sldId id="438" r:id="rId82"/>
    <p:sldId id="441" r:id="rId83"/>
    <p:sldId id="442" r:id="rId84"/>
    <p:sldId id="443" r:id="rId85"/>
    <p:sldId id="430" r:id="rId86"/>
    <p:sldId id="417" r:id="rId87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7783" autoAdjust="0"/>
    <p:restoredTop sz="94660"/>
  </p:normalViewPr>
  <p:slideViewPr>
    <p:cSldViewPr snapToGrid="0">
      <p:cViewPr varScale="1">
        <p:scale>
          <a:sx n="72" d="100"/>
          <a:sy n="72" d="100"/>
        </p:scale>
        <p:origin x="62" y="53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26" Type="http://schemas.openxmlformats.org/officeDocument/2006/relationships/slide" Target="slides/slide25.xml"/><Relationship Id="rId21" Type="http://schemas.openxmlformats.org/officeDocument/2006/relationships/slide" Target="slides/slide20.xml"/><Relationship Id="rId42" Type="http://schemas.openxmlformats.org/officeDocument/2006/relationships/slide" Target="slides/slide41.xml"/><Relationship Id="rId47" Type="http://schemas.openxmlformats.org/officeDocument/2006/relationships/slide" Target="slides/slide46.xml"/><Relationship Id="rId63" Type="http://schemas.openxmlformats.org/officeDocument/2006/relationships/slide" Target="slides/slide62.xml"/><Relationship Id="rId68" Type="http://schemas.openxmlformats.org/officeDocument/2006/relationships/slide" Target="slides/slide67.xml"/><Relationship Id="rId84" Type="http://schemas.openxmlformats.org/officeDocument/2006/relationships/slide" Target="slides/slide83.xml"/><Relationship Id="rId89" Type="http://schemas.openxmlformats.org/officeDocument/2006/relationships/presProps" Target="presProps.xml"/><Relationship Id="rId16" Type="http://schemas.openxmlformats.org/officeDocument/2006/relationships/slide" Target="slides/slide15.xml"/><Relationship Id="rId11" Type="http://schemas.openxmlformats.org/officeDocument/2006/relationships/slide" Target="slides/slide10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53" Type="http://schemas.openxmlformats.org/officeDocument/2006/relationships/slide" Target="slides/slide52.xml"/><Relationship Id="rId58" Type="http://schemas.openxmlformats.org/officeDocument/2006/relationships/slide" Target="slides/slide57.xml"/><Relationship Id="rId74" Type="http://schemas.openxmlformats.org/officeDocument/2006/relationships/slide" Target="slides/slide73.xml"/><Relationship Id="rId79" Type="http://schemas.openxmlformats.org/officeDocument/2006/relationships/slide" Target="slides/slide78.xml"/><Relationship Id="rId5" Type="http://schemas.openxmlformats.org/officeDocument/2006/relationships/slide" Target="slides/slide4.xml"/><Relationship Id="rId90" Type="http://schemas.openxmlformats.org/officeDocument/2006/relationships/viewProps" Target="viewProps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slide" Target="slides/slide42.xml"/><Relationship Id="rId48" Type="http://schemas.openxmlformats.org/officeDocument/2006/relationships/slide" Target="slides/slide47.xml"/><Relationship Id="rId56" Type="http://schemas.openxmlformats.org/officeDocument/2006/relationships/slide" Target="slides/slide55.xml"/><Relationship Id="rId64" Type="http://schemas.openxmlformats.org/officeDocument/2006/relationships/slide" Target="slides/slide63.xml"/><Relationship Id="rId69" Type="http://schemas.openxmlformats.org/officeDocument/2006/relationships/slide" Target="slides/slide68.xml"/><Relationship Id="rId77" Type="http://schemas.openxmlformats.org/officeDocument/2006/relationships/slide" Target="slides/slide76.xml"/><Relationship Id="rId8" Type="http://schemas.openxmlformats.org/officeDocument/2006/relationships/slide" Target="slides/slide7.xml"/><Relationship Id="rId51" Type="http://schemas.openxmlformats.org/officeDocument/2006/relationships/slide" Target="slides/slide50.xml"/><Relationship Id="rId72" Type="http://schemas.openxmlformats.org/officeDocument/2006/relationships/slide" Target="slides/slide71.xml"/><Relationship Id="rId80" Type="http://schemas.openxmlformats.org/officeDocument/2006/relationships/slide" Target="slides/slide79.xml"/><Relationship Id="rId85" Type="http://schemas.openxmlformats.org/officeDocument/2006/relationships/slide" Target="slides/slide84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slide" Target="slides/slide45.xml"/><Relationship Id="rId59" Type="http://schemas.openxmlformats.org/officeDocument/2006/relationships/slide" Target="slides/slide58.xml"/><Relationship Id="rId67" Type="http://schemas.openxmlformats.org/officeDocument/2006/relationships/slide" Target="slides/slide66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54" Type="http://schemas.openxmlformats.org/officeDocument/2006/relationships/slide" Target="slides/slide53.xml"/><Relationship Id="rId62" Type="http://schemas.openxmlformats.org/officeDocument/2006/relationships/slide" Target="slides/slide61.xml"/><Relationship Id="rId70" Type="http://schemas.openxmlformats.org/officeDocument/2006/relationships/slide" Target="slides/slide69.xml"/><Relationship Id="rId75" Type="http://schemas.openxmlformats.org/officeDocument/2006/relationships/slide" Target="slides/slide74.xml"/><Relationship Id="rId83" Type="http://schemas.openxmlformats.org/officeDocument/2006/relationships/slide" Target="slides/slide82.xml"/><Relationship Id="rId88" Type="http://schemas.openxmlformats.org/officeDocument/2006/relationships/notesMaster" Target="notesMasters/notesMaster1.xml"/><Relationship Id="rId91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openxmlformats.org/officeDocument/2006/relationships/slide" Target="slides/slide48.xml"/><Relationship Id="rId57" Type="http://schemas.openxmlformats.org/officeDocument/2006/relationships/slide" Target="slides/slide56.xml"/><Relationship Id="rId10" Type="http://schemas.openxmlformats.org/officeDocument/2006/relationships/slide" Target="slides/slide9.xml"/><Relationship Id="rId31" Type="http://schemas.openxmlformats.org/officeDocument/2006/relationships/slide" Target="slides/slide30.xml"/><Relationship Id="rId44" Type="http://schemas.openxmlformats.org/officeDocument/2006/relationships/slide" Target="slides/slide43.xml"/><Relationship Id="rId52" Type="http://schemas.openxmlformats.org/officeDocument/2006/relationships/slide" Target="slides/slide51.xml"/><Relationship Id="rId60" Type="http://schemas.openxmlformats.org/officeDocument/2006/relationships/slide" Target="slides/slide59.xml"/><Relationship Id="rId65" Type="http://schemas.openxmlformats.org/officeDocument/2006/relationships/slide" Target="slides/slide64.xml"/><Relationship Id="rId73" Type="http://schemas.openxmlformats.org/officeDocument/2006/relationships/slide" Target="slides/slide72.xml"/><Relationship Id="rId78" Type="http://schemas.openxmlformats.org/officeDocument/2006/relationships/slide" Target="slides/slide77.xml"/><Relationship Id="rId81" Type="http://schemas.openxmlformats.org/officeDocument/2006/relationships/slide" Target="slides/slide80.xml"/><Relationship Id="rId86" Type="http://schemas.openxmlformats.org/officeDocument/2006/relationships/slide" Target="slides/slide85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9" Type="http://schemas.openxmlformats.org/officeDocument/2006/relationships/slide" Target="slides/slide38.xml"/><Relationship Id="rId34" Type="http://schemas.openxmlformats.org/officeDocument/2006/relationships/slide" Target="slides/slide33.xml"/><Relationship Id="rId50" Type="http://schemas.openxmlformats.org/officeDocument/2006/relationships/slide" Target="slides/slide49.xml"/><Relationship Id="rId55" Type="http://schemas.openxmlformats.org/officeDocument/2006/relationships/slide" Target="slides/slide54.xml"/><Relationship Id="rId76" Type="http://schemas.openxmlformats.org/officeDocument/2006/relationships/slide" Target="slides/slide75.xml"/><Relationship Id="rId7" Type="http://schemas.openxmlformats.org/officeDocument/2006/relationships/slide" Target="slides/slide6.xml"/><Relationship Id="rId71" Type="http://schemas.openxmlformats.org/officeDocument/2006/relationships/slide" Target="slides/slide70.xml"/><Relationship Id="rId92" Type="http://schemas.openxmlformats.org/officeDocument/2006/relationships/tableStyles" Target="tableStyles.xml"/><Relationship Id="rId2" Type="http://schemas.openxmlformats.org/officeDocument/2006/relationships/slide" Target="slides/slide1.xml"/><Relationship Id="rId29" Type="http://schemas.openxmlformats.org/officeDocument/2006/relationships/slide" Target="slides/slide28.xml"/><Relationship Id="rId24" Type="http://schemas.openxmlformats.org/officeDocument/2006/relationships/slide" Target="slides/slide23.xml"/><Relationship Id="rId40" Type="http://schemas.openxmlformats.org/officeDocument/2006/relationships/slide" Target="slides/slide39.xml"/><Relationship Id="rId45" Type="http://schemas.openxmlformats.org/officeDocument/2006/relationships/slide" Target="slides/slide44.xml"/><Relationship Id="rId66" Type="http://schemas.openxmlformats.org/officeDocument/2006/relationships/slide" Target="slides/slide65.xml"/><Relationship Id="rId87" Type="http://schemas.openxmlformats.org/officeDocument/2006/relationships/slide" Target="slides/slide86.xml"/><Relationship Id="rId61" Type="http://schemas.openxmlformats.org/officeDocument/2006/relationships/slide" Target="slides/slide60.xml"/><Relationship Id="rId82" Type="http://schemas.openxmlformats.org/officeDocument/2006/relationships/slide" Target="slides/slide81.xml"/><Relationship Id="rId19" Type="http://schemas.openxmlformats.org/officeDocument/2006/relationships/slide" Target="slides/slide18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CB349550-A506-4F63-B107-47360B8C37AC}" type="datetimeFigureOut">
              <a:rPr lang="en-US" smtClean="0"/>
              <a:t>4/28/2026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28B730B6-965F-4F9E-8ED1-1D018A85F51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85823216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6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7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9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0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1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2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3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5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6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0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1.xml"/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2.xml"/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3.xml"/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4.xml"/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5.xml"/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6.xml"/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8.xml"/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9.xml"/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1.xml"/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2.xml"/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3.xml"/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4.xml"/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6.xml"/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7.xml"/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8.xml"/><Relationship Id="rId1" Type="http://schemas.openxmlformats.org/officeDocument/2006/relationships/notesMaster" Target="../notesMasters/notesMaster1.xml"/></Relationships>
</file>

<file path=ppt/notesSlides/_rels/notesSlide4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9.xml"/><Relationship Id="rId1" Type="http://schemas.openxmlformats.org/officeDocument/2006/relationships/notesMaster" Target="../notesMasters/notesMaster1.xml"/></Relationships>
</file>

<file path=ppt/notesSlides/_rels/notesSlide4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0.xml"/><Relationship Id="rId1" Type="http://schemas.openxmlformats.org/officeDocument/2006/relationships/notesMaster" Target="../notesMasters/notesMaster1.xml"/></Relationships>
</file>

<file path=ppt/notesSlides/_rels/notesSlide4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1.xml"/><Relationship Id="rId1" Type="http://schemas.openxmlformats.org/officeDocument/2006/relationships/notesMaster" Target="../notesMasters/notesMaster1.xml"/></Relationships>
</file>

<file path=ppt/notesSlides/_rels/notesSlide4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2.xml"/><Relationship Id="rId1" Type="http://schemas.openxmlformats.org/officeDocument/2006/relationships/notesMaster" Target="../notesMasters/notesMaster1.xml"/></Relationships>
</file>

<file path=ppt/notesSlides/_rels/notesSlide4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0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 err="1"/>
              <a:t>ima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8B730B6-965F-4F9E-8ED1-1D018A85F51D}" type="slidenum">
              <a:rPr lang="en-US" smtClean="0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46675667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F4E411E-54D9-AFB1-8132-559B62CD49A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A20D6939-F7A1-1F80-8E46-E45C7BD1A32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6DF4A0E3-6039-9EBE-CD19-D261F95FCEE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 err="1"/>
              <a:t>ima</a:t>
            </a: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61907DE-5BBE-A9ED-EAC4-20169AD5B658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8B730B6-965F-4F9E-8ED1-1D018A85F51D}" type="slidenum">
              <a:rPr lang="en-US" smtClean="0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89954079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E88A960-A678-C792-BEA4-ACA220CCCF6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488C3BA1-B87D-B8C1-0E85-4E29ED2AE6E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7C6AC10E-9A4C-6CC0-662E-E7A010DA844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 err="1"/>
              <a:t>ima</a:t>
            </a: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1FC19C8-D06A-5D29-C27A-F3329CD543FD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8B730B6-965F-4F9E-8ED1-1D018A85F51D}" type="slidenum">
              <a:rPr lang="en-US" smtClean="0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35151615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39418F4-D5AA-08FC-7327-45EF6D1652E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ACC8F997-34C5-610F-0139-93B37C34245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FE0856FE-7188-BD29-3B17-C831AAB34D1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 err="1"/>
              <a:t>ima</a:t>
            </a: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FF1F74B-F27E-321E-CEC8-415CED4DC704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8B730B6-965F-4F9E-8ED1-1D018A85F51D}" type="slidenum">
              <a:rPr lang="en-US" smtClean="0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40984623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 err="1"/>
              <a:t>ima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8B730B6-965F-4F9E-8ED1-1D018A85F51D}" type="slidenum">
              <a:rPr lang="en-US" smtClean="0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60100414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 err="1"/>
              <a:t>ima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8B730B6-965F-4F9E-8ED1-1D018A85F51D}" type="slidenum">
              <a:rPr lang="en-US" smtClean="0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17209670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 err="1"/>
              <a:t>ima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8B730B6-965F-4F9E-8ED1-1D018A85F51D}" type="slidenum">
              <a:rPr lang="en-US" smtClean="0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6840459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 err="1"/>
              <a:t>ima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8B730B6-965F-4F9E-8ED1-1D018A85F51D}" type="slidenum">
              <a:rPr lang="en-US" smtClean="0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07955774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 err="1"/>
              <a:t>ima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8B730B6-965F-4F9E-8ED1-1D018A85F51D}" type="slidenum">
              <a:rPr lang="en-US" smtClean="0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9916847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 err="1"/>
              <a:t>ima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8B730B6-965F-4F9E-8ED1-1D018A85F51D}" type="slidenum">
              <a:rPr lang="en-US" smtClean="0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06651107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 err="1"/>
              <a:t>ima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8B730B6-965F-4F9E-8ED1-1D018A85F51D}" type="slidenum">
              <a:rPr lang="en-US" smtClean="0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8085875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 err="1"/>
              <a:t>ima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8B730B6-965F-4F9E-8ED1-1D018A85F51D}" type="slidenum">
              <a:rPr lang="en-US" smtClean="0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337896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 err="1"/>
              <a:t>ima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8B730B6-965F-4F9E-8ED1-1D018A85F51D}" type="slidenum">
              <a:rPr lang="en-US" smtClean="0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04547412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 err="1"/>
              <a:t>ima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8B730B6-965F-4F9E-8ED1-1D018A85F51D}" type="slidenum">
              <a:rPr lang="en-US" smtClean="0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85768535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 err="1"/>
              <a:t>ima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8B730B6-965F-4F9E-8ED1-1D018A85F51D}" type="slidenum">
              <a:rPr lang="en-US" smtClean="0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2656983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CBBF29F-7850-875E-5531-2800C2CDDD6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0A8EC66A-542A-4132-E24C-CAD019292BB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0C1F7691-FEB1-A93B-D5DB-56DC440B30F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 err="1"/>
              <a:t>ima</a:t>
            </a: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B65DB07-9628-99FC-1CE8-C50E0D9B2F1C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8B730B6-965F-4F9E-8ED1-1D018A85F51D}" type="slidenum">
              <a:rPr lang="en-US" smtClean="0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0787870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4B81E3E-DA88-999F-BFFB-E4C9D945547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93E7E726-19FF-76C1-822B-20D825916B5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0F67A1F1-9C29-8247-112A-266540B2757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 err="1"/>
              <a:t>ima</a:t>
            </a: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EA46A1B-06B0-F3DA-A754-2E196ED4AE19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8B730B6-965F-4F9E-8ED1-1D018A85F51D}" type="slidenum">
              <a:rPr lang="en-US" smtClean="0"/>
              <a:t>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0454836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5F487D6-DD2B-1E10-4E30-74B5ED1750A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33691441-52A8-7B8E-0F66-6A42F14CFA9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847181FA-2479-F335-F945-67BACEEBFE2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 err="1"/>
              <a:t>ima</a:t>
            </a: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640B747-3313-C97F-900F-CA48106B67F5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8B730B6-965F-4F9E-8ED1-1D018A85F51D}" type="slidenum">
              <a:rPr lang="en-US" smtClean="0"/>
              <a:t>40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06667217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611963B-761C-24B1-67CF-E29861C98C0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4E6DEA47-3317-41F1-3769-E4019E63761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D0294F34-4AC0-9BF8-3FA8-E8F35BBBEE5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 err="1"/>
              <a:t>ima</a:t>
            </a: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6BC7355-B75D-B376-DC27-7319420A7797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8B730B6-965F-4F9E-8ED1-1D018A85F51D}" type="slidenum">
              <a:rPr lang="en-US" smtClean="0"/>
              <a:t>41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7527022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A75326F-3E0C-44C1-C80C-BFAB96656C9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03DD0657-2BF7-FFD4-02DC-3F67DC2FD9E2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C0778C58-9EDC-B291-8841-9F69EF03C6F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 err="1"/>
              <a:t>ima</a:t>
            </a: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96C9F30-E0F5-B57F-C12E-2FFF20561B84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8B730B6-965F-4F9E-8ED1-1D018A85F51D}" type="slidenum">
              <a:rPr lang="en-US" smtClean="0"/>
              <a:t>42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63064472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9A586E2-516A-2962-6D04-F3FBF8E472E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7D9A6713-5092-9584-B05B-E522C8A10D5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E1F7F03A-ECBC-3045-B83A-308283B1F72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 err="1"/>
              <a:t>ima</a:t>
            </a: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DB0DFDF-E8E2-D11D-642B-261035E07A14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8B730B6-965F-4F9E-8ED1-1D018A85F51D}" type="slidenum">
              <a:rPr lang="en-US" smtClean="0"/>
              <a:t>43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57986060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1EAC342-6F28-8C3F-FE88-64805D146AF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206B1756-4C3F-5144-F332-F7442E32DEF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8A66DEF7-BD47-2706-FE6E-89EB03D932D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 err="1"/>
              <a:t>ima</a:t>
            </a: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0307DBA-3398-A61D-23A6-3948B264EECE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8B730B6-965F-4F9E-8ED1-1D018A85F51D}" type="slidenum">
              <a:rPr lang="en-US" smtClean="0"/>
              <a:t>45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31439726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8722E56-AA2A-939C-D977-83D7B9D2B27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18B1C5E8-3839-1AD8-2F78-2CE2D71AC41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58C227E8-407A-25DD-C56F-48B196D7AB9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 err="1"/>
              <a:t>ima</a:t>
            </a: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009E8B3-3B03-22B7-53A9-209D75E03904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8B730B6-965F-4F9E-8ED1-1D018A85F51D}" type="slidenum">
              <a:rPr lang="en-US" smtClean="0"/>
              <a:t>46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763682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157B315-1466-71D0-E2CA-7239637BC54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3D971C77-F6D9-0DC0-0B93-4EE4451B39F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8A667301-94E6-3E69-F823-B587A6AC809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 err="1"/>
              <a:t>ima</a:t>
            </a: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C179C06-33BC-0F43-90A8-30310A80F5AB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8B730B6-965F-4F9E-8ED1-1D018A85F51D}" type="slidenum">
              <a:rPr lang="en-US" smtClean="0"/>
              <a:t>50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85014473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 err="1"/>
              <a:t>ima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8B730B6-965F-4F9E-8ED1-1D018A85F51D}" type="slidenum">
              <a:rPr lang="en-US" smtClean="0"/>
              <a:t>51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14940967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 err="1"/>
              <a:t>ima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8B730B6-965F-4F9E-8ED1-1D018A85F51D}" type="slidenum">
              <a:rPr lang="en-US" smtClean="0"/>
              <a:t>52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93370946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 err="1"/>
              <a:t>ima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8B730B6-965F-4F9E-8ED1-1D018A85F51D}" type="slidenum">
              <a:rPr lang="en-US" smtClean="0"/>
              <a:t>53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27495102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 err="1"/>
              <a:t>ima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8B730B6-965F-4F9E-8ED1-1D018A85F51D}" type="slidenum">
              <a:rPr lang="en-US" smtClean="0"/>
              <a:t>54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45857627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 err="1"/>
              <a:t>ima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8B730B6-965F-4F9E-8ED1-1D018A85F51D}" type="slidenum">
              <a:rPr lang="en-US" smtClean="0"/>
              <a:t>55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3894283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 err="1"/>
              <a:t>ima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8B730B6-965F-4F9E-8ED1-1D018A85F51D}" type="slidenum">
              <a:rPr lang="en-US" smtClean="0"/>
              <a:t>56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93671517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 err="1"/>
              <a:t>ima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8B730B6-965F-4F9E-8ED1-1D018A85F51D}" type="slidenum">
              <a:rPr lang="en-US" smtClean="0"/>
              <a:t>58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25084409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 err="1"/>
              <a:t>ima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8B730B6-965F-4F9E-8ED1-1D018A85F51D}" type="slidenum">
              <a:rPr lang="en-US" smtClean="0"/>
              <a:t>59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01144480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4F4552D-959F-6D5F-0E26-0132092E77D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005F9374-47A7-199A-9D02-EA3A5328E67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3B5FB487-ECCA-1CD5-E1A1-10B76D78334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 err="1"/>
              <a:t>ima</a:t>
            </a: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6F70791-EC9D-B8D2-6C69-AAF3010ADF2D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8B730B6-965F-4F9E-8ED1-1D018A85F51D}" type="slidenum">
              <a:rPr lang="en-US" smtClean="0"/>
              <a:t>61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00602073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 err="1"/>
              <a:t>ima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8B730B6-965F-4F9E-8ED1-1D018A85F51D}" type="slidenum">
              <a:rPr lang="en-US" smtClean="0"/>
              <a:t>62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23075745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BC2CDA5-99ED-5054-D172-8FF3D4696C4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B5F64755-D677-0642-4136-FBF50ED4080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08C667FC-403B-F401-0FF4-6F97A0D8705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 err="1"/>
              <a:t>ima</a:t>
            </a: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C7FB023-4F45-F1FF-580E-6AD43F3320EC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8B730B6-965F-4F9E-8ED1-1D018A85F51D}" type="slidenum">
              <a:rPr lang="en-US" smtClean="0"/>
              <a:t>63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2336405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 err="1"/>
              <a:t>ima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8B730B6-965F-4F9E-8ED1-1D018A85F51D}" type="slidenum">
              <a:rPr lang="en-US" smtClean="0"/>
              <a:t>64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146958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 err="1"/>
              <a:t>ima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8B730B6-965F-4F9E-8ED1-1D018A85F51D}" type="slidenum">
              <a:rPr lang="en-US" smtClean="0"/>
              <a:t>66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98126554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 err="1"/>
              <a:t>ima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8B730B6-965F-4F9E-8ED1-1D018A85F51D}" type="slidenum">
              <a:rPr lang="en-US" smtClean="0"/>
              <a:t>67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53104376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 err="1"/>
              <a:t>ima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8B730B6-965F-4F9E-8ED1-1D018A85F51D}" type="slidenum">
              <a:rPr lang="en-US" smtClean="0"/>
              <a:t>68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23789990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 err="1"/>
              <a:t>ima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8B730B6-965F-4F9E-8ED1-1D018A85F51D}" type="slidenum">
              <a:rPr lang="en-US" smtClean="0"/>
              <a:t>69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05704807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 err="1"/>
              <a:t>ima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8B730B6-965F-4F9E-8ED1-1D018A85F51D}" type="slidenum">
              <a:rPr lang="en-US" smtClean="0"/>
              <a:t>70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90191591"/>
      </p:ext>
    </p:extLst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 err="1"/>
              <a:t>ima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8B730B6-965F-4F9E-8ED1-1D018A85F51D}" type="slidenum">
              <a:rPr lang="en-US" smtClean="0"/>
              <a:t>71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52123143"/>
      </p:ext>
    </p:extLst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 err="1"/>
              <a:t>ima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8B730B6-965F-4F9E-8ED1-1D018A85F51D}" type="slidenum">
              <a:rPr lang="en-US" smtClean="0"/>
              <a:t>72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54929116"/>
      </p:ext>
    </p:extLst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8B730B6-965F-4F9E-8ED1-1D018A85F51D}" type="slidenum">
              <a:rPr lang="en-US" smtClean="0"/>
              <a:t>80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16492217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235D0A5-98B8-47C2-BC21-375887FB1532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F8668318-E12E-4EA0-9BD6-C20460FEB411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48BE19B-BF66-49E0-8127-A8A836F6B3F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4E60B3F-A4A2-44B7-B52D-29D732D67836}" type="datetimeFigureOut">
              <a:rPr lang="en-US" smtClean="0"/>
              <a:t>4/28/2026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7C5AD8C-142B-4667-A04D-243860D0437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FB43FC3-ACBA-4ECC-B2AB-7E35B9BDEA6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8301B68-4B74-4B19-B125-9E4E9F21BF4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1741196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F87A779-426F-4BD1-B4DA-D03F85BB96A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507C017-E4E0-4484-A4A3-384ED1E753D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8FB1444-75EA-4C5A-AB30-547877307F6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4E60B3F-A4A2-44B7-B52D-29D732D67836}" type="datetimeFigureOut">
              <a:rPr lang="en-US" smtClean="0"/>
              <a:t>4/28/2026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AE941A6-F2D5-400F-9ACE-5278A7519E1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1284184-3224-4D4F-A1D2-C3CD0A483C6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8301B68-4B74-4B19-B125-9E4E9F21BF4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633949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66896CC-0E3B-41AE-A2D7-5BC8367EAD2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9DC80C98-AD5F-46DA-995C-93BFC6D3D36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D5F21E1-CBBC-45EF-A608-50B8DA98392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4E60B3F-A4A2-44B7-B52D-29D732D67836}" type="datetimeFigureOut">
              <a:rPr lang="en-US" smtClean="0"/>
              <a:t>4/28/2026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DA651EF-6071-45EC-84D9-B0EB147615A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959C2C5-0AE5-41D7-9672-33999969160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8301B68-4B74-4B19-B125-9E4E9F21BF4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58293798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6BDA71B-375F-4A01-9570-60D0AB170F3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927F3DB-AC30-45B9-ACD4-8B7EC99F8926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5F7FA436-877F-49B1-A60D-1502D5908DB7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BA302763-8A67-4D69-B932-8703878F62D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4E60B3F-A4A2-44B7-B52D-29D732D67836}" type="datetimeFigureOut">
              <a:rPr lang="en-US" smtClean="0"/>
              <a:t>4/28/2026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982D13C1-1142-453A-8A48-ACC5A899CB7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F1898DB0-3982-4EB2-AE49-E1A11192DF2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8301B68-4B74-4B19-B125-9E4E9F21BF4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8290906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0E74354-6C71-40E2-9676-51DB6ACE6E7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15238A5-B132-4563-8834-6F07500760C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C8390698-229D-4E27-9E2A-05DD4E09B5CB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4ADD06D4-F105-4557-A8E6-7372AAFF90D3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0970F30C-8156-4EA4-97F9-EF3318603D51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F71D5F8E-29DC-48CE-880D-BE8D746537C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4E60B3F-A4A2-44B7-B52D-29D732D67836}" type="datetimeFigureOut">
              <a:rPr lang="en-US" smtClean="0"/>
              <a:t>4/28/2026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E56EFE6E-843A-4509-976A-2D2D2C3DD91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5E9FC145-B7F1-4B26-893C-186436E3FF9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8301B68-4B74-4B19-B125-9E4E9F21BF4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05590851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1246EF6-141B-403D-8833-6C017FC6425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41888223-F102-4D6C-9F68-63C092069EC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4E60B3F-A4A2-44B7-B52D-29D732D67836}" type="datetimeFigureOut">
              <a:rPr lang="en-US" smtClean="0"/>
              <a:t>4/28/2026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0D44B086-B464-4BC1-A7A1-989FB96A43C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C9A7EB0B-1845-4365-9B1D-9B817F80FC8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8301B68-4B74-4B19-B125-9E4E9F21BF4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6668640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AB6C126B-E93F-482D-915E-6BBF8E54AE4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4E60B3F-A4A2-44B7-B52D-29D732D67836}" type="datetimeFigureOut">
              <a:rPr lang="en-US" smtClean="0"/>
              <a:t>4/28/2026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83D8C6D5-4910-4EA1-97CA-373BEF9588B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7680A3B-E5A2-489E-BE9C-8C5FAF44D46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8301B68-4B74-4B19-B125-9E4E9F21BF4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481115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FB3390F-1D05-44CB-8463-DC864FA597E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F6CA9D3-351F-49A8-A8A0-9A5930A37EC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08D91CE4-C446-4E44-86BE-0F5ED4553E19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2A89FEB5-9700-4CD0-B475-B7FDCA20FB6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4E60B3F-A4A2-44B7-B52D-29D732D67836}" type="datetimeFigureOut">
              <a:rPr lang="en-US" smtClean="0"/>
              <a:t>4/28/2026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70EDB61E-87CC-464E-9EBE-8DF1549B358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3E9971AA-BF46-4371-A867-C122CDD872D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8301B68-4B74-4B19-B125-9E4E9F21BF4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61112335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50767B2-C600-4563-A1A9-52AEA293CA4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B6C0A711-0676-45A9-AD86-F4FA8617F34E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954B09A3-BBD0-4A34-9E5A-DA8CDA9F500F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F1148863-F949-4C9F-8025-273B0A193B4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4E60B3F-A4A2-44B7-B52D-29D732D67836}" type="datetimeFigureOut">
              <a:rPr lang="en-US" smtClean="0"/>
              <a:t>4/28/2026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B2D8E425-3124-4016-B06F-5A62C647563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787E2EC-B7EE-4760-8EEC-C47377B420B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8301B68-4B74-4B19-B125-9E4E9F21BF4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1407569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2356ECA-3810-4F77-B526-C19DD7E09F2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6DCD47FA-00A6-4F99-90A8-18188326D51D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F39E929-8365-46E0-93E2-36E2E0E0591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4E60B3F-A4A2-44B7-B52D-29D732D67836}" type="datetimeFigureOut">
              <a:rPr lang="en-US" smtClean="0"/>
              <a:t>4/28/2026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9D020A9-80B5-49B8-886D-96F7B707D20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30D2D8E-0AA2-4746-B9FD-7678F634DFD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8301B68-4B74-4B19-B125-9E4E9F21BF4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854059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4CB433B9-A4FC-4262-99CA-3BF17AE53783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6D0D390E-6C51-45F8-B00C-30C0BD946E9B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0515926-ACBA-4B9A-A5CA-EEC805E4AD4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4E60B3F-A4A2-44B7-B52D-29D732D67836}" type="datetimeFigureOut">
              <a:rPr lang="en-US" smtClean="0"/>
              <a:t>4/28/2026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A22C466-0A41-4E10-BACE-D671E7C3A89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D66A03F-DA7B-44FC-A47A-435A87717D5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8301B68-4B74-4B19-B125-9E4E9F21BF4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7858888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35E3D503-39F4-40E6-B94D-704565DF872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8578FD51-82FD-4DAA-B27C-F5366344FDB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ED4FC4D-9D02-4C33-ACAB-163AEBDD5DE0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4E60B3F-A4A2-44B7-B52D-29D732D67836}" type="datetimeFigureOut">
              <a:rPr lang="en-US" smtClean="0"/>
              <a:t>4/28/2026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FE10C34-DC40-4BA1-83AD-4FAE3716FEF9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79231FE-B217-4970-8FA3-7223B5DCEC8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8301B68-4B74-4B19-B125-9E4E9F21BF4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3530214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com/philferriere/tfoptflow" TargetMode="External"/><Relationship Id="rId2" Type="http://schemas.openxmlformats.org/officeDocument/2006/relationships/hyperlink" Target="https://arxiv.org/abs/1709.02371" TargetMode="Externa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.png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8" Type="http://schemas.openxmlformats.org/officeDocument/2006/relationships/image" Target="../media/image8.png"/><Relationship Id="rId13" Type="http://schemas.openxmlformats.org/officeDocument/2006/relationships/image" Target="../media/image13.png"/><Relationship Id="rId3" Type="http://schemas.openxmlformats.org/officeDocument/2006/relationships/image" Target="NULL"/><Relationship Id="rId7" Type="http://schemas.openxmlformats.org/officeDocument/2006/relationships/image" Target="../media/image7.png"/><Relationship Id="rId12" Type="http://schemas.openxmlformats.org/officeDocument/2006/relationships/image" Target="../media/image12.png"/><Relationship Id="rId2" Type="http://schemas.openxmlformats.org/officeDocument/2006/relationships/image" Target="NULL"/><Relationship Id="rId16" Type="http://schemas.openxmlformats.org/officeDocument/2006/relationships/image" Target="../media/image16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6.png"/><Relationship Id="rId11" Type="http://schemas.openxmlformats.org/officeDocument/2006/relationships/image" Target="../media/image11.png"/><Relationship Id="rId5" Type="http://schemas.openxmlformats.org/officeDocument/2006/relationships/image" Target="../media/image5.png"/><Relationship Id="rId15" Type="http://schemas.openxmlformats.org/officeDocument/2006/relationships/image" Target="../media/image15.png"/><Relationship Id="rId10" Type="http://schemas.openxmlformats.org/officeDocument/2006/relationships/image" Target="../media/image10.png"/><Relationship Id="rId4" Type="http://schemas.openxmlformats.org/officeDocument/2006/relationships/image" Target="NULL"/><Relationship Id="rId9" Type="http://schemas.openxmlformats.org/officeDocument/2006/relationships/image" Target="../media/image9.png"/><Relationship Id="rId14" Type="http://schemas.openxmlformats.org/officeDocument/2006/relationships/image" Target="../media/image14.png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510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64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70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90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0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71.png"/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0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1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2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0.png"/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0.png"/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70.png"/></Relationships>
</file>

<file path=ppt/slides/_rels/slide3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0.png"/><Relationship Id="rId1" Type="http://schemas.openxmlformats.org/officeDocument/2006/relationships/slideLayout" Target="../slideLayouts/slideLayout2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3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png"/><Relationship Id="rId2" Type="http://schemas.openxmlformats.org/officeDocument/2006/relationships/image" Target="../media/image21.png"/><Relationship Id="rId1" Type="http://schemas.openxmlformats.org/officeDocument/2006/relationships/slideLayout" Target="../slideLayouts/slideLayout2.xml"/></Relationships>
</file>

<file path=ppt/slides/_rels/slide3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3.png"/><Relationship Id="rId1" Type="http://schemas.openxmlformats.org/officeDocument/2006/relationships/slideLayout" Target="../slideLayouts/slideLayout2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3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2.xml"/></Relationships>
</file>

<file path=ppt/slides/_rels/slide3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4.png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2.xml"/></Relationships>
</file>

<file path=ppt/slides/_rels/slide38.xml.rels><?xml version="1.0" encoding="UTF-8" standalone="yes"?>
<Relationships xmlns="http://schemas.openxmlformats.org/package/2006/relationships"><Relationship Id="rId8" Type="http://schemas.openxmlformats.org/officeDocument/2006/relationships/image" Target="../media/image8.png"/><Relationship Id="rId13" Type="http://schemas.openxmlformats.org/officeDocument/2006/relationships/image" Target="../media/image241.png"/><Relationship Id="rId3" Type="http://schemas.openxmlformats.org/officeDocument/2006/relationships/image" Target="NULL"/><Relationship Id="rId7" Type="http://schemas.openxmlformats.org/officeDocument/2006/relationships/image" Target="../media/image7.png"/><Relationship Id="rId12" Type="http://schemas.openxmlformats.org/officeDocument/2006/relationships/image" Target="../media/image12.png"/><Relationship Id="rId17" Type="http://schemas.openxmlformats.org/officeDocument/2006/relationships/image" Target="../media/image16.png"/><Relationship Id="rId2" Type="http://schemas.openxmlformats.org/officeDocument/2006/relationships/image" Target="NULL"/><Relationship Id="rId16" Type="http://schemas.openxmlformats.org/officeDocument/2006/relationships/image" Target="../media/image15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6.png"/><Relationship Id="rId11" Type="http://schemas.openxmlformats.org/officeDocument/2006/relationships/image" Target="../media/image11.png"/><Relationship Id="rId5" Type="http://schemas.openxmlformats.org/officeDocument/2006/relationships/image" Target="../media/image232.png"/><Relationship Id="rId15" Type="http://schemas.openxmlformats.org/officeDocument/2006/relationships/image" Target="../media/image14.png"/><Relationship Id="rId10" Type="http://schemas.openxmlformats.org/officeDocument/2006/relationships/image" Target="../media/image101.png"/><Relationship Id="rId4" Type="http://schemas.openxmlformats.org/officeDocument/2006/relationships/image" Target="NULL"/><Relationship Id="rId9" Type="http://schemas.openxmlformats.org/officeDocument/2006/relationships/image" Target="../media/image9.png"/><Relationship Id="rId14" Type="http://schemas.openxmlformats.org/officeDocument/2006/relationships/image" Target="../media/image13.png"/></Relationships>
</file>

<file path=ppt/slides/_rels/slide3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5.png"/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2.xml"/></Relationships>
</file>

<file path=ppt/slides/_rels/slide4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6.png"/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2.xml"/></Relationships>
</file>

<file path=ppt/slides/_rels/slide4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7.png"/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2.xml"/></Relationships>
</file>

<file path=ppt/slides/_rels/slide4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8.png"/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2.xml"/></Relationships>
</file>

<file path=ppt/slides/_rels/slide4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0.png"/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2.xml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4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9.png"/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2.xml"/></Relationships>
</file>

<file path=ppt/slides/_rels/slide4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1.png"/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2.xml"/></Relationships>
</file>

<file path=ppt/slides/_rels/slide4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8.xml.rels><?xml version="1.0" encoding="UTF-8" standalone="yes"?>
<Relationships xmlns="http://schemas.openxmlformats.org/package/2006/relationships"><Relationship Id="rId3" Type="http://schemas.openxmlformats.org/officeDocument/2006/relationships/hyperlink" Target="https://arxiv.org/abs/1709.02371" TargetMode="External"/><Relationship Id="rId2" Type="http://schemas.openxmlformats.org/officeDocument/2006/relationships/image" Target="../media/image32.png"/><Relationship Id="rId1" Type="http://schemas.openxmlformats.org/officeDocument/2006/relationships/slideLayout" Target="../slideLayouts/slideLayout2.xml"/></Relationships>
</file>

<file path=ppt/slides/_rels/slide4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5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2.xml"/></Relationships>
</file>

<file path=ppt/slides/_rels/slide5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3.png"/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2.xml"/></Relationships>
</file>

<file path=ppt/slides/_rels/slide52.xml.rels><?xml version="1.0" encoding="UTF-8" standalone="yes"?>
<Relationships xmlns="http://schemas.openxmlformats.org/package/2006/relationships"><Relationship Id="rId8" Type="http://schemas.openxmlformats.org/officeDocument/2006/relationships/image" Target="../media/image270.png"/><Relationship Id="rId3" Type="http://schemas.openxmlformats.org/officeDocument/2006/relationships/image" Target="../media/image220.png"/><Relationship Id="rId7" Type="http://schemas.openxmlformats.org/officeDocument/2006/relationships/image" Target="../media/image261.png"/><Relationship Id="rId2" Type="http://schemas.openxmlformats.org/officeDocument/2006/relationships/notesSlide" Target="../notesSlides/notesSlide26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50.png"/><Relationship Id="rId5" Type="http://schemas.openxmlformats.org/officeDocument/2006/relationships/image" Target="../media/image240.png"/><Relationship Id="rId10" Type="http://schemas.openxmlformats.org/officeDocument/2006/relationships/image" Target="../media/image290.png"/><Relationship Id="rId4" Type="http://schemas.openxmlformats.org/officeDocument/2006/relationships/image" Target="../media/image230.png"/><Relationship Id="rId9" Type="http://schemas.openxmlformats.org/officeDocument/2006/relationships/image" Target="../media/image280.png"/></Relationships>
</file>

<file path=ppt/slides/_rels/slide53.xml.rels><?xml version="1.0" encoding="UTF-8" standalone="yes"?>
<Relationships xmlns="http://schemas.openxmlformats.org/package/2006/relationships"><Relationship Id="rId8" Type="http://schemas.openxmlformats.org/officeDocument/2006/relationships/image" Target="../media/image34.png"/><Relationship Id="rId3" Type="http://schemas.openxmlformats.org/officeDocument/2006/relationships/image" Target="../media/image260.png"/><Relationship Id="rId7" Type="http://schemas.openxmlformats.org/officeDocument/2006/relationships/image" Target="../media/image330.png"/><Relationship Id="rId2" Type="http://schemas.openxmlformats.org/officeDocument/2006/relationships/notesSlide" Target="../notesSlides/notesSlide27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320.png"/><Relationship Id="rId11" Type="http://schemas.openxmlformats.org/officeDocument/2006/relationships/image" Target="../media/image37.png"/><Relationship Id="rId5" Type="http://schemas.openxmlformats.org/officeDocument/2006/relationships/image" Target="../media/image310.png"/><Relationship Id="rId10" Type="http://schemas.openxmlformats.org/officeDocument/2006/relationships/image" Target="../media/image36.png"/><Relationship Id="rId4" Type="http://schemas.openxmlformats.org/officeDocument/2006/relationships/image" Target="../media/image300.png"/><Relationship Id="rId9" Type="http://schemas.openxmlformats.org/officeDocument/2006/relationships/image" Target="../media/image35.png"/></Relationships>
</file>

<file path=ppt/slides/_rels/slide5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8.png"/><Relationship Id="rId2" Type="http://schemas.openxmlformats.org/officeDocument/2006/relationships/notesSlide" Target="../notesSlides/notesSlide28.xml"/><Relationship Id="rId1" Type="http://schemas.openxmlformats.org/officeDocument/2006/relationships/slideLayout" Target="../slideLayouts/slideLayout2.xml"/></Relationships>
</file>

<file path=ppt/slides/_rels/slide5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9.png"/><Relationship Id="rId2" Type="http://schemas.openxmlformats.org/officeDocument/2006/relationships/notesSlide" Target="../notesSlides/notesSlide29.xml"/><Relationship Id="rId1" Type="http://schemas.openxmlformats.org/officeDocument/2006/relationships/slideLayout" Target="../slideLayouts/slideLayout2.xml"/></Relationships>
</file>

<file path=ppt/slides/_rels/slide56.xml.rels><?xml version="1.0" encoding="UTF-8" standalone="yes"?>
<Relationships xmlns="http://schemas.openxmlformats.org/package/2006/relationships"><Relationship Id="rId3" Type="http://schemas.openxmlformats.org/officeDocument/2006/relationships/image" Target="../media/image40.png"/><Relationship Id="rId2" Type="http://schemas.openxmlformats.org/officeDocument/2006/relationships/notesSlide" Target="../notesSlides/notesSlide30.xml"/><Relationship Id="rId1" Type="http://schemas.openxmlformats.org/officeDocument/2006/relationships/slideLayout" Target="../slideLayouts/slideLayout2.xml"/></Relationships>
</file>

<file path=ppt/slides/_rels/slide5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58.xml.rels><?xml version="1.0" encoding="UTF-8" standalone="yes"?>
<Relationships xmlns="http://schemas.openxmlformats.org/package/2006/relationships"><Relationship Id="rId3" Type="http://schemas.openxmlformats.org/officeDocument/2006/relationships/hyperlink" Target="http://www.ipol.im/pub/art/2013/26/" TargetMode="External"/><Relationship Id="rId2" Type="http://schemas.openxmlformats.org/officeDocument/2006/relationships/notesSlide" Target="../notesSlides/notesSlide31.xml"/><Relationship Id="rId1" Type="http://schemas.openxmlformats.org/officeDocument/2006/relationships/slideLayout" Target="../slideLayouts/slideLayout2.xml"/></Relationships>
</file>

<file path=ppt/slides/_rels/slide59.xml.rels><?xml version="1.0" encoding="UTF-8" standalone="yes"?>
<Relationships xmlns="http://schemas.openxmlformats.org/package/2006/relationships"><Relationship Id="rId3" Type="http://schemas.openxmlformats.org/officeDocument/2006/relationships/hyperlink" Target="https://scikit-image.org/docs/stable/api/skimage.registration.html#skimage.registration.optical_flow_tvl1" TargetMode="External"/><Relationship Id="rId2" Type="http://schemas.openxmlformats.org/officeDocument/2006/relationships/notesSlide" Target="../notesSlides/notesSlide32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41.png"/></Relationships>
</file>

<file path=ppt/slides/_rels/slide6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6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3.xml"/><Relationship Id="rId1" Type="http://schemas.openxmlformats.org/officeDocument/2006/relationships/slideLayout" Target="../slideLayouts/slideLayout2.xml"/></Relationships>
</file>

<file path=ppt/slides/_rels/slide6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2.png"/><Relationship Id="rId2" Type="http://schemas.openxmlformats.org/officeDocument/2006/relationships/notesSlide" Target="../notesSlides/notesSlide34.xml"/><Relationship Id="rId1" Type="http://schemas.openxmlformats.org/officeDocument/2006/relationships/slideLayout" Target="../slideLayouts/slideLayout2.xml"/></Relationships>
</file>

<file path=ppt/slides/_rels/slide63.xml.rels><?xml version="1.0" encoding="UTF-8" standalone="yes"?>
<Relationships xmlns="http://schemas.openxmlformats.org/package/2006/relationships"><Relationship Id="rId3" Type="http://schemas.openxmlformats.org/officeDocument/2006/relationships/hyperlink" Target="https://lmb.informatik.uni-freiburg.de/resources/datasets/FlyingChairs.en.html#flyingchairs" TargetMode="External"/><Relationship Id="rId2" Type="http://schemas.openxmlformats.org/officeDocument/2006/relationships/notesSlide" Target="../notesSlides/notesSlide35.xml"/><Relationship Id="rId1" Type="http://schemas.openxmlformats.org/officeDocument/2006/relationships/slideLayout" Target="../slideLayouts/slideLayout2.xml"/><Relationship Id="rId5" Type="http://schemas.openxmlformats.org/officeDocument/2006/relationships/hyperlink" Target="https://lmb.informatik.uni-freiburg.de/resources/datasets/SceneFlowDatasets.en.html" TargetMode="External"/><Relationship Id="rId4" Type="http://schemas.openxmlformats.org/officeDocument/2006/relationships/hyperlink" Target="https://lmb.informatik.uni-freiburg.de/resources/datasets/FlyingChairs.en.html#flyingchairs2" TargetMode="External"/></Relationships>
</file>

<file path=ppt/slides/_rels/slide6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20.png"/><Relationship Id="rId2" Type="http://schemas.openxmlformats.org/officeDocument/2006/relationships/notesSlide" Target="../notesSlides/notesSlide36.xml"/><Relationship Id="rId1" Type="http://schemas.openxmlformats.org/officeDocument/2006/relationships/slideLayout" Target="../slideLayouts/slideLayout2.xml"/></Relationships>
</file>

<file path=ppt/slides/_rels/slide6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66.xml.rels><?xml version="1.0" encoding="UTF-8" standalone="yes"?>
<Relationships xmlns="http://schemas.openxmlformats.org/package/2006/relationships"><Relationship Id="rId3" Type="http://schemas.openxmlformats.org/officeDocument/2006/relationships/hyperlink" Target="https://arxiv.org/abs/1709.02371" TargetMode="External"/><Relationship Id="rId2" Type="http://schemas.openxmlformats.org/officeDocument/2006/relationships/notesSlide" Target="../notesSlides/notesSlide37.xml"/><Relationship Id="rId1" Type="http://schemas.openxmlformats.org/officeDocument/2006/relationships/slideLayout" Target="../slideLayouts/slideLayout2.xml"/></Relationships>
</file>

<file path=ppt/slides/_rels/slide67.xml.rels><?xml version="1.0" encoding="UTF-8" standalone="yes"?>
<Relationships xmlns="http://schemas.openxmlformats.org/package/2006/relationships"><Relationship Id="rId3" Type="http://schemas.openxmlformats.org/officeDocument/2006/relationships/hyperlink" Target="https://arxiv.org/abs/1709.02371" TargetMode="External"/><Relationship Id="rId2" Type="http://schemas.openxmlformats.org/officeDocument/2006/relationships/notesSlide" Target="../notesSlides/notesSlide38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43.png"/></Relationships>
</file>

<file path=ppt/slides/_rels/slide68.xml.rels><?xml version="1.0" encoding="UTF-8" standalone="yes"?>
<Relationships xmlns="http://schemas.openxmlformats.org/package/2006/relationships"><Relationship Id="rId3" Type="http://schemas.openxmlformats.org/officeDocument/2006/relationships/image" Target="../media/image44.png"/><Relationship Id="rId2" Type="http://schemas.openxmlformats.org/officeDocument/2006/relationships/notesSlide" Target="../notesSlides/notesSlide39.xml"/><Relationship Id="rId1" Type="http://schemas.openxmlformats.org/officeDocument/2006/relationships/slideLayout" Target="../slideLayouts/slideLayout2.xml"/><Relationship Id="rId4" Type="http://schemas.openxmlformats.org/officeDocument/2006/relationships/hyperlink" Target="https://arxiv.org/abs/1709.02371" TargetMode="External"/></Relationships>
</file>

<file path=ppt/slides/_rels/slide69.xml.rels><?xml version="1.0" encoding="UTF-8" standalone="yes"?>
<Relationships xmlns="http://schemas.openxmlformats.org/package/2006/relationships"><Relationship Id="rId3" Type="http://schemas.openxmlformats.org/officeDocument/2006/relationships/image" Target="../media/image45.png"/><Relationship Id="rId2" Type="http://schemas.openxmlformats.org/officeDocument/2006/relationships/notesSlide" Target="../notesSlides/notesSlide40.xml"/><Relationship Id="rId1" Type="http://schemas.openxmlformats.org/officeDocument/2006/relationships/slideLayout" Target="../slideLayouts/slideLayout2.xml"/><Relationship Id="rId5" Type="http://schemas.openxmlformats.org/officeDocument/2006/relationships/hyperlink" Target="https://arxiv.org/abs/1709.02371" TargetMode="External"/><Relationship Id="rId4" Type="http://schemas.openxmlformats.org/officeDocument/2006/relationships/image" Target="../media/image44.png"/></Relationships>
</file>

<file path=ppt/slides/_rels/slide70.xml.rels><?xml version="1.0" encoding="UTF-8" standalone="yes"?>
<Relationships xmlns="http://schemas.openxmlformats.org/package/2006/relationships"><Relationship Id="rId3" Type="http://schemas.openxmlformats.org/officeDocument/2006/relationships/image" Target="../media/image47.png"/><Relationship Id="rId2" Type="http://schemas.openxmlformats.org/officeDocument/2006/relationships/notesSlide" Target="../notesSlides/notesSlide41.xml"/><Relationship Id="rId1" Type="http://schemas.openxmlformats.org/officeDocument/2006/relationships/slideLayout" Target="../slideLayouts/slideLayout2.xml"/><Relationship Id="rId5" Type="http://schemas.openxmlformats.org/officeDocument/2006/relationships/hyperlink" Target="https://arxiv.org/abs/1709.02371" TargetMode="External"/><Relationship Id="rId4" Type="http://schemas.openxmlformats.org/officeDocument/2006/relationships/image" Target="../media/image44.png"/></Relationships>
</file>

<file path=ppt/slides/_rels/slide71.xml.rels><?xml version="1.0" encoding="UTF-8" standalone="yes"?>
<Relationships xmlns="http://schemas.openxmlformats.org/package/2006/relationships"><Relationship Id="rId3" Type="http://schemas.openxmlformats.org/officeDocument/2006/relationships/image" Target="../media/image48.png"/><Relationship Id="rId2" Type="http://schemas.openxmlformats.org/officeDocument/2006/relationships/notesSlide" Target="../notesSlides/notesSlide42.xml"/><Relationship Id="rId1" Type="http://schemas.openxmlformats.org/officeDocument/2006/relationships/slideLayout" Target="../slideLayouts/slideLayout2.xml"/><Relationship Id="rId5" Type="http://schemas.openxmlformats.org/officeDocument/2006/relationships/hyperlink" Target="https://arxiv.org/abs/1709.02371" TargetMode="External"/><Relationship Id="rId4" Type="http://schemas.openxmlformats.org/officeDocument/2006/relationships/image" Target="../media/image44.png"/></Relationships>
</file>

<file path=ppt/slides/_rels/slide7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9.png"/><Relationship Id="rId2" Type="http://schemas.openxmlformats.org/officeDocument/2006/relationships/notesSlide" Target="../notesSlides/notesSlide43.xml"/><Relationship Id="rId1" Type="http://schemas.openxmlformats.org/officeDocument/2006/relationships/slideLayout" Target="../slideLayouts/slideLayout2.xml"/><Relationship Id="rId5" Type="http://schemas.openxmlformats.org/officeDocument/2006/relationships/hyperlink" Target="https://arxiv.org/abs/1709.02371" TargetMode="External"/><Relationship Id="rId4" Type="http://schemas.openxmlformats.org/officeDocument/2006/relationships/image" Target="../media/image44.png"/></Relationships>
</file>

<file path=ppt/slides/_rels/slide73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com/philferriere/tfoptflow" TargetMode="External"/><Relationship Id="rId2" Type="http://schemas.openxmlformats.org/officeDocument/2006/relationships/hyperlink" Target="https://arxiv.org/abs/1709.02371" TargetMode="Externa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.png"/></Relationships>
</file>

<file path=ppt/slides/_rels/slide74.xml.rels><?xml version="1.0" encoding="UTF-8" standalone="yes"?>
<Relationships xmlns="http://schemas.openxmlformats.org/package/2006/relationships"><Relationship Id="rId2" Type="http://schemas.openxmlformats.org/officeDocument/2006/relationships/hyperlink" Target="https://arxiv.org/abs/2003.12039" TargetMode="External"/><Relationship Id="rId1" Type="http://schemas.openxmlformats.org/officeDocument/2006/relationships/slideLayout" Target="../slideLayouts/slideLayout2.xml"/></Relationships>
</file>

<file path=ppt/slides/_rels/slide75.xml.rels><?xml version="1.0" encoding="UTF-8" standalone="yes"?>
<Relationships xmlns="http://schemas.openxmlformats.org/package/2006/relationships"><Relationship Id="rId3" Type="http://schemas.openxmlformats.org/officeDocument/2006/relationships/image" Target="../media/image46.png"/><Relationship Id="rId2" Type="http://schemas.openxmlformats.org/officeDocument/2006/relationships/hyperlink" Target="https://arxiv.org/abs/2003.12039" TargetMode="Externa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53.png"/><Relationship Id="rId5" Type="http://schemas.openxmlformats.org/officeDocument/2006/relationships/image" Target="../media/image52.png"/><Relationship Id="rId4" Type="http://schemas.openxmlformats.org/officeDocument/2006/relationships/image" Target="../media/image51.png"/></Relationships>
</file>

<file path=ppt/slides/_rels/slide76.xml.rels><?xml version="1.0" encoding="UTF-8" standalone="yes"?>
<Relationships xmlns="http://schemas.openxmlformats.org/package/2006/relationships"><Relationship Id="rId3" Type="http://schemas.openxmlformats.org/officeDocument/2006/relationships/image" Target="../media/image46.png"/><Relationship Id="rId2" Type="http://schemas.openxmlformats.org/officeDocument/2006/relationships/hyperlink" Target="https://arxiv.org/abs/2003.12039" TargetMode="Externa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55.png"/><Relationship Id="rId4" Type="http://schemas.openxmlformats.org/officeDocument/2006/relationships/image" Target="../media/image54.png"/></Relationships>
</file>

<file path=ppt/slides/_rels/slide77.xml.rels><?xml version="1.0" encoding="UTF-8" standalone="yes"?>
<Relationships xmlns="http://schemas.openxmlformats.org/package/2006/relationships"><Relationship Id="rId3" Type="http://schemas.openxmlformats.org/officeDocument/2006/relationships/image" Target="../media/image56.png"/><Relationship Id="rId2" Type="http://schemas.openxmlformats.org/officeDocument/2006/relationships/hyperlink" Target="https://arxiv.org/abs/2003.12039" TargetMode="Externa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50.png"/></Relationships>
</file>

<file path=ppt/slides/_rels/slide78.xml.rels><?xml version="1.0" encoding="UTF-8" standalone="yes"?>
<Relationships xmlns="http://schemas.openxmlformats.org/package/2006/relationships"><Relationship Id="rId3" Type="http://schemas.openxmlformats.org/officeDocument/2006/relationships/image" Target="../media/image57.png"/><Relationship Id="rId2" Type="http://schemas.openxmlformats.org/officeDocument/2006/relationships/hyperlink" Target="https://arxiv.org/abs/2003.12039" TargetMode="External"/><Relationship Id="rId1" Type="http://schemas.openxmlformats.org/officeDocument/2006/relationships/slideLayout" Target="../slideLayouts/slideLayout2.xml"/></Relationships>
</file>

<file path=ppt/slides/_rels/slide79.xml.rels><?xml version="1.0" encoding="UTF-8" standalone="yes"?>
<Relationships xmlns="http://schemas.openxmlformats.org/package/2006/relationships"><Relationship Id="rId3" Type="http://schemas.openxmlformats.org/officeDocument/2006/relationships/image" Target="../media/image58.png"/><Relationship Id="rId2" Type="http://schemas.openxmlformats.org/officeDocument/2006/relationships/hyperlink" Target="https://arxiv.org/abs/2408.10161" TargetMode="External"/><Relationship Id="rId1" Type="http://schemas.openxmlformats.org/officeDocument/2006/relationships/slideLayout" Target="../slideLayouts/slideLayout2.xml"/></Relationships>
</file>

<file path=ppt/slides/_rels/slide80.xml.rels><?xml version="1.0" encoding="UTF-8" standalone="yes"?>
<Relationships xmlns="http://schemas.openxmlformats.org/package/2006/relationships"><Relationship Id="rId3" Type="http://schemas.openxmlformats.org/officeDocument/2006/relationships/hyperlink" Target="https://arxiv.org/abs/2408.10161" TargetMode="External"/><Relationship Id="rId2" Type="http://schemas.openxmlformats.org/officeDocument/2006/relationships/notesSlide" Target="../notesSlides/notesSlide44.xml"/><Relationship Id="rId1" Type="http://schemas.openxmlformats.org/officeDocument/2006/relationships/slideLayout" Target="../slideLayouts/slideLayout2.xml"/></Relationships>
</file>

<file path=ppt/slides/_rels/slide81.xml.rels><?xml version="1.0" encoding="UTF-8" standalone="yes"?>
<Relationships xmlns="http://schemas.openxmlformats.org/package/2006/relationships"><Relationship Id="rId3" Type="http://schemas.openxmlformats.org/officeDocument/2006/relationships/hyperlink" Target="https://arxiv.org/abs/2408.10161" TargetMode="External"/><Relationship Id="rId2" Type="http://schemas.openxmlformats.org/officeDocument/2006/relationships/image" Target="../media/image59.png"/><Relationship Id="rId1" Type="http://schemas.openxmlformats.org/officeDocument/2006/relationships/slideLayout" Target="../slideLayouts/slideLayout2.xml"/></Relationships>
</file>

<file path=ppt/slides/_rels/slide82.xml.rels><?xml version="1.0" encoding="UTF-8" standalone="yes"?>
<Relationships xmlns="http://schemas.openxmlformats.org/package/2006/relationships"><Relationship Id="rId3" Type="http://schemas.openxmlformats.org/officeDocument/2006/relationships/hyperlink" Target="https://arxiv.org/abs/2408.10161" TargetMode="External"/><Relationship Id="rId2" Type="http://schemas.openxmlformats.org/officeDocument/2006/relationships/image" Target="../media/image60.png"/><Relationship Id="rId1" Type="http://schemas.openxmlformats.org/officeDocument/2006/relationships/slideLayout" Target="../slideLayouts/slideLayout2.xml"/></Relationships>
</file>

<file path=ppt/slides/_rels/slide83.xml.rels><?xml version="1.0" encoding="UTF-8" standalone="yes"?>
<Relationships xmlns="http://schemas.openxmlformats.org/package/2006/relationships"><Relationship Id="rId3" Type="http://schemas.openxmlformats.org/officeDocument/2006/relationships/image" Target="../media/image62.png"/><Relationship Id="rId2" Type="http://schemas.openxmlformats.org/officeDocument/2006/relationships/image" Target="../media/image61.png"/><Relationship Id="rId1" Type="http://schemas.openxmlformats.org/officeDocument/2006/relationships/slideLayout" Target="../slideLayouts/slideLayout2.xml"/><Relationship Id="rId5" Type="http://schemas.openxmlformats.org/officeDocument/2006/relationships/hyperlink" Target="https://arxiv.org/abs/2408.10161" TargetMode="External"/><Relationship Id="rId4" Type="http://schemas.openxmlformats.org/officeDocument/2006/relationships/image" Target="../media/image59.png"/></Relationships>
</file>

<file path=ppt/slides/_rels/slide84.xml.rels><?xml version="1.0" encoding="UTF-8" standalone="yes"?>
<Relationships xmlns="http://schemas.openxmlformats.org/package/2006/relationships"><Relationship Id="rId3" Type="http://schemas.openxmlformats.org/officeDocument/2006/relationships/image" Target="../media/image63.png"/><Relationship Id="rId2" Type="http://schemas.openxmlformats.org/officeDocument/2006/relationships/hyperlink" Target="https://arxiv.org/abs/2408.10161" TargetMode="External"/><Relationship Id="rId1" Type="http://schemas.openxmlformats.org/officeDocument/2006/relationships/slideLayout" Target="../slideLayouts/slideLayout2.xml"/></Relationships>
</file>

<file path=ppt/slides/_rels/slide85.xml.rels><?xml version="1.0" encoding="UTF-8" standalone="yes"?>
<Relationships xmlns="http://schemas.openxmlformats.org/package/2006/relationships"><Relationship Id="rId8" Type="http://schemas.openxmlformats.org/officeDocument/2006/relationships/hyperlink" Target="https://paperswithcode.com/task/optical-flow-estimation" TargetMode="External"/><Relationship Id="rId3" Type="http://schemas.openxmlformats.org/officeDocument/2006/relationships/hyperlink" Target="https://arxiv.org/abs/2111.13680" TargetMode="External"/><Relationship Id="rId7" Type="http://schemas.openxmlformats.org/officeDocument/2006/relationships/hyperlink" Target="https://www.sciencedirect.com/science/article/pii/S1077314224002418" TargetMode="External"/><Relationship Id="rId2" Type="http://schemas.openxmlformats.org/officeDocument/2006/relationships/hyperlink" Target="https://arxiv.org/abs/2011.06294" TargetMode="External"/><Relationship Id="rId1" Type="http://schemas.openxmlformats.org/officeDocument/2006/relationships/slideLayout" Target="../slideLayouts/slideLayout2.xml"/><Relationship Id="rId6" Type="http://schemas.openxmlformats.org/officeDocument/2006/relationships/hyperlink" Target="https://ojs.aaai.org/index.php/AAAI/article/view/28224" TargetMode="External"/><Relationship Id="rId5" Type="http://schemas.openxmlformats.org/officeDocument/2006/relationships/hyperlink" Target="https://arxiv.org/abs/2403.10425" TargetMode="External"/><Relationship Id="rId4" Type="http://schemas.openxmlformats.org/officeDocument/2006/relationships/hyperlink" Target="https://arxiv.org/abs/2203.16194" TargetMode="External"/></Relationships>
</file>

<file path=ppt/slides/_rels/slide8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BDEAD34-FE4D-4A41-82A2-223615631262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248955" y="273713"/>
            <a:ext cx="9601200" cy="2387600"/>
          </a:xfrm>
        </p:spPr>
        <p:txBody>
          <a:bodyPr>
            <a:normAutofit/>
          </a:bodyPr>
          <a:lstStyle/>
          <a:p>
            <a:r>
              <a:rPr lang="en-US" dirty="0">
                <a:latin typeface="+mn-lt"/>
              </a:rPr>
              <a:t>CSCI E-25</a:t>
            </a:r>
            <a:br>
              <a:rPr lang="en-US" dirty="0">
                <a:latin typeface="+mn-lt"/>
              </a:rPr>
            </a:br>
            <a:r>
              <a:rPr lang="en-US" dirty="0">
                <a:latin typeface="+mn-lt"/>
              </a:rPr>
              <a:t>Computer Vision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B25A855A-A2B4-41D5-81C1-CAA6D45AA9D5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477555" y="3946867"/>
            <a:ext cx="9144000" cy="494102"/>
          </a:xfrm>
        </p:spPr>
        <p:txBody>
          <a:bodyPr/>
          <a:lstStyle/>
          <a:p>
            <a:r>
              <a:rPr lang="en-US" dirty="0"/>
              <a:t>Steve Elston</a:t>
            </a:r>
          </a:p>
          <a:p>
            <a:endParaRPr lang="en-US" dirty="0"/>
          </a:p>
        </p:txBody>
      </p:sp>
      <p:pic>
        <p:nvPicPr>
          <p:cNvPr id="1026" name="Picture 2" descr="Image result for harvard extension school logo">
            <a:extLst>
              <a:ext uri="{FF2B5EF4-FFF2-40B4-BE49-F238E27FC236}">
                <a16:creationId xmlns:a16="http://schemas.microsoft.com/office/drawing/2014/main" id="{0512F5AD-ED64-4E88-80AB-F8D75DDF288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349093" y="4750441"/>
            <a:ext cx="3333750" cy="13716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6" name="Subtitle 2">
            <a:extLst>
              <a:ext uri="{FF2B5EF4-FFF2-40B4-BE49-F238E27FC236}">
                <a16:creationId xmlns:a16="http://schemas.microsoft.com/office/drawing/2014/main" id="{169F207C-EF37-41D2-8510-622FD323B072}"/>
              </a:ext>
            </a:extLst>
          </p:cNvPr>
          <p:cNvSpPr txBox="1">
            <a:spLocks/>
          </p:cNvSpPr>
          <p:nvPr/>
        </p:nvSpPr>
        <p:spPr>
          <a:xfrm>
            <a:off x="1382693" y="6306671"/>
            <a:ext cx="9144000" cy="494102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ctr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Copyright 2022, 2023, 2024, 2025</a:t>
            </a:r>
            <a:r>
              <a: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, 2026, Stephen </a:t>
            </a: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F Elston. All rights reserved.</a:t>
            </a:r>
          </a:p>
          <a:p>
            <a:pPr marL="0" marR="0" lvl="0" indent="0" algn="ctr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F6C37018-A4F9-4B1C-806D-0E7F64A950E8}"/>
              </a:ext>
            </a:extLst>
          </p:cNvPr>
          <p:cNvSpPr txBox="1"/>
          <p:nvPr/>
        </p:nvSpPr>
        <p:spPr>
          <a:xfrm>
            <a:off x="788724" y="2851645"/>
            <a:ext cx="11036368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4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Optical Flow</a:t>
            </a:r>
          </a:p>
        </p:txBody>
      </p:sp>
    </p:spTree>
    <p:extLst>
      <p:ext uri="{BB962C8B-B14F-4D97-AF65-F5344CB8AC3E}">
        <p14:creationId xmlns:p14="http://schemas.microsoft.com/office/powerpoint/2010/main" val="2261068752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DFB6AB4-96EB-434D-8BFC-6697DE744D7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89301" y="140193"/>
            <a:ext cx="10515600" cy="872004"/>
          </a:xfrm>
        </p:spPr>
        <p:txBody>
          <a:bodyPr>
            <a:normAutofit/>
          </a:bodyPr>
          <a:lstStyle/>
          <a:p>
            <a:r>
              <a:rPr lang="en-US" sz="4000" dirty="0">
                <a:latin typeface="+mn-lt"/>
              </a:rPr>
              <a:t>Optical Flow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DBC6555-A8E7-4F73-8035-156F702D141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89301" y="1124339"/>
            <a:ext cx="10515600" cy="5593468"/>
          </a:xfrm>
        </p:spPr>
        <p:txBody>
          <a:bodyPr>
            <a:normAutofit lnSpcReduction="10000"/>
          </a:bodyPr>
          <a:lstStyle/>
          <a:p>
            <a:pPr marL="0" indent="0">
              <a:buNone/>
            </a:pPr>
            <a:r>
              <a:rPr lang="en-US" dirty="0"/>
              <a:t>Optical flow algorithms track image-to-image motion   </a:t>
            </a:r>
          </a:p>
          <a:p>
            <a:r>
              <a:rPr lang="en-US" dirty="0"/>
              <a:t>Optical flow fields provide </a:t>
            </a:r>
            <a:r>
              <a:rPr lang="en-US" b="1" dirty="0"/>
              <a:t>pixel-by-pixel (dense) motion </a:t>
            </a:r>
            <a:r>
              <a:rPr lang="en-US" dirty="0"/>
              <a:t>from video  </a:t>
            </a:r>
          </a:p>
          <a:p>
            <a:r>
              <a:rPr lang="en-US" dirty="0"/>
              <a:t>Optical flow algorithms have many applications: </a:t>
            </a:r>
          </a:p>
          <a:p>
            <a:pPr lvl="1"/>
            <a:r>
              <a:rPr lang="en-US" dirty="0"/>
              <a:t>Autonomous vehicles</a:t>
            </a:r>
          </a:p>
          <a:p>
            <a:pPr lvl="1"/>
            <a:r>
              <a:rPr lang="en-US" dirty="0"/>
              <a:t>Robotics</a:t>
            </a:r>
          </a:p>
          <a:p>
            <a:pPr lvl="1"/>
            <a:r>
              <a:rPr lang="en-US" dirty="0"/>
              <a:t>Action recognition  </a:t>
            </a:r>
          </a:p>
          <a:p>
            <a:pPr lvl="1"/>
            <a:r>
              <a:rPr lang="en-US" dirty="0"/>
              <a:t>Augmented reality </a:t>
            </a:r>
          </a:p>
          <a:p>
            <a:pPr lvl="1"/>
            <a:r>
              <a:rPr lang="en-US" dirty="0"/>
              <a:t>Compressing and deblurring video </a:t>
            </a:r>
          </a:p>
          <a:p>
            <a:pPr lvl="1"/>
            <a:r>
              <a:rPr lang="en-US" dirty="0"/>
              <a:t>Object tracking</a:t>
            </a:r>
          </a:p>
          <a:p>
            <a:pPr lvl="1"/>
            <a:r>
              <a:rPr lang="en-US" dirty="0"/>
              <a:t>Science – e.g. measuring flow fields</a:t>
            </a:r>
          </a:p>
          <a:p>
            <a:pPr lvl="1"/>
            <a:r>
              <a:rPr lang="en-US" dirty="0"/>
              <a:t>Military sensors</a:t>
            </a:r>
          </a:p>
          <a:p>
            <a:pPr lvl="1"/>
            <a:r>
              <a:rPr lang="en-US" dirty="0"/>
              <a:t>….</a:t>
            </a:r>
          </a:p>
          <a:p>
            <a:r>
              <a:rPr lang="en-US" dirty="0"/>
              <a:t>Like many areas of CV, optical flow is being revolutionized by deep NN algorithms 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38010557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DFB6AB4-96EB-434D-8BFC-6697DE744D7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89301" y="140193"/>
            <a:ext cx="10515600" cy="872004"/>
          </a:xfrm>
        </p:spPr>
        <p:txBody>
          <a:bodyPr>
            <a:normAutofit/>
          </a:bodyPr>
          <a:lstStyle/>
          <a:p>
            <a:r>
              <a:rPr lang="en-US" sz="4000" dirty="0">
                <a:latin typeface="+mn-lt"/>
              </a:rPr>
              <a:t>Optical Flow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DBC6555-A8E7-4F73-8035-156F702D141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89301" y="1124339"/>
            <a:ext cx="10515600" cy="5593468"/>
          </a:xfrm>
        </p:spPr>
        <p:txBody>
          <a:bodyPr>
            <a:normAutofit lnSpcReduction="10000"/>
          </a:bodyPr>
          <a:lstStyle/>
          <a:p>
            <a:pPr marL="0" indent="0">
              <a:buNone/>
            </a:pPr>
            <a:r>
              <a:rPr lang="en-US" dirty="0"/>
              <a:t>Optical flow algorithms track pixel-level image-to-image motion  </a:t>
            </a:r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endParaRPr lang="en-US" sz="1800" dirty="0"/>
          </a:p>
          <a:p>
            <a:pPr marL="0" indent="0">
              <a:buNone/>
            </a:pPr>
            <a:endParaRPr lang="en-US" sz="1800" dirty="0"/>
          </a:p>
          <a:p>
            <a:pPr marL="0" indent="0">
              <a:buNone/>
            </a:pPr>
            <a:r>
              <a:rPr lang="en-US" sz="1800" dirty="0"/>
              <a:t>Credit </a:t>
            </a:r>
            <a:r>
              <a:rPr lang="en-US" sz="1800" dirty="0">
                <a:hlinkClick r:id="rId2"/>
              </a:rPr>
              <a:t>Sun, et. al., 2018</a:t>
            </a:r>
            <a:endParaRPr lang="en-US" sz="1800" dirty="0"/>
          </a:p>
          <a:p>
            <a:pPr marL="0" indent="0">
              <a:buNone/>
            </a:pPr>
            <a:r>
              <a:rPr lang="en-US" sz="1800" dirty="0">
                <a:hlinkClick r:id="rId3"/>
              </a:rPr>
              <a:t>TensorFlow implementation  </a:t>
            </a:r>
            <a:endParaRPr lang="en-US" sz="1800" b="1" dirty="0"/>
          </a:p>
          <a:p>
            <a:endParaRPr lang="en-US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521293D0-BB50-465C-AFA6-10824FD07537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93937" y="1545515"/>
            <a:ext cx="10036395" cy="441601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47389738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DFB6AB4-96EB-434D-8BFC-6697DE744D7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89301" y="140193"/>
            <a:ext cx="10515600" cy="872004"/>
          </a:xfrm>
        </p:spPr>
        <p:txBody>
          <a:bodyPr>
            <a:normAutofit/>
          </a:bodyPr>
          <a:lstStyle/>
          <a:p>
            <a:r>
              <a:rPr lang="en-US" sz="4000" dirty="0">
                <a:latin typeface="+mn-lt"/>
              </a:rPr>
              <a:t>Optical Flow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DBC6555-A8E7-4F73-8035-156F702D141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89301" y="1124339"/>
            <a:ext cx="10515600" cy="5593468"/>
          </a:xfrm>
        </p:spPr>
        <p:txBody>
          <a:bodyPr>
            <a:normAutofit lnSpcReduction="10000"/>
          </a:bodyPr>
          <a:lstStyle/>
          <a:p>
            <a:pPr marL="0" indent="0">
              <a:buNone/>
            </a:pPr>
            <a:r>
              <a:rPr lang="en-US" dirty="0"/>
              <a:t>Pixel-level optical flow field estimation for autonomous vehicles</a:t>
            </a:r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r>
              <a:rPr lang="en-US" sz="1400" dirty="0"/>
              <a:t>Credit, Kris </a:t>
            </a:r>
            <a:r>
              <a:rPr lang="en-US" sz="1400" dirty="0" err="1"/>
              <a:t>Kitani</a:t>
            </a:r>
            <a:r>
              <a:rPr lang="en-US" sz="1400" dirty="0"/>
              <a:t> - CMU</a:t>
            </a: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8260B01F-65C4-4A35-9248-B0766560FF7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65797" y="1557696"/>
            <a:ext cx="8822636" cy="470317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85629630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DFB6AB4-96EB-434D-8BFC-6697DE744D7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89301" y="140193"/>
            <a:ext cx="10515600" cy="872004"/>
          </a:xfrm>
        </p:spPr>
        <p:txBody>
          <a:bodyPr>
            <a:normAutofit/>
          </a:bodyPr>
          <a:lstStyle/>
          <a:p>
            <a:r>
              <a:rPr lang="en-US" sz="4000" dirty="0">
                <a:latin typeface="+mn-lt"/>
              </a:rPr>
              <a:t>Optical Flow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DBC6555-A8E7-4F73-8035-156F702D141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89301" y="1124339"/>
            <a:ext cx="10515600" cy="5593468"/>
          </a:xfrm>
        </p:spPr>
        <p:txBody>
          <a:bodyPr>
            <a:normAutofit fontScale="92500" lnSpcReduction="20000"/>
          </a:bodyPr>
          <a:lstStyle/>
          <a:p>
            <a:pPr marL="0" indent="0">
              <a:buNone/>
            </a:pPr>
            <a:r>
              <a:rPr lang="en-US" dirty="0"/>
              <a:t>Optical flow algorithms for mobile robot scene estimation using moving camera</a:t>
            </a:r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endParaRPr lang="en-US" sz="1800" dirty="0"/>
          </a:p>
          <a:p>
            <a:pPr marL="0" indent="0">
              <a:buNone/>
            </a:pPr>
            <a:endParaRPr lang="en-US" sz="1800" dirty="0"/>
          </a:p>
          <a:p>
            <a:pPr marL="0" indent="0">
              <a:buNone/>
            </a:pPr>
            <a:endParaRPr lang="en-US" sz="1800" dirty="0"/>
          </a:p>
          <a:p>
            <a:pPr marL="0" indent="0">
              <a:buNone/>
            </a:pPr>
            <a:endParaRPr lang="en-US" sz="1800" dirty="0"/>
          </a:p>
          <a:p>
            <a:pPr marL="0" indent="0">
              <a:buNone/>
            </a:pPr>
            <a:endParaRPr lang="en-US" sz="1800" dirty="0"/>
          </a:p>
          <a:p>
            <a:pPr marL="0" indent="0">
              <a:buNone/>
            </a:pPr>
            <a:r>
              <a:rPr lang="en-US" sz="1800" dirty="0"/>
              <a:t>Credit, Kris Kitani - CMU</a:t>
            </a:r>
          </a:p>
          <a:p>
            <a:pPr marL="0" indent="0">
              <a:buNone/>
            </a:pPr>
            <a:endParaRPr lang="en-US" sz="1800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97C9B768-6E61-4E0B-8A01-B89ED6F6968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81693" y="1626296"/>
            <a:ext cx="7642645" cy="453150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95297053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DFB6AB4-96EB-434D-8BFC-6697DE744D7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89301" y="140193"/>
            <a:ext cx="10515600" cy="872004"/>
          </a:xfrm>
        </p:spPr>
        <p:txBody>
          <a:bodyPr>
            <a:normAutofit/>
          </a:bodyPr>
          <a:lstStyle/>
          <a:p>
            <a:r>
              <a:rPr lang="en-US" sz="4000" dirty="0">
                <a:latin typeface="+mn-lt"/>
              </a:rPr>
              <a:t>Optical Flow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DBC6555-A8E7-4F73-8035-156F702D141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89301" y="1124339"/>
            <a:ext cx="10515600" cy="5593468"/>
          </a:xfrm>
        </p:spPr>
        <p:txBody>
          <a:bodyPr/>
          <a:lstStyle/>
          <a:p>
            <a:pPr marL="0" indent="0">
              <a:buNone/>
            </a:pPr>
            <a:r>
              <a:rPr lang="en-US" dirty="0"/>
              <a:t>Overview of lesson </a:t>
            </a:r>
          </a:p>
          <a:p>
            <a:r>
              <a:rPr lang="en-US" dirty="0"/>
              <a:t>What is the relationship between optical flow and projective transforms?</a:t>
            </a:r>
          </a:p>
          <a:p>
            <a:r>
              <a:rPr lang="en-US" dirty="0"/>
              <a:t>Small movement, consistency assumptions, and the iterative Lucas-Kanade (</a:t>
            </a:r>
            <a:r>
              <a:rPr lang="en-US" dirty="0" err="1"/>
              <a:t>iLK</a:t>
            </a:r>
            <a:r>
              <a:rPr lang="en-US" dirty="0"/>
              <a:t>) algorithm</a:t>
            </a:r>
          </a:p>
          <a:p>
            <a:r>
              <a:rPr lang="en-US" dirty="0"/>
              <a:t>Relationship between depth, camera pose and optical flow</a:t>
            </a:r>
          </a:p>
          <a:p>
            <a:r>
              <a:rPr lang="en-US" dirty="0"/>
              <a:t>Regularization with the</a:t>
            </a:r>
            <a:r>
              <a:rPr lang="en-US" b="1" dirty="0"/>
              <a:t> </a:t>
            </a:r>
            <a:r>
              <a:rPr lang="en-US" dirty="0"/>
              <a:t>Horn-</a:t>
            </a:r>
            <a:r>
              <a:rPr lang="en-US" dirty="0" err="1"/>
              <a:t>Schunck</a:t>
            </a:r>
            <a:r>
              <a:rPr lang="en-US" dirty="0"/>
              <a:t> algorithm </a:t>
            </a:r>
          </a:p>
          <a:p>
            <a:r>
              <a:rPr lang="en-US" dirty="0"/>
              <a:t>Improving performance with the LV-L1 algorithm   </a:t>
            </a:r>
          </a:p>
          <a:p>
            <a:r>
              <a:rPr lang="en-US" dirty="0"/>
              <a:t>Evaluation of optical flow algorithms </a:t>
            </a:r>
          </a:p>
          <a:p>
            <a:r>
              <a:rPr lang="en-US" dirty="0"/>
              <a:t>Deep NN algorithms for optical flow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996987970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Oval 10">
            <a:extLst>
              <a:ext uri="{FF2B5EF4-FFF2-40B4-BE49-F238E27FC236}">
                <a16:creationId xmlns:a16="http://schemas.microsoft.com/office/drawing/2014/main" id="{26D457DF-C899-F7D4-5248-F030ADC28D1B}"/>
              </a:ext>
            </a:extLst>
          </p:cNvPr>
          <p:cNvSpPr/>
          <p:nvPr/>
        </p:nvSpPr>
        <p:spPr>
          <a:xfrm>
            <a:off x="8172250" y="4187098"/>
            <a:ext cx="2498651" cy="2379375"/>
          </a:xfrm>
          <a:prstGeom prst="ellipse">
            <a:avLst/>
          </a:prstGeom>
          <a:solidFill>
            <a:schemeClr val="accent6">
              <a:lumMod val="40000"/>
              <a:lumOff val="6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Oval 9">
            <a:extLst>
              <a:ext uri="{FF2B5EF4-FFF2-40B4-BE49-F238E27FC236}">
                <a16:creationId xmlns:a16="http://schemas.microsoft.com/office/drawing/2014/main" id="{9762BDD1-DA1C-95A9-B2DD-D8D58607BA85}"/>
              </a:ext>
            </a:extLst>
          </p:cNvPr>
          <p:cNvSpPr/>
          <p:nvPr/>
        </p:nvSpPr>
        <p:spPr>
          <a:xfrm>
            <a:off x="8491226" y="4477175"/>
            <a:ext cx="1855381" cy="1744469"/>
          </a:xfrm>
          <a:prstGeom prst="ellipse">
            <a:avLst/>
          </a:prstGeom>
          <a:solidFill>
            <a:schemeClr val="bg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DDFB6AB4-96EB-434D-8BFC-6697DE744D7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89301" y="140193"/>
            <a:ext cx="10515600" cy="872004"/>
          </a:xfrm>
        </p:spPr>
        <p:txBody>
          <a:bodyPr>
            <a:normAutofit/>
          </a:bodyPr>
          <a:lstStyle/>
          <a:p>
            <a:r>
              <a:rPr lang="en-US" sz="4000" dirty="0">
                <a:latin typeface="+mn-lt"/>
              </a:rPr>
              <a:t>Measuring Optical Flow is a Difficult Task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DBC6555-A8E7-4F73-8035-156F702D141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89301" y="1124339"/>
            <a:ext cx="10515600" cy="584283"/>
          </a:xfrm>
        </p:spPr>
        <p:txBody>
          <a:bodyPr/>
          <a:lstStyle/>
          <a:p>
            <a:pPr marL="0" indent="0">
              <a:buNone/>
            </a:pPr>
            <a:r>
              <a:rPr lang="en-US" dirty="0"/>
              <a:t>Several factors make optical flow a difficult task</a:t>
            </a:r>
          </a:p>
        </p:txBody>
      </p:sp>
      <p:sp>
        <p:nvSpPr>
          <p:cNvPr id="4" name="Content Placeholder 2">
            <a:extLst>
              <a:ext uri="{FF2B5EF4-FFF2-40B4-BE49-F238E27FC236}">
                <a16:creationId xmlns:a16="http://schemas.microsoft.com/office/drawing/2014/main" id="{6A58AC0E-FF4C-EC33-A030-BA965D03DCDD}"/>
              </a:ext>
            </a:extLst>
          </p:cNvPr>
          <p:cNvSpPr txBox="1">
            <a:spLocks/>
          </p:cNvSpPr>
          <p:nvPr/>
        </p:nvSpPr>
        <p:spPr>
          <a:xfrm>
            <a:off x="780557" y="1964858"/>
            <a:ext cx="5522672" cy="4897044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514350" indent="-514350">
              <a:buFont typeface="+mj-lt"/>
              <a:buAutoNum type="arabicPeriod"/>
            </a:pPr>
            <a:r>
              <a:rPr lang="en-US" dirty="0"/>
              <a:t>Flow cannot be measured in regions of low or no gradient </a:t>
            </a:r>
          </a:p>
          <a:p>
            <a:pPr lvl="1"/>
            <a:r>
              <a:rPr lang="en-US" dirty="0"/>
              <a:t>Example: road surface in front of autonomous vehicle looks uniform</a:t>
            </a:r>
          </a:p>
          <a:p>
            <a:pPr lvl="1"/>
            <a:r>
              <a:rPr lang="en-US" dirty="0"/>
              <a:t>Example: The central pixels uniform area on and image have low contrast differences</a:t>
            </a:r>
          </a:p>
          <a:p>
            <a:pPr lvl="1"/>
            <a:r>
              <a:rPr lang="en-US" dirty="0"/>
              <a:t>Example: Motion is not visible in rotating low contrast disks</a:t>
            </a:r>
          </a:p>
          <a:p>
            <a:pPr lvl="1"/>
            <a:r>
              <a:rPr lang="en-US" dirty="0"/>
              <a:t>Example: Motion is difficult to detect in (semi) transparent objects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478748B4-A971-5CC4-8A94-198DB87C1FC7}"/>
              </a:ext>
            </a:extLst>
          </p:cNvPr>
          <p:cNvSpPr/>
          <p:nvPr/>
        </p:nvSpPr>
        <p:spPr>
          <a:xfrm>
            <a:off x="7774527" y="1642730"/>
            <a:ext cx="3391118" cy="2303995"/>
          </a:xfrm>
          <a:prstGeom prst="rect">
            <a:avLst/>
          </a:prstGeom>
          <a:solidFill>
            <a:schemeClr val="accent1">
              <a:lumMod val="40000"/>
              <a:lumOff val="6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Oval 5">
            <a:extLst>
              <a:ext uri="{FF2B5EF4-FFF2-40B4-BE49-F238E27FC236}">
                <a16:creationId xmlns:a16="http://schemas.microsoft.com/office/drawing/2014/main" id="{F06F8AE5-05F1-B543-6896-B3352231002A}"/>
              </a:ext>
            </a:extLst>
          </p:cNvPr>
          <p:cNvSpPr/>
          <p:nvPr/>
        </p:nvSpPr>
        <p:spPr>
          <a:xfrm>
            <a:off x="8767673" y="4758938"/>
            <a:ext cx="1297172" cy="1198875"/>
          </a:xfrm>
          <a:prstGeom prst="ellipse">
            <a:avLst/>
          </a:prstGeom>
          <a:solidFill>
            <a:schemeClr val="accent2">
              <a:lumMod val="40000"/>
              <a:lumOff val="6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Arrow: Curved Right 6">
            <a:extLst>
              <a:ext uri="{FF2B5EF4-FFF2-40B4-BE49-F238E27FC236}">
                <a16:creationId xmlns:a16="http://schemas.microsoft.com/office/drawing/2014/main" id="{9490E746-601F-6D5A-317E-7AAAF7A5719C}"/>
              </a:ext>
            </a:extLst>
          </p:cNvPr>
          <p:cNvSpPr/>
          <p:nvPr/>
        </p:nvSpPr>
        <p:spPr>
          <a:xfrm>
            <a:off x="8923683" y="5041209"/>
            <a:ext cx="430619" cy="584283"/>
          </a:xfrm>
          <a:prstGeom prst="curvedRightArrow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68812B52-D7E2-62FC-FE83-14975A17C7A0}"/>
              </a:ext>
            </a:extLst>
          </p:cNvPr>
          <p:cNvSpPr txBox="1"/>
          <p:nvPr/>
        </p:nvSpPr>
        <p:spPr>
          <a:xfrm>
            <a:off x="9101004" y="5040717"/>
            <a:ext cx="630510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b="1" dirty="0"/>
              <a:t>?</a:t>
            </a:r>
          </a:p>
        </p:txBody>
      </p:sp>
      <p:sp>
        <p:nvSpPr>
          <p:cNvPr id="9" name="Arrow: Curved Left 8">
            <a:extLst>
              <a:ext uri="{FF2B5EF4-FFF2-40B4-BE49-F238E27FC236}">
                <a16:creationId xmlns:a16="http://schemas.microsoft.com/office/drawing/2014/main" id="{2F755861-09E5-6F5B-7E07-81C5FBB85E0E}"/>
              </a:ext>
            </a:extLst>
          </p:cNvPr>
          <p:cNvSpPr/>
          <p:nvPr/>
        </p:nvSpPr>
        <p:spPr>
          <a:xfrm>
            <a:off x="9475513" y="5041209"/>
            <a:ext cx="430619" cy="584283"/>
          </a:xfrm>
          <a:prstGeom prst="curvedLeftArrow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12" name="Arrow: Curved Left 11">
            <a:extLst>
              <a:ext uri="{FF2B5EF4-FFF2-40B4-BE49-F238E27FC236}">
                <a16:creationId xmlns:a16="http://schemas.microsoft.com/office/drawing/2014/main" id="{2B3D2824-DCD0-8B65-4002-F8756C476ABD}"/>
              </a:ext>
            </a:extLst>
          </p:cNvPr>
          <p:cNvSpPr/>
          <p:nvPr/>
        </p:nvSpPr>
        <p:spPr>
          <a:xfrm>
            <a:off x="9970746" y="4413381"/>
            <a:ext cx="553182" cy="1982972"/>
          </a:xfrm>
          <a:prstGeom prst="curvedLeftArrow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14" name="Arrow: Curved Right 13">
            <a:extLst>
              <a:ext uri="{FF2B5EF4-FFF2-40B4-BE49-F238E27FC236}">
                <a16:creationId xmlns:a16="http://schemas.microsoft.com/office/drawing/2014/main" id="{EE183A7F-6821-8478-2002-A90B09277733}"/>
              </a:ext>
            </a:extLst>
          </p:cNvPr>
          <p:cNvSpPr/>
          <p:nvPr/>
        </p:nvSpPr>
        <p:spPr>
          <a:xfrm>
            <a:off x="8313906" y="4413380"/>
            <a:ext cx="609778" cy="1982973"/>
          </a:xfrm>
          <a:prstGeom prst="curvedRightArrow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3D853759-D634-574A-C5C8-A2A6971051B1}"/>
              </a:ext>
            </a:extLst>
          </p:cNvPr>
          <p:cNvSpPr txBox="1"/>
          <p:nvPr/>
        </p:nvSpPr>
        <p:spPr>
          <a:xfrm>
            <a:off x="9185775" y="6095417"/>
            <a:ext cx="630510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b="1" dirty="0"/>
              <a:t>?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2C4DCAB5-F002-FA43-55D1-77E476A2C0FB}"/>
              </a:ext>
            </a:extLst>
          </p:cNvPr>
          <p:cNvSpPr txBox="1"/>
          <p:nvPr/>
        </p:nvSpPr>
        <p:spPr>
          <a:xfrm>
            <a:off x="9170601" y="4060444"/>
            <a:ext cx="630510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b="1" dirty="0"/>
              <a:t>?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8C295508-E215-D78A-4C79-F5A405D955C2}"/>
              </a:ext>
            </a:extLst>
          </p:cNvPr>
          <p:cNvSpPr txBox="1"/>
          <p:nvPr/>
        </p:nvSpPr>
        <p:spPr>
          <a:xfrm>
            <a:off x="9232782" y="2505468"/>
            <a:ext cx="630510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b="1" dirty="0"/>
              <a:t>?</a:t>
            </a:r>
          </a:p>
        </p:txBody>
      </p:sp>
      <p:sp>
        <p:nvSpPr>
          <p:cNvPr id="18" name="Arrow: Right 17">
            <a:extLst>
              <a:ext uri="{FF2B5EF4-FFF2-40B4-BE49-F238E27FC236}">
                <a16:creationId xmlns:a16="http://schemas.microsoft.com/office/drawing/2014/main" id="{3AF6A6AE-3B22-56AA-87D8-E0A2E1F07564}"/>
              </a:ext>
            </a:extLst>
          </p:cNvPr>
          <p:cNvSpPr/>
          <p:nvPr/>
        </p:nvSpPr>
        <p:spPr>
          <a:xfrm>
            <a:off x="9863292" y="2708888"/>
            <a:ext cx="419789" cy="253768"/>
          </a:xfrm>
          <a:prstGeom prst="rightArrow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9" name="Arrow: Right 18">
            <a:extLst>
              <a:ext uri="{FF2B5EF4-FFF2-40B4-BE49-F238E27FC236}">
                <a16:creationId xmlns:a16="http://schemas.microsoft.com/office/drawing/2014/main" id="{9F589CEB-3EA8-6E7B-7D3B-B1589434EC5D}"/>
              </a:ext>
            </a:extLst>
          </p:cNvPr>
          <p:cNvSpPr/>
          <p:nvPr/>
        </p:nvSpPr>
        <p:spPr>
          <a:xfrm rot="10800000">
            <a:off x="8877517" y="2664823"/>
            <a:ext cx="393252" cy="254454"/>
          </a:xfrm>
          <a:prstGeom prst="rightArrow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0" name="Arrow: Right 19">
            <a:extLst>
              <a:ext uri="{FF2B5EF4-FFF2-40B4-BE49-F238E27FC236}">
                <a16:creationId xmlns:a16="http://schemas.microsoft.com/office/drawing/2014/main" id="{FCA3F7D5-CCB1-EBA1-EFF3-35531464D314}"/>
              </a:ext>
            </a:extLst>
          </p:cNvPr>
          <p:cNvSpPr/>
          <p:nvPr/>
        </p:nvSpPr>
        <p:spPr>
          <a:xfrm rot="5400000">
            <a:off x="9382956" y="3119318"/>
            <a:ext cx="369567" cy="249800"/>
          </a:xfrm>
          <a:prstGeom prst="rightArrow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1" name="Arrow: Right 20">
            <a:extLst>
              <a:ext uri="{FF2B5EF4-FFF2-40B4-BE49-F238E27FC236}">
                <a16:creationId xmlns:a16="http://schemas.microsoft.com/office/drawing/2014/main" id="{E57C9E70-8806-B456-13AB-4AE061EBF9DB}"/>
              </a:ext>
            </a:extLst>
          </p:cNvPr>
          <p:cNvSpPr/>
          <p:nvPr/>
        </p:nvSpPr>
        <p:spPr>
          <a:xfrm rot="16200000">
            <a:off x="9399203" y="2270649"/>
            <a:ext cx="337075" cy="249799"/>
          </a:xfrm>
          <a:prstGeom prst="rightArrow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23" name="Straight Arrow Connector 22">
            <a:extLst>
              <a:ext uri="{FF2B5EF4-FFF2-40B4-BE49-F238E27FC236}">
                <a16:creationId xmlns:a16="http://schemas.microsoft.com/office/drawing/2014/main" id="{D2A00598-4586-E676-51FC-13717CCA160A}"/>
              </a:ext>
            </a:extLst>
          </p:cNvPr>
          <p:cNvCxnSpPr>
            <a:cxnSpLocks/>
          </p:cNvCxnSpPr>
          <p:nvPr/>
        </p:nvCxnSpPr>
        <p:spPr>
          <a:xfrm flipV="1">
            <a:off x="6173861" y="2962656"/>
            <a:ext cx="1551943" cy="757646"/>
          </a:xfrm>
          <a:prstGeom prst="straightConnector1">
            <a:avLst/>
          </a:prstGeom>
          <a:ln w="34925">
            <a:solidFill>
              <a:srgbClr val="C0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6" name="Straight Arrow Connector 25">
            <a:extLst>
              <a:ext uri="{FF2B5EF4-FFF2-40B4-BE49-F238E27FC236}">
                <a16:creationId xmlns:a16="http://schemas.microsoft.com/office/drawing/2014/main" id="{AC6D20D9-CEAF-2D40-01F9-29BB44670214}"/>
              </a:ext>
            </a:extLst>
          </p:cNvPr>
          <p:cNvCxnSpPr>
            <a:cxnSpLocks/>
          </p:cNvCxnSpPr>
          <p:nvPr/>
        </p:nvCxnSpPr>
        <p:spPr>
          <a:xfrm>
            <a:off x="5725633" y="4837814"/>
            <a:ext cx="2206583" cy="377456"/>
          </a:xfrm>
          <a:prstGeom prst="straightConnector1">
            <a:avLst/>
          </a:prstGeom>
          <a:ln w="34925">
            <a:solidFill>
              <a:srgbClr val="C0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32024861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5" fill="hold">
                      <p:stCondLst>
                        <p:cond delay="indefinite"/>
                      </p:stCondLst>
                      <p:childTnLst>
                        <p:par>
                          <p:cTn id="56" fill="hold">
                            <p:stCondLst>
                              <p:cond delay="0"/>
                            </p:stCondLst>
                            <p:childTnLst>
                              <p:par>
                                <p:cTn id="5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" grpId="0" animBg="1"/>
      <p:bldP spid="10" grpId="0" animBg="1"/>
      <p:bldP spid="5" grpId="0" animBg="1"/>
      <p:bldP spid="6" grpId="0" animBg="1"/>
      <p:bldP spid="7" grpId="0" animBg="1"/>
      <p:bldP spid="8" grpId="0"/>
      <p:bldP spid="9" grpId="0" animBg="1"/>
      <p:bldP spid="12" grpId="0" animBg="1"/>
      <p:bldP spid="14" grpId="0" animBg="1"/>
      <p:bldP spid="15" grpId="0"/>
      <p:bldP spid="16" grpId="0"/>
      <p:bldP spid="17" grpId="0"/>
      <p:bldP spid="18" grpId="0" animBg="1"/>
      <p:bldP spid="19" grpId="0" animBg="1"/>
      <p:bldP spid="20" grpId="0" animBg="1"/>
      <p:bldP spid="21" grpId="0" animBg="1"/>
    </p:bld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778D3FA-3488-BAB4-8D56-7740DB54974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DC44076-0BCF-26BA-122C-7A731E3B92C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89301" y="140193"/>
            <a:ext cx="10515600" cy="872004"/>
          </a:xfrm>
        </p:spPr>
        <p:txBody>
          <a:bodyPr>
            <a:normAutofit/>
          </a:bodyPr>
          <a:lstStyle/>
          <a:p>
            <a:r>
              <a:rPr lang="en-US" sz="4000" dirty="0">
                <a:latin typeface="+mn-lt"/>
              </a:rPr>
              <a:t>Measuring Optical Flow is a Difficult Task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5075175-D741-CCC9-D7CA-E62B53B0567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89301" y="1124339"/>
            <a:ext cx="10515600" cy="584283"/>
          </a:xfrm>
        </p:spPr>
        <p:txBody>
          <a:bodyPr/>
          <a:lstStyle/>
          <a:p>
            <a:pPr marL="0" indent="0">
              <a:buNone/>
            </a:pPr>
            <a:r>
              <a:rPr lang="en-US" dirty="0"/>
              <a:t>Several factors make optical flow a difficult task</a:t>
            </a:r>
          </a:p>
        </p:txBody>
      </p:sp>
      <p:sp>
        <p:nvSpPr>
          <p:cNvPr id="4" name="Content Placeholder 2">
            <a:extLst>
              <a:ext uri="{FF2B5EF4-FFF2-40B4-BE49-F238E27FC236}">
                <a16:creationId xmlns:a16="http://schemas.microsoft.com/office/drawing/2014/main" id="{F9710C39-7707-3E87-AA7A-A19434B0D17C}"/>
              </a:ext>
            </a:extLst>
          </p:cNvPr>
          <p:cNvSpPr txBox="1">
            <a:spLocks/>
          </p:cNvSpPr>
          <p:nvPr/>
        </p:nvSpPr>
        <p:spPr>
          <a:xfrm>
            <a:off x="789301" y="1820763"/>
            <a:ext cx="5219613" cy="3597709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514350" indent="-514350">
              <a:buFont typeface="+mj-lt"/>
              <a:buAutoNum type="arabicPeriod" startAt="2"/>
            </a:pPr>
            <a:r>
              <a:rPr lang="en-US" dirty="0"/>
              <a:t>Limits of aperture obscure motion </a:t>
            </a:r>
          </a:p>
          <a:p>
            <a:pPr lvl="1"/>
            <a:r>
              <a:rPr lang="en-US" dirty="0"/>
              <a:t>Two objects in scene</a:t>
            </a:r>
          </a:p>
          <a:p>
            <a:pPr lvl="1"/>
            <a:r>
              <a:rPr lang="en-US" dirty="0"/>
              <a:t>Image plane of camera may not contain entire object</a:t>
            </a:r>
          </a:p>
          <a:p>
            <a:pPr lvl="1"/>
            <a:r>
              <a:rPr lang="en-US" dirty="0"/>
              <a:t>Motion perpendicular to visible edges is apparent</a:t>
            </a:r>
          </a:p>
          <a:p>
            <a:pPr lvl="1"/>
            <a:r>
              <a:rPr lang="en-US" dirty="0"/>
              <a:t>Motion parallel to edges is obscured! </a:t>
            </a:r>
          </a:p>
          <a:p>
            <a:pPr lvl="1"/>
            <a:endParaRPr lang="en-US" dirty="0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42A84581-CB61-0EC9-322B-589F2C502057}"/>
              </a:ext>
            </a:extLst>
          </p:cNvPr>
          <p:cNvSpPr/>
          <p:nvPr/>
        </p:nvSpPr>
        <p:spPr>
          <a:xfrm rot="19246312">
            <a:off x="8674485" y="1351203"/>
            <a:ext cx="445787" cy="5611407"/>
          </a:xfrm>
          <a:prstGeom prst="rect">
            <a:avLst/>
          </a:prstGeom>
          <a:solidFill>
            <a:schemeClr val="accent4">
              <a:lumMod val="40000"/>
              <a:lumOff val="6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A52E7982-97AA-F2D0-DD7E-3CDD59619769}"/>
              </a:ext>
            </a:extLst>
          </p:cNvPr>
          <p:cNvSpPr/>
          <p:nvPr/>
        </p:nvSpPr>
        <p:spPr>
          <a:xfrm rot="19246312">
            <a:off x="9889790" y="1297381"/>
            <a:ext cx="390518" cy="5193785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7BEC16C6-92F2-D799-E4E7-CF7418BD5FD1}"/>
              </a:ext>
            </a:extLst>
          </p:cNvPr>
          <p:cNvSpPr txBox="1"/>
          <p:nvPr/>
        </p:nvSpPr>
        <p:spPr>
          <a:xfrm>
            <a:off x="8919122" y="2590528"/>
            <a:ext cx="630510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b="1" dirty="0"/>
              <a:t>?</a:t>
            </a:r>
          </a:p>
        </p:txBody>
      </p:sp>
      <p:sp>
        <p:nvSpPr>
          <p:cNvPr id="10" name="Arrow: Right 9">
            <a:extLst>
              <a:ext uri="{FF2B5EF4-FFF2-40B4-BE49-F238E27FC236}">
                <a16:creationId xmlns:a16="http://schemas.microsoft.com/office/drawing/2014/main" id="{64BD4DA3-8BF2-D19D-7359-FA082832EF6F}"/>
              </a:ext>
            </a:extLst>
          </p:cNvPr>
          <p:cNvSpPr/>
          <p:nvPr/>
        </p:nvSpPr>
        <p:spPr>
          <a:xfrm rot="13890328">
            <a:off x="8863181" y="2388043"/>
            <a:ext cx="337075" cy="249799"/>
          </a:xfrm>
          <a:prstGeom prst="rightArrow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Arrow: Right 10">
            <a:extLst>
              <a:ext uri="{FF2B5EF4-FFF2-40B4-BE49-F238E27FC236}">
                <a16:creationId xmlns:a16="http://schemas.microsoft.com/office/drawing/2014/main" id="{78DF74D5-0B93-0386-689E-AD4551AFCCD4}"/>
              </a:ext>
            </a:extLst>
          </p:cNvPr>
          <p:cNvSpPr/>
          <p:nvPr/>
        </p:nvSpPr>
        <p:spPr>
          <a:xfrm rot="3198878">
            <a:off x="9318610" y="2984249"/>
            <a:ext cx="337075" cy="249799"/>
          </a:xfrm>
          <a:prstGeom prst="rightArrow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6659E115-B14F-B95B-A210-BB8CC2493920}"/>
              </a:ext>
            </a:extLst>
          </p:cNvPr>
          <p:cNvSpPr txBox="1"/>
          <p:nvPr/>
        </p:nvSpPr>
        <p:spPr>
          <a:xfrm>
            <a:off x="7798187" y="3011323"/>
            <a:ext cx="630510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b="1" dirty="0"/>
              <a:t>?</a:t>
            </a:r>
          </a:p>
        </p:txBody>
      </p:sp>
      <p:sp>
        <p:nvSpPr>
          <p:cNvPr id="13" name="Arrow: Right 12">
            <a:extLst>
              <a:ext uri="{FF2B5EF4-FFF2-40B4-BE49-F238E27FC236}">
                <a16:creationId xmlns:a16="http://schemas.microsoft.com/office/drawing/2014/main" id="{1534B15C-E1AF-8463-CCCB-071592923697}"/>
              </a:ext>
            </a:extLst>
          </p:cNvPr>
          <p:cNvSpPr/>
          <p:nvPr/>
        </p:nvSpPr>
        <p:spPr>
          <a:xfrm rot="13890328">
            <a:off x="7742246" y="2808838"/>
            <a:ext cx="337075" cy="249799"/>
          </a:xfrm>
          <a:prstGeom prst="rightArrow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Arrow: Right 13">
            <a:extLst>
              <a:ext uri="{FF2B5EF4-FFF2-40B4-BE49-F238E27FC236}">
                <a16:creationId xmlns:a16="http://schemas.microsoft.com/office/drawing/2014/main" id="{3A42A261-8E4E-DB89-14FC-CFBE717EA1D1}"/>
              </a:ext>
            </a:extLst>
          </p:cNvPr>
          <p:cNvSpPr/>
          <p:nvPr/>
        </p:nvSpPr>
        <p:spPr>
          <a:xfrm rot="3198878">
            <a:off x="8197675" y="3405044"/>
            <a:ext cx="337075" cy="249799"/>
          </a:xfrm>
          <a:prstGeom prst="rightArrow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Arrow: Right 15">
            <a:extLst>
              <a:ext uri="{FF2B5EF4-FFF2-40B4-BE49-F238E27FC236}">
                <a16:creationId xmlns:a16="http://schemas.microsoft.com/office/drawing/2014/main" id="{2F3AA8B3-ADD2-4DB5-B2D2-4E3D780CBD83}"/>
              </a:ext>
            </a:extLst>
          </p:cNvPr>
          <p:cNvSpPr/>
          <p:nvPr/>
        </p:nvSpPr>
        <p:spPr>
          <a:xfrm rot="8349760">
            <a:off x="8260159" y="4236389"/>
            <a:ext cx="337075" cy="249799"/>
          </a:xfrm>
          <a:prstGeom prst="rightArrow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7" name="Arrow: Right 16">
            <a:extLst>
              <a:ext uri="{FF2B5EF4-FFF2-40B4-BE49-F238E27FC236}">
                <a16:creationId xmlns:a16="http://schemas.microsoft.com/office/drawing/2014/main" id="{E5CA495B-2B5C-2467-FAC7-81E428FB36AB}"/>
              </a:ext>
            </a:extLst>
          </p:cNvPr>
          <p:cNvSpPr/>
          <p:nvPr/>
        </p:nvSpPr>
        <p:spPr>
          <a:xfrm rot="8349760">
            <a:off x="9649092" y="4089539"/>
            <a:ext cx="337075" cy="249799"/>
          </a:xfrm>
          <a:prstGeom prst="rightArrow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8" name="Arrow: Right 17">
            <a:extLst>
              <a:ext uri="{FF2B5EF4-FFF2-40B4-BE49-F238E27FC236}">
                <a16:creationId xmlns:a16="http://schemas.microsoft.com/office/drawing/2014/main" id="{A1998754-9520-866C-28A5-D5F4B702AB53}"/>
              </a:ext>
            </a:extLst>
          </p:cNvPr>
          <p:cNvSpPr/>
          <p:nvPr/>
        </p:nvSpPr>
        <p:spPr>
          <a:xfrm rot="19164491">
            <a:off x="10388625" y="3564868"/>
            <a:ext cx="337075" cy="249799"/>
          </a:xfrm>
          <a:prstGeom prst="rightArrow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9" name="Arrow: Right 18">
            <a:extLst>
              <a:ext uri="{FF2B5EF4-FFF2-40B4-BE49-F238E27FC236}">
                <a16:creationId xmlns:a16="http://schemas.microsoft.com/office/drawing/2014/main" id="{15918FC9-7EF8-9616-6877-FABCAD9C9E5F}"/>
              </a:ext>
            </a:extLst>
          </p:cNvPr>
          <p:cNvSpPr/>
          <p:nvPr/>
        </p:nvSpPr>
        <p:spPr>
          <a:xfrm rot="19164491">
            <a:off x="9061843" y="3690359"/>
            <a:ext cx="337075" cy="249799"/>
          </a:xfrm>
          <a:prstGeom prst="rightArrow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3294A878-0EA5-1C33-E94E-AE89B417A4C1}"/>
              </a:ext>
            </a:extLst>
          </p:cNvPr>
          <p:cNvSpPr/>
          <p:nvPr/>
        </p:nvSpPr>
        <p:spPr>
          <a:xfrm>
            <a:off x="7107865" y="2259420"/>
            <a:ext cx="4508205" cy="3115338"/>
          </a:xfrm>
          <a:prstGeom prst="rect">
            <a:avLst/>
          </a:prstGeom>
          <a:solidFill>
            <a:schemeClr val="bg2">
              <a:lumMod val="75000"/>
              <a:alpha val="38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603628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animBg="1"/>
      <p:bldP spid="6" grpId="0" animBg="1"/>
      <p:bldP spid="9" grpId="0"/>
      <p:bldP spid="10" grpId="0" animBg="1"/>
      <p:bldP spid="11" grpId="0" animBg="1"/>
      <p:bldP spid="12" grpId="0"/>
      <p:bldP spid="13" grpId="0" animBg="1"/>
      <p:bldP spid="14" grpId="0" animBg="1"/>
      <p:bldP spid="16" grpId="0" animBg="1"/>
      <p:bldP spid="17" grpId="0" animBg="1"/>
      <p:bldP spid="18" grpId="0" animBg="1"/>
      <p:bldP spid="19" grpId="0" animBg="1"/>
      <p:bldP spid="15" grpId="0" animBg="1"/>
    </p:bld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B71363E-33BE-AAF7-1A1E-9D9331640DD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31BD295-D847-B29C-EE4E-CEF43BC01B7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89301" y="140193"/>
            <a:ext cx="10515600" cy="872004"/>
          </a:xfrm>
        </p:spPr>
        <p:txBody>
          <a:bodyPr>
            <a:normAutofit/>
          </a:bodyPr>
          <a:lstStyle/>
          <a:p>
            <a:r>
              <a:rPr lang="en-US" sz="4000" dirty="0">
                <a:latin typeface="+mn-lt"/>
              </a:rPr>
              <a:t>Measuring Optical Flow is a Difficult Task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AAAE4A0-E875-D30B-5968-825763298B6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89301" y="1124339"/>
            <a:ext cx="10515600" cy="5593468"/>
          </a:xfrm>
        </p:spPr>
        <p:txBody>
          <a:bodyPr/>
          <a:lstStyle/>
          <a:p>
            <a:pPr marL="0" indent="0">
              <a:buNone/>
            </a:pPr>
            <a:r>
              <a:rPr lang="en-US" dirty="0"/>
              <a:t>Several factors make optical flow a difficult task</a:t>
            </a:r>
          </a:p>
          <a:p>
            <a:pPr marL="514350" indent="-514350">
              <a:buFont typeface="+mj-lt"/>
              <a:buAutoNum type="arabicPeriod" startAt="3"/>
            </a:pPr>
            <a:r>
              <a:rPr lang="en-US" dirty="0"/>
              <a:t>Flow occurs at many independent scales  </a:t>
            </a:r>
          </a:p>
          <a:p>
            <a:pPr lvl="1"/>
            <a:r>
              <a:rPr lang="en-US" dirty="0"/>
              <a:t>Example; camera moving in one direction objects moving in other directions</a:t>
            </a:r>
          </a:p>
          <a:p>
            <a:pPr lvl="1"/>
            <a:r>
              <a:rPr lang="en-US" dirty="0"/>
              <a:t>Example; small fast-moving ball and large slow-moving objects in scene</a:t>
            </a:r>
          </a:p>
          <a:p>
            <a:pPr lvl="1"/>
            <a:r>
              <a:rPr lang="en-US" dirty="0"/>
              <a:t>Example; flock of flying birds at different distances from the camera</a:t>
            </a:r>
          </a:p>
          <a:p>
            <a:pPr marL="514350" indent="-514350">
              <a:buFont typeface="+mj-lt"/>
              <a:buAutoNum type="arabicPeriod" startAt="4"/>
            </a:pPr>
            <a:r>
              <a:rPr lang="en-US" dirty="0"/>
              <a:t>Occlusions disrupt continuity of flow fields  </a:t>
            </a:r>
          </a:p>
          <a:p>
            <a:pPr lvl="1"/>
            <a:r>
              <a:rPr lang="en-US" dirty="0"/>
              <a:t>Example: fast-moving object goes behind larger slow-moving object</a:t>
            </a:r>
          </a:p>
          <a:p>
            <a:pPr lvl="1"/>
            <a:r>
              <a:rPr lang="en-US" dirty="0"/>
              <a:t>Example: a car emerges from a tunnel</a:t>
            </a:r>
          </a:p>
        </p:txBody>
      </p:sp>
    </p:spTree>
    <p:extLst>
      <p:ext uri="{BB962C8B-B14F-4D97-AF65-F5344CB8AC3E}">
        <p14:creationId xmlns:p14="http://schemas.microsoft.com/office/powerpoint/2010/main" val="119839250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D3C884C-706E-12A8-7C77-EB4A2C1FC6C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Parallelogram 3">
            <a:extLst>
              <a:ext uri="{FF2B5EF4-FFF2-40B4-BE49-F238E27FC236}">
                <a16:creationId xmlns:a16="http://schemas.microsoft.com/office/drawing/2014/main" id="{7996585F-D30C-34FF-12EC-825FFFD48200}"/>
              </a:ext>
            </a:extLst>
          </p:cNvPr>
          <p:cNvSpPr/>
          <p:nvPr/>
        </p:nvSpPr>
        <p:spPr>
          <a:xfrm rot="9954247">
            <a:off x="1757285" y="3005278"/>
            <a:ext cx="3624332" cy="2830316"/>
          </a:xfrm>
          <a:prstGeom prst="parallelogram">
            <a:avLst/>
          </a:prstGeom>
          <a:solidFill>
            <a:schemeClr val="bg2">
              <a:lumMod val="9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54" name="Straight Arrow Connector 53">
            <a:extLst>
              <a:ext uri="{FF2B5EF4-FFF2-40B4-BE49-F238E27FC236}">
                <a16:creationId xmlns:a16="http://schemas.microsoft.com/office/drawing/2014/main" id="{8944F321-EC99-EDF9-D993-78020F6B4B0D}"/>
              </a:ext>
            </a:extLst>
          </p:cNvPr>
          <p:cNvCxnSpPr>
            <a:cxnSpLocks/>
          </p:cNvCxnSpPr>
          <p:nvPr/>
        </p:nvCxnSpPr>
        <p:spPr>
          <a:xfrm flipV="1">
            <a:off x="3149295" y="4450626"/>
            <a:ext cx="325425" cy="458491"/>
          </a:xfrm>
          <a:prstGeom prst="straightConnector1">
            <a:avLst/>
          </a:prstGeom>
          <a:ln w="53975">
            <a:solidFill>
              <a:srgbClr val="C0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" name="Oval 4">
            <a:extLst>
              <a:ext uri="{FF2B5EF4-FFF2-40B4-BE49-F238E27FC236}">
                <a16:creationId xmlns:a16="http://schemas.microsoft.com/office/drawing/2014/main" id="{45105269-ED0C-818C-6D4B-82A2686EB7AC}"/>
              </a:ext>
            </a:extLst>
          </p:cNvPr>
          <p:cNvSpPr/>
          <p:nvPr/>
        </p:nvSpPr>
        <p:spPr>
          <a:xfrm>
            <a:off x="505471" y="4657871"/>
            <a:ext cx="226243" cy="230957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7" name="Straight Arrow Connector 6">
            <a:extLst>
              <a:ext uri="{FF2B5EF4-FFF2-40B4-BE49-F238E27FC236}">
                <a16:creationId xmlns:a16="http://schemas.microsoft.com/office/drawing/2014/main" id="{C6C00B95-F94D-36DD-09AD-2A2B55F073E3}"/>
              </a:ext>
            </a:extLst>
          </p:cNvPr>
          <p:cNvCxnSpPr>
            <a:cxnSpLocks/>
            <a:stCxn id="5" idx="6"/>
          </p:cNvCxnSpPr>
          <p:nvPr/>
        </p:nvCxnSpPr>
        <p:spPr>
          <a:xfrm>
            <a:off x="731714" y="4773350"/>
            <a:ext cx="825126" cy="0"/>
          </a:xfrm>
          <a:prstGeom prst="straightConnector1">
            <a:avLst/>
          </a:prstGeom>
          <a:ln w="635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" name="Straight Arrow Connector 13">
            <a:extLst>
              <a:ext uri="{FF2B5EF4-FFF2-40B4-BE49-F238E27FC236}">
                <a16:creationId xmlns:a16="http://schemas.microsoft.com/office/drawing/2014/main" id="{5AC69660-71EF-85C8-AE4F-E8505030A2AF}"/>
              </a:ext>
            </a:extLst>
          </p:cNvPr>
          <p:cNvCxnSpPr>
            <a:cxnSpLocks/>
            <a:stCxn id="5" idx="0"/>
          </p:cNvCxnSpPr>
          <p:nvPr/>
        </p:nvCxnSpPr>
        <p:spPr>
          <a:xfrm flipH="1" flipV="1">
            <a:off x="594973" y="3582833"/>
            <a:ext cx="23620" cy="1075038"/>
          </a:xfrm>
          <a:prstGeom prst="straightConnector1">
            <a:avLst/>
          </a:prstGeom>
          <a:ln w="635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" name="Straight Arrow Connector 20">
            <a:extLst>
              <a:ext uri="{FF2B5EF4-FFF2-40B4-BE49-F238E27FC236}">
                <a16:creationId xmlns:a16="http://schemas.microsoft.com/office/drawing/2014/main" id="{4C829D5A-9860-1580-4DFC-52CFAC38DC3D}"/>
              </a:ext>
            </a:extLst>
          </p:cNvPr>
          <p:cNvCxnSpPr>
            <a:cxnSpLocks/>
            <a:stCxn id="5" idx="7"/>
          </p:cNvCxnSpPr>
          <p:nvPr/>
        </p:nvCxnSpPr>
        <p:spPr>
          <a:xfrm flipV="1">
            <a:off x="698581" y="4127205"/>
            <a:ext cx="367403" cy="564489"/>
          </a:xfrm>
          <a:prstGeom prst="straightConnector1">
            <a:avLst/>
          </a:prstGeom>
          <a:ln w="635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9" name="TextBox 28">
            <a:extLst>
              <a:ext uri="{FF2B5EF4-FFF2-40B4-BE49-F238E27FC236}">
                <a16:creationId xmlns:a16="http://schemas.microsoft.com/office/drawing/2014/main" id="{F018F551-CEBB-1DD8-850E-5BCA68298281}"/>
              </a:ext>
            </a:extLst>
          </p:cNvPr>
          <p:cNvSpPr txBox="1"/>
          <p:nvPr/>
        </p:nvSpPr>
        <p:spPr>
          <a:xfrm>
            <a:off x="290681" y="4887984"/>
            <a:ext cx="567160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b="1" i="1" dirty="0"/>
              <a:t>O</a:t>
            </a:r>
          </a:p>
        </p:txBody>
      </p:sp>
      <p:cxnSp>
        <p:nvCxnSpPr>
          <p:cNvPr id="31" name="Straight Connector 30">
            <a:extLst>
              <a:ext uri="{FF2B5EF4-FFF2-40B4-BE49-F238E27FC236}">
                <a16:creationId xmlns:a16="http://schemas.microsoft.com/office/drawing/2014/main" id="{2686B6D3-1E72-4D44-E387-79267D6BC30F}"/>
              </a:ext>
            </a:extLst>
          </p:cNvPr>
          <p:cNvCxnSpPr>
            <a:cxnSpLocks/>
            <a:stCxn id="5" idx="2"/>
            <a:endCxn id="71" idx="2"/>
          </p:cNvCxnSpPr>
          <p:nvPr/>
        </p:nvCxnSpPr>
        <p:spPr>
          <a:xfrm>
            <a:off x="505471" y="4773350"/>
            <a:ext cx="6979013" cy="233879"/>
          </a:xfrm>
          <a:prstGeom prst="line">
            <a:avLst/>
          </a:prstGeom>
          <a:ln w="25400">
            <a:solidFill>
              <a:schemeClr val="tx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40" name="TextBox 39">
                <a:extLst>
                  <a:ext uri="{FF2B5EF4-FFF2-40B4-BE49-F238E27FC236}">
                    <a16:creationId xmlns:a16="http://schemas.microsoft.com/office/drawing/2014/main" id="{880B66D1-A5C6-5305-2937-A65FBFFBFF23}"/>
                  </a:ext>
                </a:extLst>
              </p:cNvPr>
              <p:cNvSpPr txBox="1"/>
              <p:nvPr/>
            </p:nvSpPr>
            <p:spPr>
              <a:xfrm>
                <a:off x="1283834" y="4657573"/>
                <a:ext cx="448116" cy="52322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800" b="0" i="1" smtClean="0">
                          <a:latin typeface="Cambria Math" panose="02040503050406030204" pitchFamily="18" charset="0"/>
                        </a:rPr>
                        <m:t>𝑧</m:t>
                      </m:r>
                    </m:oMath>
                  </m:oMathPara>
                </a14:m>
                <a:endParaRPr lang="en-US" sz="2800" dirty="0">
                  <a:latin typeface="Script MT Bold" panose="03040602040607080904" pitchFamily="66" charset="0"/>
                </a:endParaRPr>
              </a:p>
            </p:txBody>
          </p:sp>
        </mc:Choice>
        <mc:Fallback xmlns="">
          <p:sp>
            <p:nvSpPr>
              <p:cNvPr id="40" name="TextBox 39">
                <a:extLst>
                  <a:ext uri="{FF2B5EF4-FFF2-40B4-BE49-F238E27FC236}">
                    <a16:creationId xmlns:a16="http://schemas.microsoft.com/office/drawing/2014/main" id="{880B66D1-A5C6-5305-2937-A65FBFFBFF2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283834" y="4657573"/>
                <a:ext cx="448116" cy="523220"/>
              </a:xfrm>
              <a:prstGeom prst="rect">
                <a:avLst/>
              </a:prstGeom>
              <a:blipFill>
                <a:blip r:embed="rId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1" name="TextBox 40">
                <a:extLst>
                  <a:ext uri="{FF2B5EF4-FFF2-40B4-BE49-F238E27FC236}">
                    <a16:creationId xmlns:a16="http://schemas.microsoft.com/office/drawing/2014/main" id="{DA14907B-AAD6-ED85-E0B4-46528C4A504A}"/>
                  </a:ext>
                </a:extLst>
              </p:cNvPr>
              <p:cNvSpPr txBox="1"/>
              <p:nvPr/>
            </p:nvSpPr>
            <p:spPr>
              <a:xfrm>
                <a:off x="1022140" y="3790231"/>
                <a:ext cx="448116" cy="52322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800" b="0" i="1" smtClean="0">
                          <a:latin typeface="Cambria Math" panose="02040503050406030204" pitchFamily="18" charset="0"/>
                        </a:rPr>
                        <m:t>𝑥</m:t>
                      </m:r>
                    </m:oMath>
                  </m:oMathPara>
                </a14:m>
                <a:endParaRPr lang="en-US" sz="2800" dirty="0">
                  <a:latin typeface="Script MT Bold" panose="03040602040607080904" pitchFamily="66" charset="0"/>
                </a:endParaRPr>
              </a:p>
            </p:txBody>
          </p:sp>
        </mc:Choice>
        <mc:Fallback xmlns="">
          <p:sp>
            <p:nvSpPr>
              <p:cNvPr id="41" name="TextBox 40">
                <a:extLst>
                  <a:ext uri="{FF2B5EF4-FFF2-40B4-BE49-F238E27FC236}">
                    <a16:creationId xmlns:a16="http://schemas.microsoft.com/office/drawing/2014/main" id="{DA14907B-AAD6-ED85-E0B4-46528C4A504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22140" y="3790231"/>
                <a:ext cx="448116" cy="523220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2" name="TextBox 41">
                <a:extLst>
                  <a:ext uri="{FF2B5EF4-FFF2-40B4-BE49-F238E27FC236}">
                    <a16:creationId xmlns:a16="http://schemas.microsoft.com/office/drawing/2014/main" id="{7BDEDDF6-CAA0-BFEE-DB20-2ECF28FC566D}"/>
                  </a:ext>
                </a:extLst>
              </p:cNvPr>
              <p:cNvSpPr txBox="1"/>
              <p:nvPr/>
            </p:nvSpPr>
            <p:spPr>
              <a:xfrm>
                <a:off x="368637" y="3088457"/>
                <a:ext cx="448116" cy="52322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800" b="0" i="1" smtClean="0">
                          <a:latin typeface="Cambria Math" panose="02040503050406030204" pitchFamily="18" charset="0"/>
                        </a:rPr>
                        <m:t>𝑦</m:t>
                      </m:r>
                    </m:oMath>
                  </m:oMathPara>
                </a14:m>
                <a:endParaRPr lang="en-US" sz="2800" dirty="0">
                  <a:latin typeface="Script MT Bold" panose="03040602040607080904" pitchFamily="66" charset="0"/>
                </a:endParaRPr>
              </a:p>
            </p:txBody>
          </p:sp>
        </mc:Choice>
        <mc:Fallback xmlns="">
          <p:sp>
            <p:nvSpPr>
              <p:cNvPr id="42" name="TextBox 41">
                <a:extLst>
                  <a:ext uri="{FF2B5EF4-FFF2-40B4-BE49-F238E27FC236}">
                    <a16:creationId xmlns:a16="http://schemas.microsoft.com/office/drawing/2014/main" id="{7BDEDDF6-CAA0-BFEE-DB20-2ECF28FC566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68637" y="3088457"/>
                <a:ext cx="448116" cy="523220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2" name="TextBox 51">
                <a:extLst>
                  <a:ext uri="{FF2B5EF4-FFF2-40B4-BE49-F238E27FC236}">
                    <a16:creationId xmlns:a16="http://schemas.microsoft.com/office/drawing/2014/main" id="{D296D596-5D90-6930-D7E8-77B53303558E}"/>
                  </a:ext>
                </a:extLst>
              </p:cNvPr>
              <p:cNvSpPr txBox="1"/>
              <p:nvPr/>
            </p:nvSpPr>
            <p:spPr>
              <a:xfrm rot="20732708">
                <a:off x="2024085" y="2518594"/>
                <a:ext cx="2719859" cy="46166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sz="2400" dirty="0"/>
                  <a:t>Image plane, </a:t>
                </a:r>
                <a14:m>
                  <m:oMath xmlns:m="http://schemas.openxmlformats.org/officeDocument/2006/math"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𝑧</m:t>
                    </m:r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=1</m:t>
                    </m:r>
                  </m:oMath>
                </a14:m>
                <a:endParaRPr lang="en-US" sz="2400" dirty="0"/>
              </a:p>
            </p:txBody>
          </p:sp>
        </mc:Choice>
        <mc:Fallback xmlns="">
          <p:sp>
            <p:nvSpPr>
              <p:cNvPr id="52" name="TextBox 51">
                <a:extLst>
                  <a:ext uri="{FF2B5EF4-FFF2-40B4-BE49-F238E27FC236}">
                    <a16:creationId xmlns:a16="http://schemas.microsoft.com/office/drawing/2014/main" id="{D296D596-5D90-6930-D7E8-77B53303558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 rot="20732708">
                <a:off x="2024085" y="2518594"/>
                <a:ext cx="2719859" cy="461665"/>
              </a:xfrm>
              <a:prstGeom prst="rect">
                <a:avLst/>
              </a:prstGeom>
              <a:blipFill>
                <a:blip r:embed="rId5"/>
                <a:stretch>
                  <a:fillRect l="-3540" b="-1344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61" name="Straight Connector 60">
            <a:extLst>
              <a:ext uri="{FF2B5EF4-FFF2-40B4-BE49-F238E27FC236}">
                <a16:creationId xmlns:a16="http://schemas.microsoft.com/office/drawing/2014/main" id="{8D0FDB95-AA3A-3397-9A48-F86146CE4679}"/>
              </a:ext>
            </a:extLst>
          </p:cNvPr>
          <p:cNvCxnSpPr>
            <a:cxnSpLocks/>
            <a:stCxn id="5" idx="2"/>
          </p:cNvCxnSpPr>
          <p:nvPr/>
        </p:nvCxnSpPr>
        <p:spPr>
          <a:xfrm flipV="1">
            <a:off x="505471" y="3967900"/>
            <a:ext cx="8506089" cy="805450"/>
          </a:xfrm>
          <a:prstGeom prst="line">
            <a:avLst/>
          </a:prstGeom>
          <a:ln w="25400">
            <a:solidFill>
              <a:schemeClr val="tx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0" name="Oval 69">
            <a:extLst>
              <a:ext uri="{FF2B5EF4-FFF2-40B4-BE49-F238E27FC236}">
                <a16:creationId xmlns:a16="http://schemas.microsoft.com/office/drawing/2014/main" id="{3BB2F443-030C-A2FA-3D0C-82255B0E0427}"/>
              </a:ext>
            </a:extLst>
          </p:cNvPr>
          <p:cNvSpPr/>
          <p:nvPr/>
        </p:nvSpPr>
        <p:spPr>
          <a:xfrm>
            <a:off x="3061321" y="4765720"/>
            <a:ext cx="226243" cy="230957"/>
          </a:xfrm>
          <a:prstGeom prst="ellipse">
            <a:avLst/>
          </a:prstGeom>
          <a:noFill/>
          <a:ln w="254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1" name="Oval 70">
            <a:extLst>
              <a:ext uri="{FF2B5EF4-FFF2-40B4-BE49-F238E27FC236}">
                <a16:creationId xmlns:a16="http://schemas.microsoft.com/office/drawing/2014/main" id="{9754F637-E535-DFC3-1F1B-CDC05101C796}"/>
              </a:ext>
            </a:extLst>
          </p:cNvPr>
          <p:cNvSpPr/>
          <p:nvPr/>
        </p:nvSpPr>
        <p:spPr>
          <a:xfrm>
            <a:off x="7484484" y="4891750"/>
            <a:ext cx="226243" cy="230957"/>
          </a:xfrm>
          <a:prstGeom prst="ellipse">
            <a:avLst/>
          </a:prstGeom>
          <a:noFill/>
          <a:ln w="254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20" name="Straight Arrow Connector 19">
            <a:extLst>
              <a:ext uri="{FF2B5EF4-FFF2-40B4-BE49-F238E27FC236}">
                <a16:creationId xmlns:a16="http://schemas.microsoft.com/office/drawing/2014/main" id="{24EAF8C0-26CE-4E86-FAD8-59DC0A6883A9}"/>
              </a:ext>
            </a:extLst>
          </p:cNvPr>
          <p:cNvCxnSpPr>
            <a:cxnSpLocks/>
            <a:stCxn id="15" idx="3"/>
          </p:cNvCxnSpPr>
          <p:nvPr/>
        </p:nvCxnSpPr>
        <p:spPr>
          <a:xfrm flipV="1">
            <a:off x="7466574" y="3990372"/>
            <a:ext cx="1608602" cy="1114603"/>
          </a:xfrm>
          <a:prstGeom prst="straightConnector1">
            <a:avLst/>
          </a:prstGeom>
          <a:ln w="44450">
            <a:solidFill>
              <a:srgbClr val="C0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4" name="Oval 23">
            <a:extLst>
              <a:ext uri="{FF2B5EF4-FFF2-40B4-BE49-F238E27FC236}">
                <a16:creationId xmlns:a16="http://schemas.microsoft.com/office/drawing/2014/main" id="{6002C35D-2152-305D-8E87-908B56AADCF8}"/>
              </a:ext>
            </a:extLst>
          </p:cNvPr>
          <p:cNvSpPr/>
          <p:nvPr/>
        </p:nvSpPr>
        <p:spPr>
          <a:xfrm>
            <a:off x="8929431" y="3861699"/>
            <a:ext cx="226243" cy="230957"/>
          </a:xfrm>
          <a:prstGeom prst="ellipse">
            <a:avLst/>
          </a:prstGeom>
          <a:noFill/>
          <a:ln w="254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5" name="TextBox 24">
                <a:extLst>
                  <a:ext uri="{FF2B5EF4-FFF2-40B4-BE49-F238E27FC236}">
                    <a16:creationId xmlns:a16="http://schemas.microsoft.com/office/drawing/2014/main" id="{712AF653-AFE6-F2B0-584C-D139F28270E9}"/>
                  </a:ext>
                </a:extLst>
              </p:cNvPr>
              <p:cNvSpPr txBox="1"/>
              <p:nvPr/>
            </p:nvSpPr>
            <p:spPr>
              <a:xfrm>
                <a:off x="7305098" y="5184771"/>
                <a:ext cx="811257" cy="46166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4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400" b="1" i="1" smtClean="0">
                              <a:latin typeface="Cambria Math" panose="02040503050406030204" pitchFamily="18" charset="0"/>
                            </a:rPr>
                            <m:t>𝑿</m:t>
                          </m:r>
                        </m:e>
                        <m:sub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𝑡</m:t>
                          </m:r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=0</m:t>
                          </m:r>
                        </m:sub>
                      </m:sSub>
                    </m:oMath>
                  </m:oMathPara>
                </a14:m>
                <a:endParaRPr lang="en-US" sz="2400" dirty="0"/>
              </a:p>
            </p:txBody>
          </p:sp>
        </mc:Choice>
        <mc:Fallback xmlns="">
          <p:sp>
            <p:nvSpPr>
              <p:cNvPr id="25" name="TextBox 24">
                <a:extLst>
                  <a:ext uri="{FF2B5EF4-FFF2-40B4-BE49-F238E27FC236}">
                    <a16:creationId xmlns:a16="http://schemas.microsoft.com/office/drawing/2014/main" id="{712AF653-AFE6-F2B0-584C-D139F28270E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305098" y="5184771"/>
                <a:ext cx="811257" cy="461665"/>
              </a:xfrm>
              <a:prstGeom prst="rect">
                <a:avLst/>
              </a:prstGeom>
              <a:blipFill>
                <a:blip r:embed="rId6"/>
                <a:stretch>
                  <a:fillRect l="-5263" b="-133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6" name="TextBox 25">
                <a:extLst>
                  <a:ext uri="{FF2B5EF4-FFF2-40B4-BE49-F238E27FC236}">
                    <a16:creationId xmlns:a16="http://schemas.microsoft.com/office/drawing/2014/main" id="{E3CA8C88-1208-04D9-BD47-BA7322BCF849}"/>
                  </a:ext>
                </a:extLst>
              </p:cNvPr>
              <p:cNvSpPr txBox="1"/>
              <p:nvPr/>
            </p:nvSpPr>
            <p:spPr>
              <a:xfrm>
                <a:off x="8795124" y="4120352"/>
                <a:ext cx="811257" cy="46166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4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400" b="1" i="1" smtClean="0">
                              <a:latin typeface="Cambria Math" panose="02040503050406030204" pitchFamily="18" charset="0"/>
                            </a:rPr>
                            <m:t>𝑿</m:t>
                          </m:r>
                        </m:e>
                        <m:sub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𝑡</m:t>
                          </m:r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+1</m:t>
                          </m:r>
                        </m:sub>
                      </m:sSub>
                    </m:oMath>
                  </m:oMathPara>
                </a14:m>
                <a:endParaRPr lang="en-US" sz="2400" dirty="0"/>
              </a:p>
            </p:txBody>
          </p:sp>
        </mc:Choice>
        <mc:Fallback xmlns="">
          <p:sp>
            <p:nvSpPr>
              <p:cNvPr id="26" name="TextBox 25">
                <a:extLst>
                  <a:ext uri="{FF2B5EF4-FFF2-40B4-BE49-F238E27FC236}">
                    <a16:creationId xmlns:a16="http://schemas.microsoft.com/office/drawing/2014/main" id="{E3CA8C88-1208-04D9-BD47-BA7322BCF84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795124" y="4120352"/>
                <a:ext cx="811257" cy="461665"/>
              </a:xfrm>
              <a:prstGeom prst="rect">
                <a:avLst/>
              </a:prstGeom>
              <a:blipFill>
                <a:blip r:embed="rId7"/>
                <a:stretch>
                  <a:fillRect l="-5263" b="-131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59" name="Oval 58">
            <a:extLst>
              <a:ext uri="{FF2B5EF4-FFF2-40B4-BE49-F238E27FC236}">
                <a16:creationId xmlns:a16="http://schemas.microsoft.com/office/drawing/2014/main" id="{2DAC674E-2D5D-2ADC-987D-39FBF84E1AAF}"/>
              </a:ext>
            </a:extLst>
          </p:cNvPr>
          <p:cNvSpPr/>
          <p:nvPr/>
        </p:nvSpPr>
        <p:spPr>
          <a:xfrm>
            <a:off x="3317281" y="4374147"/>
            <a:ext cx="226243" cy="230957"/>
          </a:xfrm>
          <a:prstGeom prst="ellipse">
            <a:avLst/>
          </a:prstGeom>
          <a:noFill/>
          <a:ln w="254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66" name="TextBox 65">
                <a:extLst>
                  <a:ext uri="{FF2B5EF4-FFF2-40B4-BE49-F238E27FC236}">
                    <a16:creationId xmlns:a16="http://schemas.microsoft.com/office/drawing/2014/main" id="{96E9E50F-DD81-2075-BD2A-7BEFE374B67C}"/>
                  </a:ext>
                </a:extLst>
              </p:cNvPr>
              <p:cNvSpPr txBox="1"/>
              <p:nvPr/>
            </p:nvSpPr>
            <p:spPr>
              <a:xfrm>
                <a:off x="3149295" y="4824884"/>
                <a:ext cx="627331" cy="46166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4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b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𝑡</m:t>
                          </m:r>
                        </m:sub>
                      </m:sSub>
                    </m:oMath>
                  </m:oMathPara>
                </a14:m>
                <a:endParaRPr lang="en-US" sz="2400" dirty="0"/>
              </a:p>
            </p:txBody>
          </p:sp>
        </mc:Choice>
        <mc:Fallback xmlns="">
          <p:sp>
            <p:nvSpPr>
              <p:cNvPr id="66" name="TextBox 65">
                <a:extLst>
                  <a:ext uri="{FF2B5EF4-FFF2-40B4-BE49-F238E27FC236}">
                    <a16:creationId xmlns:a16="http://schemas.microsoft.com/office/drawing/2014/main" id="{96E9E50F-DD81-2075-BD2A-7BEFE374B67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149295" y="4824884"/>
                <a:ext cx="627331" cy="461665"/>
              </a:xfrm>
              <a:prstGeom prst="rect">
                <a:avLst/>
              </a:prstGeom>
              <a:blipFill>
                <a:blip r:embed="rId8"/>
                <a:stretch>
                  <a:fillRect b="-131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68" name="TextBox 67">
                <a:extLst>
                  <a:ext uri="{FF2B5EF4-FFF2-40B4-BE49-F238E27FC236}">
                    <a16:creationId xmlns:a16="http://schemas.microsoft.com/office/drawing/2014/main" id="{DD0AEAD0-DDDD-D6EF-760E-921E8E8F2590}"/>
                  </a:ext>
                </a:extLst>
              </p:cNvPr>
              <p:cNvSpPr txBox="1"/>
              <p:nvPr/>
            </p:nvSpPr>
            <p:spPr>
              <a:xfrm>
                <a:off x="3523349" y="4375817"/>
                <a:ext cx="627331" cy="46166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4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b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𝑡</m:t>
                          </m:r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+1</m:t>
                          </m:r>
                        </m:sub>
                      </m:sSub>
                    </m:oMath>
                  </m:oMathPara>
                </a14:m>
                <a:endParaRPr lang="en-US" sz="2400" dirty="0"/>
              </a:p>
            </p:txBody>
          </p:sp>
        </mc:Choice>
        <mc:Fallback xmlns="">
          <p:sp>
            <p:nvSpPr>
              <p:cNvPr id="68" name="TextBox 67">
                <a:extLst>
                  <a:ext uri="{FF2B5EF4-FFF2-40B4-BE49-F238E27FC236}">
                    <a16:creationId xmlns:a16="http://schemas.microsoft.com/office/drawing/2014/main" id="{DD0AEAD0-DDDD-D6EF-760E-921E8E8F259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523349" y="4375817"/>
                <a:ext cx="627331" cy="461665"/>
              </a:xfrm>
              <a:prstGeom prst="rect">
                <a:avLst/>
              </a:prstGeom>
              <a:blipFill>
                <a:blip r:embed="rId9"/>
                <a:stretch>
                  <a:fillRect l="-12621" b="-131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63040EA7-5E83-0A1E-AAB4-97D979709303}"/>
                  </a:ext>
                </a:extLst>
              </p:cNvPr>
              <p:cNvSpPr txBox="1"/>
              <p:nvPr/>
            </p:nvSpPr>
            <p:spPr>
              <a:xfrm>
                <a:off x="9044693" y="2523623"/>
                <a:ext cx="3053353" cy="1652888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sz="2400" dirty="0"/>
                  <a:t>2. Point</a:t>
                </a:r>
                <a:r>
                  <a:rPr lang="en-US" sz="2400" b="1" dirty="0"/>
                  <a:t> </a:t>
                </a:r>
                <a:r>
                  <a:rPr lang="en-US" sz="2400" b="1" i="1" dirty="0"/>
                  <a:t>X</a:t>
                </a:r>
                <a:r>
                  <a:rPr lang="en-US" sz="2400" b="1" dirty="0"/>
                  <a:t> </a:t>
                </a:r>
                <a:r>
                  <a:rPr lang="en-US" sz="2400" dirty="0"/>
                  <a:t>moves in 3-D space for time step </a:t>
                </a:r>
                <a14:m>
                  <m:oMath xmlns:m="http://schemas.openxmlformats.org/officeDocument/2006/math">
                    <m:r>
                      <a:rPr lang="en-US" sz="2400" i="1">
                        <a:latin typeface="Cambria Math" panose="02040503050406030204" pitchFamily="18" charset="0"/>
                      </a:rPr>
                      <m:t>𝑡</m:t>
                    </m:r>
                  </m:oMath>
                </a14:m>
                <a:endParaRPr lang="en-US" sz="2400" b="1" i="1" dirty="0">
                  <a:latin typeface="Cambria Math" panose="02040503050406030204" pitchFamily="18" charset="0"/>
                </a:endParaRPr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4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400" b="1" i="1" smtClean="0">
                              <a:latin typeface="Cambria Math" panose="02040503050406030204" pitchFamily="18" charset="0"/>
                            </a:rPr>
                            <m:t>𝑿</m:t>
                          </m:r>
                        </m:e>
                        <m:sub>
                          <m:r>
                            <a:rPr lang="en-US" sz="2400" i="1">
                              <a:latin typeface="Cambria Math" panose="02040503050406030204" pitchFamily="18" charset="0"/>
                            </a:rPr>
                            <m:t>𝑡</m:t>
                          </m:r>
                          <m:r>
                            <a:rPr lang="en-US" sz="2400" i="1">
                              <a:latin typeface="Cambria Math" panose="02040503050406030204" pitchFamily="18" charset="0"/>
                            </a:rPr>
                            <m:t>+1</m:t>
                          </m:r>
                        </m:sub>
                      </m:sSub>
                      <m:r>
                        <a:rPr lang="en-US" sz="2400" i="1"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en-US" sz="24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400" b="1" i="1" smtClean="0">
                              <a:latin typeface="Cambria Math" panose="02040503050406030204" pitchFamily="18" charset="0"/>
                            </a:rPr>
                            <m:t>𝑿</m:t>
                          </m:r>
                        </m:e>
                        <m:sub>
                          <m:r>
                            <a:rPr lang="en-US" sz="2400" i="1">
                              <a:latin typeface="Cambria Math" panose="02040503050406030204" pitchFamily="18" charset="0"/>
                            </a:rPr>
                            <m:t>𝑡</m:t>
                          </m:r>
                          <m:r>
                            <a:rPr lang="en-US" sz="2400" i="1">
                              <a:latin typeface="Cambria Math" panose="02040503050406030204" pitchFamily="18" charset="0"/>
                            </a:rPr>
                            <m:t>=0</m:t>
                          </m:r>
                        </m:sub>
                      </m:sSub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+</m:t>
                      </m:r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𝑡</m:t>
                      </m:r>
                      <m:d>
                        <m:dPr>
                          <m:begChr m:val="["/>
                          <m:endChr m:val="]"/>
                          <m:ctrlPr>
                            <a:rPr lang="en-US" sz="24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m>
                            <m:mPr>
                              <m:mcs>
                                <m:mc>
                                  <m:mcPr>
                                    <m:count m:val="1"/>
                                    <m:mcJc m:val="center"/>
                                  </m:mcPr>
                                </m:mc>
                              </m:mcs>
                              <m:ctrlPr>
                                <a:rPr lang="en-US" sz="2400" i="1">
                                  <a:latin typeface="Cambria Math" panose="02040503050406030204" pitchFamily="18" charset="0"/>
                                </a:rPr>
                              </m:ctrlPr>
                            </m:mPr>
                            <m:mr>
                              <m:e>
                                <m:r>
                                  <m:rPr>
                                    <m:brk m:alnAt="7"/>
                                  </m:rPr>
                                  <a:rPr lang="en-US" sz="2400" b="0" i="1" smtClean="0">
                                    <a:latin typeface="Cambria Math" panose="02040503050406030204" pitchFamily="18" charset="0"/>
                                  </a:rPr>
                                  <m:t>𝑢</m:t>
                                </m:r>
                              </m:e>
                            </m:mr>
                            <m:mr>
                              <m:e>
                                <m:m>
                                  <m:mPr>
                                    <m:mcs>
                                      <m:mc>
                                        <m:mcPr>
                                          <m:count m:val="1"/>
                                          <m:mcJc m:val="center"/>
                                        </m:mcPr>
                                      </m:mc>
                                    </m:mcs>
                                    <m:ctrlPr>
                                      <a:rPr lang="en-US" sz="2400" i="1">
                                        <a:latin typeface="Cambria Math" panose="02040503050406030204" pitchFamily="18" charset="0"/>
                                      </a:rPr>
                                    </m:ctrlPr>
                                  </m:mPr>
                                  <m:mr>
                                    <m:e>
                                      <m:r>
                                        <a:rPr lang="en-US" sz="2400" b="0" i="1" smtClean="0">
                                          <a:latin typeface="Cambria Math" panose="02040503050406030204" pitchFamily="18" charset="0"/>
                                        </a:rPr>
                                        <m:t>𝑣</m:t>
                                      </m:r>
                                    </m:e>
                                  </m:mr>
                                  <m:mr>
                                    <m:e>
                                      <m:r>
                                        <a:rPr lang="en-US" sz="2400" b="0" i="1" smtClean="0">
                                          <a:latin typeface="Cambria Math" panose="02040503050406030204" pitchFamily="18" charset="0"/>
                                        </a:rPr>
                                        <m:t>𝑤</m:t>
                                      </m:r>
                                    </m:e>
                                  </m:mr>
                                </m:m>
                              </m:e>
                            </m:mr>
                          </m:m>
                        </m:e>
                      </m:d>
                    </m:oMath>
                  </m:oMathPara>
                </a14:m>
                <a:endParaRPr lang="en-US" sz="2400" dirty="0"/>
              </a:p>
            </p:txBody>
          </p:sp>
        </mc:Choice>
        <mc:Fallback xmlns="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63040EA7-5E83-0A1E-AAB4-97D97970930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044693" y="2523623"/>
                <a:ext cx="3053353" cy="1652888"/>
              </a:xfrm>
              <a:prstGeom prst="rect">
                <a:avLst/>
              </a:prstGeom>
              <a:blipFill>
                <a:blip r:embed="rId10"/>
                <a:stretch>
                  <a:fillRect l="-3194" t="-2952" r="-459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0" name="Title 1">
            <a:extLst>
              <a:ext uri="{FF2B5EF4-FFF2-40B4-BE49-F238E27FC236}">
                <a16:creationId xmlns:a16="http://schemas.microsoft.com/office/drawing/2014/main" id="{8D8C7AE4-61C6-111D-C555-70A5164EF6F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68713" y="285063"/>
            <a:ext cx="11517816" cy="749889"/>
          </a:xfrm>
        </p:spPr>
        <p:txBody>
          <a:bodyPr>
            <a:normAutofit/>
          </a:bodyPr>
          <a:lstStyle/>
          <a:p>
            <a:pPr algn="ctr"/>
            <a:r>
              <a:rPr lang="en-US" sz="3200" dirty="0">
                <a:latin typeface="+mn-lt"/>
              </a:rPr>
              <a:t>Measuring Optical Flow is a Difficult Task</a:t>
            </a:r>
          </a:p>
        </p:txBody>
      </p:sp>
      <p:sp>
        <p:nvSpPr>
          <p:cNvPr id="15" name="Oval 14">
            <a:extLst>
              <a:ext uri="{FF2B5EF4-FFF2-40B4-BE49-F238E27FC236}">
                <a16:creationId xmlns:a16="http://schemas.microsoft.com/office/drawing/2014/main" id="{FDA3849B-2A85-4355-7CEF-BBDCF6EBFCFA}"/>
              </a:ext>
            </a:extLst>
          </p:cNvPr>
          <p:cNvSpPr/>
          <p:nvPr/>
        </p:nvSpPr>
        <p:spPr>
          <a:xfrm>
            <a:off x="7433441" y="4907841"/>
            <a:ext cx="226243" cy="230957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17" name="Straight Arrow Connector 16">
            <a:extLst>
              <a:ext uri="{FF2B5EF4-FFF2-40B4-BE49-F238E27FC236}">
                <a16:creationId xmlns:a16="http://schemas.microsoft.com/office/drawing/2014/main" id="{67BC8C90-D704-D22D-5AB6-46FB15934A26}"/>
              </a:ext>
            </a:extLst>
          </p:cNvPr>
          <p:cNvCxnSpPr>
            <a:cxnSpLocks/>
            <a:stCxn id="15" idx="6"/>
          </p:cNvCxnSpPr>
          <p:nvPr/>
        </p:nvCxnSpPr>
        <p:spPr>
          <a:xfrm>
            <a:off x="7659684" y="5023320"/>
            <a:ext cx="825126" cy="0"/>
          </a:xfrm>
          <a:prstGeom prst="straightConnector1">
            <a:avLst/>
          </a:prstGeom>
          <a:ln w="635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" name="Straight Arrow Connector 17">
            <a:extLst>
              <a:ext uri="{FF2B5EF4-FFF2-40B4-BE49-F238E27FC236}">
                <a16:creationId xmlns:a16="http://schemas.microsoft.com/office/drawing/2014/main" id="{3F146D0B-D233-61B8-4C09-B8189D053949}"/>
              </a:ext>
            </a:extLst>
          </p:cNvPr>
          <p:cNvCxnSpPr>
            <a:cxnSpLocks/>
            <a:stCxn id="15" idx="0"/>
          </p:cNvCxnSpPr>
          <p:nvPr/>
        </p:nvCxnSpPr>
        <p:spPr>
          <a:xfrm flipH="1" flipV="1">
            <a:off x="7522943" y="3832803"/>
            <a:ext cx="23620" cy="1075038"/>
          </a:xfrm>
          <a:prstGeom prst="straightConnector1">
            <a:avLst/>
          </a:prstGeom>
          <a:ln w="635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" name="Straight Arrow Connector 18">
            <a:extLst>
              <a:ext uri="{FF2B5EF4-FFF2-40B4-BE49-F238E27FC236}">
                <a16:creationId xmlns:a16="http://schemas.microsoft.com/office/drawing/2014/main" id="{14FF3FF5-6D9F-4B66-B175-173281F28613}"/>
              </a:ext>
            </a:extLst>
          </p:cNvPr>
          <p:cNvCxnSpPr>
            <a:cxnSpLocks/>
            <a:stCxn id="15" idx="7"/>
          </p:cNvCxnSpPr>
          <p:nvPr/>
        </p:nvCxnSpPr>
        <p:spPr>
          <a:xfrm flipV="1">
            <a:off x="7626551" y="4377175"/>
            <a:ext cx="367403" cy="564489"/>
          </a:xfrm>
          <a:prstGeom prst="straightConnector1">
            <a:avLst/>
          </a:prstGeom>
          <a:ln w="635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22" name="TextBox 21">
                <a:extLst>
                  <a:ext uri="{FF2B5EF4-FFF2-40B4-BE49-F238E27FC236}">
                    <a16:creationId xmlns:a16="http://schemas.microsoft.com/office/drawing/2014/main" id="{5F09EE0F-66D3-F5AB-CC38-63B6105709DE}"/>
                  </a:ext>
                </a:extLst>
              </p:cNvPr>
              <p:cNvSpPr txBox="1"/>
              <p:nvPr/>
            </p:nvSpPr>
            <p:spPr>
              <a:xfrm>
                <a:off x="7950110" y="4040201"/>
                <a:ext cx="448116" cy="52322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800" b="0" i="1" smtClean="0">
                          <a:latin typeface="Cambria Math" panose="02040503050406030204" pitchFamily="18" charset="0"/>
                        </a:rPr>
                        <m:t>𝑢</m:t>
                      </m:r>
                    </m:oMath>
                  </m:oMathPara>
                </a14:m>
                <a:endParaRPr lang="en-US" sz="2800" dirty="0">
                  <a:latin typeface="Script MT Bold" panose="03040602040607080904" pitchFamily="66" charset="0"/>
                </a:endParaRPr>
              </a:p>
            </p:txBody>
          </p:sp>
        </mc:Choice>
        <mc:Fallback xmlns="">
          <p:sp>
            <p:nvSpPr>
              <p:cNvPr id="22" name="TextBox 21">
                <a:extLst>
                  <a:ext uri="{FF2B5EF4-FFF2-40B4-BE49-F238E27FC236}">
                    <a16:creationId xmlns:a16="http://schemas.microsoft.com/office/drawing/2014/main" id="{5F09EE0F-66D3-F5AB-CC38-63B6105709D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950110" y="4040201"/>
                <a:ext cx="448116" cy="523220"/>
              </a:xfrm>
              <a:prstGeom prst="rect">
                <a:avLst/>
              </a:prstGeom>
              <a:blipFill>
                <a:blip r:embed="rId11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3" name="TextBox 22">
            <a:extLst>
              <a:ext uri="{FF2B5EF4-FFF2-40B4-BE49-F238E27FC236}">
                <a16:creationId xmlns:a16="http://schemas.microsoft.com/office/drawing/2014/main" id="{A9CE0D41-805F-AF8F-62DD-9035F7C0E21B}"/>
              </a:ext>
            </a:extLst>
          </p:cNvPr>
          <p:cNvSpPr txBox="1"/>
          <p:nvPr/>
        </p:nvSpPr>
        <p:spPr>
          <a:xfrm>
            <a:off x="7296607" y="3338427"/>
            <a:ext cx="448116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800" dirty="0">
                <a:latin typeface="Script MT Bold" panose="03040602040607080904" pitchFamily="66" charset="0"/>
              </a:rPr>
              <a:t>v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0" name="TextBox 29">
                <a:extLst>
                  <a:ext uri="{FF2B5EF4-FFF2-40B4-BE49-F238E27FC236}">
                    <a16:creationId xmlns:a16="http://schemas.microsoft.com/office/drawing/2014/main" id="{D24D6F53-276D-CED8-23BD-7C9E0BFA6ABA}"/>
                  </a:ext>
                </a:extLst>
              </p:cNvPr>
              <p:cNvSpPr txBox="1"/>
              <p:nvPr/>
            </p:nvSpPr>
            <p:spPr>
              <a:xfrm>
                <a:off x="8484810" y="4773334"/>
                <a:ext cx="448116" cy="52322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800" b="0" i="1" smtClean="0">
                          <a:latin typeface="Cambria Math" panose="02040503050406030204" pitchFamily="18" charset="0"/>
                        </a:rPr>
                        <m:t>𝑤</m:t>
                      </m:r>
                    </m:oMath>
                  </m:oMathPara>
                </a14:m>
                <a:endParaRPr lang="en-US" sz="2800" dirty="0">
                  <a:latin typeface="Script MT Bold" panose="03040602040607080904" pitchFamily="66" charset="0"/>
                </a:endParaRPr>
              </a:p>
            </p:txBody>
          </p:sp>
        </mc:Choice>
        <mc:Fallback xmlns="">
          <p:sp>
            <p:nvSpPr>
              <p:cNvPr id="30" name="TextBox 29">
                <a:extLst>
                  <a:ext uri="{FF2B5EF4-FFF2-40B4-BE49-F238E27FC236}">
                    <a16:creationId xmlns:a16="http://schemas.microsoft.com/office/drawing/2014/main" id="{D24D6F53-276D-CED8-23BD-7C9E0BFA6AB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484810" y="4773334"/>
                <a:ext cx="448116" cy="523220"/>
              </a:xfrm>
              <a:prstGeom prst="rect">
                <a:avLst/>
              </a:prstGeom>
              <a:blipFill>
                <a:blip r:embed="rId1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4" name="Content Placeholder 2">
            <a:extLst>
              <a:ext uri="{FF2B5EF4-FFF2-40B4-BE49-F238E27FC236}">
                <a16:creationId xmlns:a16="http://schemas.microsoft.com/office/drawing/2014/main" id="{F699E69C-35A3-0D33-F9DD-B9CDAFD340F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89301" y="1124339"/>
            <a:ext cx="10515600" cy="993778"/>
          </a:xfrm>
        </p:spPr>
        <p:txBody>
          <a:bodyPr/>
          <a:lstStyle/>
          <a:p>
            <a:pPr marL="0" indent="0">
              <a:buNone/>
            </a:pPr>
            <a:r>
              <a:rPr lang="en-US" dirty="0"/>
              <a:t>5. 2-D image plane can only capture projection of 3-D motion parallel to image plane  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9" name="TextBox 38">
                <a:extLst>
                  <a:ext uri="{FF2B5EF4-FFF2-40B4-BE49-F238E27FC236}">
                    <a16:creationId xmlns:a16="http://schemas.microsoft.com/office/drawing/2014/main" id="{2B972BE7-D2AE-5484-FE3E-FEDB572545A1}"/>
                  </a:ext>
                </a:extLst>
              </p:cNvPr>
              <p:cNvSpPr txBox="1"/>
              <p:nvPr/>
            </p:nvSpPr>
            <p:spPr>
              <a:xfrm>
                <a:off x="9194952" y="5187344"/>
                <a:ext cx="2615116" cy="1652888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sz="2400" dirty="0"/>
                  <a:t>1. Point</a:t>
                </a:r>
                <a:r>
                  <a:rPr lang="en-US" sz="2400" b="1" dirty="0"/>
                  <a:t> </a:t>
                </a:r>
                <a:r>
                  <a:rPr lang="en-US" sz="2400" b="1" i="1" dirty="0"/>
                  <a:t>X</a:t>
                </a:r>
                <a:r>
                  <a:rPr lang="en-US" sz="2400" b="1" dirty="0"/>
                  <a:t> </a:t>
                </a:r>
                <a:r>
                  <a:rPr lang="en-US" sz="2400" dirty="0"/>
                  <a:t>with</a:t>
                </a:r>
                <a:r>
                  <a:rPr lang="en-US" sz="2400" b="1" dirty="0"/>
                  <a:t> velocity vector </a:t>
                </a:r>
                <a:endParaRPr lang="en-US" sz="2400" b="1" i="1" dirty="0">
                  <a:latin typeface="Cambria Math" panose="02040503050406030204" pitchFamily="18" charset="0"/>
                </a:endParaRPr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400" b="1" i="1" smtClean="0">
                          <a:latin typeface="Cambria Math" panose="02040503050406030204" pitchFamily="18" charset="0"/>
                        </a:rPr>
                        <m:t>𝑽</m:t>
                      </m:r>
                      <m:r>
                        <a:rPr lang="en-US" sz="2400" i="1">
                          <a:latin typeface="Cambria Math" panose="02040503050406030204" pitchFamily="18" charset="0"/>
                        </a:rPr>
                        <m:t>=</m:t>
                      </m:r>
                      <m:d>
                        <m:dPr>
                          <m:begChr m:val="["/>
                          <m:endChr m:val="]"/>
                          <m:ctrlPr>
                            <a:rPr lang="en-US" sz="24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m>
                            <m:mPr>
                              <m:mcs>
                                <m:mc>
                                  <m:mcPr>
                                    <m:count m:val="1"/>
                                    <m:mcJc m:val="center"/>
                                  </m:mcPr>
                                </m:mc>
                              </m:mcs>
                              <m:ctrlPr>
                                <a:rPr lang="en-US" sz="2400" i="1">
                                  <a:latin typeface="Cambria Math" panose="02040503050406030204" pitchFamily="18" charset="0"/>
                                </a:rPr>
                              </m:ctrlPr>
                            </m:mPr>
                            <m:mr>
                              <m:e>
                                <m:r>
                                  <m:rPr>
                                    <m:brk m:alnAt="7"/>
                                  </m:rPr>
                                  <a:rPr lang="en-US" sz="2400" b="0" i="1" smtClean="0">
                                    <a:latin typeface="Cambria Math" panose="02040503050406030204" pitchFamily="18" charset="0"/>
                                  </a:rPr>
                                  <m:t>𝑢</m:t>
                                </m:r>
                              </m:e>
                            </m:mr>
                            <m:mr>
                              <m:e>
                                <m:m>
                                  <m:mPr>
                                    <m:mcs>
                                      <m:mc>
                                        <m:mcPr>
                                          <m:count m:val="1"/>
                                          <m:mcJc m:val="center"/>
                                        </m:mcPr>
                                      </m:mc>
                                    </m:mcs>
                                    <m:ctrlPr>
                                      <a:rPr lang="en-US" sz="2400" i="1">
                                        <a:latin typeface="Cambria Math" panose="02040503050406030204" pitchFamily="18" charset="0"/>
                                      </a:rPr>
                                    </m:ctrlPr>
                                  </m:mPr>
                                  <m:mr>
                                    <m:e>
                                      <m:r>
                                        <a:rPr lang="en-US" sz="2400" b="0" i="1" smtClean="0">
                                          <a:latin typeface="Cambria Math" panose="02040503050406030204" pitchFamily="18" charset="0"/>
                                        </a:rPr>
                                        <m:t>𝑣</m:t>
                                      </m:r>
                                    </m:e>
                                  </m:mr>
                                  <m:mr>
                                    <m:e>
                                      <m:r>
                                        <a:rPr lang="en-US" sz="2400" b="0" i="1" smtClean="0">
                                          <a:latin typeface="Cambria Math" panose="02040503050406030204" pitchFamily="18" charset="0"/>
                                        </a:rPr>
                                        <m:t>𝑤</m:t>
                                      </m:r>
                                    </m:e>
                                  </m:mr>
                                </m:m>
                              </m:e>
                            </m:mr>
                          </m:m>
                        </m:e>
                      </m:d>
                    </m:oMath>
                  </m:oMathPara>
                </a14:m>
                <a:endParaRPr lang="en-US" sz="2400" dirty="0"/>
              </a:p>
            </p:txBody>
          </p:sp>
        </mc:Choice>
        <mc:Fallback xmlns="">
          <p:sp>
            <p:nvSpPr>
              <p:cNvPr id="39" name="TextBox 38">
                <a:extLst>
                  <a:ext uri="{FF2B5EF4-FFF2-40B4-BE49-F238E27FC236}">
                    <a16:creationId xmlns:a16="http://schemas.microsoft.com/office/drawing/2014/main" id="{2B972BE7-D2AE-5484-FE3E-FEDB572545A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194952" y="5187344"/>
                <a:ext cx="2615116" cy="1652888"/>
              </a:xfrm>
              <a:prstGeom prst="rect">
                <a:avLst/>
              </a:prstGeom>
              <a:blipFill>
                <a:blip r:embed="rId13"/>
                <a:stretch>
                  <a:fillRect l="-3497" t="-2952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4" name="TextBox 43">
                <a:extLst>
                  <a:ext uri="{FF2B5EF4-FFF2-40B4-BE49-F238E27FC236}">
                    <a16:creationId xmlns:a16="http://schemas.microsoft.com/office/drawing/2014/main" id="{B5E0B333-AC0B-8813-B7EC-BF7E8B8C6FE2}"/>
                  </a:ext>
                </a:extLst>
              </p:cNvPr>
              <p:cNvSpPr txBox="1"/>
              <p:nvPr/>
            </p:nvSpPr>
            <p:spPr>
              <a:xfrm>
                <a:off x="5199904" y="2101679"/>
                <a:ext cx="3583641" cy="156966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sz="2400" dirty="0"/>
                  <a:t>3. Projection matrix</a:t>
                </a:r>
                <a14:m>
                  <m:oMath xmlns:m="http://schemas.openxmlformats.org/officeDocument/2006/math">
                    <m:r>
                      <a:rPr lang="en-US" sz="2400" b="0" i="0" smtClean="0">
                        <a:latin typeface="Cambria Math" panose="02040503050406030204" pitchFamily="18" charset="0"/>
                      </a:rPr>
                      <m:t> </m:t>
                    </m:r>
                    <m:sSub>
                      <m:sSubPr>
                        <m:ctrlPr>
                          <a:rPr lang="en-US" sz="24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400" b="1" i="1" smtClean="0">
                            <a:latin typeface="Cambria Math" panose="02040503050406030204" pitchFamily="18" charset="0"/>
                          </a:rPr>
                          <m:t>𝑷</m:t>
                        </m:r>
                      </m:e>
                      <m:sub>
                        <m:r>
                          <a:rPr lang="en-US" sz="2400" i="1"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</m:oMath>
                </a14:m>
                <a:r>
                  <a:rPr lang="en-US" sz="2400" dirty="0"/>
                  <a:t>for points on image plane</a:t>
                </a:r>
                <a:endParaRPr lang="en-US" sz="2400" b="1" i="1" dirty="0">
                  <a:latin typeface="Cambria Math" panose="02040503050406030204" pitchFamily="18" charset="0"/>
                </a:endParaRPr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4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400" b="1" i="1" smtClean="0">
                              <a:latin typeface="Cambria Math" panose="02040503050406030204" pitchFamily="18" charset="0"/>
                            </a:rPr>
                            <m:t>𝒙</m:t>
                          </m:r>
                        </m:e>
                        <m:sub>
                          <m:r>
                            <a:rPr lang="en-US" sz="2400" i="1">
                              <a:latin typeface="Cambria Math" panose="02040503050406030204" pitchFamily="18" charset="0"/>
                            </a:rPr>
                            <m:t>𝑡</m:t>
                          </m:r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=0</m:t>
                          </m:r>
                        </m:sub>
                      </m:sSub>
                      <m:r>
                        <a:rPr lang="en-US" sz="2400" i="1"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en-US" sz="24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400" b="1" i="1">
                              <a:latin typeface="Cambria Math" panose="02040503050406030204" pitchFamily="18" charset="0"/>
                            </a:rPr>
                            <m:t>𝑷</m:t>
                          </m:r>
                        </m:e>
                        <m:sub>
                          <m:r>
                            <a:rPr lang="en-US" sz="2400" i="1">
                              <a:latin typeface="Cambria Math" panose="02040503050406030204" pitchFamily="18" charset="0"/>
                            </a:rPr>
                            <m:t>𝑡</m:t>
                          </m:r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=0</m:t>
                          </m:r>
                        </m:sub>
                      </m:sSub>
                      <m:sSub>
                        <m:sSubPr>
                          <m:ctrlPr>
                            <a:rPr lang="en-US" sz="24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400" b="1" i="1" smtClean="0">
                              <a:latin typeface="Cambria Math" panose="02040503050406030204" pitchFamily="18" charset="0"/>
                            </a:rPr>
                            <m:t>𝑿</m:t>
                          </m:r>
                        </m:e>
                        <m:sub>
                          <m:r>
                            <a:rPr lang="en-US" sz="2400" i="1">
                              <a:latin typeface="Cambria Math" panose="02040503050406030204" pitchFamily="18" charset="0"/>
                            </a:rPr>
                            <m:t>𝑡</m:t>
                          </m:r>
                          <m:r>
                            <a:rPr lang="en-US" sz="2400" i="1">
                              <a:latin typeface="Cambria Math" panose="02040503050406030204" pitchFamily="18" charset="0"/>
                            </a:rPr>
                            <m:t>=0</m:t>
                          </m:r>
                        </m:sub>
                      </m:sSub>
                    </m:oMath>
                  </m:oMathPara>
                </a14:m>
                <a:endParaRPr lang="en-US" sz="2400" dirty="0"/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4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400" b="1" i="1">
                              <a:latin typeface="Cambria Math" panose="02040503050406030204" pitchFamily="18" charset="0"/>
                            </a:rPr>
                            <m:t>𝒙</m:t>
                          </m:r>
                        </m:e>
                        <m:sub>
                          <m:r>
                            <a:rPr lang="en-US" sz="2400" i="1">
                              <a:latin typeface="Cambria Math" panose="02040503050406030204" pitchFamily="18" charset="0"/>
                            </a:rPr>
                            <m:t>𝑡</m:t>
                          </m:r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+1</m:t>
                          </m:r>
                        </m:sub>
                      </m:sSub>
                      <m:r>
                        <a:rPr lang="en-US" sz="2400" i="1"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en-US" sz="24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400" b="1" i="1">
                              <a:latin typeface="Cambria Math" panose="02040503050406030204" pitchFamily="18" charset="0"/>
                            </a:rPr>
                            <m:t>𝑷</m:t>
                          </m:r>
                        </m:e>
                        <m:sub>
                          <m:r>
                            <a:rPr lang="en-US" sz="2400" i="1">
                              <a:latin typeface="Cambria Math" panose="02040503050406030204" pitchFamily="18" charset="0"/>
                            </a:rPr>
                            <m:t>𝑡</m:t>
                          </m:r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+1</m:t>
                          </m:r>
                        </m:sub>
                      </m:sSub>
                      <m:sSub>
                        <m:sSubPr>
                          <m:ctrlPr>
                            <a:rPr lang="en-US" sz="24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400" b="1" i="1">
                              <a:latin typeface="Cambria Math" panose="02040503050406030204" pitchFamily="18" charset="0"/>
                            </a:rPr>
                            <m:t>𝑿</m:t>
                          </m:r>
                        </m:e>
                        <m:sub>
                          <m:r>
                            <a:rPr lang="en-US" sz="2400" i="1">
                              <a:latin typeface="Cambria Math" panose="02040503050406030204" pitchFamily="18" charset="0"/>
                            </a:rPr>
                            <m:t>𝑡</m:t>
                          </m:r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+1</m:t>
                          </m:r>
                        </m:sub>
                      </m:sSub>
                    </m:oMath>
                  </m:oMathPara>
                </a14:m>
                <a:endParaRPr lang="en-US" sz="2400" dirty="0"/>
              </a:p>
            </p:txBody>
          </p:sp>
        </mc:Choice>
        <mc:Fallback xmlns="">
          <p:sp>
            <p:nvSpPr>
              <p:cNvPr id="44" name="TextBox 43">
                <a:extLst>
                  <a:ext uri="{FF2B5EF4-FFF2-40B4-BE49-F238E27FC236}">
                    <a16:creationId xmlns:a16="http://schemas.microsoft.com/office/drawing/2014/main" id="{B5E0B333-AC0B-8813-B7EC-BF7E8B8C6FE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199904" y="2101679"/>
                <a:ext cx="3583641" cy="1569660"/>
              </a:xfrm>
              <a:prstGeom prst="rect">
                <a:avLst/>
              </a:prstGeom>
              <a:blipFill>
                <a:blip r:embed="rId14"/>
                <a:stretch>
                  <a:fillRect l="-2551" t="-311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5" name="TextBox 44">
                <a:extLst>
                  <a:ext uri="{FF2B5EF4-FFF2-40B4-BE49-F238E27FC236}">
                    <a16:creationId xmlns:a16="http://schemas.microsoft.com/office/drawing/2014/main" id="{929CBD46-74AF-79EB-753B-BA7448FA9A18}"/>
                  </a:ext>
                </a:extLst>
              </p:cNvPr>
              <p:cNvSpPr txBox="1"/>
              <p:nvPr/>
            </p:nvSpPr>
            <p:spPr>
              <a:xfrm>
                <a:off x="3776626" y="5759554"/>
                <a:ext cx="4525934" cy="830997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sz="2400" dirty="0"/>
                  <a:t>4</a:t>
                </a:r>
                <a:r>
                  <a:rPr lang="en-US" sz="2400" b="1" dirty="0"/>
                  <a:t>. Projected velocity vector </a:t>
                </a:r>
                <a:endParaRPr lang="en-US" sz="2400" b="1" i="1" dirty="0">
                  <a:latin typeface="Cambria Math" panose="02040503050406030204" pitchFamily="18" charset="0"/>
                </a:endParaRPr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400" b="1" i="1" smtClean="0">
                          <a:latin typeface="Cambria Math" panose="02040503050406030204" pitchFamily="18" charset="0"/>
                        </a:rPr>
                        <m:t>𝒗</m:t>
                      </m:r>
                      <m:r>
                        <a:rPr lang="en-US" sz="2400" i="1"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en-US" sz="24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400" b="1" i="1">
                              <a:latin typeface="Cambria Math" panose="02040503050406030204" pitchFamily="18" charset="0"/>
                            </a:rPr>
                            <m:t>𝒙</m:t>
                          </m:r>
                        </m:e>
                        <m:sub>
                          <m:r>
                            <a:rPr lang="en-US" sz="2400" i="1">
                              <a:latin typeface="Cambria Math" panose="02040503050406030204" pitchFamily="18" charset="0"/>
                            </a:rPr>
                            <m:t>𝑡</m:t>
                          </m:r>
                          <m:r>
                            <a:rPr lang="en-US" sz="2400" i="1">
                              <a:latin typeface="Cambria Math" panose="02040503050406030204" pitchFamily="18" charset="0"/>
                            </a:rPr>
                            <m:t>+1</m:t>
                          </m:r>
                        </m:sub>
                      </m:sSub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−</m:t>
                      </m:r>
                      <m:sSub>
                        <m:sSubPr>
                          <m:ctrlPr>
                            <a:rPr lang="en-US" sz="24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400" b="1" i="1">
                              <a:latin typeface="Cambria Math" panose="02040503050406030204" pitchFamily="18" charset="0"/>
                            </a:rPr>
                            <m:t>𝒙</m:t>
                          </m:r>
                        </m:e>
                        <m:sub>
                          <m:r>
                            <a:rPr lang="en-US" sz="2400" i="1">
                              <a:latin typeface="Cambria Math" panose="02040503050406030204" pitchFamily="18" charset="0"/>
                            </a:rPr>
                            <m:t>𝑡</m:t>
                          </m:r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=0</m:t>
                          </m:r>
                        </m:sub>
                      </m:sSub>
                    </m:oMath>
                  </m:oMathPara>
                </a14:m>
                <a:endParaRPr lang="en-US" sz="2400" dirty="0"/>
              </a:p>
            </p:txBody>
          </p:sp>
        </mc:Choice>
        <mc:Fallback xmlns="">
          <p:sp>
            <p:nvSpPr>
              <p:cNvPr id="45" name="TextBox 44">
                <a:extLst>
                  <a:ext uri="{FF2B5EF4-FFF2-40B4-BE49-F238E27FC236}">
                    <a16:creationId xmlns:a16="http://schemas.microsoft.com/office/drawing/2014/main" id="{929CBD46-74AF-79EB-753B-BA7448FA9A1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776626" y="5759554"/>
                <a:ext cx="4525934" cy="830997"/>
              </a:xfrm>
              <a:prstGeom prst="rect">
                <a:avLst/>
              </a:prstGeom>
              <a:blipFill>
                <a:blip r:embed="rId15"/>
                <a:stretch>
                  <a:fillRect l="-2156" t="-5882" b="-735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7" name="TextBox 46">
                <a:extLst>
                  <a:ext uri="{FF2B5EF4-FFF2-40B4-BE49-F238E27FC236}">
                    <a16:creationId xmlns:a16="http://schemas.microsoft.com/office/drawing/2014/main" id="{057F3DD2-FB22-F352-6476-C755769833A1}"/>
                  </a:ext>
                </a:extLst>
              </p:cNvPr>
              <p:cNvSpPr txBox="1"/>
              <p:nvPr/>
            </p:nvSpPr>
            <p:spPr>
              <a:xfrm>
                <a:off x="2902393" y="4375816"/>
                <a:ext cx="448116" cy="46166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400" b="1" i="1" smtClean="0">
                          <a:latin typeface="Cambria Math" panose="02040503050406030204" pitchFamily="18" charset="0"/>
                        </a:rPr>
                        <m:t>𝒗</m:t>
                      </m:r>
                    </m:oMath>
                  </m:oMathPara>
                </a14:m>
                <a:endParaRPr lang="en-US" sz="2400" b="1" dirty="0"/>
              </a:p>
            </p:txBody>
          </p:sp>
        </mc:Choice>
        <mc:Fallback xmlns="">
          <p:sp>
            <p:nvSpPr>
              <p:cNvPr id="47" name="TextBox 46">
                <a:extLst>
                  <a:ext uri="{FF2B5EF4-FFF2-40B4-BE49-F238E27FC236}">
                    <a16:creationId xmlns:a16="http://schemas.microsoft.com/office/drawing/2014/main" id="{057F3DD2-FB22-F352-6476-C755769833A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902393" y="4375816"/>
                <a:ext cx="448116" cy="461665"/>
              </a:xfrm>
              <a:prstGeom prst="rect">
                <a:avLst/>
              </a:prstGeom>
              <a:blipFill>
                <a:blip r:embed="rId1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98310825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0" grpId="0" animBg="1"/>
      <p:bldP spid="71" grpId="0" animBg="1"/>
      <p:bldP spid="24" grpId="0" animBg="1"/>
      <p:bldP spid="25" grpId="0"/>
      <p:bldP spid="26" grpId="0"/>
      <p:bldP spid="59" grpId="0" animBg="1"/>
      <p:bldP spid="66" grpId="0"/>
      <p:bldP spid="68" grpId="0"/>
      <p:bldP spid="6" grpId="0"/>
      <p:bldP spid="15" grpId="0" animBg="1"/>
      <p:bldP spid="22" grpId="0"/>
      <p:bldP spid="23" grpId="0"/>
      <p:bldP spid="30" grpId="0"/>
      <p:bldP spid="39" grpId="0"/>
      <p:bldP spid="44" grpId="0"/>
      <p:bldP spid="45" grpId="0"/>
      <p:bldP spid="47" grpId="0"/>
    </p:bld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30CC5C4E-4EB8-65D2-C907-2E2FC7C056F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981D5AF-AE50-CAEC-7427-8C7B086C406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89301" y="140193"/>
            <a:ext cx="10515600" cy="872004"/>
          </a:xfrm>
        </p:spPr>
        <p:txBody>
          <a:bodyPr>
            <a:normAutofit/>
          </a:bodyPr>
          <a:lstStyle/>
          <a:p>
            <a:r>
              <a:rPr lang="en-US" sz="4000" dirty="0">
                <a:latin typeface="+mn-lt"/>
              </a:rPr>
              <a:t>Optical Flow vs. Image Stitching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4D7D614-55F1-DA83-2C67-BB311464F18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89301" y="1124339"/>
            <a:ext cx="10515600" cy="5593468"/>
          </a:xfrm>
        </p:spPr>
        <p:txBody>
          <a:bodyPr/>
          <a:lstStyle/>
          <a:p>
            <a:pPr marL="0" indent="0">
              <a:buNone/>
            </a:pPr>
            <a:r>
              <a:rPr lang="en-US" dirty="0"/>
              <a:t>Compare optical flow models to projective transform models</a:t>
            </a:r>
          </a:p>
          <a:p>
            <a:r>
              <a:rPr lang="en-US" dirty="0"/>
              <a:t>Both booth tasks use image matching and warping </a:t>
            </a:r>
          </a:p>
          <a:p>
            <a:r>
              <a:rPr lang="en-US" dirty="0"/>
              <a:t>Parameters for projective transformation models are estimated for large areas</a:t>
            </a:r>
          </a:p>
          <a:p>
            <a:pPr lvl="1"/>
            <a:r>
              <a:rPr lang="en-US" dirty="0"/>
              <a:t>A single transform is applied to the entire image or patches of image   </a:t>
            </a:r>
          </a:p>
          <a:p>
            <a:pPr lvl="1"/>
            <a:r>
              <a:rPr lang="en-US" dirty="0"/>
              <a:t>Cannot localize motion  </a:t>
            </a:r>
          </a:p>
          <a:p>
            <a:r>
              <a:rPr lang="en-US" dirty="0"/>
              <a:t>Parameters for optical flow models are estimated pixel-by-pixel </a:t>
            </a:r>
          </a:p>
          <a:p>
            <a:pPr lvl="1"/>
            <a:r>
              <a:rPr lang="en-US" dirty="0"/>
              <a:t>Is a </a:t>
            </a:r>
            <a:r>
              <a:rPr lang="en-US" b="1" dirty="0"/>
              <a:t>dense learning task  </a:t>
            </a:r>
          </a:p>
          <a:p>
            <a:pPr lvl="1"/>
            <a:r>
              <a:rPr lang="en-US" dirty="0"/>
              <a:t>Warping on a pixel-by-pixel basis   </a:t>
            </a:r>
          </a:p>
          <a:p>
            <a:pPr lvl="1"/>
            <a:r>
              <a:rPr lang="en-US" dirty="0"/>
              <a:t>Localizes motion  </a:t>
            </a:r>
          </a:p>
          <a:p>
            <a:r>
              <a:rPr lang="en-US" dirty="0"/>
              <a:t>Some optical flow algorithms use a projective transform to model global flow</a:t>
            </a:r>
          </a:p>
        </p:txBody>
      </p:sp>
    </p:spTree>
    <p:extLst>
      <p:ext uri="{BB962C8B-B14F-4D97-AF65-F5344CB8AC3E}">
        <p14:creationId xmlns:p14="http://schemas.microsoft.com/office/powerpoint/2010/main" val="318574994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46856AD-D906-FEFD-7FD8-7B84DF60675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algn="ctr"/>
            <a:r>
              <a:rPr lang="en-US" sz="4000" dirty="0"/>
              <a:t>The Small Motion Consistency Assumptions</a:t>
            </a:r>
          </a:p>
        </p:txBody>
      </p:sp>
    </p:spTree>
    <p:extLst>
      <p:ext uri="{BB962C8B-B14F-4D97-AF65-F5344CB8AC3E}">
        <p14:creationId xmlns:p14="http://schemas.microsoft.com/office/powerpoint/2010/main" val="941259007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DFB6AB4-96EB-434D-8BFC-6697DE744D7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89301" y="140193"/>
            <a:ext cx="10515600" cy="872004"/>
          </a:xfrm>
        </p:spPr>
        <p:txBody>
          <a:bodyPr>
            <a:normAutofit/>
          </a:bodyPr>
          <a:lstStyle/>
          <a:p>
            <a:r>
              <a:rPr lang="en-US" sz="4000" dirty="0">
                <a:latin typeface="+mn-lt"/>
              </a:rPr>
              <a:t>Small Motion and Consistency Assumptions 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DBC6555-A8E7-4F73-8035-156F702D141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89301" y="1124339"/>
            <a:ext cx="10515600" cy="1738330"/>
          </a:xfrm>
        </p:spPr>
        <p:txBody>
          <a:bodyPr/>
          <a:lstStyle/>
          <a:p>
            <a:pPr marL="0" indent="0">
              <a:buNone/>
            </a:pPr>
            <a:r>
              <a:rPr lang="en-US" b="1" dirty="0"/>
              <a:t>Assumptions about motion</a:t>
            </a:r>
            <a:r>
              <a:rPr lang="en-US" dirty="0"/>
              <a:t> in video simplify a </a:t>
            </a:r>
            <a:r>
              <a:rPr lang="en-US"/>
              <a:t>flow model </a:t>
            </a:r>
            <a:endParaRPr lang="en-US" b="1" dirty="0"/>
          </a:p>
          <a:p>
            <a:r>
              <a:rPr lang="en-US" dirty="0"/>
              <a:t>Frame to frame </a:t>
            </a:r>
            <a:r>
              <a:rPr lang="en-US" b="1" dirty="0"/>
              <a:t>motion is small</a:t>
            </a:r>
            <a:r>
              <a:rPr lang="en-US" dirty="0"/>
              <a:t>  </a:t>
            </a:r>
          </a:p>
          <a:p>
            <a:r>
              <a:rPr lang="en-US" dirty="0"/>
              <a:t>Frame to frame </a:t>
            </a:r>
            <a:r>
              <a:rPr lang="en-US" b="1" dirty="0"/>
              <a:t>illumination and color are constant</a:t>
            </a:r>
            <a:r>
              <a:rPr lang="en-US" dirty="0"/>
              <a:t>   </a:t>
            </a:r>
          </a:p>
        </p:txBody>
      </p:sp>
      <p:sp>
        <p:nvSpPr>
          <p:cNvPr id="4" name="Parallelogram 3">
            <a:extLst>
              <a:ext uri="{FF2B5EF4-FFF2-40B4-BE49-F238E27FC236}">
                <a16:creationId xmlns:a16="http://schemas.microsoft.com/office/drawing/2014/main" id="{638F6B61-2D07-4611-870D-A65EFF45C248}"/>
              </a:ext>
            </a:extLst>
          </p:cNvPr>
          <p:cNvSpPr/>
          <p:nvPr/>
        </p:nvSpPr>
        <p:spPr>
          <a:xfrm rot="15403545">
            <a:off x="1792747" y="4535473"/>
            <a:ext cx="2116450" cy="1644513"/>
          </a:xfrm>
          <a:prstGeom prst="parallelogram">
            <a:avLst/>
          </a:prstGeom>
          <a:noFill/>
          <a:ln w="254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Parallelogram 4">
            <a:extLst>
              <a:ext uri="{FF2B5EF4-FFF2-40B4-BE49-F238E27FC236}">
                <a16:creationId xmlns:a16="http://schemas.microsoft.com/office/drawing/2014/main" id="{26B3109F-DFB9-43B1-89B6-1D0425C358F5}"/>
              </a:ext>
            </a:extLst>
          </p:cNvPr>
          <p:cNvSpPr/>
          <p:nvPr/>
        </p:nvSpPr>
        <p:spPr>
          <a:xfrm rot="15403545">
            <a:off x="2411081" y="5468967"/>
            <a:ext cx="255506" cy="238068"/>
          </a:xfrm>
          <a:prstGeom prst="parallelogram">
            <a:avLst/>
          </a:prstGeom>
          <a:gradFill>
            <a:gsLst>
              <a:gs pos="0">
                <a:schemeClr val="bg2">
                  <a:lumMod val="75000"/>
                </a:schemeClr>
              </a:gs>
              <a:gs pos="74000">
                <a:schemeClr val="accent1">
                  <a:lumMod val="45000"/>
                  <a:lumOff val="55000"/>
                </a:schemeClr>
              </a:gs>
              <a:gs pos="83000">
                <a:schemeClr val="accent1">
                  <a:lumMod val="45000"/>
                  <a:lumOff val="55000"/>
                </a:schemeClr>
              </a:gs>
              <a:gs pos="100000">
                <a:schemeClr val="accent1">
                  <a:lumMod val="30000"/>
                  <a:lumOff val="70000"/>
                </a:schemeClr>
              </a:gs>
            </a:gsLst>
            <a:lin ang="5400000" scaled="1"/>
          </a:gradFill>
          <a:ln w="254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Parallelogram 13">
            <a:extLst>
              <a:ext uri="{FF2B5EF4-FFF2-40B4-BE49-F238E27FC236}">
                <a16:creationId xmlns:a16="http://schemas.microsoft.com/office/drawing/2014/main" id="{334E72DB-7B03-495D-94D6-645998C9A2E9}"/>
              </a:ext>
            </a:extLst>
          </p:cNvPr>
          <p:cNvSpPr/>
          <p:nvPr/>
        </p:nvSpPr>
        <p:spPr>
          <a:xfrm rot="15403545">
            <a:off x="3994506" y="3755094"/>
            <a:ext cx="2116450" cy="1644513"/>
          </a:xfrm>
          <a:prstGeom prst="parallelogram">
            <a:avLst/>
          </a:prstGeom>
          <a:noFill/>
          <a:ln w="254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Parallelogram 14">
            <a:extLst>
              <a:ext uri="{FF2B5EF4-FFF2-40B4-BE49-F238E27FC236}">
                <a16:creationId xmlns:a16="http://schemas.microsoft.com/office/drawing/2014/main" id="{BBD71EBA-A9FB-4389-8546-48779E0D5F7B}"/>
              </a:ext>
            </a:extLst>
          </p:cNvPr>
          <p:cNvSpPr/>
          <p:nvPr/>
        </p:nvSpPr>
        <p:spPr>
          <a:xfrm rot="15403545">
            <a:off x="4815019" y="4495599"/>
            <a:ext cx="255506" cy="238068"/>
          </a:xfrm>
          <a:prstGeom prst="parallelogram">
            <a:avLst/>
          </a:prstGeom>
          <a:gradFill>
            <a:gsLst>
              <a:gs pos="0">
                <a:schemeClr val="bg2">
                  <a:lumMod val="75000"/>
                </a:schemeClr>
              </a:gs>
              <a:gs pos="74000">
                <a:schemeClr val="accent1">
                  <a:lumMod val="45000"/>
                  <a:lumOff val="55000"/>
                </a:schemeClr>
              </a:gs>
              <a:gs pos="83000">
                <a:schemeClr val="accent1">
                  <a:lumMod val="45000"/>
                  <a:lumOff val="55000"/>
                </a:schemeClr>
              </a:gs>
              <a:gs pos="100000">
                <a:schemeClr val="accent1">
                  <a:lumMod val="30000"/>
                  <a:lumOff val="70000"/>
                </a:schemeClr>
              </a:gs>
            </a:gsLst>
            <a:lin ang="5400000" scaled="1"/>
          </a:gradFill>
          <a:ln w="254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Parallelogram 15">
            <a:extLst>
              <a:ext uri="{FF2B5EF4-FFF2-40B4-BE49-F238E27FC236}">
                <a16:creationId xmlns:a16="http://schemas.microsoft.com/office/drawing/2014/main" id="{7E2D2584-A6E3-4E7A-856F-C5E1255418F4}"/>
              </a:ext>
            </a:extLst>
          </p:cNvPr>
          <p:cNvSpPr/>
          <p:nvPr/>
        </p:nvSpPr>
        <p:spPr>
          <a:xfrm rot="15403545">
            <a:off x="6191766" y="2929178"/>
            <a:ext cx="2116450" cy="1644513"/>
          </a:xfrm>
          <a:prstGeom prst="parallelogram">
            <a:avLst/>
          </a:prstGeom>
          <a:noFill/>
          <a:ln w="254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7" name="Parallelogram 16">
            <a:extLst>
              <a:ext uri="{FF2B5EF4-FFF2-40B4-BE49-F238E27FC236}">
                <a16:creationId xmlns:a16="http://schemas.microsoft.com/office/drawing/2014/main" id="{06ED4CE8-DE40-48BE-BEA2-2638F973EB24}"/>
              </a:ext>
            </a:extLst>
          </p:cNvPr>
          <p:cNvSpPr/>
          <p:nvPr/>
        </p:nvSpPr>
        <p:spPr>
          <a:xfrm rot="15403545">
            <a:off x="7232196" y="3480729"/>
            <a:ext cx="255506" cy="238068"/>
          </a:xfrm>
          <a:prstGeom prst="parallelogram">
            <a:avLst/>
          </a:prstGeom>
          <a:gradFill>
            <a:gsLst>
              <a:gs pos="0">
                <a:schemeClr val="bg2">
                  <a:lumMod val="75000"/>
                </a:schemeClr>
              </a:gs>
              <a:gs pos="74000">
                <a:schemeClr val="accent1">
                  <a:lumMod val="45000"/>
                  <a:lumOff val="55000"/>
                </a:schemeClr>
              </a:gs>
              <a:gs pos="83000">
                <a:schemeClr val="accent1">
                  <a:lumMod val="45000"/>
                  <a:lumOff val="55000"/>
                </a:schemeClr>
              </a:gs>
              <a:gs pos="100000">
                <a:schemeClr val="accent1">
                  <a:lumMod val="30000"/>
                  <a:lumOff val="70000"/>
                </a:schemeClr>
              </a:gs>
            </a:gsLst>
            <a:lin ang="5400000" scaled="1"/>
          </a:gradFill>
          <a:ln w="254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382CDA76-B27D-446D-A41A-49B2621A592B}"/>
              </a:ext>
            </a:extLst>
          </p:cNvPr>
          <p:cNvSpPr txBox="1"/>
          <p:nvPr/>
        </p:nvSpPr>
        <p:spPr>
          <a:xfrm>
            <a:off x="4942772" y="5436329"/>
            <a:ext cx="767361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dirty="0"/>
              <a:t>t</a:t>
            </a:r>
            <a:r>
              <a:rPr lang="en-US" sz="2400" baseline="-25000" dirty="0"/>
              <a:t>1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259892B7-25CE-4B93-B50C-335D790C5FB0}"/>
              </a:ext>
            </a:extLst>
          </p:cNvPr>
          <p:cNvSpPr txBox="1"/>
          <p:nvPr/>
        </p:nvSpPr>
        <p:spPr>
          <a:xfrm>
            <a:off x="2599098" y="6222315"/>
            <a:ext cx="767361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dirty="0"/>
              <a:t>t</a:t>
            </a:r>
            <a:r>
              <a:rPr lang="en-US" sz="2400" baseline="-25000" dirty="0"/>
              <a:t>0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B7DD9AA9-BDDF-41D1-BE10-D769C3BDC78A}"/>
              </a:ext>
            </a:extLst>
          </p:cNvPr>
          <p:cNvSpPr txBox="1"/>
          <p:nvPr/>
        </p:nvSpPr>
        <p:spPr>
          <a:xfrm>
            <a:off x="7121456" y="4586430"/>
            <a:ext cx="767361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dirty="0"/>
              <a:t>t</a:t>
            </a:r>
            <a:r>
              <a:rPr lang="en-US" sz="2400" baseline="-25000" dirty="0"/>
              <a:t>2</a:t>
            </a:r>
          </a:p>
        </p:txBody>
      </p:sp>
      <p:cxnSp>
        <p:nvCxnSpPr>
          <p:cNvPr id="22" name="Straight Arrow Connector 21">
            <a:extLst>
              <a:ext uri="{FF2B5EF4-FFF2-40B4-BE49-F238E27FC236}">
                <a16:creationId xmlns:a16="http://schemas.microsoft.com/office/drawing/2014/main" id="{61BEA19E-332C-45F3-9EDC-E51FBA99AE39}"/>
              </a:ext>
            </a:extLst>
          </p:cNvPr>
          <p:cNvCxnSpPr>
            <a:cxnSpLocks/>
            <a:stCxn id="5" idx="4"/>
          </p:cNvCxnSpPr>
          <p:nvPr/>
        </p:nvCxnSpPr>
        <p:spPr>
          <a:xfrm>
            <a:off x="2654688" y="5560669"/>
            <a:ext cx="406124" cy="0"/>
          </a:xfrm>
          <a:prstGeom prst="straightConnector1">
            <a:avLst/>
          </a:prstGeom>
          <a:ln w="2222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5" name="TextBox 24">
            <a:extLst>
              <a:ext uri="{FF2B5EF4-FFF2-40B4-BE49-F238E27FC236}">
                <a16:creationId xmlns:a16="http://schemas.microsoft.com/office/drawing/2014/main" id="{D9CDD699-09E8-47B8-99D1-B249BB14487B}"/>
              </a:ext>
            </a:extLst>
          </p:cNvPr>
          <p:cNvSpPr txBox="1"/>
          <p:nvPr/>
        </p:nvSpPr>
        <p:spPr>
          <a:xfrm>
            <a:off x="2680801" y="5436328"/>
            <a:ext cx="419936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dirty="0"/>
              <a:t>u</a:t>
            </a:r>
          </a:p>
        </p:txBody>
      </p:sp>
      <p:cxnSp>
        <p:nvCxnSpPr>
          <p:cNvPr id="26" name="Straight Arrow Connector 25">
            <a:extLst>
              <a:ext uri="{FF2B5EF4-FFF2-40B4-BE49-F238E27FC236}">
                <a16:creationId xmlns:a16="http://schemas.microsoft.com/office/drawing/2014/main" id="{9DBD5BA4-F145-48A2-8141-DB5845F31BE1}"/>
              </a:ext>
            </a:extLst>
          </p:cNvPr>
          <p:cNvCxnSpPr>
            <a:cxnSpLocks/>
            <a:stCxn id="5" idx="2"/>
          </p:cNvCxnSpPr>
          <p:nvPr/>
        </p:nvCxnSpPr>
        <p:spPr>
          <a:xfrm flipH="1" flipV="1">
            <a:off x="2511464" y="5150967"/>
            <a:ext cx="4869" cy="341657"/>
          </a:xfrm>
          <a:prstGeom prst="straightConnector1">
            <a:avLst/>
          </a:prstGeom>
          <a:ln w="2222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7" name="TextBox 26">
            <a:extLst>
              <a:ext uri="{FF2B5EF4-FFF2-40B4-BE49-F238E27FC236}">
                <a16:creationId xmlns:a16="http://schemas.microsoft.com/office/drawing/2014/main" id="{EC8626E1-0465-4260-84FA-34B44AA45CCB}"/>
              </a:ext>
            </a:extLst>
          </p:cNvPr>
          <p:cNvSpPr txBox="1"/>
          <p:nvPr/>
        </p:nvSpPr>
        <p:spPr>
          <a:xfrm>
            <a:off x="2171332" y="4992647"/>
            <a:ext cx="39425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dirty="0"/>
              <a:t>v</a:t>
            </a:r>
            <a:endParaRPr lang="en-US" sz="2400" baseline="-25000" dirty="0"/>
          </a:p>
        </p:txBody>
      </p:sp>
      <p:cxnSp>
        <p:nvCxnSpPr>
          <p:cNvPr id="30" name="Straight Arrow Connector 29">
            <a:extLst>
              <a:ext uri="{FF2B5EF4-FFF2-40B4-BE49-F238E27FC236}">
                <a16:creationId xmlns:a16="http://schemas.microsoft.com/office/drawing/2014/main" id="{16B68B25-F72E-4206-B69F-B3C45D13FD96}"/>
              </a:ext>
            </a:extLst>
          </p:cNvPr>
          <p:cNvCxnSpPr>
            <a:cxnSpLocks/>
          </p:cNvCxnSpPr>
          <p:nvPr/>
        </p:nvCxnSpPr>
        <p:spPr>
          <a:xfrm flipV="1">
            <a:off x="4942529" y="4226635"/>
            <a:ext cx="0" cy="308837"/>
          </a:xfrm>
          <a:prstGeom prst="straightConnector1">
            <a:avLst/>
          </a:prstGeom>
          <a:ln w="2222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1" name="TextBox 30">
            <a:extLst>
              <a:ext uri="{FF2B5EF4-FFF2-40B4-BE49-F238E27FC236}">
                <a16:creationId xmlns:a16="http://schemas.microsoft.com/office/drawing/2014/main" id="{6C97BD20-1E16-4374-A706-087080D296D5}"/>
              </a:ext>
            </a:extLst>
          </p:cNvPr>
          <p:cNvSpPr txBox="1"/>
          <p:nvPr/>
        </p:nvSpPr>
        <p:spPr>
          <a:xfrm>
            <a:off x="4625371" y="4066101"/>
            <a:ext cx="317157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dirty="0"/>
              <a:t>v</a:t>
            </a:r>
            <a:endParaRPr lang="en-US" sz="2400" baseline="-25000" dirty="0"/>
          </a:p>
        </p:txBody>
      </p:sp>
      <p:cxnSp>
        <p:nvCxnSpPr>
          <p:cNvPr id="34" name="Straight Arrow Connector 33">
            <a:extLst>
              <a:ext uri="{FF2B5EF4-FFF2-40B4-BE49-F238E27FC236}">
                <a16:creationId xmlns:a16="http://schemas.microsoft.com/office/drawing/2014/main" id="{7BCE623A-EEB8-4C08-A677-E60FDCE1B0D4}"/>
              </a:ext>
            </a:extLst>
          </p:cNvPr>
          <p:cNvCxnSpPr>
            <a:cxnSpLocks/>
          </p:cNvCxnSpPr>
          <p:nvPr/>
        </p:nvCxnSpPr>
        <p:spPr>
          <a:xfrm flipV="1">
            <a:off x="7331424" y="3183422"/>
            <a:ext cx="0" cy="308837"/>
          </a:xfrm>
          <a:prstGeom prst="straightConnector1">
            <a:avLst/>
          </a:prstGeom>
          <a:ln w="2222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5" name="TextBox 34">
            <a:extLst>
              <a:ext uri="{FF2B5EF4-FFF2-40B4-BE49-F238E27FC236}">
                <a16:creationId xmlns:a16="http://schemas.microsoft.com/office/drawing/2014/main" id="{23381ABE-0564-4D1D-A4A0-609B7B4C74CC}"/>
              </a:ext>
            </a:extLst>
          </p:cNvPr>
          <p:cNvSpPr txBox="1"/>
          <p:nvPr/>
        </p:nvSpPr>
        <p:spPr>
          <a:xfrm>
            <a:off x="6998970" y="3022888"/>
            <a:ext cx="332453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dirty="0"/>
              <a:t>v</a:t>
            </a:r>
            <a:endParaRPr lang="en-US" sz="2400" baseline="-25000" dirty="0"/>
          </a:p>
        </p:txBody>
      </p:sp>
      <p:cxnSp>
        <p:nvCxnSpPr>
          <p:cNvPr id="39" name="Straight Arrow Connector 38">
            <a:extLst>
              <a:ext uri="{FF2B5EF4-FFF2-40B4-BE49-F238E27FC236}">
                <a16:creationId xmlns:a16="http://schemas.microsoft.com/office/drawing/2014/main" id="{B3D0ED85-4915-4BFD-99CA-269156EBFC51}"/>
              </a:ext>
            </a:extLst>
          </p:cNvPr>
          <p:cNvCxnSpPr>
            <a:cxnSpLocks/>
          </p:cNvCxnSpPr>
          <p:nvPr/>
        </p:nvCxnSpPr>
        <p:spPr>
          <a:xfrm>
            <a:off x="5054101" y="4622506"/>
            <a:ext cx="406124" cy="0"/>
          </a:xfrm>
          <a:prstGeom prst="straightConnector1">
            <a:avLst/>
          </a:prstGeom>
          <a:ln w="2222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0" name="TextBox 39">
            <a:extLst>
              <a:ext uri="{FF2B5EF4-FFF2-40B4-BE49-F238E27FC236}">
                <a16:creationId xmlns:a16="http://schemas.microsoft.com/office/drawing/2014/main" id="{4D95D013-A5C9-4FEA-85FC-5B0AACD8E712}"/>
              </a:ext>
            </a:extLst>
          </p:cNvPr>
          <p:cNvSpPr txBox="1"/>
          <p:nvPr/>
        </p:nvSpPr>
        <p:spPr>
          <a:xfrm>
            <a:off x="5080214" y="4498165"/>
            <a:ext cx="419936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dirty="0"/>
              <a:t>u</a:t>
            </a:r>
            <a:endParaRPr lang="en-US" sz="2400" baseline="-25000" dirty="0"/>
          </a:p>
        </p:txBody>
      </p:sp>
      <p:cxnSp>
        <p:nvCxnSpPr>
          <p:cNvPr id="41" name="Straight Arrow Connector 40">
            <a:extLst>
              <a:ext uri="{FF2B5EF4-FFF2-40B4-BE49-F238E27FC236}">
                <a16:creationId xmlns:a16="http://schemas.microsoft.com/office/drawing/2014/main" id="{D7715EFE-C22C-4175-AB12-285DE341EDDE}"/>
              </a:ext>
            </a:extLst>
          </p:cNvPr>
          <p:cNvCxnSpPr>
            <a:cxnSpLocks/>
          </p:cNvCxnSpPr>
          <p:nvPr/>
        </p:nvCxnSpPr>
        <p:spPr>
          <a:xfrm>
            <a:off x="7479024" y="3603064"/>
            <a:ext cx="406124" cy="0"/>
          </a:xfrm>
          <a:prstGeom prst="straightConnector1">
            <a:avLst/>
          </a:prstGeom>
          <a:ln w="2222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2" name="TextBox 41">
            <a:extLst>
              <a:ext uri="{FF2B5EF4-FFF2-40B4-BE49-F238E27FC236}">
                <a16:creationId xmlns:a16="http://schemas.microsoft.com/office/drawing/2014/main" id="{CC8F0A07-9855-474D-85DF-41172B28D02C}"/>
              </a:ext>
            </a:extLst>
          </p:cNvPr>
          <p:cNvSpPr txBox="1"/>
          <p:nvPr/>
        </p:nvSpPr>
        <p:spPr>
          <a:xfrm>
            <a:off x="7505137" y="3478723"/>
            <a:ext cx="419936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dirty="0"/>
              <a:t>u</a:t>
            </a:r>
            <a:endParaRPr lang="en-US" sz="2400" baseline="-25000" dirty="0"/>
          </a:p>
        </p:txBody>
      </p:sp>
      <p:sp>
        <p:nvSpPr>
          <p:cNvPr id="43" name="Arc 42">
            <a:extLst>
              <a:ext uri="{FF2B5EF4-FFF2-40B4-BE49-F238E27FC236}">
                <a16:creationId xmlns:a16="http://schemas.microsoft.com/office/drawing/2014/main" id="{05B58354-4BD8-41FA-963B-BA3D75F9C147}"/>
              </a:ext>
            </a:extLst>
          </p:cNvPr>
          <p:cNvSpPr/>
          <p:nvPr/>
        </p:nvSpPr>
        <p:spPr>
          <a:xfrm rot="15600942">
            <a:off x="4402495" y="2782533"/>
            <a:ext cx="1044591" cy="4661402"/>
          </a:xfrm>
          <a:prstGeom prst="arc">
            <a:avLst/>
          </a:prstGeom>
          <a:ln w="15875">
            <a:solidFill>
              <a:srgbClr val="C00000"/>
            </a:solidFill>
            <a:tailEnd type="triangle" w="lg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4" name="Arc 43">
            <a:extLst>
              <a:ext uri="{FF2B5EF4-FFF2-40B4-BE49-F238E27FC236}">
                <a16:creationId xmlns:a16="http://schemas.microsoft.com/office/drawing/2014/main" id="{AE5BC864-3FCA-4D5B-91CE-506A2B59E373}"/>
              </a:ext>
            </a:extLst>
          </p:cNvPr>
          <p:cNvSpPr/>
          <p:nvPr/>
        </p:nvSpPr>
        <p:spPr>
          <a:xfrm rot="15600942">
            <a:off x="6818692" y="1799728"/>
            <a:ext cx="1044591" cy="4661402"/>
          </a:xfrm>
          <a:prstGeom prst="arc">
            <a:avLst/>
          </a:prstGeom>
          <a:ln w="15875">
            <a:solidFill>
              <a:srgbClr val="C00000"/>
            </a:solidFill>
            <a:tailEnd type="triangle" w="lg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A1796DEE-671F-4328-B138-E1AC31AC3BC7}"/>
              </a:ext>
            </a:extLst>
          </p:cNvPr>
          <p:cNvSpPr txBox="1"/>
          <p:nvPr/>
        </p:nvSpPr>
        <p:spPr>
          <a:xfrm>
            <a:off x="1557873" y="3227907"/>
            <a:ext cx="2440058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dirty="0"/>
              <a:t>Track patch from time step to time step</a:t>
            </a:r>
          </a:p>
        </p:txBody>
      </p:sp>
    </p:spTree>
    <p:extLst>
      <p:ext uri="{BB962C8B-B14F-4D97-AF65-F5344CB8AC3E}">
        <p14:creationId xmlns:p14="http://schemas.microsoft.com/office/powerpoint/2010/main" val="347409307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7" fill="hold">
                      <p:stCondLst>
                        <p:cond delay="indefinite"/>
                      </p:stCondLst>
                      <p:childTnLst>
                        <p:par>
                          <p:cTn id="48" fill="hold">
                            <p:stCondLst>
                              <p:cond delay="0"/>
                            </p:stCondLst>
                            <p:childTnLst>
                              <p:par>
                                <p:cTn id="4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animBg="1"/>
      <p:bldP spid="5" grpId="0" animBg="1"/>
      <p:bldP spid="14" grpId="0" animBg="1"/>
      <p:bldP spid="15" grpId="0" animBg="1"/>
      <p:bldP spid="16" grpId="0" animBg="1"/>
      <p:bldP spid="17" grpId="0" animBg="1"/>
      <p:bldP spid="18" grpId="0"/>
      <p:bldP spid="19" grpId="0"/>
      <p:bldP spid="20" grpId="0"/>
      <p:bldP spid="25" grpId="0"/>
      <p:bldP spid="27" grpId="0"/>
      <p:bldP spid="31" grpId="0"/>
      <p:bldP spid="35" grpId="0"/>
      <p:bldP spid="40" grpId="0"/>
      <p:bldP spid="42" grpId="0"/>
      <p:bldP spid="43" grpId="0" animBg="1"/>
      <p:bldP spid="44" grpId="0" animBg="1"/>
      <p:bldP spid="45" grpId="0"/>
    </p:bld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DFB6AB4-96EB-434D-8BFC-6697DE744D7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89301" y="140193"/>
            <a:ext cx="10515600" cy="872004"/>
          </a:xfrm>
        </p:spPr>
        <p:txBody>
          <a:bodyPr>
            <a:normAutofit/>
          </a:bodyPr>
          <a:lstStyle/>
          <a:p>
            <a:r>
              <a:rPr lang="en-US" sz="4000" dirty="0">
                <a:latin typeface="+mn-lt"/>
              </a:rPr>
              <a:t>Small Motion and Consistency Assumptions 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4DBC6555-A8E7-4F73-8035-156F702D1410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789301" y="1124338"/>
                <a:ext cx="7568958" cy="5455665"/>
              </a:xfrm>
            </p:spPr>
            <p:txBody>
              <a:bodyPr>
                <a:normAutofit/>
              </a:bodyPr>
              <a:lstStyle/>
              <a:p>
                <a:pPr marL="0" indent="0">
                  <a:buNone/>
                </a:pPr>
                <a:r>
                  <a:rPr lang="en-US" dirty="0"/>
                  <a:t>Assumptions about motion in video simplify flow model  </a:t>
                </a:r>
              </a:p>
              <a:p>
                <a:r>
                  <a:rPr lang="en-US" dirty="0"/>
                  <a:t>Velocity in the x and y directions </a:t>
                </a:r>
              </a:p>
              <a:p>
                <a:endParaRPr lang="en-US" sz="1400" dirty="0"/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i="1" smtClean="0">
                          <a:latin typeface="Cambria Math" panose="02040503050406030204" pitchFamily="18" charset="0"/>
                        </a:rPr>
                        <m:t>𝑢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𝜕</m:t>
                          </m:r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𝑥</m:t>
                          </m:r>
                        </m:num>
                        <m:den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𝜕</m:t>
                          </m:r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𝑡</m:t>
                          </m:r>
                        </m:den>
                      </m:f>
                    </m:oMath>
                  </m:oMathPara>
                </a14:m>
                <a:endParaRPr lang="en-US" dirty="0"/>
              </a:p>
              <a:p>
                <a:pPr marL="0" indent="0">
                  <a:buNone/>
                </a:pPr>
                <a:endParaRPr lang="en-US" sz="1400" dirty="0"/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𝑣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 </m:t>
                          </m:r>
                        </m:sub>
                      </m:sSub>
                      <m:r>
                        <a:rPr lang="en-US" i="1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𝜕</m:t>
                          </m:r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𝑦</m:t>
                          </m:r>
                        </m:num>
                        <m:den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𝜕</m:t>
                          </m:r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𝑡</m:t>
                          </m:r>
                        </m:den>
                      </m:f>
                    </m:oMath>
                  </m:oMathPara>
                </a14:m>
                <a:endParaRPr lang="en-US" dirty="0"/>
              </a:p>
              <a:p>
                <a:r>
                  <a:rPr lang="en-US" dirty="0"/>
                  <a:t>Estimate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[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𝑢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,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𝑣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]</m:t>
                    </m:r>
                  </m:oMath>
                </a14:m>
                <a:r>
                  <a:rPr lang="en-US" dirty="0"/>
                  <a:t>, the </a:t>
                </a:r>
                <a:r>
                  <a:rPr lang="en-US" b="1" dirty="0"/>
                  <a:t>optical flow parameters</a:t>
                </a:r>
              </a:p>
              <a:p>
                <a:r>
                  <a:rPr lang="en-US" dirty="0"/>
                  <a:t>Goal of models is to estimate optical flow field for time sequenced images, e.g. video</a:t>
                </a:r>
              </a:p>
              <a:p>
                <a:endParaRPr lang="en-US" dirty="0"/>
              </a:p>
              <a:p>
                <a:endParaRPr lang="en-US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4DBC6555-A8E7-4F73-8035-156F702D1410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789301" y="1124338"/>
                <a:ext cx="7568958" cy="5455665"/>
              </a:xfrm>
              <a:blipFill>
                <a:blip r:embed="rId3"/>
                <a:stretch>
                  <a:fillRect l="-1610" t="-178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6" name="Parallelogram 15">
            <a:extLst>
              <a:ext uri="{FF2B5EF4-FFF2-40B4-BE49-F238E27FC236}">
                <a16:creationId xmlns:a16="http://schemas.microsoft.com/office/drawing/2014/main" id="{7E2D2584-A6E3-4E7A-856F-C5E1255418F4}"/>
              </a:ext>
            </a:extLst>
          </p:cNvPr>
          <p:cNvSpPr/>
          <p:nvPr/>
        </p:nvSpPr>
        <p:spPr>
          <a:xfrm rot="15403545">
            <a:off x="8833439" y="2797512"/>
            <a:ext cx="2677475" cy="2191879"/>
          </a:xfrm>
          <a:prstGeom prst="parallelogram">
            <a:avLst/>
          </a:prstGeom>
          <a:noFill/>
          <a:ln w="254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7" name="Parallelogram 16">
            <a:extLst>
              <a:ext uri="{FF2B5EF4-FFF2-40B4-BE49-F238E27FC236}">
                <a16:creationId xmlns:a16="http://schemas.microsoft.com/office/drawing/2014/main" id="{06ED4CE8-DE40-48BE-BEA2-2638F973EB24}"/>
              </a:ext>
            </a:extLst>
          </p:cNvPr>
          <p:cNvSpPr/>
          <p:nvPr/>
        </p:nvSpPr>
        <p:spPr>
          <a:xfrm rot="15403545">
            <a:off x="9952421" y="3958606"/>
            <a:ext cx="255506" cy="238068"/>
          </a:xfrm>
          <a:prstGeom prst="parallelogram">
            <a:avLst/>
          </a:prstGeom>
          <a:gradFill>
            <a:gsLst>
              <a:gs pos="0">
                <a:schemeClr val="bg2">
                  <a:lumMod val="75000"/>
                </a:schemeClr>
              </a:gs>
              <a:gs pos="74000">
                <a:schemeClr val="accent1">
                  <a:lumMod val="45000"/>
                  <a:lumOff val="55000"/>
                </a:schemeClr>
              </a:gs>
              <a:gs pos="83000">
                <a:schemeClr val="accent1">
                  <a:lumMod val="45000"/>
                  <a:lumOff val="55000"/>
                </a:schemeClr>
              </a:gs>
              <a:gs pos="100000">
                <a:schemeClr val="accent1">
                  <a:lumMod val="30000"/>
                  <a:lumOff val="70000"/>
                </a:schemeClr>
              </a:gs>
            </a:gsLst>
            <a:lin ang="5400000" scaled="1"/>
          </a:gradFill>
          <a:ln w="254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34" name="Straight Arrow Connector 33">
            <a:extLst>
              <a:ext uri="{FF2B5EF4-FFF2-40B4-BE49-F238E27FC236}">
                <a16:creationId xmlns:a16="http://schemas.microsoft.com/office/drawing/2014/main" id="{7BCE623A-EEB8-4C08-A677-E60FDCE1B0D4}"/>
              </a:ext>
            </a:extLst>
          </p:cNvPr>
          <p:cNvCxnSpPr>
            <a:cxnSpLocks/>
          </p:cNvCxnSpPr>
          <p:nvPr/>
        </p:nvCxnSpPr>
        <p:spPr>
          <a:xfrm flipH="1" flipV="1">
            <a:off x="10012450" y="3221077"/>
            <a:ext cx="39199" cy="749059"/>
          </a:xfrm>
          <a:prstGeom prst="straightConnector1">
            <a:avLst/>
          </a:prstGeom>
          <a:ln w="2222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5" name="TextBox 34">
            <a:extLst>
              <a:ext uri="{FF2B5EF4-FFF2-40B4-BE49-F238E27FC236}">
                <a16:creationId xmlns:a16="http://schemas.microsoft.com/office/drawing/2014/main" id="{23381ABE-0564-4D1D-A4A0-609B7B4C74CC}"/>
              </a:ext>
            </a:extLst>
          </p:cNvPr>
          <p:cNvSpPr txBox="1"/>
          <p:nvPr/>
        </p:nvSpPr>
        <p:spPr>
          <a:xfrm>
            <a:off x="9662160" y="3351958"/>
            <a:ext cx="418014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dirty="0"/>
              <a:t>v</a:t>
            </a:r>
            <a:endParaRPr lang="en-US" sz="2400" baseline="-25000" dirty="0"/>
          </a:p>
        </p:txBody>
      </p:sp>
      <p:cxnSp>
        <p:nvCxnSpPr>
          <p:cNvPr id="41" name="Straight Arrow Connector 40">
            <a:extLst>
              <a:ext uri="{FF2B5EF4-FFF2-40B4-BE49-F238E27FC236}">
                <a16:creationId xmlns:a16="http://schemas.microsoft.com/office/drawing/2014/main" id="{D7715EFE-C22C-4175-AB12-285DE341EDDE}"/>
              </a:ext>
            </a:extLst>
          </p:cNvPr>
          <p:cNvCxnSpPr>
            <a:cxnSpLocks/>
          </p:cNvCxnSpPr>
          <p:nvPr/>
        </p:nvCxnSpPr>
        <p:spPr>
          <a:xfrm>
            <a:off x="10199249" y="4080941"/>
            <a:ext cx="879235" cy="0"/>
          </a:xfrm>
          <a:prstGeom prst="straightConnector1">
            <a:avLst/>
          </a:prstGeom>
          <a:ln w="2222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2" name="TextBox 41">
            <a:extLst>
              <a:ext uri="{FF2B5EF4-FFF2-40B4-BE49-F238E27FC236}">
                <a16:creationId xmlns:a16="http://schemas.microsoft.com/office/drawing/2014/main" id="{CC8F0A07-9855-474D-85DF-41172B28D02C}"/>
              </a:ext>
            </a:extLst>
          </p:cNvPr>
          <p:cNvSpPr txBox="1"/>
          <p:nvPr/>
        </p:nvSpPr>
        <p:spPr>
          <a:xfrm>
            <a:off x="10386186" y="3998479"/>
            <a:ext cx="419936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dirty="0"/>
              <a:t>u</a:t>
            </a:r>
            <a:endParaRPr lang="en-US" sz="2400" baseline="-25000" dirty="0"/>
          </a:p>
        </p:txBody>
      </p:sp>
    </p:spTree>
    <p:extLst>
      <p:ext uri="{BB962C8B-B14F-4D97-AF65-F5344CB8AC3E}">
        <p14:creationId xmlns:p14="http://schemas.microsoft.com/office/powerpoint/2010/main" val="291815434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35" grpId="0"/>
      <p:bldP spid="42" grpId="0"/>
    </p:bld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DFB6AB4-96EB-434D-8BFC-6697DE744D7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89301" y="140193"/>
            <a:ext cx="10515600" cy="872004"/>
          </a:xfrm>
        </p:spPr>
        <p:txBody>
          <a:bodyPr>
            <a:normAutofit/>
          </a:bodyPr>
          <a:lstStyle/>
          <a:p>
            <a:r>
              <a:rPr lang="en-US" sz="4000" dirty="0">
                <a:latin typeface="+mn-lt"/>
              </a:rPr>
              <a:t>Small Motion and Consistency Assumptions 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4DBC6555-A8E7-4F73-8035-156F702D1410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789301" y="1124338"/>
                <a:ext cx="7568958" cy="5455665"/>
              </a:xfrm>
            </p:spPr>
            <p:txBody>
              <a:bodyPr>
                <a:normAutofit/>
              </a:bodyPr>
              <a:lstStyle/>
              <a:p>
                <a:pPr marL="0" indent="0">
                  <a:buNone/>
                </a:pPr>
                <a:r>
                  <a:rPr lang="en-US" dirty="0"/>
                  <a:t>Assumptions about motion in video simplify flow model  </a:t>
                </a:r>
              </a:p>
              <a:p>
                <a:r>
                  <a:rPr lang="en-US" dirty="0"/>
                  <a:t>Small time step,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𝛿</m:t>
                    </m:r>
                    <m:r>
                      <a:rPr lang="en-US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𝑡</m:t>
                    </m:r>
                    <m:r>
                      <a:rPr lang="en-US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⟶</m:t>
                    </m:r>
                  </m:oMath>
                </a14:m>
                <a:r>
                  <a:rPr lang="en-US" dirty="0"/>
                  <a:t> small motion from frame-to-frame</a:t>
                </a:r>
              </a:p>
              <a:p>
                <a:pPr marL="0" indent="0">
                  <a:buNone/>
                </a:pPr>
                <a:endParaRPr lang="en-US" dirty="0"/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𝛿</m:t>
                          </m:r>
                          <m: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𝑡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=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−</m:t>
                      </m:r>
                      <m:sSub>
                        <m:sSub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0</m:t>
                          </m:r>
                        </m:sub>
                      </m:sSub>
                    </m:oMath>
                  </m:oMathPara>
                </a14:m>
                <a:endParaRPr lang="en-US" dirty="0"/>
              </a:p>
              <a:p>
                <a:pPr marL="0" indent="0">
                  <a:buNone/>
                </a:pPr>
                <a:endParaRPr lang="en-US" sz="1400" dirty="0"/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𝛿</m:t>
                      </m:r>
                      <m:r>
                        <a:rPr lang="en-US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𝑥</m:t>
                      </m:r>
                      <m:r>
                        <a:rPr lang="en-US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</m:t>
                      </m:r>
                      <m:r>
                        <a:rPr lang="en-US" i="1" smtClean="0">
                          <a:latin typeface="Cambria Math" panose="02040503050406030204" pitchFamily="18" charset="0"/>
                        </a:rPr>
                        <m:t>𝑢</m:t>
                      </m:r>
                      <m:r>
                        <a:rPr lang="en-US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𝛿</m:t>
                      </m:r>
                      <m:r>
                        <a:rPr lang="en-US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𝑡</m:t>
                      </m:r>
                    </m:oMath>
                  </m:oMathPara>
                </a14:m>
                <a:endParaRPr lang="en-US" dirty="0"/>
              </a:p>
              <a:p>
                <a:pPr marL="0" indent="0">
                  <a:buNone/>
                </a:pPr>
                <a:endParaRPr lang="en-US" sz="1400" dirty="0"/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𝛿</m:t>
                      </m:r>
                      <m:r>
                        <a:rPr lang="en-US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𝑦</m:t>
                      </m:r>
                      <m:r>
                        <a:rPr lang="en-US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𝑣</m:t>
                          </m:r>
                          <m: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𝛿</m:t>
                          </m:r>
                          <m: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𝑡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 </m:t>
                          </m:r>
                        </m:sub>
                      </m:sSub>
                    </m:oMath>
                  </m:oMathPara>
                </a14:m>
                <a:endParaRPr lang="en-US" dirty="0"/>
              </a:p>
              <a:p>
                <a:endParaRPr lang="en-US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4DBC6555-A8E7-4F73-8035-156F702D1410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789301" y="1124338"/>
                <a:ext cx="7568958" cy="5455665"/>
              </a:xfrm>
              <a:blipFill>
                <a:blip r:embed="rId3"/>
                <a:stretch>
                  <a:fillRect l="-1610" t="-1788" r="-8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0" name="Parallelogram 9">
            <a:extLst>
              <a:ext uri="{FF2B5EF4-FFF2-40B4-BE49-F238E27FC236}">
                <a16:creationId xmlns:a16="http://schemas.microsoft.com/office/drawing/2014/main" id="{32AEDB7B-02B4-453F-B18E-333704D904E7}"/>
              </a:ext>
            </a:extLst>
          </p:cNvPr>
          <p:cNvSpPr/>
          <p:nvPr/>
        </p:nvSpPr>
        <p:spPr>
          <a:xfrm rot="15403545">
            <a:off x="8252197" y="3837942"/>
            <a:ext cx="2116450" cy="1644513"/>
          </a:xfrm>
          <a:prstGeom prst="parallelogram">
            <a:avLst/>
          </a:prstGeom>
          <a:noFill/>
          <a:ln w="254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Parallelogram 10">
            <a:extLst>
              <a:ext uri="{FF2B5EF4-FFF2-40B4-BE49-F238E27FC236}">
                <a16:creationId xmlns:a16="http://schemas.microsoft.com/office/drawing/2014/main" id="{84646409-0B3D-416B-B5AA-59B693DD4106}"/>
              </a:ext>
            </a:extLst>
          </p:cNvPr>
          <p:cNvSpPr/>
          <p:nvPr/>
        </p:nvSpPr>
        <p:spPr>
          <a:xfrm rot="15403545">
            <a:off x="8870531" y="4771436"/>
            <a:ext cx="255506" cy="238068"/>
          </a:xfrm>
          <a:prstGeom prst="parallelogram">
            <a:avLst/>
          </a:prstGeom>
          <a:gradFill>
            <a:gsLst>
              <a:gs pos="0">
                <a:schemeClr val="bg2">
                  <a:lumMod val="75000"/>
                </a:schemeClr>
              </a:gs>
              <a:gs pos="74000">
                <a:schemeClr val="accent1">
                  <a:lumMod val="45000"/>
                  <a:lumOff val="55000"/>
                </a:schemeClr>
              </a:gs>
              <a:gs pos="83000">
                <a:schemeClr val="accent1">
                  <a:lumMod val="45000"/>
                  <a:lumOff val="55000"/>
                </a:schemeClr>
              </a:gs>
              <a:gs pos="100000">
                <a:schemeClr val="accent1">
                  <a:lumMod val="30000"/>
                  <a:lumOff val="70000"/>
                </a:schemeClr>
              </a:gs>
            </a:gsLst>
            <a:lin ang="5400000" scaled="1"/>
          </a:gradFill>
          <a:ln w="254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Parallelogram 11">
            <a:extLst>
              <a:ext uri="{FF2B5EF4-FFF2-40B4-BE49-F238E27FC236}">
                <a16:creationId xmlns:a16="http://schemas.microsoft.com/office/drawing/2014/main" id="{F0C81A2D-9802-4641-B3BB-F49636FA0F99}"/>
              </a:ext>
            </a:extLst>
          </p:cNvPr>
          <p:cNvSpPr/>
          <p:nvPr/>
        </p:nvSpPr>
        <p:spPr>
          <a:xfrm rot="15403545">
            <a:off x="9935808" y="3212887"/>
            <a:ext cx="2116450" cy="1644513"/>
          </a:xfrm>
          <a:prstGeom prst="parallelogram">
            <a:avLst/>
          </a:prstGeom>
          <a:noFill/>
          <a:ln w="254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Parallelogram 12">
            <a:extLst>
              <a:ext uri="{FF2B5EF4-FFF2-40B4-BE49-F238E27FC236}">
                <a16:creationId xmlns:a16="http://schemas.microsoft.com/office/drawing/2014/main" id="{D2632167-5A8E-45E8-AC42-AAD2588D93A6}"/>
              </a:ext>
            </a:extLst>
          </p:cNvPr>
          <p:cNvSpPr/>
          <p:nvPr/>
        </p:nvSpPr>
        <p:spPr>
          <a:xfrm rot="15403545">
            <a:off x="10756321" y="3953392"/>
            <a:ext cx="255506" cy="238068"/>
          </a:xfrm>
          <a:prstGeom prst="parallelogram">
            <a:avLst/>
          </a:prstGeom>
          <a:gradFill>
            <a:gsLst>
              <a:gs pos="0">
                <a:schemeClr val="bg2">
                  <a:lumMod val="75000"/>
                </a:schemeClr>
              </a:gs>
              <a:gs pos="74000">
                <a:schemeClr val="accent1">
                  <a:lumMod val="45000"/>
                  <a:lumOff val="55000"/>
                </a:schemeClr>
              </a:gs>
              <a:gs pos="83000">
                <a:schemeClr val="accent1">
                  <a:lumMod val="45000"/>
                  <a:lumOff val="55000"/>
                </a:schemeClr>
              </a:gs>
              <a:gs pos="100000">
                <a:schemeClr val="accent1">
                  <a:lumMod val="30000"/>
                  <a:lumOff val="70000"/>
                </a:schemeClr>
              </a:gs>
            </a:gsLst>
            <a:lin ang="5400000" scaled="1"/>
          </a:gradFill>
          <a:ln w="254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65257C04-8BAB-4BA4-9A25-5D4FAE471139}"/>
              </a:ext>
            </a:extLst>
          </p:cNvPr>
          <p:cNvSpPr txBox="1"/>
          <p:nvPr/>
        </p:nvSpPr>
        <p:spPr>
          <a:xfrm>
            <a:off x="10884074" y="4894122"/>
            <a:ext cx="767361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dirty="0"/>
              <a:t>t</a:t>
            </a:r>
            <a:r>
              <a:rPr lang="en-US" sz="2400" baseline="-25000" dirty="0"/>
              <a:t>1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0FC4E316-E7FF-4780-A058-BD89B3A65E97}"/>
              </a:ext>
            </a:extLst>
          </p:cNvPr>
          <p:cNvSpPr txBox="1"/>
          <p:nvPr/>
        </p:nvSpPr>
        <p:spPr>
          <a:xfrm>
            <a:off x="9058548" y="5524784"/>
            <a:ext cx="767361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dirty="0"/>
              <a:t>t</a:t>
            </a:r>
            <a:r>
              <a:rPr lang="en-US" sz="2400" baseline="-25000" dirty="0"/>
              <a:t>0</a:t>
            </a:r>
          </a:p>
        </p:txBody>
      </p:sp>
      <p:cxnSp>
        <p:nvCxnSpPr>
          <p:cNvPr id="18" name="Straight Arrow Connector 17">
            <a:extLst>
              <a:ext uri="{FF2B5EF4-FFF2-40B4-BE49-F238E27FC236}">
                <a16:creationId xmlns:a16="http://schemas.microsoft.com/office/drawing/2014/main" id="{92EB0175-8203-4A0F-800D-B3141D7332E4}"/>
              </a:ext>
            </a:extLst>
          </p:cNvPr>
          <p:cNvCxnSpPr>
            <a:cxnSpLocks/>
            <a:stCxn id="11" idx="4"/>
          </p:cNvCxnSpPr>
          <p:nvPr/>
        </p:nvCxnSpPr>
        <p:spPr>
          <a:xfrm>
            <a:off x="9114138" y="4863138"/>
            <a:ext cx="406124" cy="0"/>
          </a:xfrm>
          <a:prstGeom prst="straightConnector1">
            <a:avLst/>
          </a:prstGeom>
          <a:ln w="2222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9" name="TextBox 18">
            <a:extLst>
              <a:ext uri="{FF2B5EF4-FFF2-40B4-BE49-F238E27FC236}">
                <a16:creationId xmlns:a16="http://schemas.microsoft.com/office/drawing/2014/main" id="{0E2B7F5D-BC44-4FA0-B0FC-F66029BED495}"/>
              </a:ext>
            </a:extLst>
          </p:cNvPr>
          <p:cNvSpPr txBox="1"/>
          <p:nvPr/>
        </p:nvSpPr>
        <p:spPr>
          <a:xfrm>
            <a:off x="9140251" y="4738797"/>
            <a:ext cx="419936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dirty="0"/>
              <a:t>u</a:t>
            </a:r>
            <a:endParaRPr lang="en-US" sz="2400" baseline="-25000" dirty="0"/>
          </a:p>
        </p:txBody>
      </p:sp>
      <p:cxnSp>
        <p:nvCxnSpPr>
          <p:cNvPr id="20" name="Straight Arrow Connector 19">
            <a:extLst>
              <a:ext uri="{FF2B5EF4-FFF2-40B4-BE49-F238E27FC236}">
                <a16:creationId xmlns:a16="http://schemas.microsoft.com/office/drawing/2014/main" id="{64C705CD-A0E9-42FC-BCE6-A2AE9ABB2C14}"/>
              </a:ext>
            </a:extLst>
          </p:cNvPr>
          <p:cNvCxnSpPr>
            <a:cxnSpLocks/>
            <a:stCxn id="11" idx="2"/>
          </p:cNvCxnSpPr>
          <p:nvPr/>
        </p:nvCxnSpPr>
        <p:spPr>
          <a:xfrm flipH="1" flipV="1">
            <a:off x="8970914" y="4453436"/>
            <a:ext cx="4869" cy="341657"/>
          </a:xfrm>
          <a:prstGeom prst="straightConnector1">
            <a:avLst/>
          </a:prstGeom>
          <a:ln w="2222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1" name="TextBox 20">
            <a:extLst>
              <a:ext uri="{FF2B5EF4-FFF2-40B4-BE49-F238E27FC236}">
                <a16:creationId xmlns:a16="http://schemas.microsoft.com/office/drawing/2014/main" id="{95B4931F-7B96-465F-8462-3E70913FDA91}"/>
              </a:ext>
            </a:extLst>
          </p:cNvPr>
          <p:cNvSpPr txBox="1"/>
          <p:nvPr/>
        </p:nvSpPr>
        <p:spPr>
          <a:xfrm>
            <a:off x="8648426" y="4295116"/>
            <a:ext cx="376605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dirty="0"/>
              <a:t>v</a:t>
            </a:r>
            <a:endParaRPr lang="en-US" sz="2400" baseline="-25000" dirty="0"/>
          </a:p>
        </p:txBody>
      </p:sp>
      <p:cxnSp>
        <p:nvCxnSpPr>
          <p:cNvPr id="22" name="Straight Arrow Connector 21">
            <a:extLst>
              <a:ext uri="{FF2B5EF4-FFF2-40B4-BE49-F238E27FC236}">
                <a16:creationId xmlns:a16="http://schemas.microsoft.com/office/drawing/2014/main" id="{612491B5-BE76-4EBF-8446-890347136973}"/>
              </a:ext>
            </a:extLst>
          </p:cNvPr>
          <p:cNvCxnSpPr>
            <a:cxnSpLocks/>
          </p:cNvCxnSpPr>
          <p:nvPr/>
        </p:nvCxnSpPr>
        <p:spPr>
          <a:xfrm flipV="1">
            <a:off x="10883831" y="3684428"/>
            <a:ext cx="0" cy="308837"/>
          </a:xfrm>
          <a:prstGeom prst="straightConnector1">
            <a:avLst/>
          </a:prstGeom>
          <a:ln w="2222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3" name="TextBox 22">
            <a:extLst>
              <a:ext uri="{FF2B5EF4-FFF2-40B4-BE49-F238E27FC236}">
                <a16:creationId xmlns:a16="http://schemas.microsoft.com/office/drawing/2014/main" id="{5758D8B6-B471-48E0-93A9-7897BA6FF8F7}"/>
              </a:ext>
            </a:extLst>
          </p:cNvPr>
          <p:cNvSpPr txBox="1"/>
          <p:nvPr/>
        </p:nvSpPr>
        <p:spPr>
          <a:xfrm>
            <a:off x="10491375" y="3523894"/>
            <a:ext cx="392455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dirty="0"/>
              <a:t>v</a:t>
            </a:r>
            <a:endParaRPr lang="en-US" sz="2400" baseline="-25000" dirty="0"/>
          </a:p>
        </p:txBody>
      </p:sp>
      <p:cxnSp>
        <p:nvCxnSpPr>
          <p:cNvPr id="24" name="Straight Arrow Connector 23">
            <a:extLst>
              <a:ext uri="{FF2B5EF4-FFF2-40B4-BE49-F238E27FC236}">
                <a16:creationId xmlns:a16="http://schemas.microsoft.com/office/drawing/2014/main" id="{21F94273-C0A8-4822-840F-F02A8CA6A954}"/>
              </a:ext>
            </a:extLst>
          </p:cNvPr>
          <p:cNvCxnSpPr>
            <a:cxnSpLocks/>
          </p:cNvCxnSpPr>
          <p:nvPr/>
        </p:nvCxnSpPr>
        <p:spPr>
          <a:xfrm>
            <a:off x="10995403" y="4080299"/>
            <a:ext cx="406124" cy="0"/>
          </a:xfrm>
          <a:prstGeom prst="straightConnector1">
            <a:avLst/>
          </a:prstGeom>
          <a:ln w="2222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5" name="TextBox 24">
            <a:extLst>
              <a:ext uri="{FF2B5EF4-FFF2-40B4-BE49-F238E27FC236}">
                <a16:creationId xmlns:a16="http://schemas.microsoft.com/office/drawing/2014/main" id="{D4404231-81A9-49BC-9412-D4B074F7F13D}"/>
              </a:ext>
            </a:extLst>
          </p:cNvPr>
          <p:cNvSpPr txBox="1"/>
          <p:nvPr/>
        </p:nvSpPr>
        <p:spPr>
          <a:xfrm>
            <a:off x="11021516" y="3955958"/>
            <a:ext cx="419936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dirty="0"/>
              <a:t>u</a:t>
            </a:r>
            <a:endParaRPr lang="en-US" sz="2400" baseline="-25000" dirty="0"/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8FDADA5A-6D11-43CC-9EFB-D11762500D3F}"/>
              </a:ext>
            </a:extLst>
          </p:cNvPr>
          <p:cNvSpPr txBox="1"/>
          <p:nvPr/>
        </p:nvSpPr>
        <p:spPr>
          <a:xfrm>
            <a:off x="8506884" y="2216226"/>
            <a:ext cx="2440058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dirty="0"/>
              <a:t>Illumination in patch remains constant</a:t>
            </a:r>
          </a:p>
        </p:txBody>
      </p:sp>
    </p:spTree>
    <p:extLst>
      <p:ext uri="{BB962C8B-B14F-4D97-AF65-F5344CB8AC3E}">
        <p14:creationId xmlns:p14="http://schemas.microsoft.com/office/powerpoint/2010/main" val="2177361999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DFB6AB4-96EB-434D-8BFC-6697DE744D7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89301" y="140193"/>
            <a:ext cx="10515600" cy="872004"/>
          </a:xfrm>
        </p:spPr>
        <p:txBody>
          <a:bodyPr>
            <a:normAutofit/>
          </a:bodyPr>
          <a:lstStyle/>
          <a:p>
            <a:r>
              <a:rPr lang="en-US" sz="4000" dirty="0">
                <a:latin typeface="+mn-lt"/>
              </a:rPr>
              <a:t>Small Motion and Consistency Assumptions 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4DBC6555-A8E7-4F73-8035-156F702D1410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670865" y="1124338"/>
                <a:ext cx="7458603" cy="4976425"/>
              </a:xfrm>
            </p:spPr>
            <p:txBody>
              <a:bodyPr>
                <a:normAutofit/>
              </a:bodyPr>
              <a:lstStyle/>
              <a:p>
                <a:pPr marL="0" indent="0">
                  <a:buNone/>
                </a:pPr>
                <a:r>
                  <a:rPr lang="en-US" dirty="0"/>
                  <a:t>Assumptions about motion in video simplify flow model  </a:t>
                </a:r>
              </a:p>
              <a:p>
                <a:r>
                  <a:rPr lang="en-US" dirty="0"/>
                  <a:t>Illumination, </a:t>
                </a:r>
                <a:r>
                  <a:rPr lang="en-US" i="1" dirty="0"/>
                  <a:t>I(</a:t>
                </a:r>
                <a:r>
                  <a:rPr lang="en-US" i="1" dirty="0" err="1"/>
                  <a:t>x,y</a:t>
                </a:r>
                <a:r>
                  <a:rPr lang="en-US" i="1" dirty="0"/>
                  <a:t>)</a:t>
                </a:r>
                <a:r>
                  <a:rPr lang="en-US" dirty="0"/>
                  <a:t>, is constant for a small time step, </a:t>
                </a:r>
                <a14:m>
                  <m:oMath xmlns:m="http://schemas.openxmlformats.org/officeDocument/2006/math">
                    <m:r>
                      <a:rPr lang="en-US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𝛿</m:t>
                    </m:r>
                    <m:r>
                      <a:rPr lang="en-US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𝑡</m:t>
                    </m:r>
                  </m:oMath>
                </a14:m>
                <a:endParaRPr lang="en-US" dirty="0"/>
              </a:p>
              <a:p>
                <a:pPr marL="0" indent="0">
                  <a:buNone/>
                </a:pPr>
                <a:endParaRPr lang="en-US" sz="1500" dirty="0"/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i="1">
                          <a:latin typeface="Cambria Math" panose="02040503050406030204" pitchFamily="18" charset="0"/>
                        </a:rPr>
                        <m:t>𝐼</m:t>
                      </m:r>
                      <m:r>
                        <a:rPr lang="en-US" i="1"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en-US" i="1">
                          <a:latin typeface="Cambria Math" panose="02040503050406030204" pitchFamily="18" charset="0"/>
                        </a:rPr>
                        <m:t>𝑥</m:t>
                      </m:r>
                      <m:r>
                        <a:rPr lang="en-US" i="1">
                          <a:latin typeface="Cambria Math" panose="02040503050406030204" pitchFamily="18" charset="0"/>
                        </a:rPr>
                        <m:t>,</m:t>
                      </m:r>
                      <m:r>
                        <a:rPr lang="en-US" i="1">
                          <a:latin typeface="Cambria Math" panose="02040503050406030204" pitchFamily="18" charset="0"/>
                        </a:rPr>
                        <m:t>𝑦</m:t>
                      </m:r>
                      <m:r>
                        <a:rPr lang="en-US" i="1">
                          <a:latin typeface="Cambria Math" panose="02040503050406030204" pitchFamily="18" charset="0"/>
                        </a:rPr>
                        <m:t>,</m:t>
                      </m:r>
                      <m:r>
                        <a:rPr lang="en-US" i="1">
                          <a:latin typeface="Cambria Math" panose="02040503050406030204" pitchFamily="18" charset="0"/>
                        </a:rPr>
                        <m:t>𝑡</m:t>
                      </m:r>
                      <m:r>
                        <a:rPr lang="en-US" i="1">
                          <a:latin typeface="Cambria Math" panose="02040503050406030204" pitchFamily="18" charset="0"/>
                        </a:rPr>
                        <m:t>)=</m:t>
                      </m:r>
                      <m:r>
                        <a:rPr lang="en-US" i="1">
                          <a:latin typeface="Cambria Math" panose="02040503050406030204" pitchFamily="18" charset="0"/>
                        </a:rPr>
                        <m:t>𝐼</m:t>
                      </m:r>
                      <m:r>
                        <a:rPr lang="en-US" i="1"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en-US" i="1">
                          <a:latin typeface="Cambria Math" panose="02040503050406030204" pitchFamily="18" charset="0"/>
                        </a:rPr>
                        <m:t>𝑥</m:t>
                      </m:r>
                      <m:r>
                        <a:rPr lang="en-US" i="1">
                          <a:latin typeface="Cambria Math" panose="02040503050406030204" pitchFamily="18" charset="0"/>
                        </a:rPr>
                        <m:t>+</m:t>
                      </m:r>
                      <m:r>
                        <a:rPr lang="en-US" i="1">
                          <a:latin typeface="Cambria Math" panose="02040503050406030204" pitchFamily="18" charset="0"/>
                        </a:rPr>
                        <m:t>𝑢</m:t>
                      </m:r>
                      <m:r>
                        <a:rPr lang="en-US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𝛿</m:t>
                      </m:r>
                      <m:r>
                        <a:rPr lang="en-US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𝑡</m:t>
                      </m:r>
                      <m:r>
                        <a:rPr lang="en-US" i="1">
                          <a:latin typeface="Cambria Math" panose="02040503050406030204" pitchFamily="18" charset="0"/>
                        </a:rPr>
                        <m:t>,</m:t>
                      </m:r>
                      <m:r>
                        <a:rPr lang="en-US" i="1">
                          <a:latin typeface="Cambria Math" panose="02040503050406030204" pitchFamily="18" charset="0"/>
                        </a:rPr>
                        <m:t>𝑦</m:t>
                      </m:r>
                      <m:r>
                        <a:rPr lang="en-US" i="1">
                          <a:latin typeface="Cambria Math" panose="02040503050406030204" pitchFamily="18" charset="0"/>
                        </a:rPr>
                        <m:t>+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𝑣</m:t>
                      </m:r>
                      <m:r>
                        <a:rPr lang="en-US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𝛿</m:t>
                      </m:r>
                      <m:r>
                        <a:rPr lang="en-US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𝑡</m:t>
                      </m:r>
                      <m:r>
                        <a:rPr lang="en-US" i="1">
                          <a:latin typeface="Cambria Math" panose="02040503050406030204" pitchFamily="18" charset="0"/>
                        </a:rPr>
                        <m:t>,</m:t>
                      </m:r>
                      <m:r>
                        <a:rPr lang="en-US" i="1">
                          <a:latin typeface="Cambria Math" panose="02040503050406030204" pitchFamily="18" charset="0"/>
                        </a:rPr>
                        <m:t>𝑡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+</m:t>
                      </m:r>
                      <m:r>
                        <a:rPr lang="en-US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𝛿</m:t>
                      </m:r>
                      <m:r>
                        <a:rPr lang="en-US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𝑡</m:t>
                      </m:r>
                      <m:r>
                        <a:rPr lang="en-US" i="1">
                          <a:latin typeface="Cambria Math" panose="02040503050406030204" pitchFamily="18" charset="0"/>
                        </a:rPr>
                        <m:t>)=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𝐶𝑜𝑛𝑠𝑡</m:t>
                      </m:r>
                    </m:oMath>
                  </m:oMathPara>
                </a14:m>
                <a:endParaRPr lang="en-US" dirty="0"/>
              </a:p>
              <a:p>
                <a:pPr marL="0" indent="0">
                  <a:buNone/>
                </a:pPr>
                <a:r>
                  <a:rPr lang="en-US" dirty="0"/>
                  <a:t>   </a:t>
                </a:r>
                <a:endParaRPr lang="en-US" sz="1500" dirty="0"/>
              </a:p>
              <a:p>
                <a:pPr marL="0" indent="0">
                  <a:buNone/>
                </a:pPr>
                <a:r>
                  <a:rPr lang="en-US" dirty="0">
                    <a:latin typeface="Cambria Math" panose="02040503050406030204" pitchFamily="18" charset="0"/>
                  </a:rPr>
                  <a:t>Or,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>
                        <m:fPr>
                          <m:ctrlPr>
                            <a:rPr lang="en-US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i="1" smtClean="0">
                              <a:latin typeface="Cambria Math" panose="02040503050406030204" pitchFamily="18" charset="0"/>
                            </a:rPr>
                            <m:t>𝑑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𝐼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(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𝑥</m:t>
                          </m:r>
                          <m:d>
                            <m:d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</m:e>
                          </m:d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𝑦</m:t>
                          </m:r>
                          <m:d>
                            <m:d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</m:e>
                          </m:d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𝑡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)</m:t>
                          </m:r>
                        </m:num>
                        <m:den>
                          <m:r>
                            <a:rPr lang="en-US" i="1" smtClean="0">
                              <a:latin typeface="Cambria Math" panose="02040503050406030204" pitchFamily="18" charset="0"/>
                            </a:rPr>
                            <m:t>𝑑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𝑡</m:t>
                          </m:r>
                        </m:den>
                      </m:f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=0</m:t>
                      </m:r>
                    </m:oMath>
                  </m:oMathPara>
                </a14:m>
                <a:endParaRPr lang="en-US" dirty="0"/>
              </a:p>
              <a:p>
                <a:r>
                  <a:rPr lang="en-US" dirty="0"/>
                  <a:t>We call this </a:t>
                </a:r>
                <a:r>
                  <a:rPr lang="en-US" b="1" dirty="0"/>
                  <a:t>brightness consistency </a:t>
                </a: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4DBC6555-A8E7-4F73-8035-156F702D1410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670865" y="1124338"/>
                <a:ext cx="7458603" cy="4976425"/>
              </a:xfrm>
              <a:blipFill>
                <a:blip r:embed="rId3"/>
                <a:stretch>
                  <a:fillRect l="-1634" t="-195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Parallelogram 3">
            <a:extLst>
              <a:ext uri="{FF2B5EF4-FFF2-40B4-BE49-F238E27FC236}">
                <a16:creationId xmlns:a16="http://schemas.microsoft.com/office/drawing/2014/main" id="{638F6B61-2D07-4611-870D-A65EFF45C248}"/>
              </a:ext>
            </a:extLst>
          </p:cNvPr>
          <p:cNvSpPr/>
          <p:nvPr/>
        </p:nvSpPr>
        <p:spPr>
          <a:xfrm rot="15403545">
            <a:off x="8252197" y="3837942"/>
            <a:ext cx="2116450" cy="1644513"/>
          </a:xfrm>
          <a:prstGeom prst="parallelogram">
            <a:avLst/>
          </a:prstGeom>
          <a:noFill/>
          <a:ln w="254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Parallelogram 4">
            <a:extLst>
              <a:ext uri="{FF2B5EF4-FFF2-40B4-BE49-F238E27FC236}">
                <a16:creationId xmlns:a16="http://schemas.microsoft.com/office/drawing/2014/main" id="{26B3109F-DFB9-43B1-89B6-1D0425C358F5}"/>
              </a:ext>
            </a:extLst>
          </p:cNvPr>
          <p:cNvSpPr/>
          <p:nvPr/>
        </p:nvSpPr>
        <p:spPr>
          <a:xfrm rot="15403545">
            <a:off x="8870531" y="4771436"/>
            <a:ext cx="255506" cy="238068"/>
          </a:xfrm>
          <a:prstGeom prst="parallelogram">
            <a:avLst/>
          </a:prstGeom>
          <a:gradFill>
            <a:gsLst>
              <a:gs pos="0">
                <a:schemeClr val="bg2">
                  <a:lumMod val="75000"/>
                </a:schemeClr>
              </a:gs>
              <a:gs pos="74000">
                <a:schemeClr val="accent1">
                  <a:lumMod val="45000"/>
                  <a:lumOff val="55000"/>
                </a:schemeClr>
              </a:gs>
              <a:gs pos="83000">
                <a:schemeClr val="accent1">
                  <a:lumMod val="45000"/>
                  <a:lumOff val="55000"/>
                </a:schemeClr>
              </a:gs>
              <a:gs pos="100000">
                <a:schemeClr val="accent1">
                  <a:lumMod val="30000"/>
                  <a:lumOff val="70000"/>
                </a:schemeClr>
              </a:gs>
            </a:gsLst>
            <a:lin ang="5400000" scaled="1"/>
          </a:gradFill>
          <a:ln w="254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Parallelogram 13">
            <a:extLst>
              <a:ext uri="{FF2B5EF4-FFF2-40B4-BE49-F238E27FC236}">
                <a16:creationId xmlns:a16="http://schemas.microsoft.com/office/drawing/2014/main" id="{334E72DB-7B03-495D-94D6-645998C9A2E9}"/>
              </a:ext>
            </a:extLst>
          </p:cNvPr>
          <p:cNvSpPr/>
          <p:nvPr/>
        </p:nvSpPr>
        <p:spPr>
          <a:xfrm rot="15403545">
            <a:off x="9935808" y="3212887"/>
            <a:ext cx="2116450" cy="1644513"/>
          </a:xfrm>
          <a:prstGeom prst="parallelogram">
            <a:avLst/>
          </a:prstGeom>
          <a:noFill/>
          <a:ln w="254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Parallelogram 14">
            <a:extLst>
              <a:ext uri="{FF2B5EF4-FFF2-40B4-BE49-F238E27FC236}">
                <a16:creationId xmlns:a16="http://schemas.microsoft.com/office/drawing/2014/main" id="{BBD71EBA-A9FB-4389-8546-48779E0D5F7B}"/>
              </a:ext>
            </a:extLst>
          </p:cNvPr>
          <p:cNvSpPr/>
          <p:nvPr/>
        </p:nvSpPr>
        <p:spPr>
          <a:xfrm rot="15403545">
            <a:off x="10756321" y="3953392"/>
            <a:ext cx="255506" cy="238068"/>
          </a:xfrm>
          <a:prstGeom prst="parallelogram">
            <a:avLst/>
          </a:prstGeom>
          <a:gradFill>
            <a:gsLst>
              <a:gs pos="0">
                <a:schemeClr val="bg2">
                  <a:lumMod val="75000"/>
                </a:schemeClr>
              </a:gs>
              <a:gs pos="74000">
                <a:schemeClr val="accent1">
                  <a:lumMod val="45000"/>
                  <a:lumOff val="55000"/>
                </a:schemeClr>
              </a:gs>
              <a:gs pos="83000">
                <a:schemeClr val="accent1">
                  <a:lumMod val="45000"/>
                  <a:lumOff val="55000"/>
                </a:schemeClr>
              </a:gs>
              <a:gs pos="100000">
                <a:schemeClr val="accent1">
                  <a:lumMod val="30000"/>
                  <a:lumOff val="70000"/>
                </a:schemeClr>
              </a:gs>
            </a:gsLst>
            <a:lin ang="5400000" scaled="1"/>
          </a:gradFill>
          <a:ln w="254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382CDA76-B27D-446D-A41A-49B2621A592B}"/>
              </a:ext>
            </a:extLst>
          </p:cNvPr>
          <p:cNvSpPr txBox="1"/>
          <p:nvPr/>
        </p:nvSpPr>
        <p:spPr>
          <a:xfrm>
            <a:off x="10884074" y="4894122"/>
            <a:ext cx="767361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dirty="0"/>
              <a:t>t</a:t>
            </a:r>
            <a:r>
              <a:rPr lang="en-US" sz="2400" baseline="-25000" dirty="0"/>
              <a:t>1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259892B7-25CE-4B93-B50C-335D790C5FB0}"/>
              </a:ext>
            </a:extLst>
          </p:cNvPr>
          <p:cNvSpPr txBox="1"/>
          <p:nvPr/>
        </p:nvSpPr>
        <p:spPr>
          <a:xfrm>
            <a:off x="9058548" y="5524784"/>
            <a:ext cx="767361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dirty="0"/>
              <a:t>t</a:t>
            </a:r>
            <a:r>
              <a:rPr lang="en-US" sz="2400" baseline="-25000" dirty="0"/>
              <a:t>0</a:t>
            </a:r>
          </a:p>
        </p:txBody>
      </p:sp>
      <p:cxnSp>
        <p:nvCxnSpPr>
          <p:cNvPr id="22" name="Straight Arrow Connector 21">
            <a:extLst>
              <a:ext uri="{FF2B5EF4-FFF2-40B4-BE49-F238E27FC236}">
                <a16:creationId xmlns:a16="http://schemas.microsoft.com/office/drawing/2014/main" id="{61BEA19E-332C-45F3-9EDC-E51FBA99AE39}"/>
              </a:ext>
            </a:extLst>
          </p:cNvPr>
          <p:cNvCxnSpPr>
            <a:cxnSpLocks/>
            <a:stCxn id="5" idx="4"/>
          </p:cNvCxnSpPr>
          <p:nvPr/>
        </p:nvCxnSpPr>
        <p:spPr>
          <a:xfrm>
            <a:off x="9114138" y="4863138"/>
            <a:ext cx="406124" cy="0"/>
          </a:xfrm>
          <a:prstGeom prst="straightConnector1">
            <a:avLst/>
          </a:prstGeom>
          <a:ln w="2222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5" name="TextBox 24">
            <a:extLst>
              <a:ext uri="{FF2B5EF4-FFF2-40B4-BE49-F238E27FC236}">
                <a16:creationId xmlns:a16="http://schemas.microsoft.com/office/drawing/2014/main" id="{D9CDD699-09E8-47B8-99D1-B249BB14487B}"/>
              </a:ext>
            </a:extLst>
          </p:cNvPr>
          <p:cNvSpPr txBox="1"/>
          <p:nvPr/>
        </p:nvSpPr>
        <p:spPr>
          <a:xfrm>
            <a:off x="9140251" y="4738797"/>
            <a:ext cx="419936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dirty="0"/>
              <a:t>u</a:t>
            </a:r>
            <a:endParaRPr lang="en-US" sz="2400" baseline="-25000" dirty="0"/>
          </a:p>
        </p:txBody>
      </p:sp>
      <p:cxnSp>
        <p:nvCxnSpPr>
          <p:cNvPr id="26" name="Straight Arrow Connector 25">
            <a:extLst>
              <a:ext uri="{FF2B5EF4-FFF2-40B4-BE49-F238E27FC236}">
                <a16:creationId xmlns:a16="http://schemas.microsoft.com/office/drawing/2014/main" id="{9DBD5BA4-F145-48A2-8141-DB5845F31BE1}"/>
              </a:ext>
            </a:extLst>
          </p:cNvPr>
          <p:cNvCxnSpPr>
            <a:cxnSpLocks/>
            <a:stCxn id="5" idx="2"/>
          </p:cNvCxnSpPr>
          <p:nvPr/>
        </p:nvCxnSpPr>
        <p:spPr>
          <a:xfrm flipH="1" flipV="1">
            <a:off x="8970914" y="4453436"/>
            <a:ext cx="4869" cy="341657"/>
          </a:xfrm>
          <a:prstGeom prst="straightConnector1">
            <a:avLst/>
          </a:prstGeom>
          <a:ln w="2222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7" name="TextBox 26">
            <a:extLst>
              <a:ext uri="{FF2B5EF4-FFF2-40B4-BE49-F238E27FC236}">
                <a16:creationId xmlns:a16="http://schemas.microsoft.com/office/drawing/2014/main" id="{EC8626E1-0465-4260-84FA-34B44AA45CCB}"/>
              </a:ext>
            </a:extLst>
          </p:cNvPr>
          <p:cNvSpPr txBox="1"/>
          <p:nvPr/>
        </p:nvSpPr>
        <p:spPr>
          <a:xfrm>
            <a:off x="8648426" y="4295116"/>
            <a:ext cx="376605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dirty="0"/>
              <a:t>v</a:t>
            </a:r>
            <a:endParaRPr lang="en-US" sz="2400" baseline="-25000" dirty="0"/>
          </a:p>
        </p:txBody>
      </p:sp>
      <p:cxnSp>
        <p:nvCxnSpPr>
          <p:cNvPr id="30" name="Straight Arrow Connector 29">
            <a:extLst>
              <a:ext uri="{FF2B5EF4-FFF2-40B4-BE49-F238E27FC236}">
                <a16:creationId xmlns:a16="http://schemas.microsoft.com/office/drawing/2014/main" id="{16B68B25-F72E-4206-B69F-B3C45D13FD96}"/>
              </a:ext>
            </a:extLst>
          </p:cNvPr>
          <p:cNvCxnSpPr>
            <a:cxnSpLocks/>
          </p:cNvCxnSpPr>
          <p:nvPr/>
        </p:nvCxnSpPr>
        <p:spPr>
          <a:xfrm flipV="1">
            <a:off x="10883831" y="3684428"/>
            <a:ext cx="0" cy="308837"/>
          </a:xfrm>
          <a:prstGeom prst="straightConnector1">
            <a:avLst/>
          </a:prstGeom>
          <a:ln w="2222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1" name="TextBox 30">
            <a:extLst>
              <a:ext uri="{FF2B5EF4-FFF2-40B4-BE49-F238E27FC236}">
                <a16:creationId xmlns:a16="http://schemas.microsoft.com/office/drawing/2014/main" id="{6C97BD20-1E16-4374-A706-087080D296D5}"/>
              </a:ext>
            </a:extLst>
          </p:cNvPr>
          <p:cNvSpPr txBox="1"/>
          <p:nvPr/>
        </p:nvSpPr>
        <p:spPr>
          <a:xfrm>
            <a:off x="10491375" y="3523894"/>
            <a:ext cx="392455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dirty="0"/>
              <a:t>v</a:t>
            </a:r>
            <a:endParaRPr lang="en-US" sz="2400" baseline="-25000" dirty="0"/>
          </a:p>
        </p:txBody>
      </p:sp>
      <p:cxnSp>
        <p:nvCxnSpPr>
          <p:cNvPr id="39" name="Straight Arrow Connector 38">
            <a:extLst>
              <a:ext uri="{FF2B5EF4-FFF2-40B4-BE49-F238E27FC236}">
                <a16:creationId xmlns:a16="http://schemas.microsoft.com/office/drawing/2014/main" id="{B3D0ED85-4915-4BFD-99CA-269156EBFC51}"/>
              </a:ext>
            </a:extLst>
          </p:cNvPr>
          <p:cNvCxnSpPr>
            <a:cxnSpLocks/>
          </p:cNvCxnSpPr>
          <p:nvPr/>
        </p:nvCxnSpPr>
        <p:spPr>
          <a:xfrm>
            <a:off x="10995403" y="4080299"/>
            <a:ext cx="406124" cy="0"/>
          </a:xfrm>
          <a:prstGeom prst="straightConnector1">
            <a:avLst/>
          </a:prstGeom>
          <a:ln w="2222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0" name="TextBox 39">
            <a:extLst>
              <a:ext uri="{FF2B5EF4-FFF2-40B4-BE49-F238E27FC236}">
                <a16:creationId xmlns:a16="http://schemas.microsoft.com/office/drawing/2014/main" id="{4D95D013-A5C9-4FEA-85FC-5B0AACD8E712}"/>
              </a:ext>
            </a:extLst>
          </p:cNvPr>
          <p:cNvSpPr txBox="1"/>
          <p:nvPr/>
        </p:nvSpPr>
        <p:spPr>
          <a:xfrm>
            <a:off x="11021516" y="3955958"/>
            <a:ext cx="419936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dirty="0"/>
              <a:t>u</a:t>
            </a:r>
            <a:endParaRPr lang="en-US" sz="2400" baseline="-25000" dirty="0"/>
          </a:p>
        </p:txBody>
      </p:sp>
      <p:sp>
        <p:nvSpPr>
          <p:cNvPr id="43" name="Arc 42">
            <a:extLst>
              <a:ext uri="{FF2B5EF4-FFF2-40B4-BE49-F238E27FC236}">
                <a16:creationId xmlns:a16="http://schemas.microsoft.com/office/drawing/2014/main" id="{05B58354-4BD8-41FA-963B-BA3D75F9C147}"/>
              </a:ext>
            </a:extLst>
          </p:cNvPr>
          <p:cNvSpPr/>
          <p:nvPr/>
        </p:nvSpPr>
        <p:spPr>
          <a:xfrm rot="15600942">
            <a:off x="10408645" y="2727236"/>
            <a:ext cx="891921" cy="3558022"/>
          </a:xfrm>
          <a:prstGeom prst="arc">
            <a:avLst/>
          </a:prstGeom>
          <a:ln w="15875">
            <a:solidFill>
              <a:srgbClr val="C00000"/>
            </a:solidFill>
            <a:tailEnd type="triangle" w="lg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A1796DEE-671F-4328-B138-E1AC31AC3BC7}"/>
              </a:ext>
            </a:extLst>
          </p:cNvPr>
          <p:cNvSpPr txBox="1"/>
          <p:nvPr/>
        </p:nvSpPr>
        <p:spPr>
          <a:xfrm>
            <a:off x="8506884" y="2216226"/>
            <a:ext cx="2440058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dirty="0"/>
              <a:t>Illumination in patch remains constant</a:t>
            </a:r>
          </a:p>
        </p:txBody>
      </p:sp>
    </p:spTree>
    <p:extLst>
      <p:ext uri="{BB962C8B-B14F-4D97-AF65-F5344CB8AC3E}">
        <p14:creationId xmlns:p14="http://schemas.microsoft.com/office/powerpoint/2010/main" val="73566299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9" fill="hold">
                      <p:stCondLst>
                        <p:cond delay="indefinite"/>
                      </p:stCondLst>
                      <p:childTnLst>
                        <p:par>
                          <p:cTn id="50" fill="hold">
                            <p:stCondLst>
                              <p:cond delay="0"/>
                            </p:stCondLst>
                            <p:childTnLst>
                              <p:par>
                                <p:cTn id="5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animBg="1"/>
      <p:bldP spid="5" grpId="0" animBg="1"/>
      <p:bldP spid="14" grpId="0" animBg="1"/>
      <p:bldP spid="15" grpId="0" animBg="1"/>
      <p:bldP spid="18" grpId="0"/>
      <p:bldP spid="19" grpId="0"/>
      <p:bldP spid="25" grpId="0"/>
      <p:bldP spid="27" grpId="0"/>
      <p:bldP spid="31" grpId="0"/>
      <p:bldP spid="40" grpId="0"/>
      <p:bldP spid="43" grpId="0" animBg="1"/>
      <p:bldP spid="45" grpId="0"/>
    </p:bld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46856AD-D906-FEFD-7FD8-7B84DF60675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algn="ctr"/>
            <a:r>
              <a:rPr lang="en-US" sz="4000" dirty="0"/>
              <a:t>The Lucas-</a:t>
            </a:r>
            <a:r>
              <a:rPr lang="en-US" sz="4000" dirty="0" err="1"/>
              <a:t>Kanade</a:t>
            </a:r>
            <a:r>
              <a:rPr lang="en-US" sz="4000" dirty="0"/>
              <a:t> Algorithm</a:t>
            </a:r>
          </a:p>
        </p:txBody>
      </p:sp>
    </p:spTree>
    <p:extLst>
      <p:ext uri="{BB962C8B-B14F-4D97-AF65-F5344CB8AC3E}">
        <p14:creationId xmlns:p14="http://schemas.microsoft.com/office/powerpoint/2010/main" val="3669579502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DFB6AB4-96EB-434D-8BFC-6697DE744D7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89301" y="140193"/>
            <a:ext cx="10515600" cy="872004"/>
          </a:xfrm>
        </p:spPr>
        <p:txBody>
          <a:bodyPr>
            <a:normAutofit/>
          </a:bodyPr>
          <a:lstStyle/>
          <a:p>
            <a:r>
              <a:rPr lang="en-US" sz="4000" dirty="0">
                <a:latin typeface="+mn-lt"/>
              </a:rPr>
              <a:t>The Lucas-</a:t>
            </a:r>
            <a:r>
              <a:rPr lang="en-US" sz="4000" dirty="0" err="1">
                <a:latin typeface="+mn-lt"/>
              </a:rPr>
              <a:t>Kanade</a:t>
            </a:r>
            <a:r>
              <a:rPr lang="en-US" sz="4000" dirty="0">
                <a:latin typeface="+mn-lt"/>
              </a:rPr>
              <a:t> Algorithm  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4DBC6555-A8E7-4F73-8035-156F702D1410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789301" y="1124339"/>
                <a:ext cx="10515600" cy="5593468"/>
              </a:xfrm>
            </p:spPr>
            <p:txBody>
              <a:bodyPr/>
              <a:lstStyle/>
              <a:p>
                <a:pPr marL="0" indent="0">
                  <a:buNone/>
                </a:pPr>
                <a:r>
                  <a:rPr lang="en-US" dirty="0"/>
                  <a:t>For small change in position over small time step, </a:t>
                </a:r>
                <a14:m>
                  <m:oMath xmlns:m="http://schemas.openxmlformats.org/officeDocument/2006/math">
                    <m:r>
                      <a:rPr lang="en-US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𝛿</m:t>
                    </m:r>
                    <m:r>
                      <a:rPr lang="en-US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𝑡</m:t>
                    </m:r>
                  </m:oMath>
                </a14:m>
                <a:r>
                  <a:rPr lang="en-US" dirty="0"/>
                  <a:t>, we can write the intensity relationship: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𝐼</m:t>
                      </m:r>
                      <m:d>
                        <m:d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𝑥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+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𝑢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𝛿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𝑡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𝑦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+</m:t>
                          </m:r>
                          <m:sSub>
                            <m:sSub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𝑣</m:t>
                              </m:r>
                            </m:e>
                            <m:sub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 </m:t>
                              </m:r>
                            </m:sub>
                          </m:sSub>
                          <m: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𝛿</m:t>
                          </m:r>
                          <m: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𝑡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𝑡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+</m:t>
                          </m:r>
                          <m: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𝛿</m:t>
                          </m:r>
                          <m: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𝑡</m:t>
                          </m:r>
                        </m:e>
                      </m:d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𝐼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𝑥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,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𝑦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,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𝑡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en-US" dirty="0"/>
              </a:p>
              <a:p>
                <a:r>
                  <a:rPr lang="en-US" dirty="0"/>
                  <a:t>Need this relationship in a </a:t>
                </a:r>
                <a:r>
                  <a:rPr lang="en-US" b="1" dirty="0"/>
                  <a:t>linear form</a:t>
                </a:r>
                <a:r>
                  <a:rPr lang="en-US" dirty="0"/>
                  <a:t> we can work with</a:t>
                </a:r>
              </a:p>
              <a:p>
                <a:pPr>
                  <a:spcAft>
                    <a:spcPts val="600"/>
                  </a:spcAft>
                </a:pPr>
                <a:r>
                  <a:rPr lang="en-US" b="1" dirty="0"/>
                  <a:t>First order Tylor expansion</a:t>
                </a:r>
                <a:r>
                  <a:rPr lang="en-US" dirty="0"/>
                  <a:t>, about current position </a:t>
                </a:r>
              </a:p>
              <a:p>
                <a:pPr marL="0" indent="0">
                  <a:spcAft>
                    <a:spcPts val="600"/>
                  </a:spcAft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𝑠𝑚𝑎𝑙𝑙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𝑐h𝑎𝑛𝑔𝑒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𝑖𝑛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𝑝𝑜𝑠𝑖𝑡𝑖𝑜𝑛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</m:t>
                      </m:r>
                      <m:d>
                        <m:dPr>
                          <m:begChr m:val="["/>
                          <m:endChr m:val="]"/>
                          <m:ctrlPr>
                            <a:rPr lang="en-US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𝛿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𝑥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=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𝑥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−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𝑥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′,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𝛿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𝑦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=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𝑦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−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𝑦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′</m:t>
                          </m:r>
                        </m:e>
                      </m:d>
                    </m:oMath>
                  </m:oMathPara>
                </a14:m>
                <a:endParaRPr lang="en-US" b="1" dirty="0"/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𝑓</m:t>
                      </m:r>
                      <m:d>
                        <m:d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𝑥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′,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𝑦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′</m:t>
                          </m:r>
                        </m:e>
                      </m:d>
                      <m:r>
                        <a:rPr lang="en-US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≈</m:t>
                      </m:r>
                      <m:r>
                        <a:rPr lang="en-US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𝑓</m:t>
                      </m:r>
                      <m:d>
                        <m:dPr>
                          <m:ctrlP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𝑥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,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𝑦</m:t>
                          </m:r>
                        </m:e>
                      </m:d>
                      <m:r>
                        <a:rPr lang="en-US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+</m:t>
                      </m:r>
                      <m:f>
                        <m:fPr>
                          <m:ctrlP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𝑑𝑓</m:t>
                          </m:r>
                          <m:d>
                            <m:d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𝑥</m:t>
                              </m:r>
                              <m:r>
                                <a:rPr lang="en-US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′,</m:t>
                              </m:r>
                              <m:r>
                                <a:rPr lang="en-US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𝑦</m:t>
                              </m:r>
                              <m:r>
                                <a:rPr lang="en-US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′</m:t>
                              </m:r>
                            </m:e>
                          </m:d>
                        </m:num>
                        <m:den>
                          <m: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𝑑𝑥</m:t>
                          </m:r>
                        </m:den>
                      </m:f>
                      <m:r>
                        <a:rPr lang="en-US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𝛿</m:t>
                      </m:r>
                      <m:r>
                        <a:rPr lang="en-US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𝑥</m:t>
                      </m:r>
                      <m:r>
                        <a:rPr lang="en-US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+</m:t>
                      </m:r>
                      <m:f>
                        <m:fPr>
                          <m:ctrlP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𝑑𝑓</m:t>
                          </m:r>
                          <m:d>
                            <m:dPr>
                              <m:ctrlP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𝑥</m:t>
                              </m:r>
                              <m:r>
                                <a:rPr lang="en-US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′,</m:t>
                              </m:r>
                              <m:r>
                                <a:rPr lang="en-US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𝑦</m:t>
                              </m:r>
                              <m:r>
                                <a:rPr lang="en-US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′</m:t>
                              </m:r>
                            </m:e>
                          </m:d>
                        </m:num>
                        <m:den>
                          <m: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𝑑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𝑦</m:t>
                          </m:r>
                        </m:den>
                      </m:f>
                      <m:r>
                        <a:rPr lang="en-US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𝛿</m:t>
                      </m:r>
                      <m:r>
                        <a:rPr lang="en-US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𝑦</m:t>
                      </m:r>
                    </m:oMath>
                  </m:oMathPara>
                </a14:m>
                <a:endParaRPr lang="en-US" dirty="0"/>
              </a:p>
              <a:p>
                <a:r>
                  <a:rPr lang="en-US" dirty="0"/>
                  <a:t>Taylor expansion for the intensity relationship: 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𝐼</m:t>
                      </m:r>
                      <m:d>
                        <m:d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𝑥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′,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𝑦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′,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𝑡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′</m:t>
                          </m:r>
                        </m:e>
                      </m:d>
                      <m:r>
                        <a:rPr lang="en-US" i="1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i="1">
                          <a:latin typeface="Cambria Math" panose="02040503050406030204" pitchFamily="18" charset="0"/>
                        </a:rPr>
                        <m:t>𝐼</m:t>
                      </m:r>
                      <m:d>
                        <m:d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𝑥</m:t>
                          </m:r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𝑦</m:t>
                          </m:r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</m:d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+</m:t>
                      </m:r>
                      <m:f>
                        <m:f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𝑑𝐼</m:t>
                          </m:r>
                        </m:num>
                        <m:den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𝑑𝑥</m:t>
                          </m:r>
                        </m:den>
                      </m:f>
                      <m:r>
                        <a:rPr lang="en-US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𝛿</m:t>
                      </m:r>
                      <m:r>
                        <a:rPr lang="en-US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𝑥</m:t>
                      </m:r>
                      <m:r>
                        <a:rPr lang="en-US" i="1">
                          <a:latin typeface="Cambria Math" panose="02040503050406030204" pitchFamily="18" charset="0"/>
                        </a:rPr>
                        <m:t>+</m:t>
                      </m:r>
                      <m:f>
                        <m:f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𝑑𝐼</m:t>
                          </m:r>
                        </m:num>
                        <m:den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𝑑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𝑦</m:t>
                          </m:r>
                        </m:den>
                      </m:f>
                      <m:r>
                        <a:rPr lang="en-US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𝛿</m:t>
                      </m:r>
                      <m:r>
                        <a:rPr lang="en-US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𝑦</m:t>
                      </m:r>
                      <m:r>
                        <a:rPr lang="en-US" i="1">
                          <a:latin typeface="Cambria Math" panose="02040503050406030204" pitchFamily="18" charset="0"/>
                        </a:rPr>
                        <m:t>+</m:t>
                      </m:r>
                      <m:f>
                        <m:f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𝑑𝐼</m:t>
                          </m:r>
                        </m:num>
                        <m:den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𝑑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𝑡</m:t>
                          </m:r>
                        </m:den>
                      </m:f>
                      <m:r>
                        <a:rPr lang="en-US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𝛿</m:t>
                      </m:r>
                      <m:r>
                        <a:rPr lang="en-US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𝑡</m:t>
                      </m:r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4DBC6555-A8E7-4F73-8035-156F702D1410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789301" y="1124339"/>
                <a:ext cx="10515600" cy="5593468"/>
              </a:xfrm>
              <a:blipFill>
                <a:blip r:embed="rId3"/>
                <a:stretch>
                  <a:fillRect l="-1159" t="-174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51830375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DFB6AB4-96EB-434D-8BFC-6697DE744D7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89301" y="140193"/>
            <a:ext cx="10515600" cy="872004"/>
          </a:xfrm>
        </p:spPr>
        <p:txBody>
          <a:bodyPr>
            <a:normAutofit/>
          </a:bodyPr>
          <a:lstStyle/>
          <a:p>
            <a:r>
              <a:rPr lang="en-US" sz="4000" dirty="0">
                <a:latin typeface="+mn-lt"/>
              </a:rPr>
              <a:t>The Lucas-</a:t>
            </a:r>
            <a:r>
              <a:rPr lang="en-US" sz="4000" dirty="0" err="1">
                <a:latin typeface="+mn-lt"/>
              </a:rPr>
              <a:t>Kanade</a:t>
            </a:r>
            <a:r>
              <a:rPr lang="en-US" sz="4000" dirty="0">
                <a:latin typeface="+mn-lt"/>
              </a:rPr>
              <a:t> Algorithm  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4DBC6555-A8E7-4F73-8035-156F702D1410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789301" y="1124339"/>
                <a:ext cx="10515600" cy="5593468"/>
              </a:xfrm>
            </p:spPr>
            <p:txBody>
              <a:bodyPr/>
              <a:lstStyle/>
              <a:p>
                <a:pPr marL="0" indent="0">
                  <a:buNone/>
                </a:pPr>
                <a:r>
                  <a:rPr lang="en-US" dirty="0"/>
                  <a:t>For small change in position over small time step, </a:t>
                </a:r>
                <a14:m>
                  <m:oMath xmlns:m="http://schemas.openxmlformats.org/officeDocument/2006/math">
                    <m:r>
                      <a:rPr lang="en-US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𝛿</m:t>
                    </m:r>
                    <m:r>
                      <a:rPr lang="en-US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𝑡</m:t>
                    </m:r>
                  </m:oMath>
                </a14:m>
                <a:r>
                  <a:rPr lang="en-US" dirty="0"/>
                  <a:t>, we can write the intensity: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𝐼</m:t>
                      </m:r>
                      <m:d>
                        <m:d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𝑥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+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𝑢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𝛿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𝑡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𝑦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+</m:t>
                          </m:r>
                          <m:sSub>
                            <m:sSub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𝑣</m:t>
                              </m:r>
                            </m:e>
                            <m:sub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 </m:t>
                              </m:r>
                            </m:sub>
                          </m:sSub>
                          <m: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𝛿</m:t>
                          </m:r>
                          <m: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𝑡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𝑡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+</m:t>
                          </m:r>
                          <m: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𝛿</m:t>
                          </m:r>
                          <m: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𝑡</m:t>
                          </m:r>
                        </m:e>
                      </m:d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𝐼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𝑥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,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𝑦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,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𝑡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en-US" dirty="0"/>
              </a:p>
              <a:p>
                <a:r>
                  <a:rPr lang="en-US" dirty="0"/>
                  <a:t>Taylor expansion for the intensity relationship: 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𝐼</m:t>
                      </m:r>
                      <m:d>
                        <m:d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𝑥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′,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𝑦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′,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𝑡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′</m:t>
                          </m:r>
                        </m:e>
                      </m:d>
                      <m:r>
                        <a:rPr lang="en-US" i="1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i="1">
                          <a:latin typeface="Cambria Math" panose="02040503050406030204" pitchFamily="18" charset="0"/>
                        </a:rPr>
                        <m:t>𝐼</m:t>
                      </m:r>
                      <m:d>
                        <m:d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𝑥</m:t>
                          </m:r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𝑦</m:t>
                          </m:r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</m:d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+</m:t>
                      </m:r>
                      <m:f>
                        <m:f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𝑑𝐼</m:t>
                          </m:r>
                        </m:num>
                        <m:den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𝑑𝑥</m:t>
                          </m:r>
                        </m:den>
                      </m:f>
                      <m:r>
                        <a:rPr lang="en-US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𝛿</m:t>
                      </m:r>
                      <m:r>
                        <a:rPr lang="en-US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𝑥</m:t>
                      </m:r>
                      <m:r>
                        <a:rPr lang="en-US" i="1">
                          <a:latin typeface="Cambria Math" panose="02040503050406030204" pitchFamily="18" charset="0"/>
                        </a:rPr>
                        <m:t>+</m:t>
                      </m:r>
                      <m:f>
                        <m:f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𝑑𝐼</m:t>
                          </m:r>
                        </m:num>
                        <m:den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𝑑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𝑦</m:t>
                          </m:r>
                        </m:den>
                      </m:f>
                      <m:r>
                        <a:rPr lang="en-US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𝛿</m:t>
                      </m:r>
                      <m:r>
                        <a:rPr lang="en-US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𝑦</m:t>
                      </m:r>
                      <m:r>
                        <a:rPr lang="en-US" i="1">
                          <a:latin typeface="Cambria Math" panose="02040503050406030204" pitchFamily="18" charset="0"/>
                        </a:rPr>
                        <m:t>+</m:t>
                      </m:r>
                      <m:f>
                        <m:f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𝑑𝐼</m:t>
                          </m:r>
                        </m:num>
                        <m:den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𝑑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𝑡</m:t>
                          </m:r>
                        </m:den>
                      </m:f>
                      <m:r>
                        <a:rPr lang="en-US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𝛿</m:t>
                      </m:r>
                      <m:r>
                        <a:rPr lang="en-US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𝑡</m:t>
                      </m:r>
                    </m:oMath>
                  </m:oMathPara>
                </a14:m>
                <a:endParaRPr lang="en-US" dirty="0"/>
              </a:p>
              <a:p>
                <a:r>
                  <a:rPr lang="en-US" dirty="0"/>
                  <a:t>Subtracting the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𝐼</m:t>
                    </m:r>
                    <m:d>
                      <m:d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𝑥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𝑦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</m:e>
                    </m:d>
                  </m:oMath>
                </a14:m>
                <a:r>
                  <a:rPr lang="en-US" dirty="0"/>
                  <a:t> terms from both sides: 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>
                        <m:f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𝑑𝐼</m:t>
                          </m:r>
                        </m:num>
                        <m:den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𝑑𝑥</m:t>
                          </m:r>
                        </m:den>
                      </m:f>
                      <m:r>
                        <a:rPr lang="en-US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𝛿</m:t>
                      </m:r>
                      <m:r>
                        <a:rPr lang="en-US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𝑥</m:t>
                      </m:r>
                      <m:r>
                        <a:rPr lang="en-US" i="1">
                          <a:latin typeface="Cambria Math" panose="02040503050406030204" pitchFamily="18" charset="0"/>
                        </a:rPr>
                        <m:t>+</m:t>
                      </m:r>
                      <m:f>
                        <m:f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𝑑𝐼</m:t>
                          </m:r>
                        </m:num>
                        <m:den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𝑑𝑦</m:t>
                          </m:r>
                        </m:den>
                      </m:f>
                      <m:r>
                        <a:rPr lang="en-US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𝛿</m:t>
                      </m:r>
                      <m:r>
                        <a:rPr lang="en-US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𝑦</m:t>
                      </m:r>
                      <m:r>
                        <a:rPr lang="en-US" i="1">
                          <a:latin typeface="Cambria Math" panose="02040503050406030204" pitchFamily="18" charset="0"/>
                        </a:rPr>
                        <m:t>+</m:t>
                      </m:r>
                      <m:f>
                        <m:f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𝑑𝐼</m:t>
                          </m:r>
                        </m:num>
                        <m:den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𝑑𝑡</m:t>
                          </m:r>
                        </m:den>
                      </m:f>
                      <m:r>
                        <a:rPr lang="en-US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𝛿</m:t>
                      </m:r>
                      <m:r>
                        <a:rPr lang="en-US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𝑡</m:t>
                      </m:r>
                      <m:r>
                        <a:rPr lang="en-US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=0</m:t>
                      </m:r>
                    </m:oMath>
                  </m:oMathPara>
                </a14:m>
                <a:endParaRPr lang="en-US" dirty="0"/>
              </a:p>
              <a:p>
                <a:r>
                  <a:rPr lang="en-US" dirty="0"/>
                  <a:t>Finally dividing both sides by </a:t>
                </a:r>
                <a14:m>
                  <m:oMath xmlns:m="http://schemas.openxmlformats.org/officeDocument/2006/math">
                    <m:r>
                      <a:rPr lang="en-US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𝛿</m:t>
                    </m:r>
                    <m:r>
                      <a:rPr lang="en-US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𝑡</m:t>
                    </m:r>
                  </m:oMath>
                </a14:m>
                <a:r>
                  <a:rPr lang="en-US" dirty="0"/>
                  <a:t> and letting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𝛿</m:t>
                    </m:r>
                    <m:r>
                      <a:rPr lang="en-US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𝑡</m:t>
                    </m:r>
                    <m:r>
                      <a:rPr lang="en-US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⟶0</m:t>
                    </m:r>
                  </m:oMath>
                </a14:m>
                <a:r>
                  <a:rPr lang="en-US" dirty="0"/>
                  <a:t>: 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>
                        <m:f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𝑑𝐼</m:t>
                          </m:r>
                        </m:num>
                        <m:den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𝑑𝑥</m:t>
                          </m:r>
                        </m:den>
                      </m:f>
                      <m:f>
                        <m:f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𝑑𝑥</m:t>
                          </m:r>
                        </m:num>
                        <m:den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𝑑𝑡</m:t>
                          </m:r>
                        </m:den>
                      </m:f>
                      <m:r>
                        <a:rPr lang="en-US" i="1">
                          <a:latin typeface="Cambria Math" panose="02040503050406030204" pitchFamily="18" charset="0"/>
                        </a:rPr>
                        <m:t>+</m:t>
                      </m:r>
                      <m:f>
                        <m:f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𝑑𝐼</m:t>
                          </m:r>
                        </m:num>
                        <m:den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𝑑𝑦</m:t>
                          </m:r>
                        </m:den>
                      </m:f>
                      <m:f>
                        <m:f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𝑑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𝑦</m:t>
                          </m:r>
                        </m:num>
                        <m:den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𝑑𝑡</m:t>
                          </m:r>
                        </m:den>
                      </m:f>
                      <m:r>
                        <a:rPr lang="en-US" i="1">
                          <a:latin typeface="Cambria Math" panose="02040503050406030204" pitchFamily="18" charset="0"/>
                        </a:rPr>
                        <m:t>+</m:t>
                      </m:r>
                      <m:f>
                        <m:f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𝑑𝐼</m:t>
                          </m:r>
                        </m:num>
                        <m:den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𝑑𝑡</m:t>
                          </m:r>
                        </m:den>
                      </m:f>
                      <m:r>
                        <a:rPr lang="en-US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=0</m:t>
                      </m:r>
                    </m:oMath>
                  </m:oMathPara>
                </a14:m>
                <a:endParaRPr lang="en-US" dirty="0"/>
              </a:p>
              <a:p>
                <a:endParaRPr lang="en-US" dirty="0"/>
              </a:p>
              <a:p>
                <a:pPr marL="0" indent="0">
                  <a:buNone/>
                </a:pPr>
                <a:endParaRPr lang="en-US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4DBC6555-A8E7-4F73-8035-156F702D1410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789301" y="1124339"/>
                <a:ext cx="10515600" cy="5593468"/>
              </a:xfrm>
              <a:blipFill>
                <a:blip r:embed="rId3"/>
                <a:stretch>
                  <a:fillRect l="-1159" t="-174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55185759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DFB6AB4-96EB-434D-8BFC-6697DE744D7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89301" y="140193"/>
            <a:ext cx="10515600" cy="872004"/>
          </a:xfrm>
        </p:spPr>
        <p:txBody>
          <a:bodyPr>
            <a:normAutofit/>
          </a:bodyPr>
          <a:lstStyle/>
          <a:p>
            <a:r>
              <a:rPr lang="en-US" sz="4000" dirty="0">
                <a:latin typeface="+mn-lt"/>
              </a:rPr>
              <a:t>The Lucas-</a:t>
            </a:r>
            <a:r>
              <a:rPr lang="en-US" sz="4000" dirty="0" err="1">
                <a:latin typeface="+mn-lt"/>
              </a:rPr>
              <a:t>Kanade</a:t>
            </a:r>
            <a:r>
              <a:rPr lang="en-US" sz="4000" dirty="0">
                <a:latin typeface="+mn-lt"/>
              </a:rPr>
              <a:t> Algorithm  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4DBC6555-A8E7-4F73-8035-156F702D1410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789301" y="1062426"/>
                <a:ext cx="10515600" cy="5795573"/>
              </a:xfrm>
            </p:spPr>
            <p:txBody>
              <a:bodyPr>
                <a:normAutofit lnSpcReduction="10000"/>
              </a:bodyPr>
              <a:lstStyle/>
              <a:p>
                <a:pPr marL="0" indent="0">
                  <a:buNone/>
                </a:pPr>
                <a:r>
                  <a:rPr lang="en-US" dirty="0"/>
                  <a:t>For small change in position over small time step, </a:t>
                </a:r>
                <a14:m>
                  <m:oMath xmlns:m="http://schemas.openxmlformats.org/officeDocument/2006/math">
                    <m:r>
                      <a:rPr lang="en-US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𝛿</m:t>
                    </m:r>
                    <m:r>
                      <a:rPr lang="en-US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𝑡</m:t>
                    </m:r>
                  </m:oMath>
                </a14:m>
                <a:r>
                  <a:rPr lang="en-US" dirty="0"/>
                  <a:t>, we can write the intensity relationship: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>
                        <m:f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𝑑𝐼</m:t>
                          </m:r>
                        </m:num>
                        <m:den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𝑑𝑥</m:t>
                          </m:r>
                        </m:den>
                      </m:f>
                      <m:f>
                        <m:f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𝑑𝑥</m:t>
                          </m:r>
                        </m:num>
                        <m:den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𝑑𝑡</m:t>
                          </m:r>
                        </m:den>
                      </m:f>
                      <m:r>
                        <a:rPr lang="en-US" i="1">
                          <a:latin typeface="Cambria Math" panose="02040503050406030204" pitchFamily="18" charset="0"/>
                        </a:rPr>
                        <m:t>+</m:t>
                      </m:r>
                      <m:f>
                        <m:f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𝑑𝐼</m:t>
                          </m:r>
                        </m:num>
                        <m:den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𝑑𝑦</m:t>
                          </m:r>
                        </m:den>
                      </m:f>
                      <m:f>
                        <m:f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𝑑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𝑦</m:t>
                          </m:r>
                        </m:num>
                        <m:den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𝑑𝑡</m:t>
                          </m:r>
                        </m:den>
                      </m:f>
                      <m:r>
                        <a:rPr lang="en-US" i="1">
                          <a:latin typeface="Cambria Math" panose="02040503050406030204" pitchFamily="18" charset="0"/>
                        </a:rPr>
                        <m:t>+</m:t>
                      </m:r>
                      <m:f>
                        <m:f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𝑑𝐼</m:t>
                          </m:r>
                        </m:num>
                        <m:den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𝑑𝑡</m:t>
                          </m:r>
                        </m:den>
                      </m:f>
                      <m:r>
                        <a:rPr lang="en-US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=0</m:t>
                      </m:r>
                    </m:oMath>
                  </m:oMathPara>
                </a14:m>
                <a:endParaRPr lang="en-US" dirty="0"/>
              </a:p>
              <a:p>
                <a:r>
                  <a:rPr lang="en-US" dirty="0"/>
                  <a:t>Does this look familiar? – recall the </a:t>
                </a:r>
                <a:r>
                  <a:rPr lang="en-US" b="1" dirty="0"/>
                  <a:t>chain rule of calculus!   </a:t>
                </a:r>
              </a:p>
              <a:p>
                <a:r>
                  <a:rPr lang="en-US" dirty="0"/>
                  <a:t>In matrix-vector notation we can write this relation:     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p>
                        <m:sSupPr>
                          <m:ctrlPr>
                            <a:rPr lang="en-US" i="1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     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𝐼</m:t>
                          </m:r>
                        </m:e>
                        <m:sup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𝑇</m:t>
                          </m:r>
                        </m:sup>
                      </m:sSup>
                      <m:r>
                        <a:rPr lang="en-US" b="1" i="1" smtClean="0">
                          <a:latin typeface="Cambria Math" panose="02040503050406030204" pitchFamily="18" charset="0"/>
                        </a:rPr>
                        <m:t>𝒗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+</m:t>
                      </m:r>
                      <m:f>
                        <m:f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𝑑𝐼</m:t>
                          </m:r>
                        </m:num>
                        <m:den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𝑑𝑡</m:t>
                          </m:r>
                        </m:den>
                      </m:f>
                      <m:r>
                        <a:rPr lang="en-US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=0</m:t>
                      </m:r>
                    </m:oMath>
                  </m:oMathPara>
                </a14:m>
                <a:endParaRPr lang="en-US" dirty="0"/>
              </a:p>
              <a:p>
                <a:pPr marL="0" indent="0">
                  <a:buNone/>
                </a:pPr>
                <a:r>
                  <a:rPr lang="en-US" dirty="0"/>
                  <a:t>Where the </a:t>
                </a:r>
                <a:r>
                  <a:rPr lang="en-US" b="1" dirty="0"/>
                  <a:t>gradient of image intensity, </a:t>
                </a:r>
                <a:r>
                  <a:rPr lang="en-US" dirty="0"/>
                  <a:t>and </a:t>
                </a:r>
                <a:r>
                  <a:rPr lang="en-US" b="1" dirty="0"/>
                  <a:t>velocity</a:t>
                </a:r>
                <a:r>
                  <a:rPr lang="en-US" dirty="0"/>
                  <a:t> vectors: </a:t>
                </a:r>
              </a:p>
              <a:p>
                <a:pPr marL="0" indent="0">
                  <a:buNone/>
                </a:pPr>
                <a:endParaRPr lang="en-US" sz="1400" dirty="0"/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p>
                        <m:sSup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     </m:t>
                          </m:r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𝐼</m:t>
                          </m:r>
                        </m:e>
                        <m:sup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𝑇</m:t>
                          </m:r>
                        </m:sup>
                      </m:sSup>
                      <m:r>
                        <a:rPr lang="en-US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</m:t>
                      </m:r>
                      <m:d>
                        <m:dPr>
                          <m:begChr m:val="["/>
                          <m:endChr m:val="]"/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m>
                            <m:mPr>
                              <m:mcs>
                                <m:mc>
                                  <m:mcPr>
                                    <m:count m:val="1"/>
                                    <m:mcJc m:val="center"/>
                                  </m:mcPr>
                                </m:mc>
                              </m:mcs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mPr>
                            <m:mr>
                              <m:e>
                                <m:f>
                                  <m:fPr>
                                    <m:ctrlPr>
                                      <a:rPr lang="en-US" i="1">
                                        <a:latin typeface="Cambria Math" panose="02040503050406030204" pitchFamily="18" charset="0"/>
                                      </a:rPr>
                                    </m:ctrlPr>
                                  </m:fPr>
                                  <m:num>
                                    <m:r>
                                      <a:rPr lang="en-US" i="1">
                                        <a:latin typeface="Cambria Math" panose="02040503050406030204" pitchFamily="18" charset="0"/>
                                      </a:rPr>
                                      <m:t>𝑑𝐼</m:t>
                                    </m:r>
                                  </m:num>
                                  <m:den>
                                    <m:r>
                                      <a:rPr lang="en-US" i="1">
                                        <a:latin typeface="Cambria Math" panose="02040503050406030204" pitchFamily="18" charset="0"/>
                                      </a:rPr>
                                      <m:t>𝑑𝑥</m:t>
                                    </m:r>
                                  </m:den>
                                </m:f>
                              </m:e>
                            </m:mr>
                            <m:mr>
                              <m:e>
                                <m:f>
                                  <m:fPr>
                                    <m:ctrlPr>
                                      <a:rPr lang="en-US" i="1">
                                        <a:latin typeface="Cambria Math" panose="02040503050406030204" pitchFamily="18" charset="0"/>
                                      </a:rPr>
                                    </m:ctrlPr>
                                  </m:fPr>
                                  <m:num>
                                    <m:r>
                                      <a:rPr lang="en-US" i="1">
                                        <a:latin typeface="Cambria Math" panose="02040503050406030204" pitchFamily="18" charset="0"/>
                                      </a:rPr>
                                      <m:t>𝑑𝐼</m:t>
                                    </m:r>
                                  </m:num>
                                  <m:den>
                                    <m:r>
                                      <a:rPr lang="en-US" i="1">
                                        <a:latin typeface="Cambria Math" panose="02040503050406030204" pitchFamily="18" charset="0"/>
                                      </a:rPr>
                                      <m:t>𝑑𝑦</m:t>
                                    </m:r>
                                  </m:den>
                                </m:f>
                              </m:e>
                            </m:mr>
                          </m:m>
                        </m:e>
                      </m:d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,</m:t>
                      </m:r>
                      <m:r>
                        <a:rPr lang="en-US" b="1" i="1" smtClean="0">
                          <a:latin typeface="Cambria Math" panose="02040503050406030204" pitchFamily="18" charset="0"/>
                        </a:rPr>
                        <m:t>   </m:t>
                      </m:r>
                      <m:r>
                        <a:rPr lang="en-US" b="1" i="1">
                          <a:latin typeface="Cambria Math" panose="02040503050406030204" pitchFamily="18" charset="0"/>
                        </a:rPr>
                        <m:t>𝒗</m:t>
                      </m:r>
                      <m:r>
                        <a:rPr lang="en-US" b="1" i="1" smtClean="0">
                          <a:latin typeface="Cambria Math" panose="02040503050406030204" pitchFamily="18" charset="0"/>
                        </a:rPr>
                        <m:t>=</m:t>
                      </m:r>
                      <m:d>
                        <m:dPr>
                          <m:begChr m:val="["/>
                          <m:endChr m:val="]"/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m>
                            <m:mPr>
                              <m:mcs>
                                <m:mc>
                                  <m:mcPr>
                                    <m:count m:val="1"/>
                                    <m:mcJc m:val="center"/>
                                  </m:mcPr>
                                </m:mc>
                              </m:mcs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mPr>
                            <m:mr>
                              <m:e>
                                <m:f>
                                  <m:fPr>
                                    <m:ctrlPr>
                                      <a:rPr lang="en-US" i="1">
                                        <a:latin typeface="Cambria Math" panose="02040503050406030204" pitchFamily="18" charset="0"/>
                                      </a:rPr>
                                    </m:ctrlPr>
                                  </m:fPr>
                                  <m:num>
                                    <m:r>
                                      <a:rPr lang="en-US" i="1">
                                        <a:latin typeface="Cambria Math" panose="02040503050406030204" pitchFamily="18" charset="0"/>
                                      </a:rPr>
                                      <m:t>𝑑𝑥</m:t>
                                    </m:r>
                                  </m:num>
                                  <m:den>
                                    <m:r>
                                      <a:rPr lang="en-US" i="1">
                                        <a:latin typeface="Cambria Math" panose="02040503050406030204" pitchFamily="18" charset="0"/>
                                      </a:rPr>
                                      <m:t>𝑑𝑡</m:t>
                                    </m:r>
                                  </m:den>
                                </m:f>
                              </m:e>
                            </m:mr>
                            <m:mr>
                              <m:e>
                                <m:f>
                                  <m:fPr>
                                    <m:ctrlPr>
                                      <a:rPr lang="en-US" i="1">
                                        <a:latin typeface="Cambria Math" panose="02040503050406030204" pitchFamily="18" charset="0"/>
                                      </a:rPr>
                                    </m:ctrlPr>
                                  </m:fPr>
                                  <m:num>
                                    <m:r>
                                      <a:rPr lang="en-US" i="1">
                                        <a:latin typeface="Cambria Math" panose="02040503050406030204" pitchFamily="18" charset="0"/>
                                      </a:rPr>
                                      <m:t>𝑑𝑦</m:t>
                                    </m:r>
                                  </m:num>
                                  <m:den>
                                    <m:r>
                                      <a:rPr lang="en-US" i="1">
                                        <a:latin typeface="Cambria Math" panose="02040503050406030204" pitchFamily="18" charset="0"/>
                                      </a:rPr>
                                      <m:t>𝑑𝑡</m:t>
                                    </m:r>
                                  </m:den>
                                </m:f>
                              </m:e>
                            </m:mr>
                          </m:m>
                        </m:e>
                      </m:d>
                      <m:r>
                        <a:rPr lang="en-US" b="1" i="1">
                          <a:latin typeface="Cambria Math" panose="02040503050406030204" pitchFamily="18" charset="0"/>
                        </a:rPr>
                        <m:t>=</m:t>
                      </m:r>
                      <m:d>
                        <m:dPr>
                          <m:begChr m:val="["/>
                          <m:endChr m:val="]"/>
                          <m:ctrlPr>
                            <a:rPr lang="en-US" b="1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m>
                            <m:mPr>
                              <m:mcs>
                                <m:mc>
                                  <m:mcPr>
                                    <m:count m:val="1"/>
                                    <m:mcJc m:val="center"/>
                                  </m:mcPr>
                                </m:mc>
                              </m:mcs>
                              <m:ctrlPr>
                                <a:rPr lang="en-US" b="1" i="1" smtClean="0">
                                  <a:latin typeface="Cambria Math" panose="02040503050406030204" pitchFamily="18" charset="0"/>
                                </a:rPr>
                              </m:ctrlPr>
                            </m:mPr>
                            <m:mr>
                              <m:e>
                                <m:r>
                                  <m:rPr>
                                    <m:brk m:alnAt="7"/>
                                  </m:rP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  <m:t>𝑢</m:t>
                                </m:r>
                              </m:e>
                            </m:mr>
                            <m:mr>
                              <m:e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  <m:t>𝑣</m:t>
                                </m:r>
                              </m:e>
                            </m:mr>
                          </m:m>
                        </m:e>
                      </m:d>
                    </m:oMath>
                  </m:oMathPara>
                </a14:m>
                <a:endParaRPr lang="en-US" dirty="0"/>
              </a:p>
              <a:p>
                <a:pPr marL="0" indent="0">
                  <a:buNone/>
                </a:pPr>
                <a:endParaRPr lang="en-US" dirty="0"/>
              </a:p>
              <a:p>
                <a:pPr marL="0" indent="0">
                  <a:buNone/>
                </a:pPr>
                <a:endParaRPr lang="en-US" dirty="0"/>
              </a:p>
              <a:p>
                <a:pPr marL="0" indent="0">
                  <a:buNone/>
                </a:pPr>
                <a:endParaRPr lang="en-US" dirty="0"/>
              </a:p>
              <a:p>
                <a:pPr marL="0" indent="0">
                  <a:buNone/>
                </a:pPr>
                <a:endParaRPr lang="en-US" dirty="0"/>
              </a:p>
              <a:p>
                <a:endParaRPr lang="en-US" dirty="0"/>
              </a:p>
              <a:p>
                <a:pPr marL="0" indent="0">
                  <a:buNone/>
                </a:pPr>
                <a:endParaRPr lang="en-US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4DBC6555-A8E7-4F73-8035-156F702D1410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789301" y="1062426"/>
                <a:ext cx="10515600" cy="5795573"/>
              </a:xfrm>
              <a:blipFill>
                <a:blip r:embed="rId3"/>
                <a:stretch>
                  <a:fillRect l="-1159" t="-231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Isosceles Triangle 3">
            <a:extLst>
              <a:ext uri="{FF2B5EF4-FFF2-40B4-BE49-F238E27FC236}">
                <a16:creationId xmlns:a16="http://schemas.microsoft.com/office/drawing/2014/main" id="{D40DF487-AD76-451C-98EF-241F1A757D3E}"/>
              </a:ext>
            </a:extLst>
          </p:cNvPr>
          <p:cNvSpPr/>
          <p:nvPr/>
        </p:nvSpPr>
        <p:spPr>
          <a:xfrm rot="10800000">
            <a:off x="4921419" y="3741905"/>
            <a:ext cx="344467" cy="317281"/>
          </a:xfrm>
          <a:prstGeom prst="triangle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 </a:t>
            </a:r>
          </a:p>
        </p:txBody>
      </p:sp>
      <p:sp>
        <p:nvSpPr>
          <p:cNvPr id="5" name="Isosceles Triangle 4">
            <a:extLst>
              <a:ext uri="{FF2B5EF4-FFF2-40B4-BE49-F238E27FC236}">
                <a16:creationId xmlns:a16="http://schemas.microsoft.com/office/drawing/2014/main" id="{9FB5D6A6-BD5E-41E4-8884-1EA5CA8363BC}"/>
              </a:ext>
            </a:extLst>
          </p:cNvPr>
          <p:cNvSpPr/>
          <p:nvPr/>
        </p:nvSpPr>
        <p:spPr>
          <a:xfrm rot="10800000">
            <a:off x="3637112" y="5579782"/>
            <a:ext cx="344467" cy="317281"/>
          </a:xfrm>
          <a:prstGeom prst="triangle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153159801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animBg="1"/>
      <p:bldP spid="5" grpId="0" animBg="1"/>
    </p:bldLst>
  </p:timing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DFB6AB4-96EB-434D-8BFC-6697DE744D7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89301" y="140193"/>
            <a:ext cx="10515600" cy="872004"/>
          </a:xfrm>
        </p:spPr>
        <p:txBody>
          <a:bodyPr>
            <a:normAutofit/>
          </a:bodyPr>
          <a:lstStyle/>
          <a:p>
            <a:r>
              <a:rPr lang="en-US" sz="4000" dirty="0">
                <a:latin typeface="+mn-lt"/>
              </a:rPr>
              <a:t>Finding spatial gradients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4DBC6555-A8E7-4F73-8035-156F702D1410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789301" y="1124339"/>
                <a:ext cx="10515600" cy="5593468"/>
              </a:xfrm>
            </p:spPr>
            <p:txBody>
              <a:bodyPr/>
              <a:lstStyle/>
              <a:p>
                <a:pPr marL="0" indent="0">
                  <a:buNone/>
                </a:pPr>
                <a:r>
                  <a:rPr lang="en-US" dirty="0"/>
                  <a:t>Recall we can find a spatial gradient with a Laplacian convolutional operator </a:t>
                </a:r>
                <a:r>
                  <a:rPr lang="en-US" dirty="0">
                    <a:ea typeface="Cambria Math" panose="02040503050406030204" pitchFamily="18" charset="0"/>
                  </a:rPr>
                  <a:t>	</a:t>
                </a:r>
              </a:p>
              <a:p>
                <a:pPr marL="0" indent="0">
                  <a:buNone/>
                </a:pPr>
                <a:r>
                  <a:rPr lang="en-US" dirty="0">
                    <a:ea typeface="Cambria Math" panose="02040503050406030204" pitchFamily="18" charset="0"/>
                  </a:rPr>
                  <a:t>		</a:t>
                </a:r>
                <a14:m>
                  <m:oMath xmlns:m="http://schemas.openxmlformats.org/officeDocument/2006/math">
                    <m:r>
                      <a:rPr lang="en-US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ℒ</m:t>
                    </m:r>
                    <m:d>
                      <m:dPr>
                        <m:ctrlPr>
                          <a:rPr lang="en-US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𝑥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,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𝑦</m:t>
                        </m:r>
                      </m:e>
                    </m:d>
                    <m:r>
                      <a:rPr lang="en-US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fPr>
                      <m:num>
                        <m:sSup>
                          <m:sSupPr>
                            <m:ctrlPr>
                              <a:rPr lang="en-US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𝜕</m:t>
                            </m:r>
                          </m:e>
                          <m:sup>
                            <m:r>
                              <a:rPr lang="en-US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 </m:t>
                            </m:r>
                          </m:sup>
                        </m:sSup>
                        <m: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𝐼</m:t>
                        </m:r>
                        <m:d>
                          <m:dPr>
                            <m:ctrlPr>
                              <a:rPr lang="en-US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𝑥</m:t>
                            </m:r>
                            <m:r>
                              <a:rPr lang="en-US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,</m:t>
                            </m:r>
                            <m:r>
                              <a:rPr lang="en-US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𝑦</m:t>
                            </m:r>
                          </m:e>
                        </m:d>
                      </m:num>
                      <m:den>
                        <m: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𝜕</m:t>
                        </m:r>
                        <m:sSup>
                          <m:sSupPr>
                            <m:ctrlPr>
                              <a:rPr lang="en-US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𝑥</m:t>
                            </m:r>
                          </m:e>
                          <m:sup>
                            <m:r>
                              <a:rPr lang="en-US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 </m:t>
                            </m:r>
                          </m:sup>
                        </m:sSup>
                        <m: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 </m:t>
                        </m:r>
                      </m:den>
                    </m:f>
                  </m:oMath>
                </a14:m>
                <a:r>
                  <a:rPr lang="en-US" dirty="0"/>
                  <a:t> + </a:t>
                </a:r>
                <a14:m>
                  <m:oMath xmlns:m="http://schemas.openxmlformats.org/officeDocument/2006/math">
                    <m:f>
                      <m:fPr>
                        <m:ctrlP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fPr>
                      <m:num>
                        <m:sSup>
                          <m:sSupPr>
                            <m:ctrlPr>
                              <a:rPr lang="en-US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𝜕</m:t>
                            </m:r>
                          </m:e>
                          <m:sup>
                            <m:r>
                              <a:rPr lang="en-US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 </m:t>
                            </m:r>
                          </m:sup>
                        </m:sSup>
                        <m: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𝐼</m:t>
                        </m:r>
                        <m:d>
                          <m:dPr>
                            <m:ctrlPr>
                              <a:rPr lang="en-US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𝑥</m:t>
                            </m:r>
                            <m:r>
                              <a:rPr lang="en-US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,</m:t>
                            </m:r>
                            <m:r>
                              <a:rPr lang="en-US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𝑦</m:t>
                            </m:r>
                          </m:e>
                        </m:d>
                      </m:num>
                      <m:den>
                        <m: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𝜕</m:t>
                        </m:r>
                        <m:sSup>
                          <m:sSupPr>
                            <m:ctrlPr>
                              <a:rPr lang="en-US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𝑦</m:t>
                            </m:r>
                          </m:e>
                          <m:sup>
                            <m:r>
                              <a:rPr lang="en-US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 </m:t>
                            </m:r>
                          </m:sup>
                        </m:sSup>
                      </m:den>
                    </m:f>
                  </m:oMath>
                </a14:m>
                <a:endParaRPr lang="en-US" dirty="0"/>
              </a:p>
              <a:p>
                <a:r>
                  <a:rPr lang="en-US" dirty="0"/>
                  <a:t>Simple Laplacian kernel: </a:t>
                </a:r>
              </a:p>
              <a:p>
                <a:pPr marL="0" indent="0">
                  <a:buNone/>
                </a:pPr>
                <a:endParaRPr lang="en-US" sz="1200" dirty="0"/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𝐾</m:t>
                          </m:r>
                        </m:e>
                        <m:sub>
                          <m:r>
                            <a:rPr lang="en-US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ℒ</m:t>
                          </m:r>
                        </m:sub>
                      </m:sSub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</m:t>
                      </m:r>
                      <m:d>
                        <m:dPr>
                          <m:begChr m:val="["/>
                          <m:endChr m:val="]"/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m>
                            <m:mPr>
                              <m:mcs>
                                <m:mc>
                                  <m:mcPr>
                                    <m:count m:val="3"/>
                                    <m:mcJc m:val="center"/>
                                  </m:mcPr>
                                </m:mc>
                              </m:mcs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mPr>
                            <m:mr>
                              <m:e>
                                <m:r>
                                  <m:rPr>
                                    <m:brk m:alnAt="7"/>
                                  </m:rP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  <m:t>0</m:t>
                                </m:r>
                              </m:e>
                              <m:e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  <m:t>−1</m:t>
                                </m:r>
                              </m:e>
                              <m:e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  <m:t>0</m:t>
                                </m:r>
                              </m:e>
                            </m:mr>
                            <m:mr>
                              <m:e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  <m:t>−1</m:t>
                                </m:r>
                              </m:e>
                              <m:e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  <m:t>4</m:t>
                                </m:r>
                              </m:e>
                              <m:e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  <m:t>−1</m:t>
                                </m:r>
                              </m:e>
                            </m:mr>
                            <m:mr>
                              <m:e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  <m:t>0</m:t>
                                </m:r>
                              </m:e>
                              <m:e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  <m:t>−1</m:t>
                                </m:r>
                              </m:e>
                              <m:e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  <m:t>0</m:t>
                                </m:r>
                              </m:e>
                            </m:mr>
                          </m:m>
                        </m:e>
                      </m:d>
                    </m:oMath>
                  </m:oMathPara>
                </a14:m>
                <a:endParaRPr lang="en-US" dirty="0"/>
              </a:p>
              <a:p>
                <a:pPr marL="0" indent="0">
                  <a:buNone/>
                </a:pPr>
                <a:endParaRPr lang="en-US" sz="1200" dirty="0"/>
              </a:p>
              <a:p>
                <a:r>
                  <a:rPr lang="en-US" dirty="0"/>
                  <a:t>Laplacian kernel with less directional bias: </a:t>
                </a:r>
              </a:p>
              <a:p>
                <a:pPr marL="0" indent="0">
                  <a:buNone/>
                </a:pPr>
                <a:endParaRPr lang="en-US" sz="1200" dirty="0"/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𝐾</m:t>
                          </m:r>
                        </m:e>
                        <m:sub>
                          <m:r>
                            <a:rPr lang="en-US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ℒ</m:t>
                          </m:r>
                        </m:sub>
                      </m:sSub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</m:t>
                      </m:r>
                      <m:d>
                        <m:dPr>
                          <m:begChr m:val="["/>
                          <m:endChr m:val="]"/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m>
                            <m:mPr>
                              <m:mcs>
                                <m:mc>
                                  <m:mcPr>
                                    <m:count m:val="3"/>
                                    <m:mcJc m:val="center"/>
                                  </m:mcPr>
                                </m:mc>
                              </m:mcs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mPr>
                            <m:mr>
                              <m:e>
                                <m:r>
                                  <m:rPr>
                                    <m:brk m:alnAt="7"/>
                                  </m:rP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  <m:t>−</m:t>
                                </m:r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  <m:t>1</m:t>
                                </m:r>
                              </m:e>
                              <m:e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  <m:t>−1</m:t>
                                </m:r>
                              </m:e>
                              <m:e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  <m:t>−1</m:t>
                                </m:r>
                              </m:e>
                            </m:mr>
                            <m:mr>
                              <m:e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  <m:t>−1</m:t>
                                </m:r>
                              </m:e>
                              <m:e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  <m:t>8</m:t>
                                </m:r>
                              </m:e>
                              <m:e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  <m:t>−1</m:t>
                                </m:r>
                              </m:e>
                            </m:mr>
                            <m:mr>
                              <m:e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  <m:t>−1</m:t>
                                </m:r>
                              </m:e>
                              <m:e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  <m:t>−1</m:t>
                                </m:r>
                              </m:e>
                              <m:e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  <m:t>−1</m:t>
                                </m:r>
                              </m:e>
                            </m:mr>
                          </m:m>
                        </m:e>
                      </m:d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4DBC6555-A8E7-4F73-8035-156F702D1410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789301" y="1124339"/>
                <a:ext cx="10515600" cy="5593468"/>
              </a:xfrm>
              <a:blipFill>
                <a:blip r:embed="rId2"/>
                <a:stretch>
                  <a:fillRect l="-1159" t="-174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44117444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DFB6AB4-96EB-434D-8BFC-6697DE744D7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89301" y="140193"/>
            <a:ext cx="10515600" cy="872004"/>
          </a:xfrm>
        </p:spPr>
        <p:txBody>
          <a:bodyPr>
            <a:normAutofit/>
          </a:bodyPr>
          <a:lstStyle/>
          <a:p>
            <a:r>
              <a:rPr lang="en-US" sz="4000" dirty="0">
                <a:latin typeface="+mn-lt"/>
              </a:rPr>
              <a:t>The Lucas-</a:t>
            </a:r>
            <a:r>
              <a:rPr lang="en-US" sz="4000" dirty="0" err="1">
                <a:latin typeface="+mn-lt"/>
              </a:rPr>
              <a:t>Kanade</a:t>
            </a:r>
            <a:r>
              <a:rPr lang="en-US" sz="4000" dirty="0">
                <a:latin typeface="+mn-lt"/>
              </a:rPr>
              <a:t> Algorithm  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4DBC6555-A8E7-4F73-8035-156F702D1410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789301" y="1124339"/>
                <a:ext cx="10515600" cy="5593468"/>
              </a:xfrm>
            </p:spPr>
            <p:txBody>
              <a:bodyPr/>
              <a:lstStyle/>
              <a:p>
                <a:pPr marL="0" indent="0">
                  <a:buNone/>
                </a:pPr>
                <a:r>
                  <a:rPr lang="en-US" dirty="0"/>
                  <a:t>We need to solve the linearized equations for the optical flow,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[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𝑢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,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𝑣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]</m:t>
                    </m:r>
                  </m:oMath>
                </a14:m>
                <a:r>
                  <a:rPr lang="en-US" dirty="0"/>
                  <a:t>: 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>
                        <m:f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𝑑𝐼</m:t>
                          </m:r>
                        </m:num>
                        <m:den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𝑑𝑥</m:t>
                          </m:r>
                        </m:den>
                      </m:f>
                      <m:f>
                        <m:f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𝑑𝑥</m:t>
                          </m:r>
                        </m:num>
                        <m:den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𝑑𝑡</m:t>
                          </m:r>
                        </m:den>
                      </m:f>
                      <m:r>
                        <a:rPr lang="en-US" i="1">
                          <a:latin typeface="Cambria Math" panose="02040503050406030204" pitchFamily="18" charset="0"/>
                        </a:rPr>
                        <m:t>+</m:t>
                      </m:r>
                      <m:f>
                        <m:f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𝑑𝐼</m:t>
                          </m:r>
                        </m:num>
                        <m:den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𝑑𝑦</m:t>
                          </m:r>
                        </m:den>
                      </m:f>
                      <m:f>
                        <m:f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𝑑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𝑦</m:t>
                          </m:r>
                        </m:num>
                        <m:den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𝑑𝑡</m:t>
                          </m:r>
                        </m:den>
                      </m:f>
                      <m:r>
                        <a:rPr lang="en-US" i="1">
                          <a:latin typeface="Cambria Math" panose="02040503050406030204" pitchFamily="18" charset="0"/>
                        </a:rPr>
                        <m:t>+</m:t>
                      </m:r>
                      <m:f>
                        <m:f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𝑑𝐼</m:t>
                          </m:r>
                        </m:num>
                        <m:den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𝑑𝑡</m:t>
                          </m:r>
                        </m:den>
                      </m:f>
                      <m:r>
                        <a:rPr lang="en-US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=0</m:t>
                      </m:r>
                    </m:oMath>
                  </m:oMathPara>
                </a14:m>
                <a:endParaRPr lang="en-US" dirty="0"/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>
                        <m:f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𝑑𝐼</m:t>
                          </m:r>
                        </m:num>
                        <m:den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𝑑𝑥</m:t>
                          </m:r>
                        </m:den>
                      </m:f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𝑢</m:t>
                      </m:r>
                      <m:r>
                        <a:rPr lang="en-US" i="1">
                          <a:latin typeface="Cambria Math" panose="02040503050406030204" pitchFamily="18" charset="0"/>
                        </a:rPr>
                        <m:t>+</m:t>
                      </m:r>
                      <m:f>
                        <m:f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𝑑𝐼</m:t>
                          </m:r>
                        </m:num>
                        <m:den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𝑑𝑦</m:t>
                          </m:r>
                        </m:den>
                      </m:f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𝑣</m:t>
                      </m:r>
                      <m:r>
                        <a:rPr lang="en-US" i="1">
                          <a:latin typeface="Cambria Math" panose="02040503050406030204" pitchFamily="18" charset="0"/>
                        </a:rPr>
                        <m:t>+</m:t>
                      </m:r>
                      <m:f>
                        <m:f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𝑑𝐼</m:t>
                          </m:r>
                        </m:num>
                        <m:den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𝑑𝑡</m:t>
                          </m:r>
                        </m:den>
                      </m:f>
                      <m:r>
                        <a:rPr lang="en-US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=0</m:t>
                      </m:r>
                    </m:oMath>
                  </m:oMathPara>
                </a14:m>
                <a:endParaRPr lang="en-US" dirty="0"/>
              </a:p>
              <a:p>
                <a:r>
                  <a:rPr lang="en-US" dirty="0"/>
                  <a:t>There are </a:t>
                </a:r>
                <a:r>
                  <a:rPr lang="en-US" b="1" dirty="0"/>
                  <a:t>2 unknowns</a:t>
                </a:r>
                <a:r>
                  <a:rPr lang="en-US" dirty="0"/>
                  <a:t>,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</a:rPr>
                      <m:t>[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𝑢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,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𝑣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]</m:t>
                    </m:r>
                  </m:oMath>
                </a14:m>
                <a:r>
                  <a:rPr lang="en-US" dirty="0"/>
                  <a:t>, but only </a:t>
                </a:r>
                <a:r>
                  <a:rPr lang="en-US" b="1" dirty="0"/>
                  <a:t>1 equation</a:t>
                </a:r>
                <a:r>
                  <a:rPr lang="en-US" dirty="0"/>
                  <a:t>! </a:t>
                </a:r>
              </a:p>
              <a:p>
                <a:r>
                  <a:rPr lang="en-US" dirty="0"/>
                  <a:t>Can solve by using more cases </a:t>
                </a:r>
              </a:p>
              <a:p>
                <a:pPr lvl="1"/>
                <a:r>
                  <a:rPr lang="en-US" dirty="0"/>
                  <a:t>Use </a:t>
                </a:r>
                <a:r>
                  <a:rPr lang="en-US" i="1" dirty="0"/>
                  <a:t>x</a:t>
                </a:r>
                <a:r>
                  <a:rPr lang="en-US" dirty="0"/>
                  <a:t>, </a:t>
                </a:r>
                <a:r>
                  <a:rPr lang="en-US" i="1" dirty="0"/>
                  <a:t>y</a:t>
                </a:r>
                <a:r>
                  <a:rPr lang="en-US" dirty="0"/>
                  <a:t> locations from say a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5</m:t>
                    </m:r>
                    <m:r>
                      <a:rPr lang="en-US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×5</m:t>
                    </m:r>
                  </m:oMath>
                </a14:m>
                <a:r>
                  <a:rPr lang="en-US" dirty="0"/>
                  <a:t> patch </a:t>
                </a:r>
              </a:p>
              <a:p>
                <a:pPr lvl="1"/>
                <a:r>
                  <a:rPr lang="en-US" dirty="0"/>
                  <a:t>Now 25 equations</a:t>
                </a:r>
              </a:p>
              <a:p>
                <a:pPr lvl="1"/>
                <a:r>
                  <a:rPr lang="en-US" dirty="0"/>
                  <a:t>Find  by </a:t>
                </a:r>
                <a:r>
                  <a:rPr lang="en-US" b="1" dirty="0"/>
                  <a:t>least squares solution</a:t>
                </a:r>
              </a:p>
              <a:p>
                <a:r>
                  <a:rPr lang="en-US" dirty="0"/>
                  <a:t>This approach enforces a </a:t>
                </a:r>
                <a:r>
                  <a:rPr lang="en-US" b="1" dirty="0"/>
                  <a:t>constant motion constraint </a:t>
                </a:r>
                <a:r>
                  <a:rPr lang="en-US" dirty="0"/>
                  <a:t>on the solution</a:t>
                </a:r>
              </a:p>
              <a:p>
                <a:pPr lvl="1"/>
                <a:r>
                  <a:rPr lang="en-US" dirty="0"/>
                  <a:t>We assume all 25 pixels move with the same flow</a:t>
                </a:r>
              </a:p>
              <a:p>
                <a:pPr marL="0" indent="0">
                  <a:buNone/>
                </a:pPr>
                <a:endParaRPr lang="en-US" dirty="0"/>
              </a:p>
              <a:p>
                <a:pPr marL="0" indent="0">
                  <a:buNone/>
                </a:pPr>
                <a:endParaRPr lang="en-US" dirty="0"/>
              </a:p>
              <a:p>
                <a:endParaRPr lang="en-US" dirty="0"/>
              </a:p>
              <a:p>
                <a:pPr marL="0" indent="0">
                  <a:buNone/>
                </a:pPr>
                <a:endParaRPr lang="en-US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4DBC6555-A8E7-4F73-8035-156F702D1410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789301" y="1124339"/>
                <a:ext cx="10515600" cy="5593468"/>
              </a:xfrm>
              <a:blipFill>
                <a:blip r:embed="rId3"/>
                <a:stretch>
                  <a:fillRect l="-1159" t="-174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418953906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DFB6AB4-96EB-434D-8BFC-6697DE744D7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89301" y="140193"/>
            <a:ext cx="10515600" cy="872004"/>
          </a:xfrm>
        </p:spPr>
        <p:txBody>
          <a:bodyPr>
            <a:normAutofit/>
          </a:bodyPr>
          <a:lstStyle/>
          <a:p>
            <a:r>
              <a:rPr lang="en-US" sz="4000" dirty="0">
                <a:latin typeface="+mn-lt"/>
              </a:rPr>
              <a:t>The Lucas-</a:t>
            </a:r>
            <a:r>
              <a:rPr lang="en-US" sz="4000" dirty="0" err="1">
                <a:latin typeface="+mn-lt"/>
              </a:rPr>
              <a:t>Kanade</a:t>
            </a:r>
            <a:r>
              <a:rPr lang="en-US" sz="4000" dirty="0">
                <a:latin typeface="+mn-lt"/>
              </a:rPr>
              <a:t> Algorithm  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4DBC6555-A8E7-4F73-8035-156F702D1410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789301" y="1124339"/>
                <a:ext cx="10515600" cy="5593468"/>
              </a:xfrm>
            </p:spPr>
            <p:txBody>
              <a:bodyPr/>
              <a:lstStyle/>
              <a:p>
                <a:pPr marL="0" indent="0">
                  <a:buNone/>
                </a:pPr>
                <a:r>
                  <a:rPr lang="en-US" dirty="0"/>
                  <a:t>We need to solve the linearized equations for the optical flow,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[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𝑢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,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𝑣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]</m:t>
                    </m:r>
                  </m:oMath>
                </a14:m>
                <a:r>
                  <a:rPr lang="en-US" dirty="0"/>
                  <a:t>: 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>
                        <m:f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𝑑𝐼</m:t>
                          </m:r>
                        </m:num>
                        <m:den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𝑑𝑥</m:t>
                          </m:r>
                        </m:den>
                      </m:f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𝑢</m:t>
                      </m:r>
                      <m:r>
                        <a:rPr lang="en-US" i="1">
                          <a:latin typeface="Cambria Math" panose="02040503050406030204" pitchFamily="18" charset="0"/>
                        </a:rPr>
                        <m:t>+</m:t>
                      </m:r>
                      <m:f>
                        <m:f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𝑑𝐼</m:t>
                          </m:r>
                        </m:num>
                        <m:den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𝑑𝑦</m:t>
                          </m:r>
                        </m:den>
                      </m:f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𝑣</m:t>
                      </m:r>
                      <m:r>
                        <a:rPr lang="en-US" i="1">
                          <a:latin typeface="Cambria Math" panose="02040503050406030204" pitchFamily="18" charset="0"/>
                        </a:rPr>
                        <m:t>+</m:t>
                      </m:r>
                      <m:f>
                        <m:f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𝑑𝐼</m:t>
                          </m:r>
                        </m:num>
                        <m:den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𝑑𝑡</m:t>
                          </m:r>
                        </m:den>
                      </m:f>
                      <m:r>
                        <a:rPr lang="en-US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=0</m:t>
                      </m:r>
                    </m:oMath>
                  </m:oMathPara>
                </a14:m>
                <a:endParaRPr lang="en-US" dirty="0"/>
              </a:p>
              <a:p>
                <a:r>
                  <a:rPr lang="en-US" dirty="0"/>
                  <a:t>Using the more compact notation of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𝐼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𝑥</m:t>
                        </m:r>
                      </m:sub>
                    </m:sSub>
                    <m:r>
                      <a:rPr lang="en-US" b="0" i="1" smtClean="0">
                        <a:latin typeface="Cambria Math" panose="02040503050406030204" pitchFamily="18" charset="0"/>
                      </a:rPr>
                      <m:t>,</m:t>
                    </m:r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𝐼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𝑦</m:t>
                        </m:r>
                      </m:sub>
                    </m:sSub>
                    <m:r>
                      <a:rPr lang="en-US" b="0" i="1" smtClean="0">
                        <a:latin typeface="Cambria Math" panose="02040503050406030204" pitchFamily="18" charset="0"/>
                      </a:rPr>
                      <m:t>,</m:t>
                    </m:r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𝐼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</m:oMath>
                </a14:m>
                <a:r>
                  <a:rPr lang="en-US" dirty="0"/>
                  <a:t> for the spatial and temporal derivatives of the image intensity we can write a linear system of 25 equations: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𝐼</m:t>
                          </m:r>
                        </m:e>
                        <m:sub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𝑥</m:t>
                          </m:r>
                        </m:sub>
                      </m:sSub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(</m:t>
                      </m:r>
                      <m:sSub>
                        <m:sSub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𝑝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)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𝑢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+</m:t>
                      </m:r>
                      <m:sSub>
                        <m:sSub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𝐼</m:t>
                          </m:r>
                        </m:e>
                        <m:sub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𝑦</m:t>
                          </m:r>
                        </m:sub>
                      </m:sSub>
                      <m:r>
                        <a:rPr lang="en-US" i="1">
                          <a:latin typeface="Cambria Math" panose="02040503050406030204" pitchFamily="18" charset="0"/>
                        </a:rPr>
                        <m:t>(</m:t>
                      </m:r>
                      <m:sSub>
                        <m:sSub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𝑝</m:t>
                          </m:r>
                        </m:e>
                        <m:sub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r>
                        <a:rPr lang="en-US" i="1">
                          <a:latin typeface="Cambria Math" panose="02040503050406030204" pitchFamily="18" charset="0"/>
                        </a:rPr>
                        <m:t>)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𝑣</m:t>
                      </m:r>
                      <m:sSub>
                        <m:sSub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=−</m:t>
                          </m:r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𝐼</m:t>
                          </m:r>
                        </m:e>
                        <m:sub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𝑡</m:t>
                          </m:r>
                        </m:sub>
                      </m:sSub>
                      <m:r>
                        <a:rPr lang="en-US" i="1">
                          <a:latin typeface="Cambria Math" panose="02040503050406030204" pitchFamily="18" charset="0"/>
                        </a:rPr>
                        <m:t>(</m:t>
                      </m:r>
                      <m:sSub>
                        <m:sSub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𝑝</m:t>
                          </m:r>
                        </m:e>
                        <m:sub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r>
                        <a:rPr lang="en-US" i="1"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en-US" dirty="0"/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𝐼</m:t>
                          </m:r>
                        </m:e>
                        <m:sub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𝑥</m:t>
                          </m:r>
                        </m:sub>
                      </m:sSub>
                      <m:r>
                        <a:rPr lang="en-US" i="1">
                          <a:latin typeface="Cambria Math" panose="02040503050406030204" pitchFamily="18" charset="0"/>
                        </a:rPr>
                        <m:t>(</m:t>
                      </m:r>
                      <m:sSub>
                        <m:sSub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𝑝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  <m:r>
                        <a:rPr lang="en-US" i="1">
                          <a:latin typeface="Cambria Math" panose="02040503050406030204" pitchFamily="18" charset="0"/>
                        </a:rPr>
                        <m:t>)</m:t>
                      </m:r>
                      <m:r>
                        <a:rPr lang="en-US" i="1">
                          <a:latin typeface="Cambria Math" panose="02040503050406030204" pitchFamily="18" charset="0"/>
                        </a:rPr>
                        <m:t>𝑢</m:t>
                      </m:r>
                      <m:r>
                        <a:rPr lang="en-US" i="1">
                          <a:latin typeface="Cambria Math" panose="02040503050406030204" pitchFamily="18" charset="0"/>
                        </a:rPr>
                        <m:t>+</m:t>
                      </m:r>
                      <m:sSub>
                        <m:sSub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𝐼</m:t>
                          </m:r>
                        </m:e>
                        <m:sub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𝑦</m:t>
                          </m:r>
                        </m:sub>
                      </m:sSub>
                      <m:r>
                        <a:rPr lang="en-US" i="1">
                          <a:latin typeface="Cambria Math" panose="02040503050406030204" pitchFamily="18" charset="0"/>
                        </a:rPr>
                        <m:t>(</m:t>
                      </m:r>
                      <m:sSub>
                        <m:sSub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𝑝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  <m:r>
                        <a:rPr lang="en-US" i="1">
                          <a:latin typeface="Cambria Math" panose="02040503050406030204" pitchFamily="18" charset="0"/>
                        </a:rPr>
                        <m:t>)</m:t>
                      </m:r>
                      <m:r>
                        <a:rPr lang="en-US" i="1">
                          <a:latin typeface="Cambria Math" panose="02040503050406030204" pitchFamily="18" charset="0"/>
                        </a:rPr>
                        <m:t>𝑣</m:t>
                      </m:r>
                      <m:sSub>
                        <m:sSub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=−</m:t>
                          </m:r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𝐼</m:t>
                          </m:r>
                        </m:e>
                        <m:sub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𝑡</m:t>
                          </m:r>
                        </m:sub>
                      </m:sSub>
                      <m:r>
                        <a:rPr lang="en-US" i="1">
                          <a:latin typeface="Cambria Math" panose="02040503050406030204" pitchFamily="18" charset="0"/>
                        </a:rPr>
                        <m:t>(</m:t>
                      </m:r>
                      <m:sSub>
                        <m:sSub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𝑝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  <m:r>
                        <a:rPr lang="en-US" i="1"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en-US" dirty="0"/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⋮</m:t>
                      </m:r>
                    </m:oMath>
                  </m:oMathPara>
                </a14:m>
                <a:endParaRPr lang="en-US" dirty="0"/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𝐼</m:t>
                          </m:r>
                        </m:e>
                        <m:sub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𝑥</m:t>
                          </m:r>
                        </m:sub>
                      </m:sSub>
                      <m:r>
                        <a:rPr lang="en-US" i="1">
                          <a:latin typeface="Cambria Math" panose="02040503050406030204" pitchFamily="18" charset="0"/>
                        </a:rPr>
                        <m:t>(</m:t>
                      </m:r>
                      <m:sSub>
                        <m:sSub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𝑝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25</m:t>
                          </m:r>
                        </m:sub>
                      </m:sSub>
                      <m:r>
                        <a:rPr lang="en-US" i="1">
                          <a:latin typeface="Cambria Math" panose="02040503050406030204" pitchFamily="18" charset="0"/>
                        </a:rPr>
                        <m:t>)</m:t>
                      </m:r>
                      <m:r>
                        <a:rPr lang="en-US" i="1">
                          <a:latin typeface="Cambria Math" panose="02040503050406030204" pitchFamily="18" charset="0"/>
                        </a:rPr>
                        <m:t>𝑢</m:t>
                      </m:r>
                      <m:r>
                        <a:rPr lang="en-US" i="1">
                          <a:latin typeface="Cambria Math" panose="02040503050406030204" pitchFamily="18" charset="0"/>
                        </a:rPr>
                        <m:t>+</m:t>
                      </m:r>
                      <m:sSub>
                        <m:sSub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𝐼</m:t>
                          </m:r>
                        </m:e>
                        <m:sub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𝑦</m:t>
                          </m:r>
                        </m:sub>
                      </m:sSub>
                      <m:r>
                        <a:rPr lang="en-US" i="1">
                          <a:latin typeface="Cambria Math" panose="02040503050406030204" pitchFamily="18" charset="0"/>
                        </a:rPr>
                        <m:t>(</m:t>
                      </m:r>
                      <m:sSub>
                        <m:sSub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𝑝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25</m:t>
                          </m:r>
                        </m:sub>
                      </m:sSub>
                      <m:r>
                        <a:rPr lang="en-US" i="1">
                          <a:latin typeface="Cambria Math" panose="02040503050406030204" pitchFamily="18" charset="0"/>
                        </a:rPr>
                        <m:t>)</m:t>
                      </m:r>
                      <m:r>
                        <a:rPr lang="en-US" i="1">
                          <a:latin typeface="Cambria Math" panose="02040503050406030204" pitchFamily="18" charset="0"/>
                        </a:rPr>
                        <m:t>𝑣</m:t>
                      </m:r>
                      <m:sSub>
                        <m:sSub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=−</m:t>
                          </m:r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𝐼</m:t>
                          </m:r>
                        </m:e>
                        <m:sub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𝑡</m:t>
                          </m:r>
                        </m:sub>
                      </m:sSub>
                      <m:r>
                        <a:rPr lang="en-US" i="1">
                          <a:latin typeface="Cambria Math" panose="02040503050406030204" pitchFamily="18" charset="0"/>
                        </a:rPr>
                        <m:t>(</m:t>
                      </m:r>
                      <m:sSub>
                        <m:sSub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𝑝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25</m:t>
                          </m:r>
                        </m:sub>
                      </m:sSub>
                      <m:r>
                        <a:rPr lang="en-US" i="1"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en-US" dirty="0"/>
              </a:p>
              <a:p>
                <a:r>
                  <a:rPr lang="en-US" dirty="0"/>
                  <a:t>Then find </a:t>
                </a:r>
                <a:r>
                  <a:rPr lang="en-US" b="1" dirty="0"/>
                  <a:t>least squares estimates </a:t>
                </a:r>
                <a:r>
                  <a:rPr lang="en-US" dirty="0"/>
                  <a:t>for the optical flow, </a:t>
                </a:r>
                <a14:m>
                  <m:oMath xmlns:m="http://schemas.openxmlformats.org/officeDocument/2006/math">
                    <m:d>
                      <m:dPr>
                        <m:begChr m:val="["/>
                        <m:endChr m:val="]"/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𝑢</m:t>
                        </m:r>
                        <m:r>
                          <a:rPr lang="en-US" i="1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en-US" i="1">
                            <a:latin typeface="Cambria Math" panose="02040503050406030204" pitchFamily="18" charset="0"/>
                          </a:rPr>
                          <m:t>𝑣</m:t>
                        </m:r>
                      </m:e>
                    </m:d>
                  </m:oMath>
                </a14:m>
                <a:r>
                  <a:rPr lang="en-US" dirty="0"/>
                  <a:t>, at center of patch, </a:t>
                </a:r>
                <a14:m>
                  <m:oMath xmlns:m="http://schemas.openxmlformats.org/officeDocument/2006/math">
                    <m:d>
                      <m:dPr>
                        <m:begChr m:val="["/>
                        <m:endChr m:val="]"/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𝑥</m:t>
                        </m:r>
                        <m:r>
                          <a:rPr lang="en-US" i="1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𝑦</m:t>
                        </m:r>
                      </m:e>
                    </m:d>
                  </m:oMath>
                </a14:m>
                <a:r>
                  <a:rPr lang="en-US" dirty="0"/>
                  <a:t> </a:t>
                </a:r>
              </a:p>
              <a:p>
                <a:pPr marL="0" indent="0">
                  <a:buNone/>
                </a:pPr>
                <a:endParaRPr lang="en-US" dirty="0"/>
              </a:p>
              <a:p>
                <a:pPr marL="0" indent="0">
                  <a:buNone/>
                </a:pPr>
                <a:endParaRPr lang="en-US" dirty="0"/>
              </a:p>
              <a:p>
                <a:pPr marL="0" indent="0">
                  <a:buNone/>
                </a:pPr>
                <a:endParaRPr lang="en-US" dirty="0"/>
              </a:p>
              <a:p>
                <a:endParaRPr lang="en-US" dirty="0"/>
              </a:p>
              <a:p>
                <a:pPr marL="0" indent="0">
                  <a:buNone/>
                </a:pPr>
                <a:endParaRPr lang="en-US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4DBC6555-A8E7-4F73-8035-156F702D1410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789301" y="1124339"/>
                <a:ext cx="10515600" cy="5593468"/>
              </a:xfrm>
              <a:blipFill>
                <a:blip r:embed="rId3"/>
                <a:stretch>
                  <a:fillRect l="-1159" t="-174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53149127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46856AD-D906-FEFD-7FD8-7B84DF60675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algn="ctr"/>
            <a:r>
              <a:rPr lang="en-US" sz="4000" dirty="0"/>
              <a:t>Gradients and the Lucas-</a:t>
            </a:r>
            <a:r>
              <a:rPr lang="en-US" sz="4000" dirty="0" err="1"/>
              <a:t>Kanade</a:t>
            </a:r>
            <a:r>
              <a:rPr lang="en-US" sz="4000" dirty="0"/>
              <a:t> Algorithm</a:t>
            </a:r>
          </a:p>
        </p:txBody>
      </p:sp>
    </p:spTree>
    <p:extLst>
      <p:ext uri="{BB962C8B-B14F-4D97-AF65-F5344CB8AC3E}">
        <p14:creationId xmlns:p14="http://schemas.microsoft.com/office/powerpoint/2010/main" val="4183932254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DFB6AB4-96EB-434D-8BFC-6697DE744D7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89301" y="140193"/>
            <a:ext cx="10515600" cy="872004"/>
          </a:xfrm>
        </p:spPr>
        <p:txBody>
          <a:bodyPr>
            <a:normAutofit/>
          </a:bodyPr>
          <a:lstStyle/>
          <a:p>
            <a:r>
              <a:rPr lang="en-US" sz="4000" dirty="0">
                <a:latin typeface="+mn-lt"/>
              </a:rPr>
              <a:t>Pitfalls of Gradient Based Lucas-</a:t>
            </a:r>
            <a:r>
              <a:rPr lang="en-US" sz="4000" dirty="0" err="1">
                <a:latin typeface="+mn-lt"/>
              </a:rPr>
              <a:t>Kanade</a:t>
            </a:r>
            <a:r>
              <a:rPr lang="en-US" sz="4000" dirty="0">
                <a:latin typeface="+mn-lt"/>
              </a:rPr>
              <a:t> Algorithm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4DBC6555-A8E7-4F73-8035-156F702D1410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789301" y="1048138"/>
                <a:ext cx="10515600" cy="5771761"/>
              </a:xfrm>
            </p:spPr>
            <p:txBody>
              <a:bodyPr>
                <a:normAutofit lnSpcReduction="10000"/>
              </a:bodyPr>
              <a:lstStyle/>
              <a:p>
                <a:pPr marL="0" indent="0">
                  <a:buNone/>
                </a:pPr>
                <a:r>
                  <a:rPr lang="en-US" dirty="0"/>
                  <a:t>We need to solve the linearized equations for the optical flow,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[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𝑢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,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𝑣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]</m:t>
                    </m:r>
                  </m:oMath>
                </a14:m>
                <a:r>
                  <a:rPr lang="en-US" dirty="0"/>
                  <a:t>: 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>
                        <m:f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𝑑𝐼</m:t>
                          </m:r>
                        </m:num>
                        <m:den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𝑑𝑥</m:t>
                          </m:r>
                        </m:den>
                      </m:f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𝑢</m:t>
                      </m:r>
                      <m:r>
                        <a:rPr lang="en-US" i="1">
                          <a:latin typeface="Cambria Math" panose="02040503050406030204" pitchFamily="18" charset="0"/>
                        </a:rPr>
                        <m:t>+</m:t>
                      </m:r>
                      <m:f>
                        <m:f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𝑑𝐼</m:t>
                          </m:r>
                        </m:num>
                        <m:den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𝑑𝑦</m:t>
                          </m:r>
                        </m:den>
                      </m:f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𝑣</m:t>
                      </m:r>
                      <m:r>
                        <a:rPr lang="en-US" i="1">
                          <a:latin typeface="Cambria Math" panose="02040503050406030204" pitchFamily="18" charset="0"/>
                        </a:rPr>
                        <m:t>+</m:t>
                      </m:r>
                      <m:f>
                        <m:f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𝑑𝐼</m:t>
                          </m:r>
                        </m:num>
                        <m:den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𝑑𝑡</m:t>
                          </m:r>
                        </m:den>
                      </m:f>
                      <m:r>
                        <a:rPr lang="en-US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=0</m:t>
                      </m:r>
                    </m:oMath>
                  </m:oMathPara>
                </a14:m>
                <a:endParaRPr lang="en-US" dirty="0"/>
              </a:p>
              <a:p>
                <a:r>
                  <a:rPr lang="en-US" dirty="0"/>
                  <a:t>We can solve the least squares problem for pixels in a patch, </a:t>
                </a:r>
                <a14:m>
                  <m:oMath xmlns:m="http://schemas.openxmlformats.org/officeDocument/2006/math">
                    <m:r>
                      <m:rPr>
                        <m:brk m:alnAt="7"/>
                      </m:rPr>
                      <a:rPr lang="en-US" i="1">
                        <a:latin typeface="Cambria Math" panose="02040503050406030204" pitchFamily="18" charset="0"/>
                      </a:rPr>
                      <m:t>𝑝</m:t>
                    </m:r>
                    <m:r>
                      <a:rPr lang="en-US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∈</m:t>
                    </m:r>
                    <m:r>
                      <a:rPr lang="en-US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𝑃</m:t>
                    </m:r>
                  </m:oMath>
                </a14:m>
                <a:r>
                  <a:rPr lang="en-US" dirty="0"/>
                  <a:t>, using the normal form: 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p>
                        <m:sSupPr>
                          <m:ctrlPr>
                            <a:rPr lang="en-US" i="1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𝐴</m:t>
                          </m:r>
                        </m:e>
                        <m:sup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𝑇</m:t>
                          </m:r>
                        </m:sup>
                      </m:sSup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𝐴</m:t>
                      </m:r>
                      <m:acc>
                        <m:accPr>
                          <m:chr m:val="̂"/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𝑣</m:t>
                          </m:r>
                        </m:e>
                      </m:acc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</m:t>
                      </m:r>
                      <m:sSup>
                        <m:sSup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𝐴</m:t>
                          </m:r>
                        </m:e>
                        <m:sup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𝑇</m:t>
                          </m:r>
                        </m:sup>
                      </m:sSup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𝑏</m:t>
                      </m:r>
                    </m:oMath>
                  </m:oMathPara>
                </a14:m>
                <a:endParaRPr lang="en-US" dirty="0"/>
              </a:p>
              <a:p>
                <a:pPr marL="0" indent="0">
                  <a:buNone/>
                </a:pPr>
                <a:endParaRPr lang="en-US" sz="1000" dirty="0"/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begChr m:val="["/>
                          <m:endChr m:val="]"/>
                          <m:ctrlPr>
                            <a:rPr lang="en-US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m>
                            <m:mPr>
                              <m:mcs>
                                <m:mc>
                                  <m:mcPr>
                                    <m:count m:val="2"/>
                                    <m:mcJc m:val="center"/>
                                  </m:mcPr>
                                </m:mc>
                              </m:mcs>
                              <m:ctrlPr>
                                <a:rPr lang="en-US" i="1" smtClean="0">
                                  <a:latin typeface="Cambria Math" panose="02040503050406030204" pitchFamily="18" charset="0"/>
                                </a:rPr>
                              </m:ctrlPr>
                            </m:mPr>
                            <m:mr>
                              <m:e>
                                <m:nary>
                                  <m:naryPr>
                                    <m:chr m:val="∑"/>
                                    <m:supHide m:val="on"/>
                                    <m:ctrlPr>
                                      <a:rPr lang="en-US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naryPr>
                                  <m:sub>
                                    <m:r>
                                      <m:rPr>
                                        <m:brk m:alnAt="7"/>
                                      </m:rPr>
                                      <a:rPr lang="en-US" b="0" i="1" smtClean="0">
                                        <a:latin typeface="Cambria Math" panose="02040503050406030204" pitchFamily="18" charset="0"/>
                                      </a:rPr>
                                      <m:t>𝑝</m:t>
                                    </m:r>
                                    <m:r>
                                      <a:rPr lang="en-US" b="0" i="1" smtClean="0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∈</m:t>
                                    </m:r>
                                    <m:r>
                                      <a:rPr lang="en-US" b="0" i="1" smtClean="0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𝑃</m:t>
                                    </m:r>
                                  </m:sub>
                                  <m:sup/>
                                  <m:e>
                                    <m:sSub>
                                      <m:sSubPr>
                                        <m:ctrlPr>
                                          <a:rPr lang="en-US" i="1" smtClean="0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a:rPr lang="en-US" b="0" i="1" smtClean="0">
                                            <a:latin typeface="Cambria Math" panose="02040503050406030204" pitchFamily="18" charset="0"/>
                                          </a:rPr>
                                          <m:t>𝐼</m:t>
                                        </m:r>
                                      </m:e>
                                      <m:sub>
                                        <m:r>
                                          <a:rPr lang="en-US" b="0" i="1" smtClean="0">
                                            <a:latin typeface="Cambria Math" panose="02040503050406030204" pitchFamily="18" charset="0"/>
                                          </a:rPr>
                                          <m:t>𝑥</m:t>
                                        </m:r>
                                      </m:sub>
                                    </m:sSub>
                                    <m:sSub>
                                      <m:sSubPr>
                                        <m:ctrlPr>
                                          <a:rPr lang="en-US" i="1" smtClean="0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a:rPr lang="en-US" b="0" i="1" smtClean="0">
                                            <a:latin typeface="Cambria Math" panose="02040503050406030204" pitchFamily="18" charset="0"/>
                                          </a:rPr>
                                          <m:t>𝐼</m:t>
                                        </m:r>
                                      </m:e>
                                      <m:sub>
                                        <m:r>
                                          <a:rPr lang="en-US" b="0" i="1" smtClean="0">
                                            <a:latin typeface="Cambria Math" panose="02040503050406030204" pitchFamily="18" charset="0"/>
                                          </a:rPr>
                                          <m:t>𝑥</m:t>
                                        </m:r>
                                      </m:sub>
                                    </m:sSub>
                                  </m:e>
                                </m:nary>
                              </m:e>
                              <m:e>
                                <m:nary>
                                  <m:naryPr>
                                    <m:chr m:val="∑"/>
                                    <m:supHide m:val="on"/>
                                    <m:ctrlPr>
                                      <a:rPr lang="en-US" i="1">
                                        <a:latin typeface="Cambria Math" panose="02040503050406030204" pitchFamily="18" charset="0"/>
                                      </a:rPr>
                                    </m:ctrlPr>
                                  </m:naryPr>
                                  <m:sub>
                                    <m:r>
                                      <m:rPr>
                                        <m:brk m:alnAt="7"/>
                                      </m:rPr>
                                      <a:rPr lang="en-US" i="1">
                                        <a:latin typeface="Cambria Math" panose="02040503050406030204" pitchFamily="18" charset="0"/>
                                      </a:rPr>
                                      <m:t>𝑝</m:t>
                                    </m:r>
                                    <m:r>
                                      <a:rPr lang="en-US" i="1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∈</m:t>
                                    </m:r>
                                    <m:r>
                                      <a:rPr lang="en-US" i="1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𝑃</m:t>
                                    </m:r>
                                  </m:sub>
                                  <m:sup/>
                                  <m:e>
                                    <m:sSub>
                                      <m:sSubPr>
                                        <m:ctrlPr>
                                          <a:rPr lang="en-US" i="1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a:rPr lang="en-US" i="1">
                                            <a:latin typeface="Cambria Math" panose="02040503050406030204" pitchFamily="18" charset="0"/>
                                          </a:rPr>
                                          <m:t>𝐼</m:t>
                                        </m:r>
                                      </m:e>
                                      <m:sub>
                                        <m:r>
                                          <a:rPr lang="en-US" i="1">
                                            <a:latin typeface="Cambria Math" panose="02040503050406030204" pitchFamily="18" charset="0"/>
                                          </a:rPr>
                                          <m:t>𝑥</m:t>
                                        </m:r>
                                      </m:sub>
                                    </m:sSub>
                                    <m:sSub>
                                      <m:sSubPr>
                                        <m:ctrlPr>
                                          <a:rPr lang="en-US" i="1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a:rPr lang="en-US" i="1">
                                            <a:latin typeface="Cambria Math" panose="02040503050406030204" pitchFamily="18" charset="0"/>
                                          </a:rPr>
                                          <m:t>𝐼</m:t>
                                        </m:r>
                                      </m:e>
                                      <m:sub>
                                        <m:r>
                                          <a:rPr lang="en-US" b="0" i="1" smtClean="0">
                                            <a:latin typeface="Cambria Math" panose="02040503050406030204" pitchFamily="18" charset="0"/>
                                          </a:rPr>
                                          <m:t>𝑦</m:t>
                                        </m:r>
                                      </m:sub>
                                    </m:sSub>
                                  </m:e>
                                </m:nary>
                              </m:e>
                            </m:mr>
                            <m:mr>
                              <m:e>
                                <m:nary>
                                  <m:naryPr>
                                    <m:chr m:val="∑"/>
                                    <m:supHide m:val="on"/>
                                    <m:ctrlPr>
                                      <a:rPr lang="en-US" i="1">
                                        <a:latin typeface="Cambria Math" panose="02040503050406030204" pitchFamily="18" charset="0"/>
                                      </a:rPr>
                                    </m:ctrlPr>
                                  </m:naryPr>
                                  <m:sub>
                                    <m:r>
                                      <m:rPr>
                                        <m:brk m:alnAt="7"/>
                                      </m:rPr>
                                      <a:rPr lang="en-US" i="1">
                                        <a:latin typeface="Cambria Math" panose="02040503050406030204" pitchFamily="18" charset="0"/>
                                      </a:rPr>
                                      <m:t>𝑝</m:t>
                                    </m:r>
                                    <m:r>
                                      <a:rPr lang="en-US" i="1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∈</m:t>
                                    </m:r>
                                    <m:r>
                                      <a:rPr lang="en-US" i="1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𝑃</m:t>
                                    </m:r>
                                  </m:sub>
                                  <m:sup/>
                                  <m:e>
                                    <m:sSub>
                                      <m:sSubPr>
                                        <m:ctrlPr>
                                          <a:rPr lang="en-US" i="1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a:rPr lang="en-US" i="1">
                                            <a:latin typeface="Cambria Math" panose="02040503050406030204" pitchFamily="18" charset="0"/>
                                          </a:rPr>
                                          <m:t>𝐼</m:t>
                                        </m:r>
                                      </m:e>
                                      <m:sub>
                                        <m:r>
                                          <a:rPr lang="en-US" b="0" i="1" smtClean="0">
                                            <a:latin typeface="Cambria Math" panose="02040503050406030204" pitchFamily="18" charset="0"/>
                                          </a:rPr>
                                          <m:t>𝑦</m:t>
                                        </m:r>
                                      </m:sub>
                                    </m:sSub>
                                    <m:sSub>
                                      <m:sSubPr>
                                        <m:ctrlPr>
                                          <a:rPr lang="en-US" i="1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a:rPr lang="en-US" i="1">
                                            <a:latin typeface="Cambria Math" panose="02040503050406030204" pitchFamily="18" charset="0"/>
                                          </a:rPr>
                                          <m:t>𝐼</m:t>
                                        </m:r>
                                      </m:e>
                                      <m:sub>
                                        <m:r>
                                          <a:rPr lang="en-US" i="1">
                                            <a:latin typeface="Cambria Math" panose="02040503050406030204" pitchFamily="18" charset="0"/>
                                          </a:rPr>
                                          <m:t>𝑥</m:t>
                                        </m:r>
                                      </m:sub>
                                    </m:sSub>
                                  </m:e>
                                </m:nary>
                              </m:e>
                              <m:e>
                                <m:nary>
                                  <m:naryPr>
                                    <m:chr m:val="∑"/>
                                    <m:supHide m:val="on"/>
                                    <m:ctrlPr>
                                      <a:rPr lang="en-US" i="1">
                                        <a:latin typeface="Cambria Math" panose="02040503050406030204" pitchFamily="18" charset="0"/>
                                      </a:rPr>
                                    </m:ctrlPr>
                                  </m:naryPr>
                                  <m:sub>
                                    <m:r>
                                      <m:rPr>
                                        <m:brk m:alnAt="7"/>
                                      </m:rPr>
                                      <a:rPr lang="en-US" i="1">
                                        <a:latin typeface="Cambria Math" panose="02040503050406030204" pitchFamily="18" charset="0"/>
                                      </a:rPr>
                                      <m:t>𝑝</m:t>
                                    </m:r>
                                    <m:r>
                                      <a:rPr lang="en-US" i="1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∈</m:t>
                                    </m:r>
                                    <m:r>
                                      <a:rPr lang="en-US" i="1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𝑃</m:t>
                                    </m:r>
                                  </m:sub>
                                  <m:sup/>
                                  <m:e>
                                    <m:sSub>
                                      <m:sSubPr>
                                        <m:ctrlPr>
                                          <a:rPr lang="en-US" i="1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a:rPr lang="en-US" i="1">
                                            <a:latin typeface="Cambria Math" panose="02040503050406030204" pitchFamily="18" charset="0"/>
                                          </a:rPr>
                                          <m:t>𝐼</m:t>
                                        </m:r>
                                      </m:e>
                                      <m:sub>
                                        <m:r>
                                          <a:rPr lang="en-US" b="0" i="1" smtClean="0">
                                            <a:latin typeface="Cambria Math" panose="02040503050406030204" pitchFamily="18" charset="0"/>
                                          </a:rPr>
                                          <m:t>𝑦</m:t>
                                        </m:r>
                                      </m:sub>
                                    </m:sSub>
                                    <m:sSub>
                                      <m:sSubPr>
                                        <m:ctrlPr>
                                          <a:rPr lang="en-US" i="1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a:rPr lang="en-US" i="1">
                                            <a:latin typeface="Cambria Math" panose="02040503050406030204" pitchFamily="18" charset="0"/>
                                          </a:rPr>
                                          <m:t>𝐼</m:t>
                                        </m:r>
                                      </m:e>
                                      <m:sub>
                                        <m:r>
                                          <a:rPr lang="en-US" b="0" i="1" smtClean="0">
                                            <a:latin typeface="Cambria Math" panose="02040503050406030204" pitchFamily="18" charset="0"/>
                                          </a:rPr>
                                          <m:t>𝑦</m:t>
                                        </m:r>
                                      </m:sub>
                                    </m:sSub>
                                  </m:e>
                                </m:nary>
                              </m:e>
                            </m:mr>
                          </m:m>
                        </m:e>
                      </m:d>
                      <m:d>
                        <m:dPr>
                          <m:begChr m:val="["/>
                          <m:endChr m:val="]"/>
                          <m:ctrlPr>
                            <a:rPr lang="en-US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m>
                            <m:mPr>
                              <m:mcs>
                                <m:mc>
                                  <m:mcPr>
                                    <m:count m:val="1"/>
                                    <m:mcJc m:val="center"/>
                                  </m:mcPr>
                                </m:mc>
                              </m:mcs>
                              <m:ctrlPr>
                                <a:rPr lang="en-US" i="1" smtClean="0">
                                  <a:latin typeface="Cambria Math" panose="02040503050406030204" pitchFamily="18" charset="0"/>
                                </a:rPr>
                              </m:ctrlPr>
                            </m:mPr>
                            <m:mr>
                              <m:e>
                                <m:r>
                                  <m:rPr>
                                    <m:brk m:alnAt="7"/>
                                  </m:rP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  <m:t>𝑢</m:t>
                                </m:r>
                              </m:e>
                            </m:mr>
                            <m:mr>
                              <m:e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  <m:t>𝑣</m:t>
                                </m:r>
                              </m:e>
                            </m:mr>
                          </m:m>
                        </m:e>
                      </m:d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</m:t>
                      </m:r>
                      <m:d>
                        <m:dPr>
                          <m:begChr m:val="["/>
                          <m:endChr m:val="]"/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m>
                            <m:mPr>
                              <m:mcs>
                                <m:mc>
                                  <m:mcPr>
                                    <m:count m:val="1"/>
                                    <m:mcJc m:val="center"/>
                                  </m:mcPr>
                                </m:mc>
                              </m:mcs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mPr>
                            <m:mr>
                              <m:e>
                                <m:nary>
                                  <m:naryPr>
                                    <m:chr m:val="∑"/>
                                    <m:supHide m:val="on"/>
                                    <m:ctrlPr>
                                      <a:rPr lang="en-US" i="1">
                                        <a:latin typeface="Cambria Math" panose="02040503050406030204" pitchFamily="18" charset="0"/>
                                      </a:rPr>
                                    </m:ctrlPr>
                                  </m:naryPr>
                                  <m:sub>
                                    <m:r>
                                      <m:rPr>
                                        <m:brk m:alnAt="7"/>
                                      </m:rPr>
                                      <a:rPr lang="en-US" i="1">
                                        <a:latin typeface="Cambria Math" panose="02040503050406030204" pitchFamily="18" charset="0"/>
                                      </a:rPr>
                                      <m:t>𝑝</m:t>
                                    </m:r>
                                    <m:r>
                                      <a:rPr lang="en-US" i="1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∈</m:t>
                                    </m:r>
                                    <m:r>
                                      <a:rPr lang="en-US" i="1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𝑃</m:t>
                                    </m:r>
                                  </m:sub>
                                  <m:sup/>
                                  <m:e>
                                    <m:sSub>
                                      <m:sSubPr>
                                        <m:ctrlPr>
                                          <a:rPr lang="en-US" i="1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a:rPr lang="en-US" i="1">
                                            <a:latin typeface="Cambria Math" panose="02040503050406030204" pitchFamily="18" charset="0"/>
                                          </a:rPr>
                                          <m:t>𝐼</m:t>
                                        </m:r>
                                      </m:e>
                                      <m:sub>
                                        <m:r>
                                          <a:rPr lang="en-US" i="1">
                                            <a:latin typeface="Cambria Math" panose="02040503050406030204" pitchFamily="18" charset="0"/>
                                          </a:rPr>
                                          <m:t>𝑥</m:t>
                                        </m:r>
                                      </m:sub>
                                    </m:sSub>
                                    <m:sSub>
                                      <m:sSubPr>
                                        <m:ctrlPr>
                                          <a:rPr lang="en-US" i="1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a:rPr lang="en-US" i="1">
                                            <a:latin typeface="Cambria Math" panose="02040503050406030204" pitchFamily="18" charset="0"/>
                                          </a:rPr>
                                          <m:t>𝐼</m:t>
                                        </m:r>
                                      </m:e>
                                      <m:sub>
                                        <m:r>
                                          <a:rPr lang="en-US" b="0" i="1" smtClean="0">
                                            <a:latin typeface="Cambria Math" panose="02040503050406030204" pitchFamily="18" charset="0"/>
                                          </a:rPr>
                                          <m:t>𝑡</m:t>
                                        </m:r>
                                      </m:sub>
                                    </m:sSub>
                                  </m:e>
                                </m:nary>
                              </m:e>
                            </m:mr>
                            <m:mr>
                              <m:e>
                                <m:nary>
                                  <m:naryPr>
                                    <m:chr m:val="∑"/>
                                    <m:supHide m:val="on"/>
                                    <m:ctrlPr>
                                      <a:rPr lang="en-US" i="1">
                                        <a:latin typeface="Cambria Math" panose="02040503050406030204" pitchFamily="18" charset="0"/>
                                      </a:rPr>
                                    </m:ctrlPr>
                                  </m:naryPr>
                                  <m:sub>
                                    <m:r>
                                      <m:rPr>
                                        <m:brk m:alnAt="7"/>
                                      </m:rPr>
                                      <a:rPr lang="en-US" i="1">
                                        <a:latin typeface="Cambria Math" panose="02040503050406030204" pitchFamily="18" charset="0"/>
                                      </a:rPr>
                                      <m:t>𝑝</m:t>
                                    </m:r>
                                    <m:r>
                                      <a:rPr lang="en-US" i="1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∈</m:t>
                                    </m:r>
                                    <m:r>
                                      <a:rPr lang="en-US" i="1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𝑃</m:t>
                                    </m:r>
                                  </m:sub>
                                  <m:sup/>
                                  <m:e>
                                    <m:sSub>
                                      <m:sSubPr>
                                        <m:ctrlPr>
                                          <a:rPr lang="en-US" i="1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a:rPr lang="en-US" i="1">
                                            <a:latin typeface="Cambria Math" panose="02040503050406030204" pitchFamily="18" charset="0"/>
                                          </a:rPr>
                                          <m:t>𝐼</m:t>
                                        </m:r>
                                      </m:e>
                                      <m:sub>
                                        <m:r>
                                          <a:rPr lang="en-US" b="0" i="1" smtClean="0">
                                            <a:latin typeface="Cambria Math" panose="02040503050406030204" pitchFamily="18" charset="0"/>
                                          </a:rPr>
                                          <m:t>𝑦</m:t>
                                        </m:r>
                                      </m:sub>
                                    </m:sSub>
                                    <m:sSub>
                                      <m:sSubPr>
                                        <m:ctrlPr>
                                          <a:rPr lang="en-US" i="1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a:rPr lang="en-US" i="1">
                                            <a:latin typeface="Cambria Math" panose="02040503050406030204" pitchFamily="18" charset="0"/>
                                          </a:rPr>
                                          <m:t>𝐼</m:t>
                                        </m:r>
                                      </m:e>
                                      <m:sub>
                                        <m:r>
                                          <a:rPr lang="en-US" b="0" i="1" smtClean="0">
                                            <a:latin typeface="Cambria Math" panose="02040503050406030204" pitchFamily="18" charset="0"/>
                                          </a:rPr>
                                          <m:t>𝑡</m:t>
                                        </m:r>
                                      </m:sub>
                                    </m:sSub>
                                  </m:e>
                                </m:nary>
                              </m:e>
                            </m:mr>
                          </m:m>
                        </m:e>
                      </m:d>
                    </m:oMath>
                  </m:oMathPara>
                </a14:m>
                <a:endParaRPr lang="en-US" dirty="0"/>
              </a:p>
              <a:p>
                <a:r>
                  <a:rPr lang="en-US" dirty="0"/>
                  <a:t>Solve for flow parameters: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acc>
                        <m:accPr>
                          <m:chr m:val="̂"/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𝑣</m:t>
                          </m:r>
                        </m:e>
                      </m:acc>
                      <m:r>
                        <a:rPr lang="en-US" b="0" i="0" smtClean="0">
                          <a:latin typeface="Cambria Math" panose="02040503050406030204" pitchFamily="18" charset="0"/>
                        </a:rPr>
                        <m:t>=</m:t>
                      </m:r>
                      <m:sSup>
                        <m:sSup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d>
                            <m:d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p>
                                <m:sSupPr>
                                  <m:ctrlPr>
                                    <a:rPr lang="en-US" i="1"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𝐴</m:t>
                                  </m:r>
                                </m:e>
                                <m:sup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𝑇</m:t>
                                  </m:r>
                                </m:sup>
                              </m:sSup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𝐴</m:t>
                              </m:r>
                            </m:e>
                          </m:d>
                        </m:e>
                        <m:sup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−1</m:t>
                          </m:r>
                        </m:sup>
                      </m:sSup>
                      <m:sSup>
                        <m:sSup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𝐴</m:t>
                          </m:r>
                        </m:e>
                        <m:sup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𝑇</m:t>
                          </m:r>
                        </m:sup>
                      </m:sSup>
                      <m:r>
                        <a:rPr lang="en-US" i="1">
                          <a:latin typeface="Cambria Math" panose="02040503050406030204" pitchFamily="18" charset="0"/>
                        </a:rPr>
                        <m:t>𝑏</m:t>
                      </m:r>
                    </m:oMath>
                  </m:oMathPara>
                </a14:m>
                <a:endParaRPr lang="en-US" dirty="0"/>
              </a:p>
              <a:p>
                <a:pPr marL="0" indent="0">
                  <a:buNone/>
                </a:pPr>
                <a:endParaRPr lang="en-US" dirty="0"/>
              </a:p>
              <a:p>
                <a:pPr marL="0" indent="0">
                  <a:buNone/>
                </a:pPr>
                <a:endParaRPr lang="en-US" dirty="0"/>
              </a:p>
              <a:p>
                <a:pPr marL="0" indent="0">
                  <a:buNone/>
                </a:pPr>
                <a:endParaRPr lang="en-US" dirty="0"/>
              </a:p>
              <a:p>
                <a:pPr marL="0" indent="0">
                  <a:buNone/>
                </a:pPr>
                <a:endParaRPr lang="en-US" dirty="0"/>
              </a:p>
              <a:p>
                <a:endParaRPr lang="en-US" dirty="0"/>
              </a:p>
              <a:p>
                <a:pPr marL="0" indent="0">
                  <a:buNone/>
                </a:pPr>
                <a:endParaRPr lang="en-US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4DBC6555-A8E7-4F73-8035-156F702D1410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789301" y="1048138"/>
                <a:ext cx="10515600" cy="5771761"/>
              </a:xfrm>
              <a:blipFill>
                <a:blip r:embed="rId3"/>
                <a:stretch>
                  <a:fillRect l="-1159" t="-2429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409658986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DFB6AB4-96EB-434D-8BFC-6697DE744D7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89301" y="140193"/>
            <a:ext cx="10515600" cy="872004"/>
          </a:xfrm>
        </p:spPr>
        <p:txBody>
          <a:bodyPr>
            <a:normAutofit/>
          </a:bodyPr>
          <a:lstStyle/>
          <a:p>
            <a:r>
              <a:rPr lang="en-US" sz="4000" dirty="0">
                <a:latin typeface="+mn-lt"/>
              </a:rPr>
              <a:t>Pitfalls of gradient-based Lucas-</a:t>
            </a:r>
            <a:r>
              <a:rPr lang="en-US" sz="4000" dirty="0" err="1">
                <a:latin typeface="+mn-lt"/>
              </a:rPr>
              <a:t>Kanade</a:t>
            </a:r>
            <a:r>
              <a:rPr lang="en-US" sz="4000" dirty="0">
                <a:latin typeface="+mn-lt"/>
              </a:rPr>
              <a:t> algorithm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4DBC6555-A8E7-4F73-8035-156F702D1410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789301" y="1124339"/>
                <a:ext cx="10515600" cy="5593468"/>
              </a:xfrm>
            </p:spPr>
            <p:txBody>
              <a:bodyPr/>
              <a:lstStyle/>
              <a:p>
                <a:pPr marL="0" indent="0">
                  <a:buNone/>
                </a:pPr>
                <a:r>
                  <a:rPr lang="en-US" dirty="0"/>
                  <a:t>Properties of gradient estimator limit performance of the Lucas-</a:t>
                </a:r>
                <a:r>
                  <a:rPr lang="en-US" dirty="0" err="1"/>
                  <a:t>Kanade</a:t>
                </a:r>
                <a:r>
                  <a:rPr lang="en-US" dirty="0"/>
                  <a:t> algorithm </a:t>
                </a:r>
              </a:p>
              <a:p>
                <a:r>
                  <a:rPr lang="en-US" dirty="0"/>
                  <a:t>Can only track patches if both eigenvalues of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2</m:t>
                    </m:r>
                    <m:r>
                      <a:rPr lang="en-US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×2</m:t>
                    </m:r>
                  </m:oMath>
                </a14:m>
                <a:r>
                  <a:rPr lang="en-US" dirty="0"/>
                  <a:t> covariance are large </a:t>
                </a:r>
              </a:p>
              <a:p>
                <a:pPr lvl="1"/>
                <a:r>
                  <a:rPr lang="en-US" dirty="0"/>
                  <a:t>Otherwise, the problem is </a:t>
                </a:r>
                <a:r>
                  <a:rPr lang="en-US" b="1" dirty="0"/>
                  <a:t>ill-posed</a:t>
                </a:r>
                <a:endParaRPr lang="en-US" dirty="0"/>
              </a:p>
              <a:p>
                <a:pPr lvl="1"/>
                <a:r>
                  <a:rPr lang="en-US" dirty="0"/>
                  <a:t>Inverse covariance,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d>
                          <m:d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sSup>
                              <m:sSupPr>
                                <m:ctrlPr>
                                  <a:rPr lang="en-US" i="1">
                                    <a:latin typeface="Cambria Math" panose="02040503050406030204" pitchFamily="18" charset="0"/>
                                  </a:rPr>
                                </m:ctrlPr>
                              </m:sSupPr>
                              <m:e>
                                <m:r>
                                  <a:rPr lang="en-US" i="1">
                                    <a:latin typeface="Cambria Math" panose="02040503050406030204" pitchFamily="18" charset="0"/>
                                  </a:rPr>
                                  <m:t>𝐴</m:t>
                                </m:r>
                              </m:e>
                              <m:sup>
                                <m:r>
                                  <a:rPr lang="en-US" i="1">
                                    <a:latin typeface="Cambria Math" panose="02040503050406030204" pitchFamily="18" charset="0"/>
                                  </a:rPr>
                                  <m:t>𝑇</m:t>
                                </m:r>
                              </m:sup>
                            </m:sSup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𝐴</m:t>
                            </m:r>
                          </m:e>
                        </m:d>
                      </m:e>
                      <m:sup>
                        <m:r>
                          <a:rPr lang="en-US" i="1">
                            <a:latin typeface="Cambria Math" panose="02040503050406030204" pitchFamily="18" charset="0"/>
                          </a:rPr>
                          <m:t>−1</m:t>
                        </m:r>
                      </m:sup>
                    </m:sSup>
                  </m:oMath>
                </a14:m>
                <a:r>
                  <a:rPr lang="en-US" dirty="0"/>
                  <a:t>, may not exist! </a:t>
                </a:r>
              </a:p>
              <a:p>
                <a:r>
                  <a:rPr lang="en-US" dirty="0"/>
                  <a:t>Only one scale from gradient estimation with fixed operator </a:t>
                </a:r>
              </a:p>
              <a:p>
                <a:pPr lvl="1"/>
                <a:r>
                  <a:rPr lang="en-US" dirty="0"/>
                  <a:t>Moving objects can occur at multiple scales </a:t>
                </a:r>
              </a:p>
              <a:p>
                <a:endParaRPr lang="en-US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4DBC6555-A8E7-4F73-8035-156F702D1410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789301" y="1124339"/>
                <a:ext cx="10515600" cy="5593468"/>
              </a:xfrm>
              <a:blipFill>
                <a:blip r:embed="rId2"/>
                <a:stretch>
                  <a:fillRect l="-1159" t="-1743" r="-69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31937007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DFB6AB4-96EB-434D-8BFC-6697DE744D7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89301" y="140193"/>
            <a:ext cx="10515600" cy="872004"/>
          </a:xfrm>
        </p:spPr>
        <p:txBody>
          <a:bodyPr>
            <a:normAutofit/>
          </a:bodyPr>
          <a:lstStyle/>
          <a:p>
            <a:r>
              <a:rPr lang="en-US" sz="4000" dirty="0">
                <a:latin typeface="+mn-lt"/>
              </a:rPr>
              <a:t>Properties of spatial gradients 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4DBC6555-A8E7-4F73-8035-156F702D1410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789301" y="1085850"/>
                <a:ext cx="10828958" cy="5631957"/>
              </a:xfrm>
            </p:spPr>
            <p:txBody>
              <a:bodyPr>
                <a:normAutofit/>
              </a:bodyPr>
              <a:lstStyle/>
              <a:p>
                <a:pPr marL="0" indent="0">
                  <a:buNone/>
                </a:pPr>
                <a:r>
                  <a:rPr lang="en-US" dirty="0"/>
                  <a:t>Recall we can understand the properties of the spatial gradient from decompositions of the </a:t>
                </a:r>
                <a:r>
                  <a:rPr lang="en-US" b="1" dirty="0"/>
                  <a:t>Hessian Matrix  </a:t>
                </a:r>
              </a:p>
              <a:p>
                <a:r>
                  <a:rPr lang="en-US" dirty="0"/>
                  <a:t>Define the weighted Hessian matrix,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𝑀</m:t>
                    </m:r>
                  </m:oMath>
                </a14:m>
                <a:r>
                  <a:rPr lang="en-US" dirty="0"/>
                  <a:t>:</a:t>
                </a:r>
              </a:p>
              <a:p>
                <a:endParaRPr lang="en-US" sz="1200" dirty="0"/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𝑀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</m:t>
                      </m:r>
                      <m:nary>
                        <m:naryPr>
                          <m:chr m:val="∑"/>
                          <m:supHide m:val="on"/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m:rPr>
                              <m:brk m:alnAt="7"/>
                            </m:rPr>
                            <a:rPr lang="en-US" i="1">
                              <a:latin typeface="Cambria Math" panose="02040503050406030204" pitchFamily="18" charset="0"/>
                            </a:rPr>
                            <m:t>𝑥</m:t>
                          </m:r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𝑦</m:t>
                          </m:r>
                        </m:sub>
                        <m:sup/>
                        <m:e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𝑤</m:t>
                          </m:r>
                          <m:d>
                            <m:d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,</m:t>
                              </m:r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𝑦</m:t>
                              </m:r>
                            </m:e>
                          </m:d>
                        </m:e>
                      </m:nary>
                      <m:sSup>
                        <m:sSup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d>
                            <m:dPr>
                              <m:begChr m:val="["/>
                              <m:endChr m:val="]"/>
                              <m:ctrlPr>
                                <a:rPr lang="en-US" i="1" smtClean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m>
                                <m:mPr>
                                  <m:mcs>
                                    <m:mc>
                                      <m:mcPr>
                                        <m:count m:val="2"/>
                                        <m:mcJc m:val="center"/>
                                      </m:mcPr>
                                    </m:mc>
                                  </m:mcs>
                                  <m:ctrlPr>
                                    <a:rPr lang="en-US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mPr>
                                <m:mr>
                                  <m:e>
                                    <m:sSubSup>
                                      <m:sSubSupPr>
                                        <m:ctrlPr>
                                          <a:rPr lang="en-US" i="1" smtClean="0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sSubSupPr>
                                      <m:e>
                                        <m:r>
                                          <a:rPr lang="en-US" b="0" i="1" smtClean="0">
                                            <a:latin typeface="Cambria Math" panose="02040503050406030204" pitchFamily="18" charset="0"/>
                                          </a:rPr>
                                          <m:t>𝐼</m:t>
                                        </m:r>
                                      </m:e>
                                      <m:sub>
                                        <m:r>
                                          <a:rPr lang="en-US" b="0" i="1" smtClean="0">
                                            <a:latin typeface="Cambria Math" panose="02040503050406030204" pitchFamily="18" charset="0"/>
                                          </a:rPr>
                                          <m:t>𝑥</m:t>
                                        </m:r>
                                      </m:sub>
                                      <m:sup>
                                        <m:r>
                                          <a:rPr lang="en-US" b="0" i="1" smtClean="0">
                                            <a:latin typeface="Cambria Math" panose="02040503050406030204" pitchFamily="18" charset="0"/>
                                          </a:rPr>
                                          <m:t>2</m:t>
                                        </m:r>
                                      </m:sup>
                                    </m:sSubSup>
                                  </m:e>
                                  <m:e>
                                    <m:sSubSup>
                                      <m:sSubSupPr>
                                        <m:ctrlPr>
                                          <a:rPr lang="en-US" i="1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sSubSupPr>
                                      <m:e>
                                        <m:r>
                                          <a:rPr lang="en-US" i="1">
                                            <a:latin typeface="Cambria Math" panose="02040503050406030204" pitchFamily="18" charset="0"/>
                                          </a:rPr>
                                          <m:t>𝐼</m:t>
                                        </m:r>
                                      </m:e>
                                      <m:sub>
                                        <m:r>
                                          <a:rPr lang="en-US" i="1">
                                            <a:latin typeface="Cambria Math" panose="02040503050406030204" pitchFamily="18" charset="0"/>
                                          </a:rPr>
                                          <m:t>𝑥</m:t>
                                        </m:r>
                                        <m:r>
                                          <a:rPr lang="en-US" b="0" i="1" smtClean="0">
                                            <a:latin typeface="Cambria Math" panose="02040503050406030204" pitchFamily="18" charset="0"/>
                                          </a:rPr>
                                          <m:t>𝑦</m:t>
                                        </m:r>
                                      </m:sub>
                                      <m:sup>
                                        <m:r>
                                          <a:rPr lang="en-US" b="0" i="1" smtClean="0">
                                            <a:latin typeface="Cambria Math" panose="02040503050406030204" pitchFamily="18" charset="0"/>
                                          </a:rPr>
                                          <m:t> </m:t>
                                        </m:r>
                                      </m:sup>
                                    </m:sSubSup>
                                  </m:e>
                                </m:mr>
                                <m:mr>
                                  <m:e>
                                    <m:sSubSup>
                                      <m:sSubSupPr>
                                        <m:ctrlPr>
                                          <a:rPr lang="en-US" i="1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sSubSupPr>
                                      <m:e>
                                        <m:r>
                                          <a:rPr lang="en-US" i="1">
                                            <a:latin typeface="Cambria Math" panose="02040503050406030204" pitchFamily="18" charset="0"/>
                                          </a:rPr>
                                          <m:t>𝐼</m:t>
                                        </m:r>
                                      </m:e>
                                      <m:sub>
                                        <m:r>
                                          <a:rPr lang="en-US" i="1">
                                            <a:latin typeface="Cambria Math" panose="02040503050406030204" pitchFamily="18" charset="0"/>
                                          </a:rPr>
                                          <m:t>𝑥𝑦</m:t>
                                        </m:r>
                                      </m:sub>
                                      <m:sup>
                                        <m:r>
                                          <a:rPr lang="en-US" i="1">
                                            <a:latin typeface="Cambria Math" panose="02040503050406030204" pitchFamily="18" charset="0"/>
                                          </a:rPr>
                                          <m:t> </m:t>
                                        </m:r>
                                      </m:sup>
                                    </m:sSubSup>
                                  </m:e>
                                  <m:e>
                                    <m:sSubSup>
                                      <m:sSubSupPr>
                                        <m:ctrlPr>
                                          <a:rPr lang="en-US" i="1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sSubSupPr>
                                      <m:e>
                                        <m:r>
                                          <a:rPr lang="en-US" i="1">
                                            <a:latin typeface="Cambria Math" panose="02040503050406030204" pitchFamily="18" charset="0"/>
                                          </a:rPr>
                                          <m:t>𝐼</m:t>
                                        </m:r>
                                      </m:e>
                                      <m:sub>
                                        <m:r>
                                          <a:rPr lang="en-US" b="0" i="1" smtClean="0">
                                            <a:latin typeface="Cambria Math" panose="02040503050406030204" pitchFamily="18" charset="0"/>
                                          </a:rPr>
                                          <m:t>𝑦</m:t>
                                        </m:r>
                                      </m:sub>
                                      <m:sup>
                                        <m:r>
                                          <a:rPr lang="en-US" i="1">
                                            <a:latin typeface="Cambria Math" panose="02040503050406030204" pitchFamily="18" charset="0"/>
                                          </a:rPr>
                                          <m:t>2</m:t>
                                        </m:r>
                                      </m:sup>
                                    </m:sSubSup>
                                  </m:e>
                                </m:mr>
                              </m:m>
                            </m:e>
                          </m:d>
                        </m:e>
                        <m:sup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 </m:t>
                          </m:r>
                        </m:sup>
                      </m:sSup>
                    </m:oMath>
                  </m:oMathPara>
                </a14:m>
                <a:endParaRPr lang="en-US" dirty="0"/>
              </a:p>
              <a:p>
                <a:r>
                  <a:rPr lang="en-US" dirty="0"/>
                  <a:t>By applying a rotation,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𝑅</m:t>
                    </m:r>
                  </m:oMath>
                </a14:m>
                <a:r>
                  <a:rPr lang="en-US" dirty="0"/>
                  <a:t>, we can diagonalize the Hessian 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i="1" smtClean="0">
                          <a:latin typeface="Cambria Math" panose="02040503050406030204" pitchFamily="18" charset="0"/>
                        </a:rPr>
                        <m:t>𝑀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</m:t>
                      </m:r>
                      <m:sSup>
                        <m:sSup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𝑅</m:t>
                          </m:r>
                        </m:e>
                        <m:sup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−1</m:t>
                          </m:r>
                        </m:sup>
                      </m:sSup>
                      <m:d>
                        <m:dPr>
                          <m:begChr m:val="["/>
                          <m:endChr m:val="]"/>
                          <m:ctrlPr>
                            <a:rPr lang="en-US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m>
                            <m:mPr>
                              <m:mcs>
                                <m:mc>
                                  <m:mcPr>
                                    <m:count m:val="2"/>
                                    <m:mcJc m:val="center"/>
                                  </m:mcPr>
                                </m:mc>
                              </m:mcs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mPr>
                            <m:mr>
                              <m:e>
                                <m:sSub>
                                  <m:sSubPr>
                                    <m:ctrlPr>
                                      <a:rPr lang="en-US" i="1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i="1" smtClean="0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𝜆</m:t>
                                    </m:r>
                                  </m:e>
                                  <m:sub>
                                    <m:r>
                                      <a:rPr lang="en-US" b="0" i="1" smtClean="0">
                                        <a:latin typeface="Cambria Math" panose="02040503050406030204" pitchFamily="18" charset="0"/>
                                      </a:rPr>
                                      <m:t>1</m:t>
                                    </m:r>
                                  </m:sub>
                                </m:sSub>
                              </m:e>
                              <m:e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  <m:t>0</m:t>
                                </m:r>
                              </m:e>
                            </m:mr>
                            <m:mr>
                              <m:e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  <m:t>0</m:t>
                                </m:r>
                              </m:e>
                              <m:e>
                                <m:sSub>
                                  <m:sSubPr>
                                    <m:ctrlPr>
                                      <a:rPr lang="en-US" i="1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i="1" smtClean="0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𝜆</m:t>
                                    </m:r>
                                  </m:e>
                                  <m:sub>
                                    <m:r>
                                      <a:rPr lang="en-US" b="0" i="1" smtClean="0">
                                        <a:latin typeface="Cambria Math" panose="02040503050406030204" pitchFamily="18" charset="0"/>
                                      </a:rPr>
                                      <m:t>2</m:t>
                                    </m:r>
                                  </m:sub>
                                </m:sSub>
                              </m:e>
                            </m:mr>
                          </m:m>
                        </m:e>
                      </m:d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𝑅</m:t>
                      </m:r>
                    </m:oMath>
                  </m:oMathPara>
                </a14:m>
                <a:endParaRPr lang="en-US" b="0" dirty="0"/>
              </a:p>
              <a:p>
                <a:pPr marL="457200" lvl="1" indent="0">
                  <a:buNone/>
                </a:pPr>
                <a14:m>
                  <m:oMath xmlns:m="http://schemas.openxmlformats.org/officeDocument/2006/math">
                    <m:d>
                      <m:dPr>
                        <m:begChr m:val="["/>
                        <m:endChr m:val="]"/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𝜆</m:t>
                            </m:r>
                          </m:e>
                          <m:sub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,</m:t>
                        </m:r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𝜆</m:t>
                            </m:r>
                          </m:e>
                          <m:sub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</m:e>
                    </m:d>
                  </m:oMath>
                </a14:m>
                <a:r>
                  <a:rPr lang="en-US" b="0" dirty="0"/>
                  <a:t> are the </a:t>
                </a:r>
                <a:r>
                  <a:rPr lang="en-US" b="1" dirty="0"/>
                  <a:t>eigenvalues</a:t>
                </a:r>
              </a:p>
              <a:p>
                <a:pPr marL="0" indent="0">
                  <a:buNone/>
                </a:pPr>
                <a:endParaRPr lang="en-US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4DBC6555-A8E7-4F73-8035-156F702D1410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789301" y="1085850"/>
                <a:ext cx="10828958" cy="5631957"/>
              </a:xfrm>
              <a:blipFill>
                <a:blip r:embed="rId2"/>
                <a:stretch>
                  <a:fillRect l="-1125" t="-1732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11524132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DFB6AB4-96EB-434D-8BFC-6697DE744D7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89301" y="140193"/>
            <a:ext cx="10515600" cy="872004"/>
          </a:xfrm>
        </p:spPr>
        <p:txBody>
          <a:bodyPr>
            <a:normAutofit/>
          </a:bodyPr>
          <a:lstStyle/>
          <a:p>
            <a:r>
              <a:rPr lang="en-US" sz="4000" dirty="0">
                <a:latin typeface="+mn-lt"/>
              </a:rPr>
              <a:t>Properties of spatial gradients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4DBC6555-A8E7-4F73-8035-156F702D1410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789301" y="855722"/>
                <a:ext cx="10828958" cy="3143033"/>
              </a:xfrm>
            </p:spPr>
            <p:txBody>
              <a:bodyPr>
                <a:normAutofit/>
              </a:bodyPr>
              <a:lstStyle/>
              <a:p>
                <a:pPr marL="0" indent="0">
                  <a:buNone/>
                </a:pPr>
                <a:r>
                  <a:rPr lang="en-US" dirty="0"/>
                  <a:t>Recall we can understand the properties of the spatial gradient from decompositions of the </a:t>
                </a:r>
                <a:r>
                  <a:rPr lang="en-US" b="1" dirty="0"/>
                  <a:t>Hessian Matrix  </a:t>
                </a:r>
              </a:p>
              <a:p>
                <a:r>
                  <a:rPr lang="en-US" dirty="0"/>
                  <a:t>By applying a rotation,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𝑅</m:t>
                    </m:r>
                  </m:oMath>
                </a14:m>
                <a:r>
                  <a:rPr lang="en-US" dirty="0"/>
                  <a:t>, we can diagonalize the Hessian matrix with eigenvalues </a:t>
                </a:r>
                <a14:m>
                  <m:oMath xmlns:m="http://schemas.openxmlformats.org/officeDocument/2006/math">
                    <m:d>
                      <m:dPr>
                        <m:begChr m:val="["/>
                        <m:endChr m:val="]"/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𝜆</m:t>
                            </m:r>
                          </m:e>
                          <m:sub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  <m:r>
                          <a:rPr lang="en-US" i="1">
                            <a:latin typeface="Cambria Math" panose="02040503050406030204" pitchFamily="18" charset="0"/>
                          </a:rPr>
                          <m:t>,</m:t>
                        </m:r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𝜆</m:t>
                            </m:r>
                          </m:e>
                          <m:sub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</m:e>
                    </m:d>
                    <m:r>
                      <a:rPr lang="en-US" i="1"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en-US" dirty="0"/>
                  <a:t>:</a:t>
                </a:r>
              </a:p>
              <a:p>
                <a:endParaRPr lang="en-US" sz="1200" dirty="0"/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𝑀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</m:t>
                      </m:r>
                      <m:nary>
                        <m:naryPr>
                          <m:chr m:val="∑"/>
                          <m:supHide m:val="on"/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m:rPr>
                              <m:brk m:alnAt="7"/>
                            </m:rPr>
                            <a:rPr lang="en-US" i="1">
                              <a:latin typeface="Cambria Math" panose="02040503050406030204" pitchFamily="18" charset="0"/>
                            </a:rPr>
                            <m:t>𝑥</m:t>
                          </m:r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𝑦</m:t>
                          </m:r>
                        </m:sub>
                        <m:sup/>
                        <m:e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𝑤</m:t>
                          </m:r>
                          <m:d>
                            <m:d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,</m:t>
                              </m:r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𝑦</m:t>
                              </m:r>
                            </m:e>
                          </m:d>
                        </m:e>
                      </m:nary>
                      <m:sSup>
                        <m:sSup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d>
                            <m:dPr>
                              <m:begChr m:val="["/>
                              <m:endChr m:val="]"/>
                              <m:ctrlPr>
                                <a:rPr lang="en-US" i="1" smtClean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m>
                                <m:mPr>
                                  <m:mcs>
                                    <m:mc>
                                      <m:mcPr>
                                        <m:count m:val="2"/>
                                        <m:mcJc m:val="center"/>
                                      </m:mcPr>
                                    </m:mc>
                                  </m:mcs>
                                  <m:ctrlPr>
                                    <a:rPr lang="en-US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mPr>
                                <m:mr>
                                  <m:e>
                                    <m:sSubSup>
                                      <m:sSubSupPr>
                                        <m:ctrlPr>
                                          <a:rPr lang="en-US" i="1" smtClean="0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sSubSupPr>
                                      <m:e>
                                        <m:r>
                                          <a:rPr lang="en-US" b="0" i="1" smtClean="0">
                                            <a:latin typeface="Cambria Math" panose="02040503050406030204" pitchFamily="18" charset="0"/>
                                          </a:rPr>
                                          <m:t>𝐼</m:t>
                                        </m:r>
                                      </m:e>
                                      <m:sub>
                                        <m:r>
                                          <a:rPr lang="en-US" b="0" i="1" smtClean="0">
                                            <a:latin typeface="Cambria Math" panose="02040503050406030204" pitchFamily="18" charset="0"/>
                                          </a:rPr>
                                          <m:t>𝑥</m:t>
                                        </m:r>
                                      </m:sub>
                                      <m:sup>
                                        <m:r>
                                          <a:rPr lang="en-US" b="0" i="1" smtClean="0">
                                            <a:latin typeface="Cambria Math" panose="02040503050406030204" pitchFamily="18" charset="0"/>
                                          </a:rPr>
                                          <m:t>2</m:t>
                                        </m:r>
                                      </m:sup>
                                    </m:sSubSup>
                                  </m:e>
                                  <m:e>
                                    <m:sSubSup>
                                      <m:sSubSupPr>
                                        <m:ctrlPr>
                                          <a:rPr lang="en-US" i="1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sSubSupPr>
                                      <m:e>
                                        <m:r>
                                          <a:rPr lang="en-US" i="1">
                                            <a:latin typeface="Cambria Math" panose="02040503050406030204" pitchFamily="18" charset="0"/>
                                          </a:rPr>
                                          <m:t>𝐼</m:t>
                                        </m:r>
                                      </m:e>
                                      <m:sub>
                                        <m:r>
                                          <a:rPr lang="en-US" i="1">
                                            <a:latin typeface="Cambria Math" panose="02040503050406030204" pitchFamily="18" charset="0"/>
                                          </a:rPr>
                                          <m:t>𝑥</m:t>
                                        </m:r>
                                        <m:r>
                                          <a:rPr lang="en-US" b="0" i="1" smtClean="0">
                                            <a:latin typeface="Cambria Math" panose="02040503050406030204" pitchFamily="18" charset="0"/>
                                          </a:rPr>
                                          <m:t>𝑦</m:t>
                                        </m:r>
                                      </m:sub>
                                      <m:sup>
                                        <m:r>
                                          <a:rPr lang="en-US" b="0" i="1" smtClean="0">
                                            <a:latin typeface="Cambria Math" panose="02040503050406030204" pitchFamily="18" charset="0"/>
                                          </a:rPr>
                                          <m:t> </m:t>
                                        </m:r>
                                      </m:sup>
                                    </m:sSubSup>
                                  </m:e>
                                </m:mr>
                                <m:mr>
                                  <m:e>
                                    <m:sSubSup>
                                      <m:sSubSupPr>
                                        <m:ctrlPr>
                                          <a:rPr lang="en-US" i="1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sSubSupPr>
                                      <m:e>
                                        <m:r>
                                          <a:rPr lang="en-US" i="1">
                                            <a:latin typeface="Cambria Math" panose="02040503050406030204" pitchFamily="18" charset="0"/>
                                          </a:rPr>
                                          <m:t>𝐼</m:t>
                                        </m:r>
                                      </m:e>
                                      <m:sub>
                                        <m:r>
                                          <a:rPr lang="en-US" i="1">
                                            <a:latin typeface="Cambria Math" panose="02040503050406030204" pitchFamily="18" charset="0"/>
                                          </a:rPr>
                                          <m:t>𝑥𝑦</m:t>
                                        </m:r>
                                      </m:sub>
                                      <m:sup>
                                        <m:r>
                                          <a:rPr lang="en-US" i="1">
                                            <a:latin typeface="Cambria Math" panose="02040503050406030204" pitchFamily="18" charset="0"/>
                                          </a:rPr>
                                          <m:t> </m:t>
                                        </m:r>
                                      </m:sup>
                                    </m:sSubSup>
                                  </m:e>
                                  <m:e>
                                    <m:sSubSup>
                                      <m:sSubSupPr>
                                        <m:ctrlPr>
                                          <a:rPr lang="en-US" i="1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sSubSupPr>
                                      <m:e>
                                        <m:r>
                                          <a:rPr lang="en-US" i="1">
                                            <a:latin typeface="Cambria Math" panose="02040503050406030204" pitchFamily="18" charset="0"/>
                                          </a:rPr>
                                          <m:t>𝐼</m:t>
                                        </m:r>
                                      </m:e>
                                      <m:sub>
                                        <m:r>
                                          <a:rPr lang="en-US" b="0" i="1" smtClean="0">
                                            <a:latin typeface="Cambria Math" panose="02040503050406030204" pitchFamily="18" charset="0"/>
                                          </a:rPr>
                                          <m:t>𝑦</m:t>
                                        </m:r>
                                      </m:sub>
                                      <m:sup>
                                        <m:r>
                                          <a:rPr lang="en-US" i="1">
                                            <a:latin typeface="Cambria Math" panose="02040503050406030204" pitchFamily="18" charset="0"/>
                                          </a:rPr>
                                          <m:t>2</m:t>
                                        </m:r>
                                      </m:sup>
                                    </m:sSubSup>
                                  </m:e>
                                </m:mr>
                              </m:m>
                            </m:e>
                          </m:d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=</m:t>
                          </m:r>
                          <m:sSup>
                            <m:sSup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𝑅</m:t>
                              </m:r>
                            </m:e>
                            <m:sup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−1</m:t>
                              </m:r>
                            </m:sup>
                          </m:sSup>
                          <m:d>
                            <m:dPr>
                              <m:begChr m:val="["/>
                              <m:endChr m:val="]"/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m>
                                <m:mPr>
                                  <m:mcs>
                                    <m:mc>
                                      <m:mcPr>
                                        <m:count m:val="2"/>
                                        <m:mcJc m:val="center"/>
                                      </m:mcPr>
                                    </m:mc>
                                  </m:mcs>
                                  <m:ctrlPr>
                                    <a:rPr lang="en-US" i="1">
                                      <a:latin typeface="Cambria Math" panose="02040503050406030204" pitchFamily="18" charset="0"/>
                                    </a:rPr>
                                  </m:ctrlPr>
                                </m:mPr>
                                <m:mr>
                                  <m:e>
                                    <m:sSub>
                                      <m:sSubPr>
                                        <m:ctrlPr>
                                          <a:rPr lang="en-US" i="1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a:rPr lang="en-US" i="1"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  <m:t>𝜆</m:t>
                                        </m:r>
                                      </m:e>
                                      <m:sub>
                                        <m:r>
                                          <a:rPr lang="en-US" i="1">
                                            <a:latin typeface="Cambria Math" panose="02040503050406030204" pitchFamily="18" charset="0"/>
                                          </a:rPr>
                                          <m:t>1</m:t>
                                        </m:r>
                                      </m:sub>
                                    </m:sSub>
                                  </m:e>
                                  <m:e>
                                    <m:r>
                                      <a:rPr lang="en-US" i="1">
                                        <a:latin typeface="Cambria Math" panose="02040503050406030204" pitchFamily="18" charset="0"/>
                                      </a:rPr>
                                      <m:t>0</m:t>
                                    </m:r>
                                  </m:e>
                                </m:mr>
                                <m:mr>
                                  <m:e>
                                    <m:r>
                                      <a:rPr lang="en-US" i="1">
                                        <a:latin typeface="Cambria Math" panose="02040503050406030204" pitchFamily="18" charset="0"/>
                                      </a:rPr>
                                      <m:t>0</m:t>
                                    </m:r>
                                  </m:e>
                                  <m:e>
                                    <m:sSub>
                                      <m:sSubPr>
                                        <m:ctrlPr>
                                          <a:rPr lang="en-US" i="1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a:rPr lang="en-US" i="1"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  <m:t>𝜆</m:t>
                                        </m:r>
                                      </m:e>
                                      <m:sub>
                                        <m:r>
                                          <a:rPr lang="en-US" i="1">
                                            <a:latin typeface="Cambria Math" panose="02040503050406030204" pitchFamily="18" charset="0"/>
                                          </a:rPr>
                                          <m:t>2</m:t>
                                        </m:r>
                                      </m:sub>
                                    </m:sSub>
                                  </m:e>
                                </m:mr>
                              </m:m>
                            </m:e>
                          </m:d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𝑅</m:t>
                          </m:r>
                          <m:r>
                            <m:rPr>
                              <m:nor/>
                            </m:rPr>
                            <a:rPr lang="en-US" dirty="0"/>
                            <m:t> </m:t>
                          </m:r>
                        </m:e>
                        <m:sup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 </m:t>
                          </m:r>
                        </m:sup>
                      </m:sSup>
                    </m:oMath>
                  </m:oMathPara>
                </a14:m>
                <a:endParaRPr lang="en-US" dirty="0"/>
              </a:p>
              <a:p>
                <a:pPr marL="0" indent="0">
                  <a:buNone/>
                </a:pPr>
                <a:endParaRPr lang="en-US" dirty="0"/>
              </a:p>
              <a:p>
                <a:pPr marL="0" indent="0">
                  <a:buNone/>
                </a:pPr>
                <a:endParaRPr lang="en-US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4DBC6555-A8E7-4F73-8035-156F702D1410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789301" y="855722"/>
                <a:ext cx="10828958" cy="3143033"/>
              </a:xfrm>
              <a:blipFill>
                <a:blip r:embed="rId2"/>
                <a:stretch>
                  <a:fillRect l="-1125" t="-310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4" name="Group 21">
            <a:extLst>
              <a:ext uri="{FF2B5EF4-FFF2-40B4-BE49-F238E27FC236}">
                <a16:creationId xmlns:a16="http://schemas.microsoft.com/office/drawing/2014/main" id="{1AC8A553-E16B-4063-ADED-720788A38393}"/>
              </a:ext>
            </a:extLst>
          </p:cNvPr>
          <p:cNvGrpSpPr>
            <a:grpSpLocks/>
          </p:cNvGrpSpPr>
          <p:nvPr/>
        </p:nvGrpSpPr>
        <p:grpSpPr bwMode="auto">
          <a:xfrm>
            <a:off x="6510362" y="3839670"/>
            <a:ext cx="5413375" cy="2878137"/>
            <a:chOff x="2254" y="2352"/>
            <a:chExt cx="3410" cy="1813"/>
          </a:xfrm>
        </p:grpSpPr>
        <p:sp>
          <p:nvSpPr>
            <p:cNvPr id="5" name="Text Box 8">
              <a:extLst>
                <a:ext uri="{FF2B5EF4-FFF2-40B4-BE49-F238E27FC236}">
                  <a16:creationId xmlns:a16="http://schemas.microsoft.com/office/drawing/2014/main" id="{3AED73B4-A376-4D20-9D91-898A095B5C38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4656" y="2736"/>
              <a:ext cx="1008" cy="366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>
              <a:spAutoFit/>
            </a:bodyPr>
            <a:lstStyle>
              <a:lvl1pPr>
                <a:spcBef>
                  <a:spcPct val="20000"/>
                </a:spcBef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har char="–"/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har char="»"/>
                <a:defRPr sz="16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14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14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14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14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14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algn="ctr">
                <a:spcBef>
                  <a:spcPct val="0"/>
                </a:spcBef>
              </a:pPr>
              <a:r>
                <a:rPr lang="en-US" altLang="en-US" sz="1600">
                  <a:solidFill>
                    <a:srgbClr val="FF3300"/>
                  </a:solidFill>
                  <a:cs typeface="Times New Roman" panose="02020603050405020304" pitchFamily="18" charset="0"/>
                </a:rPr>
                <a:t>direction of the slowest change</a:t>
              </a:r>
              <a:endParaRPr lang="ru-RU" altLang="en-US" sz="1600">
                <a:solidFill>
                  <a:srgbClr val="FF3300"/>
                </a:solidFill>
                <a:cs typeface="Times New Roman" panose="02020603050405020304" pitchFamily="18" charset="0"/>
              </a:endParaRPr>
            </a:p>
          </p:txBody>
        </p:sp>
        <p:sp>
          <p:nvSpPr>
            <p:cNvPr id="6" name="Text Box 9">
              <a:extLst>
                <a:ext uri="{FF2B5EF4-FFF2-40B4-BE49-F238E27FC236}">
                  <a16:creationId xmlns:a16="http://schemas.microsoft.com/office/drawing/2014/main" id="{D3673538-644D-40B4-948A-A383120B5462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2640" y="2352"/>
              <a:ext cx="1056" cy="366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>
              <a:spAutoFit/>
            </a:bodyPr>
            <a:lstStyle>
              <a:lvl1pPr>
                <a:spcBef>
                  <a:spcPct val="20000"/>
                </a:spcBef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har char="–"/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har char="»"/>
                <a:defRPr sz="16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14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14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14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14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14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algn="ctr">
                <a:spcBef>
                  <a:spcPct val="0"/>
                </a:spcBef>
              </a:pPr>
              <a:r>
                <a:rPr lang="en-US" altLang="en-US" sz="1600" dirty="0">
                  <a:solidFill>
                    <a:srgbClr val="0033CC"/>
                  </a:solidFill>
                  <a:cs typeface="Times New Roman" panose="02020603050405020304" pitchFamily="18" charset="0"/>
                </a:rPr>
                <a:t>direction of the fastest change</a:t>
              </a:r>
              <a:endParaRPr lang="ru-RU" altLang="en-US" sz="1600" dirty="0">
                <a:solidFill>
                  <a:srgbClr val="0033CC"/>
                </a:solidFill>
                <a:cs typeface="Times New Roman" panose="02020603050405020304" pitchFamily="18" charset="0"/>
              </a:endParaRPr>
            </a:p>
          </p:txBody>
        </p:sp>
        <p:sp>
          <p:nvSpPr>
            <p:cNvPr id="7" name="Oval 11">
              <a:extLst>
                <a:ext uri="{FF2B5EF4-FFF2-40B4-BE49-F238E27FC236}">
                  <a16:creationId xmlns:a16="http://schemas.microsoft.com/office/drawing/2014/main" id="{CACE6821-1ABD-4252-8076-40C75207F56C}"/>
                </a:ext>
              </a:extLst>
            </p:cNvPr>
            <p:cNvSpPr>
              <a:spLocks noChangeArrowheads="1"/>
            </p:cNvSpPr>
            <p:nvPr/>
          </p:nvSpPr>
          <p:spPr bwMode="auto">
            <a:xfrm rot="-1106879">
              <a:off x="2254" y="2771"/>
              <a:ext cx="2448" cy="1217"/>
            </a:xfrm>
            <a:prstGeom prst="ellipse">
              <a:avLst/>
            </a:prstGeom>
            <a:solidFill>
              <a:srgbClr val="7CF6D3"/>
            </a:solidFill>
            <a:ln w="19050">
              <a:solidFill>
                <a:schemeClr val="tx1"/>
              </a:solidFill>
              <a:round/>
              <a:headEnd/>
              <a:tailEnd/>
            </a:ln>
          </p:spPr>
          <p:txBody>
            <a:bodyPr wrap="none" anchor="ctr"/>
            <a:lstStyle>
              <a:lvl1pPr>
                <a:spcBef>
                  <a:spcPct val="20000"/>
                </a:spcBef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har char="–"/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har char="»"/>
                <a:defRPr sz="16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14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14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14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14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14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0" hangingPunct="0">
                <a:spcBef>
                  <a:spcPct val="0"/>
                </a:spcBef>
              </a:pPr>
              <a:endParaRPr lang="en-US" altLang="en-US">
                <a:solidFill>
                  <a:srgbClr val="000000"/>
                </a:solidFill>
                <a:cs typeface="Arial" panose="020B0604020202020204" pitchFamily="34" charset="0"/>
              </a:endParaRPr>
            </a:p>
          </p:txBody>
        </p:sp>
        <p:sp>
          <p:nvSpPr>
            <p:cNvPr id="8" name="Line 12">
              <a:extLst>
                <a:ext uri="{FF2B5EF4-FFF2-40B4-BE49-F238E27FC236}">
                  <a16:creationId xmlns:a16="http://schemas.microsoft.com/office/drawing/2014/main" id="{C53A2EEB-E05D-4F8D-AE2C-151E4A182B4F}"/>
                </a:ext>
              </a:extLst>
            </p:cNvPr>
            <p:cNvSpPr>
              <a:spLocks noChangeShapeType="1"/>
            </p:cNvSpPr>
            <p:nvPr/>
          </p:nvSpPr>
          <p:spPr bwMode="auto">
            <a:xfrm rot="1280297" flipV="1">
              <a:off x="2555" y="2597"/>
              <a:ext cx="1875" cy="1568"/>
            </a:xfrm>
            <a:prstGeom prst="line">
              <a:avLst/>
            </a:prstGeom>
            <a:noFill/>
            <a:ln w="19050">
              <a:solidFill>
                <a:srgbClr val="FF3300"/>
              </a:solidFill>
              <a:round/>
              <a:headEnd/>
              <a:tailEnd type="stealth" w="med" len="lg"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pPr eaLnBrk="0" hangingPunct="0"/>
              <a:endParaRPr lang="en-US" sz="280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9" name="Line 13">
              <a:extLst>
                <a:ext uri="{FF2B5EF4-FFF2-40B4-BE49-F238E27FC236}">
                  <a16:creationId xmlns:a16="http://schemas.microsoft.com/office/drawing/2014/main" id="{3ADADAA6-1F98-4194-98EF-2B0A7D20FA39}"/>
                </a:ext>
              </a:extLst>
            </p:cNvPr>
            <p:cNvSpPr>
              <a:spLocks noChangeShapeType="1"/>
            </p:cNvSpPr>
            <p:nvPr/>
          </p:nvSpPr>
          <p:spPr bwMode="auto">
            <a:xfrm rot="1280297" flipH="1" flipV="1">
              <a:off x="3094" y="2904"/>
              <a:ext cx="798" cy="940"/>
            </a:xfrm>
            <a:prstGeom prst="line">
              <a:avLst/>
            </a:prstGeom>
            <a:noFill/>
            <a:ln w="19050">
              <a:solidFill>
                <a:schemeClr val="accent2"/>
              </a:solidFill>
              <a:round/>
              <a:headEnd/>
              <a:tailEnd type="stealth" w="med" len="lg"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pPr eaLnBrk="0" hangingPunct="0"/>
              <a:endParaRPr lang="en-US" sz="280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10" name="AutoShape 14">
              <a:extLst>
                <a:ext uri="{FF2B5EF4-FFF2-40B4-BE49-F238E27FC236}">
                  <a16:creationId xmlns:a16="http://schemas.microsoft.com/office/drawing/2014/main" id="{66F5677B-AC4C-439C-998F-4354319A2A8F}"/>
                </a:ext>
              </a:extLst>
            </p:cNvPr>
            <p:cNvSpPr>
              <a:spLocks/>
            </p:cNvSpPr>
            <p:nvPr/>
          </p:nvSpPr>
          <p:spPr bwMode="auto">
            <a:xfrm rot="-6496486">
              <a:off x="4037" y="2756"/>
              <a:ext cx="116" cy="1095"/>
            </a:xfrm>
            <a:prstGeom prst="leftBrace">
              <a:avLst>
                <a:gd name="adj1" fmla="val 78664"/>
                <a:gd name="adj2" fmla="val 49065"/>
              </a:avLst>
            </a:prstGeom>
            <a:noFill/>
            <a:ln w="9525">
              <a:solidFill>
                <a:srgbClr val="FF33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wrap="none" anchor="ctr"/>
            <a:lstStyle>
              <a:lvl1pPr>
                <a:spcBef>
                  <a:spcPct val="20000"/>
                </a:spcBef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har char="–"/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har char="»"/>
                <a:defRPr sz="16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14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14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14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14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14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0" hangingPunct="0">
                <a:spcBef>
                  <a:spcPct val="0"/>
                </a:spcBef>
              </a:pPr>
              <a:endParaRPr lang="en-US" altLang="en-US">
                <a:solidFill>
                  <a:srgbClr val="000000"/>
                </a:solidFill>
                <a:cs typeface="Arial" panose="020B0604020202020204" pitchFamily="34" charset="0"/>
              </a:endParaRPr>
            </a:p>
          </p:txBody>
        </p:sp>
        <p:sp>
          <p:nvSpPr>
            <p:cNvPr id="11" name="AutoShape 15">
              <a:extLst>
                <a:ext uri="{FF2B5EF4-FFF2-40B4-BE49-F238E27FC236}">
                  <a16:creationId xmlns:a16="http://schemas.microsoft.com/office/drawing/2014/main" id="{A9525F09-B752-4043-802D-13F788A05CAF}"/>
                </a:ext>
              </a:extLst>
            </p:cNvPr>
            <p:cNvSpPr>
              <a:spLocks/>
            </p:cNvSpPr>
            <p:nvPr/>
          </p:nvSpPr>
          <p:spPr bwMode="auto">
            <a:xfrm rot="-1178674">
              <a:off x="3212" y="2864"/>
              <a:ext cx="140" cy="513"/>
            </a:xfrm>
            <a:prstGeom prst="leftBrace">
              <a:avLst>
                <a:gd name="adj1" fmla="val 30536"/>
                <a:gd name="adj2" fmla="val 49065"/>
              </a:avLst>
            </a:prstGeom>
            <a:noFill/>
            <a:ln w="9525">
              <a:solidFill>
                <a:schemeClr val="accent2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wrap="none" anchor="ctr"/>
            <a:lstStyle>
              <a:lvl1pPr>
                <a:spcBef>
                  <a:spcPct val="20000"/>
                </a:spcBef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har char="–"/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har char="»"/>
                <a:defRPr sz="16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14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14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14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14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14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0" hangingPunct="0">
                <a:spcBef>
                  <a:spcPct val="0"/>
                </a:spcBef>
              </a:pPr>
              <a:endParaRPr lang="en-US" altLang="en-US">
                <a:solidFill>
                  <a:srgbClr val="000000"/>
                </a:solidFill>
                <a:cs typeface="Arial" panose="020B0604020202020204" pitchFamily="34" charset="0"/>
              </a:endParaRPr>
            </a:p>
          </p:txBody>
        </p:sp>
        <p:sp>
          <p:nvSpPr>
            <p:cNvPr id="12" name="Rectangle 16">
              <a:extLst>
                <a:ext uri="{FF2B5EF4-FFF2-40B4-BE49-F238E27FC236}">
                  <a16:creationId xmlns:a16="http://schemas.microsoft.com/office/drawing/2014/main" id="{D6D2D228-1860-47D6-89F2-8A3EB6CC8042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2400" y="3168"/>
              <a:ext cx="1104" cy="288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>
              <a:spAutoFit/>
            </a:bodyPr>
            <a:lstStyle>
              <a:lvl1pPr>
                <a:spcBef>
                  <a:spcPct val="20000"/>
                </a:spcBef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har char="–"/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har char="»"/>
                <a:defRPr sz="16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14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14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14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14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14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algn="ctr">
                <a:spcBef>
                  <a:spcPct val="0"/>
                </a:spcBef>
              </a:pPr>
              <a:r>
                <a:rPr lang="en-US" altLang="en-US" sz="2400">
                  <a:solidFill>
                    <a:srgbClr val="0033CC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  <a:sym typeface="Symbol" panose="05050102010706020507" pitchFamily="18" charset="2"/>
                </a:rPr>
                <a:t>(</a:t>
              </a:r>
              <a:r>
                <a:rPr lang="ru-RU" altLang="en-US" sz="2400">
                  <a:solidFill>
                    <a:srgbClr val="0033CC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  <a:sym typeface="Symbol" panose="05050102010706020507" pitchFamily="18" charset="2"/>
                </a:rPr>
                <a:t></a:t>
              </a:r>
              <a:r>
                <a:rPr lang="en-US" altLang="en-US" sz="2400" baseline="-25000">
                  <a:solidFill>
                    <a:srgbClr val="0033CC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  <a:sym typeface="Symbol" panose="05050102010706020507" pitchFamily="18" charset="2"/>
                </a:rPr>
                <a:t>max</a:t>
              </a:r>
              <a:r>
                <a:rPr lang="en-US" altLang="en-US" sz="2400">
                  <a:solidFill>
                    <a:srgbClr val="0033CC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  <a:sym typeface="Symbol" panose="05050102010706020507" pitchFamily="18" charset="2"/>
                </a:rPr>
                <a:t>)</a:t>
              </a:r>
              <a:r>
                <a:rPr lang="en-US" altLang="en-US" sz="2400" baseline="30000">
                  <a:solidFill>
                    <a:srgbClr val="0033CC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  <a:sym typeface="Symbol" panose="05050102010706020507" pitchFamily="18" charset="2"/>
                </a:rPr>
                <a:t>-1/2</a:t>
              </a:r>
              <a:endParaRPr lang="ru-RU" altLang="en-US" sz="2400" baseline="30000">
                <a:solidFill>
                  <a:srgbClr val="0033CC"/>
                </a:solidFill>
                <a:latin typeface="Times New Roman" panose="02020603050405020304" pitchFamily="18" charset="0"/>
                <a:cs typeface="Times New Roman" panose="02020603050405020304" pitchFamily="18" charset="0"/>
                <a:sym typeface="Symbol" panose="05050102010706020507" pitchFamily="18" charset="2"/>
              </a:endParaRPr>
            </a:p>
          </p:txBody>
        </p:sp>
        <p:sp>
          <p:nvSpPr>
            <p:cNvPr id="13" name="Rectangle 17">
              <a:extLst>
                <a:ext uri="{FF2B5EF4-FFF2-40B4-BE49-F238E27FC236}">
                  <a16:creationId xmlns:a16="http://schemas.microsoft.com/office/drawing/2014/main" id="{CEF17053-BC6B-4A5F-BF12-EDCEF3DC6483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3552" y="3360"/>
              <a:ext cx="1104" cy="288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>
              <a:spAutoFit/>
            </a:bodyPr>
            <a:lstStyle>
              <a:lvl1pPr>
                <a:spcBef>
                  <a:spcPct val="20000"/>
                </a:spcBef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har char="–"/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har char="»"/>
                <a:defRPr sz="16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14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14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14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14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14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algn="ctr">
                <a:spcBef>
                  <a:spcPct val="0"/>
                </a:spcBef>
              </a:pPr>
              <a:r>
                <a:rPr lang="en-US" altLang="en-US" sz="2400" dirty="0">
                  <a:solidFill>
                    <a:srgbClr val="FF3300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  <a:sym typeface="Symbol" panose="05050102010706020507" pitchFamily="18" charset="2"/>
                </a:rPr>
                <a:t>(</a:t>
              </a:r>
              <a:r>
                <a:rPr lang="ru-RU" altLang="en-US" sz="2400" dirty="0">
                  <a:solidFill>
                    <a:srgbClr val="FF3300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  <a:sym typeface="Symbol" panose="05050102010706020507" pitchFamily="18" charset="2"/>
                </a:rPr>
                <a:t></a:t>
              </a:r>
              <a:r>
                <a:rPr lang="en-US" altLang="en-US" sz="2400" baseline="-25000" dirty="0">
                  <a:solidFill>
                    <a:srgbClr val="FF3300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  <a:sym typeface="Symbol" panose="05050102010706020507" pitchFamily="18" charset="2"/>
                </a:rPr>
                <a:t>min</a:t>
              </a:r>
              <a:r>
                <a:rPr lang="en-US" altLang="en-US" sz="2400" dirty="0">
                  <a:solidFill>
                    <a:srgbClr val="FF3300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  <a:sym typeface="Symbol" panose="05050102010706020507" pitchFamily="18" charset="2"/>
                </a:rPr>
                <a:t>)</a:t>
              </a:r>
              <a:r>
                <a:rPr lang="en-US" altLang="en-US" sz="2400" baseline="30000" dirty="0">
                  <a:solidFill>
                    <a:srgbClr val="FF3300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  <a:sym typeface="Symbol" panose="05050102010706020507" pitchFamily="18" charset="2"/>
                </a:rPr>
                <a:t>-1/2</a:t>
              </a:r>
              <a:endParaRPr lang="ru-RU" altLang="en-US" sz="2400" baseline="30000" dirty="0">
                <a:solidFill>
                  <a:srgbClr val="FF3300"/>
                </a:solidFill>
                <a:latin typeface="Times New Roman" panose="02020603050405020304" pitchFamily="18" charset="0"/>
                <a:cs typeface="Times New Roman" panose="02020603050405020304" pitchFamily="18" charset="0"/>
                <a:sym typeface="Symbol" panose="05050102010706020507" pitchFamily="18" charset="2"/>
              </a:endParaRPr>
            </a:p>
          </p:txBody>
        </p:sp>
      </p:grpSp>
      <p:sp>
        <p:nvSpPr>
          <p:cNvPr id="14" name="TextBox 13">
            <a:extLst>
              <a:ext uri="{FF2B5EF4-FFF2-40B4-BE49-F238E27FC236}">
                <a16:creationId xmlns:a16="http://schemas.microsoft.com/office/drawing/2014/main" id="{8D48939E-EA7F-4C37-B58A-20C1F00EB03D}"/>
              </a:ext>
            </a:extLst>
          </p:cNvPr>
          <p:cNvSpPr txBox="1"/>
          <p:nvPr/>
        </p:nvSpPr>
        <p:spPr>
          <a:xfrm>
            <a:off x="879221" y="3943440"/>
            <a:ext cx="5418708" cy="224676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800" dirty="0"/>
              <a:t>Eigenvalues characterize the curvature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800" dirty="0"/>
              <a:t>Eigenvalues parameterize curvature in the maximum and minimum directions</a:t>
            </a:r>
          </a:p>
        </p:txBody>
      </p:sp>
      <p:sp>
        <p:nvSpPr>
          <p:cNvPr id="15" name="Footer Placeholder 4">
            <a:extLst>
              <a:ext uri="{FF2B5EF4-FFF2-40B4-BE49-F238E27FC236}">
                <a16:creationId xmlns:a16="http://schemas.microsoft.com/office/drawing/2014/main" id="{DFFCC727-1E56-4B97-8594-313DCDB50AF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8007492" y="6481343"/>
            <a:ext cx="3860800" cy="365125"/>
          </a:xfrm>
        </p:spPr>
        <p:txBody>
          <a:bodyPr/>
          <a:lstStyle/>
          <a:p>
            <a:pPr>
              <a:defRPr/>
            </a:pPr>
            <a:r>
              <a:rPr lang="de-DE" dirty="0"/>
              <a:t>Credit, K. Grauman, B. Leibe</a:t>
            </a:r>
          </a:p>
        </p:txBody>
      </p:sp>
    </p:spTree>
    <p:extLst>
      <p:ext uri="{BB962C8B-B14F-4D97-AF65-F5344CB8AC3E}">
        <p14:creationId xmlns:p14="http://schemas.microsoft.com/office/powerpoint/2010/main" val="412162894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</p:bldLst>
  </p:timing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DFB6AB4-96EB-434D-8BFC-6697DE744D7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89301" y="140193"/>
            <a:ext cx="5494143" cy="872004"/>
          </a:xfrm>
        </p:spPr>
        <p:txBody>
          <a:bodyPr>
            <a:normAutofit fontScale="90000"/>
          </a:bodyPr>
          <a:lstStyle/>
          <a:p>
            <a:r>
              <a:rPr lang="en-US" sz="4000" dirty="0">
                <a:latin typeface="+mn-lt"/>
              </a:rPr>
              <a:t>Properties of spatial gradients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DBC6555-A8E7-4F73-8035-156F702D141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68101" y="1447799"/>
            <a:ext cx="5945337" cy="5284281"/>
          </a:xfrm>
        </p:spPr>
        <p:txBody>
          <a:bodyPr/>
          <a:lstStyle/>
          <a:p>
            <a:pPr marL="0" indent="0">
              <a:buNone/>
            </a:pPr>
            <a:r>
              <a:rPr lang="en-US" dirty="0"/>
              <a:t>Gradients are better determined at interest points like corners    </a:t>
            </a:r>
          </a:p>
          <a:p>
            <a:r>
              <a:rPr lang="en-US" dirty="0"/>
              <a:t>Areas of similar intensity have small eigenvalues, poorly determined optical flow  </a:t>
            </a:r>
          </a:p>
          <a:p>
            <a:r>
              <a:rPr lang="en-US" dirty="0"/>
              <a:t>Edges have simple gradients perpendicular to the edges, ambiguous optical flow estimation</a:t>
            </a:r>
          </a:p>
          <a:p>
            <a:r>
              <a:rPr lang="en-US" dirty="0"/>
              <a:t>Other interest points have rapidly changing gradients in several directions, well-defined optical flow 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8207CB2E-A816-4429-AB83-D5595540019A}"/>
              </a:ext>
            </a:extLst>
          </p:cNvPr>
          <p:cNvSpPr/>
          <p:nvPr/>
        </p:nvSpPr>
        <p:spPr>
          <a:xfrm>
            <a:off x="7068943" y="485675"/>
            <a:ext cx="2177742" cy="1849222"/>
          </a:xfrm>
          <a:prstGeom prst="rect">
            <a:avLst/>
          </a:prstGeom>
          <a:noFill/>
          <a:ln w="254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327637C6-2DEC-4123-9E69-575D4B8924C4}"/>
              </a:ext>
            </a:extLst>
          </p:cNvPr>
          <p:cNvSpPr/>
          <p:nvPr/>
        </p:nvSpPr>
        <p:spPr>
          <a:xfrm>
            <a:off x="7068944" y="2600068"/>
            <a:ext cx="2177742" cy="1908364"/>
          </a:xfrm>
          <a:prstGeom prst="rect">
            <a:avLst/>
          </a:prstGeom>
          <a:noFill/>
          <a:ln w="254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ACB8A8A6-23F1-4031-9480-CBD25F6DC13D}"/>
              </a:ext>
            </a:extLst>
          </p:cNvPr>
          <p:cNvSpPr/>
          <p:nvPr/>
        </p:nvSpPr>
        <p:spPr>
          <a:xfrm>
            <a:off x="7068943" y="4752924"/>
            <a:ext cx="2177743" cy="1849223"/>
          </a:xfrm>
          <a:prstGeom prst="rect">
            <a:avLst/>
          </a:prstGeom>
          <a:noFill/>
          <a:ln w="254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Arc 6">
            <a:extLst>
              <a:ext uri="{FF2B5EF4-FFF2-40B4-BE49-F238E27FC236}">
                <a16:creationId xmlns:a16="http://schemas.microsoft.com/office/drawing/2014/main" id="{10E81B95-9FCF-4294-A6BB-F4A16E4D961B}"/>
              </a:ext>
            </a:extLst>
          </p:cNvPr>
          <p:cNvSpPr/>
          <p:nvPr/>
        </p:nvSpPr>
        <p:spPr>
          <a:xfrm rot="18263155" flipH="1">
            <a:off x="7809469" y="5456757"/>
            <a:ext cx="288943" cy="310432"/>
          </a:xfrm>
          <a:prstGeom prst="arc">
            <a:avLst/>
          </a:prstGeom>
          <a:solidFill>
            <a:schemeClr val="bg1"/>
          </a:solidFill>
          <a:ln w="508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5587A745-0E5C-4ECE-9067-F8DB44B07458}"/>
              </a:ext>
            </a:extLst>
          </p:cNvPr>
          <p:cNvCxnSpPr>
            <a:cxnSpLocks/>
            <a:stCxn id="7" idx="2"/>
          </p:cNvCxnSpPr>
          <p:nvPr/>
        </p:nvCxnSpPr>
        <p:spPr>
          <a:xfrm>
            <a:off x="7872348" y="5731198"/>
            <a:ext cx="960780" cy="864862"/>
          </a:xfrm>
          <a:prstGeom prst="line">
            <a:avLst/>
          </a:prstGeom>
          <a:solidFill>
            <a:schemeClr val="bg1"/>
          </a:solidFill>
          <a:ln w="508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" name="Straight Connector 11">
            <a:extLst>
              <a:ext uri="{FF2B5EF4-FFF2-40B4-BE49-F238E27FC236}">
                <a16:creationId xmlns:a16="http://schemas.microsoft.com/office/drawing/2014/main" id="{0A907952-9B80-435D-8DA7-5034F2B80281}"/>
              </a:ext>
            </a:extLst>
          </p:cNvPr>
          <p:cNvCxnSpPr>
            <a:cxnSpLocks/>
            <a:stCxn id="7" idx="0"/>
          </p:cNvCxnSpPr>
          <p:nvPr/>
        </p:nvCxnSpPr>
        <p:spPr>
          <a:xfrm flipV="1">
            <a:off x="7825848" y="4752924"/>
            <a:ext cx="766521" cy="771388"/>
          </a:xfrm>
          <a:prstGeom prst="line">
            <a:avLst/>
          </a:prstGeom>
          <a:solidFill>
            <a:schemeClr val="bg1"/>
          </a:solidFill>
          <a:ln w="508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" name="Straight Connector 14">
            <a:extLst>
              <a:ext uri="{FF2B5EF4-FFF2-40B4-BE49-F238E27FC236}">
                <a16:creationId xmlns:a16="http://schemas.microsoft.com/office/drawing/2014/main" id="{3EEAD18E-D309-4A2A-B93E-2F7E28F5B957}"/>
              </a:ext>
            </a:extLst>
          </p:cNvPr>
          <p:cNvCxnSpPr>
            <a:cxnSpLocks/>
          </p:cNvCxnSpPr>
          <p:nvPr/>
        </p:nvCxnSpPr>
        <p:spPr>
          <a:xfrm>
            <a:off x="8592369" y="4755576"/>
            <a:ext cx="651410" cy="8248"/>
          </a:xfrm>
          <a:prstGeom prst="line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" name="Straight Connector 19">
            <a:extLst>
              <a:ext uri="{FF2B5EF4-FFF2-40B4-BE49-F238E27FC236}">
                <a16:creationId xmlns:a16="http://schemas.microsoft.com/office/drawing/2014/main" id="{CD1D9D22-48DD-4D3F-995E-EB20A5D288D8}"/>
              </a:ext>
            </a:extLst>
          </p:cNvPr>
          <p:cNvCxnSpPr>
            <a:cxnSpLocks/>
          </p:cNvCxnSpPr>
          <p:nvPr/>
        </p:nvCxnSpPr>
        <p:spPr>
          <a:xfrm>
            <a:off x="9243779" y="4763824"/>
            <a:ext cx="2906" cy="1836488"/>
          </a:xfrm>
          <a:prstGeom prst="line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3" name="Straight Connector 22">
            <a:extLst>
              <a:ext uri="{FF2B5EF4-FFF2-40B4-BE49-F238E27FC236}">
                <a16:creationId xmlns:a16="http://schemas.microsoft.com/office/drawing/2014/main" id="{7B2B4316-4E30-4C4E-A4D0-E479F3F3B453}"/>
              </a:ext>
            </a:extLst>
          </p:cNvPr>
          <p:cNvCxnSpPr>
            <a:cxnSpLocks/>
          </p:cNvCxnSpPr>
          <p:nvPr/>
        </p:nvCxnSpPr>
        <p:spPr>
          <a:xfrm>
            <a:off x="8833128" y="6596060"/>
            <a:ext cx="410651" cy="0"/>
          </a:xfrm>
          <a:prstGeom prst="line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5" name="Straight Connector 54">
            <a:extLst>
              <a:ext uri="{FF2B5EF4-FFF2-40B4-BE49-F238E27FC236}">
                <a16:creationId xmlns:a16="http://schemas.microsoft.com/office/drawing/2014/main" id="{39AB0E25-DEAC-48E5-8ADE-50399ABED899}"/>
              </a:ext>
            </a:extLst>
          </p:cNvPr>
          <p:cNvCxnSpPr>
            <a:stCxn id="5" idx="0"/>
            <a:endCxn id="5" idx="2"/>
          </p:cNvCxnSpPr>
          <p:nvPr/>
        </p:nvCxnSpPr>
        <p:spPr>
          <a:xfrm>
            <a:off x="8157815" y="2600068"/>
            <a:ext cx="0" cy="1908364"/>
          </a:xfrm>
          <a:prstGeom prst="line">
            <a:avLst/>
          </a:prstGeom>
          <a:ln w="508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6" name="Rectangle 55">
            <a:extLst>
              <a:ext uri="{FF2B5EF4-FFF2-40B4-BE49-F238E27FC236}">
                <a16:creationId xmlns:a16="http://schemas.microsoft.com/office/drawing/2014/main" id="{935F757A-306E-4712-8482-598A61E15FCA}"/>
              </a:ext>
            </a:extLst>
          </p:cNvPr>
          <p:cNvSpPr/>
          <p:nvPr/>
        </p:nvSpPr>
        <p:spPr>
          <a:xfrm>
            <a:off x="7942661" y="1113645"/>
            <a:ext cx="430306" cy="440086"/>
          </a:xfrm>
          <a:prstGeom prst="rect">
            <a:avLst/>
          </a:prstGeom>
          <a:solidFill>
            <a:schemeClr val="accent1">
              <a:alpha val="4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58" name="Straight Arrow Connector 57">
            <a:extLst>
              <a:ext uri="{FF2B5EF4-FFF2-40B4-BE49-F238E27FC236}">
                <a16:creationId xmlns:a16="http://schemas.microsoft.com/office/drawing/2014/main" id="{997CB0D0-4215-4161-B6C4-0A7550E2814B}"/>
              </a:ext>
            </a:extLst>
          </p:cNvPr>
          <p:cNvCxnSpPr>
            <a:stCxn id="56" idx="3"/>
          </p:cNvCxnSpPr>
          <p:nvPr/>
        </p:nvCxnSpPr>
        <p:spPr>
          <a:xfrm>
            <a:off x="8372967" y="1333688"/>
            <a:ext cx="159803" cy="0"/>
          </a:xfrm>
          <a:prstGeom prst="straightConnector1">
            <a:avLst/>
          </a:prstGeom>
          <a:ln w="381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9" name="Straight Arrow Connector 58">
            <a:extLst>
              <a:ext uri="{FF2B5EF4-FFF2-40B4-BE49-F238E27FC236}">
                <a16:creationId xmlns:a16="http://schemas.microsoft.com/office/drawing/2014/main" id="{DECE98C4-8FB8-42DA-89BF-DF9ED20C18EF}"/>
              </a:ext>
            </a:extLst>
          </p:cNvPr>
          <p:cNvCxnSpPr>
            <a:cxnSpLocks/>
            <a:stCxn id="56" idx="2"/>
          </p:cNvCxnSpPr>
          <p:nvPr/>
        </p:nvCxnSpPr>
        <p:spPr>
          <a:xfrm>
            <a:off x="8157814" y="1553731"/>
            <a:ext cx="0" cy="172382"/>
          </a:xfrm>
          <a:prstGeom prst="straightConnector1">
            <a:avLst/>
          </a:prstGeom>
          <a:ln w="381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2" name="Straight Arrow Connector 61">
            <a:extLst>
              <a:ext uri="{FF2B5EF4-FFF2-40B4-BE49-F238E27FC236}">
                <a16:creationId xmlns:a16="http://schemas.microsoft.com/office/drawing/2014/main" id="{72BF1054-83AC-4A81-BE96-F0A355875C85}"/>
              </a:ext>
            </a:extLst>
          </p:cNvPr>
          <p:cNvCxnSpPr>
            <a:cxnSpLocks/>
            <a:stCxn id="56" idx="1"/>
          </p:cNvCxnSpPr>
          <p:nvPr/>
        </p:nvCxnSpPr>
        <p:spPr>
          <a:xfrm flipH="1">
            <a:off x="7744255" y="1333688"/>
            <a:ext cx="198406" cy="0"/>
          </a:xfrm>
          <a:prstGeom prst="straightConnector1">
            <a:avLst/>
          </a:prstGeom>
          <a:ln w="381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5" name="Straight Arrow Connector 64">
            <a:extLst>
              <a:ext uri="{FF2B5EF4-FFF2-40B4-BE49-F238E27FC236}">
                <a16:creationId xmlns:a16="http://schemas.microsoft.com/office/drawing/2014/main" id="{76BAD0F3-270D-4312-9F17-E101E66FE521}"/>
              </a:ext>
            </a:extLst>
          </p:cNvPr>
          <p:cNvCxnSpPr>
            <a:cxnSpLocks/>
            <a:stCxn id="56" idx="0"/>
          </p:cNvCxnSpPr>
          <p:nvPr/>
        </p:nvCxnSpPr>
        <p:spPr>
          <a:xfrm flipV="1">
            <a:off x="8157814" y="938849"/>
            <a:ext cx="0" cy="174796"/>
          </a:xfrm>
          <a:prstGeom prst="straightConnector1">
            <a:avLst/>
          </a:prstGeom>
          <a:ln w="381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9" name="Rectangle 68">
            <a:extLst>
              <a:ext uri="{FF2B5EF4-FFF2-40B4-BE49-F238E27FC236}">
                <a16:creationId xmlns:a16="http://schemas.microsoft.com/office/drawing/2014/main" id="{85890F41-3CF2-4F4F-9A9D-1935B907865E}"/>
              </a:ext>
            </a:extLst>
          </p:cNvPr>
          <p:cNvSpPr/>
          <p:nvPr/>
        </p:nvSpPr>
        <p:spPr>
          <a:xfrm>
            <a:off x="7942661" y="3297959"/>
            <a:ext cx="430306" cy="440086"/>
          </a:xfrm>
          <a:prstGeom prst="rect">
            <a:avLst/>
          </a:prstGeom>
          <a:solidFill>
            <a:schemeClr val="accent1">
              <a:alpha val="4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70" name="Straight Arrow Connector 69">
            <a:extLst>
              <a:ext uri="{FF2B5EF4-FFF2-40B4-BE49-F238E27FC236}">
                <a16:creationId xmlns:a16="http://schemas.microsoft.com/office/drawing/2014/main" id="{24592FA2-E443-4ADA-AE77-7DCB1C326C5E}"/>
              </a:ext>
            </a:extLst>
          </p:cNvPr>
          <p:cNvCxnSpPr>
            <a:cxnSpLocks/>
            <a:stCxn id="69" idx="3"/>
          </p:cNvCxnSpPr>
          <p:nvPr/>
        </p:nvCxnSpPr>
        <p:spPr>
          <a:xfrm>
            <a:off x="8372967" y="3518002"/>
            <a:ext cx="460161" cy="0"/>
          </a:xfrm>
          <a:prstGeom prst="straightConnector1">
            <a:avLst/>
          </a:prstGeom>
          <a:ln w="381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2" name="Straight Arrow Connector 71">
            <a:extLst>
              <a:ext uri="{FF2B5EF4-FFF2-40B4-BE49-F238E27FC236}">
                <a16:creationId xmlns:a16="http://schemas.microsoft.com/office/drawing/2014/main" id="{EFD1320F-A6CE-480A-97FF-51CA52519E08}"/>
              </a:ext>
            </a:extLst>
          </p:cNvPr>
          <p:cNvCxnSpPr>
            <a:cxnSpLocks/>
            <a:stCxn id="69" idx="1"/>
          </p:cNvCxnSpPr>
          <p:nvPr/>
        </p:nvCxnSpPr>
        <p:spPr>
          <a:xfrm flipH="1">
            <a:off x="7447226" y="3518002"/>
            <a:ext cx="495435" cy="0"/>
          </a:xfrm>
          <a:prstGeom prst="straightConnector1">
            <a:avLst/>
          </a:prstGeom>
          <a:ln w="381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4" name="Rectangle 73">
            <a:extLst>
              <a:ext uri="{FF2B5EF4-FFF2-40B4-BE49-F238E27FC236}">
                <a16:creationId xmlns:a16="http://schemas.microsoft.com/office/drawing/2014/main" id="{2796BC3B-99AC-482B-8A75-E476F9ADA59B}"/>
              </a:ext>
            </a:extLst>
          </p:cNvPr>
          <p:cNvSpPr/>
          <p:nvPr/>
        </p:nvSpPr>
        <p:spPr>
          <a:xfrm>
            <a:off x="7620035" y="5388909"/>
            <a:ext cx="430306" cy="440086"/>
          </a:xfrm>
          <a:prstGeom prst="rect">
            <a:avLst/>
          </a:prstGeom>
          <a:solidFill>
            <a:schemeClr val="accent1">
              <a:alpha val="4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75" name="Straight Arrow Connector 74">
            <a:extLst>
              <a:ext uri="{FF2B5EF4-FFF2-40B4-BE49-F238E27FC236}">
                <a16:creationId xmlns:a16="http://schemas.microsoft.com/office/drawing/2014/main" id="{175D3AD5-111F-4571-9BD9-446198FFD908}"/>
              </a:ext>
            </a:extLst>
          </p:cNvPr>
          <p:cNvCxnSpPr>
            <a:cxnSpLocks/>
            <a:stCxn id="74" idx="3"/>
          </p:cNvCxnSpPr>
          <p:nvPr/>
        </p:nvCxnSpPr>
        <p:spPr>
          <a:xfrm>
            <a:off x="8050341" y="5608952"/>
            <a:ext cx="482429" cy="0"/>
          </a:xfrm>
          <a:prstGeom prst="straightConnector1">
            <a:avLst/>
          </a:prstGeom>
          <a:ln w="381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6" name="Straight Arrow Connector 75">
            <a:extLst>
              <a:ext uri="{FF2B5EF4-FFF2-40B4-BE49-F238E27FC236}">
                <a16:creationId xmlns:a16="http://schemas.microsoft.com/office/drawing/2014/main" id="{C6CFCFA7-484F-4CA5-B36B-072F8DED24C9}"/>
              </a:ext>
            </a:extLst>
          </p:cNvPr>
          <p:cNvCxnSpPr>
            <a:cxnSpLocks/>
            <a:stCxn id="74" idx="2"/>
          </p:cNvCxnSpPr>
          <p:nvPr/>
        </p:nvCxnSpPr>
        <p:spPr>
          <a:xfrm>
            <a:off x="7835188" y="5828995"/>
            <a:ext cx="0" cy="420220"/>
          </a:xfrm>
          <a:prstGeom prst="straightConnector1">
            <a:avLst/>
          </a:prstGeom>
          <a:ln w="381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7" name="Straight Arrow Connector 76">
            <a:extLst>
              <a:ext uri="{FF2B5EF4-FFF2-40B4-BE49-F238E27FC236}">
                <a16:creationId xmlns:a16="http://schemas.microsoft.com/office/drawing/2014/main" id="{58FB112E-6AF0-4CB8-801C-1CB9C9A77D6A}"/>
              </a:ext>
            </a:extLst>
          </p:cNvPr>
          <p:cNvCxnSpPr>
            <a:cxnSpLocks/>
            <a:stCxn id="74" idx="1"/>
          </p:cNvCxnSpPr>
          <p:nvPr/>
        </p:nvCxnSpPr>
        <p:spPr>
          <a:xfrm flipH="1">
            <a:off x="7173395" y="5608952"/>
            <a:ext cx="446640" cy="0"/>
          </a:xfrm>
          <a:prstGeom prst="straightConnector1">
            <a:avLst/>
          </a:prstGeom>
          <a:ln w="381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8" name="Straight Arrow Connector 77">
            <a:extLst>
              <a:ext uri="{FF2B5EF4-FFF2-40B4-BE49-F238E27FC236}">
                <a16:creationId xmlns:a16="http://schemas.microsoft.com/office/drawing/2014/main" id="{E03D3FD5-6208-4AE1-B528-7B65D6B73E81}"/>
              </a:ext>
            </a:extLst>
          </p:cNvPr>
          <p:cNvCxnSpPr>
            <a:cxnSpLocks/>
            <a:stCxn id="74" idx="0"/>
          </p:cNvCxnSpPr>
          <p:nvPr/>
        </p:nvCxnSpPr>
        <p:spPr>
          <a:xfrm flipH="1" flipV="1">
            <a:off x="7825848" y="4958297"/>
            <a:ext cx="9340" cy="430612"/>
          </a:xfrm>
          <a:prstGeom prst="straightConnector1">
            <a:avLst/>
          </a:prstGeom>
          <a:ln w="381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9" name="TextBox 88">
            <a:extLst>
              <a:ext uri="{FF2B5EF4-FFF2-40B4-BE49-F238E27FC236}">
                <a16:creationId xmlns:a16="http://schemas.microsoft.com/office/drawing/2014/main" id="{BF3C1177-DE2E-447B-8A6A-0363274C00E6}"/>
              </a:ext>
            </a:extLst>
          </p:cNvPr>
          <p:cNvSpPr txBox="1"/>
          <p:nvPr/>
        </p:nvSpPr>
        <p:spPr>
          <a:xfrm>
            <a:off x="9344485" y="733523"/>
            <a:ext cx="2449810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b="1" dirty="0"/>
              <a:t>Similar intensity:</a:t>
            </a:r>
            <a:r>
              <a:rPr lang="en-US" sz="2400" dirty="0"/>
              <a:t> Small gradient in all directions</a:t>
            </a:r>
          </a:p>
        </p:txBody>
      </p:sp>
      <p:sp>
        <p:nvSpPr>
          <p:cNvPr id="90" name="TextBox 89">
            <a:extLst>
              <a:ext uri="{FF2B5EF4-FFF2-40B4-BE49-F238E27FC236}">
                <a16:creationId xmlns:a16="http://schemas.microsoft.com/office/drawing/2014/main" id="{6987F6E4-E1E6-47ED-AF74-1B8D37E8939E}"/>
              </a:ext>
            </a:extLst>
          </p:cNvPr>
          <p:cNvSpPr txBox="1"/>
          <p:nvPr/>
        </p:nvSpPr>
        <p:spPr>
          <a:xfrm>
            <a:off x="9417829" y="2917837"/>
            <a:ext cx="2449810" cy="156966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b="1" dirty="0"/>
              <a:t>Edge:</a:t>
            </a:r>
            <a:r>
              <a:rPr lang="en-US" sz="2400" dirty="0"/>
              <a:t> Large perpendicular gradient, low parallel gradient</a:t>
            </a:r>
          </a:p>
        </p:txBody>
      </p:sp>
      <p:sp>
        <p:nvSpPr>
          <p:cNvPr id="91" name="TextBox 90">
            <a:extLst>
              <a:ext uri="{FF2B5EF4-FFF2-40B4-BE49-F238E27FC236}">
                <a16:creationId xmlns:a16="http://schemas.microsoft.com/office/drawing/2014/main" id="{384797BF-D051-46AD-BB3F-CF855184F0EA}"/>
              </a:ext>
            </a:extLst>
          </p:cNvPr>
          <p:cNvSpPr txBox="1"/>
          <p:nvPr/>
        </p:nvSpPr>
        <p:spPr>
          <a:xfrm>
            <a:off x="9395774" y="5008787"/>
            <a:ext cx="2449810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b="1" dirty="0"/>
              <a:t>Interest point:</a:t>
            </a:r>
            <a:r>
              <a:rPr lang="en-US" sz="2400" dirty="0"/>
              <a:t> Large gradients in all directions</a:t>
            </a:r>
          </a:p>
        </p:txBody>
      </p:sp>
    </p:spTree>
    <p:extLst>
      <p:ext uri="{BB962C8B-B14F-4D97-AF65-F5344CB8AC3E}">
        <p14:creationId xmlns:p14="http://schemas.microsoft.com/office/powerpoint/2010/main" val="211954504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7" fill="hold">
                      <p:stCondLst>
                        <p:cond delay="indefinite"/>
                      </p:stCondLst>
                      <p:childTnLst>
                        <p:par>
                          <p:cTn id="38" fill="hold">
                            <p:stCondLst>
                              <p:cond delay="0"/>
                            </p:stCondLst>
                            <p:childTnLst>
                              <p:par>
                                <p:cTn id="3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animBg="1"/>
      <p:bldP spid="5" grpId="0" animBg="1"/>
      <p:bldP spid="6" grpId="0" animBg="1"/>
      <p:bldP spid="7" grpId="0" animBg="1"/>
      <p:bldP spid="56" grpId="0" animBg="1"/>
      <p:bldP spid="69" grpId="0" animBg="1"/>
      <p:bldP spid="74" grpId="0" animBg="1"/>
      <p:bldP spid="89" grpId="0"/>
      <p:bldP spid="90" grpId="0"/>
      <p:bldP spid="91" grpId="0"/>
    </p:bldLst>
  </p:timing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DFB6AB4-96EB-434D-8BFC-6697DE744D7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89301" y="140193"/>
            <a:ext cx="10515600" cy="872004"/>
          </a:xfrm>
        </p:spPr>
        <p:txBody>
          <a:bodyPr>
            <a:normAutofit/>
          </a:bodyPr>
          <a:lstStyle/>
          <a:p>
            <a:r>
              <a:rPr lang="en-US" sz="4000" dirty="0">
                <a:latin typeface="+mn-lt"/>
              </a:rPr>
              <a:t>Properties of spatial gradients 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4DBC6555-A8E7-4F73-8035-156F702D1410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789301" y="1124339"/>
                <a:ext cx="6232569" cy="5593468"/>
              </a:xfrm>
            </p:spPr>
            <p:txBody>
              <a:bodyPr>
                <a:normAutofit/>
              </a:bodyPr>
              <a:lstStyle/>
              <a:p>
                <a:pPr marL="0" indent="0">
                  <a:buNone/>
                </a:pPr>
                <a:r>
                  <a:rPr lang="en-US" dirty="0"/>
                  <a:t>Why gradients can fail for optical flow</a:t>
                </a:r>
              </a:p>
              <a:p>
                <a:r>
                  <a:rPr lang="en-US" dirty="0"/>
                  <a:t>Consider the example of a diagonal edge</a:t>
                </a:r>
              </a:p>
              <a:p>
                <a:r>
                  <a:rPr lang="en-US" dirty="0"/>
                  <a:t>Diagonal edge has strong perpendicular gradient </a:t>
                </a:r>
              </a:p>
              <a:p>
                <a:r>
                  <a:rPr lang="en-US" dirty="0"/>
                  <a:t>But, gradient is same anywhere parallel to the edge</a:t>
                </a:r>
              </a:p>
              <a:p>
                <a:r>
                  <a:rPr lang="en-US" dirty="0"/>
                  <a:t>Inverse covariance,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d>
                          <m:d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sSup>
                              <m:sSupPr>
                                <m:ctrlPr>
                                  <a:rPr lang="en-US" i="1">
                                    <a:latin typeface="Cambria Math" panose="02040503050406030204" pitchFamily="18" charset="0"/>
                                  </a:rPr>
                                </m:ctrlPr>
                              </m:sSupPr>
                              <m:e>
                                <m:r>
                                  <a:rPr lang="en-US" i="1">
                                    <a:latin typeface="Cambria Math" panose="02040503050406030204" pitchFamily="18" charset="0"/>
                                  </a:rPr>
                                  <m:t>𝐴</m:t>
                                </m:r>
                              </m:e>
                              <m:sup>
                                <m:r>
                                  <a:rPr lang="en-US" i="1">
                                    <a:latin typeface="Cambria Math" panose="02040503050406030204" pitchFamily="18" charset="0"/>
                                  </a:rPr>
                                  <m:t>𝑇</m:t>
                                </m:r>
                              </m:sup>
                            </m:sSup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𝐴</m:t>
                            </m:r>
                          </m:e>
                        </m:d>
                      </m:e>
                      <m:sup>
                        <m:r>
                          <a:rPr lang="en-US" i="1">
                            <a:latin typeface="Cambria Math" panose="02040503050406030204" pitchFamily="18" charset="0"/>
                          </a:rPr>
                          <m:t>−1</m:t>
                        </m:r>
                      </m:sup>
                    </m:sSup>
                  </m:oMath>
                </a14:m>
                <a:r>
                  <a:rPr lang="en-US" dirty="0"/>
                  <a:t>, does not exist! </a:t>
                </a:r>
              </a:p>
              <a:p>
                <a:endParaRPr lang="en-US" dirty="0"/>
              </a:p>
              <a:p>
                <a:endParaRPr lang="en-US" dirty="0"/>
              </a:p>
              <a:p>
                <a:endParaRPr lang="en-US" dirty="0"/>
              </a:p>
              <a:p>
                <a:endParaRPr lang="en-US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4DBC6555-A8E7-4F73-8035-156F702D1410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789301" y="1124339"/>
                <a:ext cx="6232569" cy="5593468"/>
              </a:xfrm>
              <a:blipFill>
                <a:blip r:embed="rId2"/>
                <a:stretch>
                  <a:fillRect l="-1955" t="-1743" r="-1662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Rectangle 3">
            <a:extLst>
              <a:ext uri="{FF2B5EF4-FFF2-40B4-BE49-F238E27FC236}">
                <a16:creationId xmlns:a16="http://schemas.microsoft.com/office/drawing/2014/main" id="{266C318F-B5BE-43CD-867C-5EF3E6581911}"/>
              </a:ext>
            </a:extLst>
          </p:cNvPr>
          <p:cNvSpPr/>
          <p:nvPr/>
        </p:nvSpPr>
        <p:spPr>
          <a:xfrm>
            <a:off x="7682845" y="1644977"/>
            <a:ext cx="3530339" cy="3992252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Right Triangle 4">
            <a:extLst>
              <a:ext uri="{FF2B5EF4-FFF2-40B4-BE49-F238E27FC236}">
                <a16:creationId xmlns:a16="http://schemas.microsoft.com/office/drawing/2014/main" id="{11275D73-18CB-4C0E-95B7-C80BBFAC9C68}"/>
              </a:ext>
            </a:extLst>
          </p:cNvPr>
          <p:cNvSpPr/>
          <p:nvPr/>
        </p:nvSpPr>
        <p:spPr>
          <a:xfrm>
            <a:off x="7682844" y="1644977"/>
            <a:ext cx="3530339" cy="3992252"/>
          </a:xfrm>
          <a:prstGeom prst="rtTriangle">
            <a:avLst/>
          </a:prstGeom>
          <a:solidFill>
            <a:schemeClr val="bg2">
              <a:lumMod val="90000"/>
              <a:alpha val="36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7" name="Straight Arrow Connector 6">
            <a:extLst>
              <a:ext uri="{FF2B5EF4-FFF2-40B4-BE49-F238E27FC236}">
                <a16:creationId xmlns:a16="http://schemas.microsoft.com/office/drawing/2014/main" id="{8CB7D4F9-A5D3-4807-8D13-3403B4BDF49D}"/>
              </a:ext>
            </a:extLst>
          </p:cNvPr>
          <p:cNvCxnSpPr>
            <a:cxnSpLocks/>
          </p:cNvCxnSpPr>
          <p:nvPr/>
        </p:nvCxnSpPr>
        <p:spPr>
          <a:xfrm flipV="1">
            <a:off x="8689245" y="2826946"/>
            <a:ext cx="1673925" cy="1520121"/>
          </a:xfrm>
          <a:prstGeom prst="straightConnector1">
            <a:avLst/>
          </a:prstGeom>
          <a:ln w="50800">
            <a:solidFill>
              <a:schemeClr val="tx1"/>
            </a:solidFill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" name="Straight Arrow Connector 15">
            <a:extLst>
              <a:ext uri="{FF2B5EF4-FFF2-40B4-BE49-F238E27FC236}">
                <a16:creationId xmlns:a16="http://schemas.microsoft.com/office/drawing/2014/main" id="{EC79B5D4-ED37-4D9D-A7AC-908EAC71AC6E}"/>
              </a:ext>
            </a:extLst>
          </p:cNvPr>
          <p:cNvCxnSpPr>
            <a:cxnSpLocks/>
          </p:cNvCxnSpPr>
          <p:nvPr/>
        </p:nvCxnSpPr>
        <p:spPr>
          <a:xfrm flipV="1">
            <a:off x="9444725" y="3630706"/>
            <a:ext cx="918446" cy="10397"/>
          </a:xfrm>
          <a:prstGeom prst="straightConnector1">
            <a:avLst/>
          </a:prstGeom>
          <a:ln w="25400">
            <a:solidFill>
              <a:schemeClr val="tx1"/>
            </a:solidFill>
            <a:prstDash val="sys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" name="Straight Arrow Connector 16">
            <a:extLst>
              <a:ext uri="{FF2B5EF4-FFF2-40B4-BE49-F238E27FC236}">
                <a16:creationId xmlns:a16="http://schemas.microsoft.com/office/drawing/2014/main" id="{352B8D92-9FF7-4BD8-A298-C0696B3EB922}"/>
              </a:ext>
            </a:extLst>
          </p:cNvPr>
          <p:cNvCxnSpPr>
            <a:cxnSpLocks/>
            <a:stCxn id="5" idx="5"/>
          </p:cNvCxnSpPr>
          <p:nvPr/>
        </p:nvCxnSpPr>
        <p:spPr>
          <a:xfrm flipV="1">
            <a:off x="9448014" y="2796988"/>
            <a:ext cx="0" cy="844115"/>
          </a:xfrm>
          <a:prstGeom prst="straightConnector1">
            <a:avLst/>
          </a:prstGeom>
          <a:ln w="25400">
            <a:solidFill>
              <a:schemeClr val="tx1"/>
            </a:solidFill>
            <a:prstDash val="sys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0" name="Rectangle 19">
            <a:extLst>
              <a:ext uri="{FF2B5EF4-FFF2-40B4-BE49-F238E27FC236}">
                <a16:creationId xmlns:a16="http://schemas.microsoft.com/office/drawing/2014/main" id="{A319A857-6BE1-4ECC-BC98-62AED16FF131}"/>
              </a:ext>
            </a:extLst>
          </p:cNvPr>
          <p:cNvSpPr/>
          <p:nvPr/>
        </p:nvSpPr>
        <p:spPr>
          <a:xfrm flipH="1">
            <a:off x="9456104" y="2826946"/>
            <a:ext cx="907065" cy="826074"/>
          </a:xfrm>
          <a:prstGeom prst="rect">
            <a:avLst/>
          </a:prstGeom>
          <a:noFill/>
          <a:ln w="63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3" name="TextBox 22">
                <a:extLst>
                  <a:ext uri="{FF2B5EF4-FFF2-40B4-BE49-F238E27FC236}">
                    <a16:creationId xmlns:a16="http://schemas.microsoft.com/office/drawing/2014/main" id="{77B54216-2844-4D60-9991-70FE0E0E60DE}"/>
                  </a:ext>
                </a:extLst>
              </p:cNvPr>
              <p:cNvSpPr txBox="1"/>
              <p:nvPr/>
            </p:nvSpPr>
            <p:spPr>
              <a:xfrm>
                <a:off x="8577155" y="2138973"/>
                <a:ext cx="1012197" cy="858953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>
                        <m:fPr>
                          <m:ctrlPr>
                            <a:rPr lang="en-US" sz="240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sz="2400" i="1" smtClean="0">
                              <a:latin typeface="Cambria Math" panose="02040503050406030204" pitchFamily="18" charset="0"/>
                            </a:rPr>
                            <m:t>𝜕</m:t>
                          </m:r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𝐼</m:t>
                          </m:r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(</m:t>
                          </m:r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𝑥</m:t>
                          </m:r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𝑦</m:t>
                          </m:r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)</m:t>
                          </m:r>
                        </m:num>
                        <m:den>
                          <m:r>
                            <a:rPr lang="en-US" sz="2400" i="1" smtClean="0">
                              <a:latin typeface="Cambria Math" panose="02040503050406030204" pitchFamily="18" charset="0"/>
                            </a:rPr>
                            <m:t>𝜕</m:t>
                          </m:r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𝑦</m:t>
                          </m:r>
                        </m:den>
                      </m:f>
                    </m:oMath>
                  </m:oMathPara>
                </a14:m>
                <a:endParaRPr lang="en-US" sz="2400" dirty="0"/>
              </a:p>
            </p:txBody>
          </p:sp>
        </mc:Choice>
        <mc:Fallback xmlns="">
          <p:sp>
            <p:nvSpPr>
              <p:cNvPr id="23" name="TextBox 22">
                <a:extLst>
                  <a:ext uri="{FF2B5EF4-FFF2-40B4-BE49-F238E27FC236}">
                    <a16:creationId xmlns:a16="http://schemas.microsoft.com/office/drawing/2014/main" id="{77B54216-2844-4D60-9991-70FE0E0E60D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577155" y="2138973"/>
                <a:ext cx="1012197" cy="858953"/>
              </a:xfrm>
              <a:prstGeom prst="rect">
                <a:avLst/>
              </a:prstGeom>
              <a:blipFill>
                <a:blip r:embed="rId3"/>
                <a:stretch>
                  <a:fillRect r="-903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4" name="TextBox 23">
                <a:extLst>
                  <a:ext uri="{FF2B5EF4-FFF2-40B4-BE49-F238E27FC236}">
                    <a16:creationId xmlns:a16="http://schemas.microsoft.com/office/drawing/2014/main" id="{0AD712A0-D165-476B-BA13-99A175FBF49E}"/>
                  </a:ext>
                </a:extLst>
              </p:cNvPr>
              <p:cNvSpPr txBox="1"/>
              <p:nvPr/>
            </p:nvSpPr>
            <p:spPr>
              <a:xfrm>
                <a:off x="10011946" y="3641103"/>
                <a:ext cx="1012197" cy="795859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>
                        <m:fPr>
                          <m:ctrlPr>
                            <a:rPr lang="en-US" sz="240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sz="2400" i="1" smtClean="0">
                              <a:latin typeface="Cambria Math" panose="02040503050406030204" pitchFamily="18" charset="0"/>
                            </a:rPr>
                            <m:t>𝜕</m:t>
                          </m:r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𝐼</m:t>
                          </m:r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(</m:t>
                          </m:r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𝑥</m:t>
                          </m:r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𝑦</m:t>
                          </m:r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)</m:t>
                          </m:r>
                        </m:num>
                        <m:den>
                          <m:r>
                            <a:rPr lang="en-US" sz="2400" i="1" smtClean="0">
                              <a:latin typeface="Cambria Math" panose="02040503050406030204" pitchFamily="18" charset="0"/>
                            </a:rPr>
                            <m:t>𝜕</m:t>
                          </m:r>
                          <m:r>
                            <a:rPr lang="en-US" sz="2400" i="1" smtClean="0">
                              <a:latin typeface="Cambria Math" panose="02040503050406030204" pitchFamily="18" charset="0"/>
                            </a:rPr>
                            <m:t>𝑥</m:t>
                          </m:r>
                        </m:den>
                      </m:f>
                    </m:oMath>
                  </m:oMathPara>
                </a14:m>
                <a:endParaRPr lang="en-US" sz="2400" dirty="0"/>
              </a:p>
            </p:txBody>
          </p:sp>
        </mc:Choice>
        <mc:Fallback xmlns="">
          <p:sp>
            <p:nvSpPr>
              <p:cNvPr id="24" name="TextBox 23">
                <a:extLst>
                  <a:ext uri="{FF2B5EF4-FFF2-40B4-BE49-F238E27FC236}">
                    <a16:creationId xmlns:a16="http://schemas.microsoft.com/office/drawing/2014/main" id="{0AD712A0-D165-476B-BA13-99A175FBF49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011946" y="3641103"/>
                <a:ext cx="1012197" cy="795859"/>
              </a:xfrm>
              <a:prstGeom prst="rect">
                <a:avLst/>
              </a:prstGeom>
              <a:blipFill>
                <a:blip r:embed="rId4"/>
                <a:stretch>
                  <a:fillRect r="-903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43092989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animBg="1"/>
      <p:bldP spid="5" grpId="0" animBg="1"/>
      <p:bldP spid="20" grpId="0" animBg="1"/>
      <p:bldP spid="23" grpId="0"/>
      <p:bldP spid="24" grpId="0"/>
    </p:bldLst>
  </p:timing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DFB6AB4-96EB-434D-8BFC-6697DE744D7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89301" y="140193"/>
            <a:ext cx="10515600" cy="872004"/>
          </a:xfrm>
        </p:spPr>
        <p:txBody>
          <a:bodyPr>
            <a:normAutofit/>
          </a:bodyPr>
          <a:lstStyle/>
          <a:p>
            <a:r>
              <a:rPr lang="en-US" sz="4000" dirty="0">
                <a:latin typeface="+mn-lt"/>
              </a:rPr>
              <a:t>Properties of spatial gradients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4DBC6555-A8E7-4F73-8035-156F702D1410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789301" y="1595438"/>
                <a:ext cx="5726002" cy="5122369"/>
              </a:xfrm>
            </p:spPr>
            <p:txBody>
              <a:bodyPr>
                <a:normAutofit/>
              </a:bodyPr>
              <a:lstStyle/>
              <a:p>
                <a:pPr marL="0" indent="0">
                  <a:buNone/>
                </a:pPr>
                <a:r>
                  <a:rPr lang="en-US" sz="2800" dirty="0"/>
                  <a:t>Eigenvalues of the Hessian, </a:t>
                </a:r>
                <a14:m>
                  <m:oMath xmlns:m="http://schemas.openxmlformats.org/officeDocument/2006/math">
                    <m:d>
                      <m:dPr>
                        <m:begChr m:val="["/>
                        <m:endChr m:val="]"/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𝜆</m:t>
                            </m:r>
                          </m:e>
                          <m:sub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,</m:t>
                        </m:r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𝜆</m:t>
                            </m:r>
                          </m:e>
                          <m:sub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</m:e>
                    </m:d>
                  </m:oMath>
                </a14:m>
                <a:r>
                  <a:rPr lang="en-US" sz="2800" dirty="0"/>
                  <a:t>, characterize the curvature</a:t>
                </a:r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:r>
                  <a:rPr lang="en-US" dirty="0"/>
                  <a:t>Values of </a:t>
                </a:r>
                <a14:m>
                  <m:oMath xmlns:m="http://schemas.openxmlformats.org/officeDocument/2006/math">
                    <m:d>
                      <m:dPr>
                        <m:begChr m:val="["/>
                        <m:endChr m:val="]"/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𝜆</m:t>
                            </m:r>
                          </m:e>
                          <m:sub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,</m:t>
                        </m:r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𝜆</m:t>
                            </m:r>
                          </m:e>
                          <m:sub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</m:e>
                    </m:d>
                  </m:oMath>
                </a14:m>
                <a:r>
                  <a:rPr lang="en-US" sz="2800" dirty="0"/>
                  <a:t> are indicators of:</a:t>
                </a:r>
              </a:p>
              <a:p>
                <a:pPr marL="742950" lvl="1" indent="-285750"/>
                <a:r>
                  <a:rPr lang="en-US" b="1" dirty="0"/>
                  <a:t>Flat region</a:t>
                </a:r>
                <a:r>
                  <a:rPr lang="en-US" dirty="0"/>
                  <a:t>: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𝜆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r>
                      <a:rPr lang="en-US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~</m:t>
                    </m:r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𝜆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2</m:t>
                        </m:r>
                      </m:sub>
                    </m:sSub>
                  </m:oMath>
                </a14:m>
                <a:r>
                  <a:rPr lang="en-US" dirty="0"/>
                  <a:t>, and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𝜆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r>
                      <a:rPr lang="en-US" b="0" i="1" smtClean="0">
                        <a:latin typeface="Cambria Math" panose="02040503050406030204" pitchFamily="18" charset="0"/>
                      </a:rPr>
                      <m:t>,  </m:t>
                    </m:r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𝜆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</m:oMath>
                </a14:m>
                <a:r>
                  <a:rPr lang="en-US" dirty="0"/>
                  <a:t> small</a:t>
                </a:r>
                <a:endParaRPr lang="en-US" sz="2800" dirty="0"/>
              </a:p>
              <a:p>
                <a:pPr marL="742950" lvl="1" indent="-285750"/>
                <a:r>
                  <a:rPr lang="en-US" b="1" dirty="0"/>
                  <a:t>Edge</a:t>
                </a:r>
                <a:r>
                  <a:rPr lang="en-US" dirty="0"/>
                  <a:t>: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𝜆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r>
                      <a:rPr lang="en-US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≫</m:t>
                    </m:r>
                    <m:sSub>
                      <m:sSubPr>
                        <m:ctrlPr>
                          <a:rPr lang="en-US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𝜆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2</m:t>
                        </m:r>
                      </m:sub>
                    </m:sSub>
                  </m:oMath>
                </a14:m>
                <a:r>
                  <a:rPr lang="en-US" dirty="0"/>
                  <a:t> or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𝜆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r>
                      <a:rPr lang="en-US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≪</m:t>
                    </m:r>
                  </m:oMath>
                </a14:m>
                <a:r>
                  <a:rPr lang="en-US" dirty="0"/>
                  <a:t>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𝜆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2</m:t>
                        </m:r>
                      </m:sub>
                    </m:sSub>
                  </m:oMath>
                </a14:m>
                <a:r>
                  <a:rPr lang="en-US" dirty="0"/>
                  <a:t>, and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𝜆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r>
                      <a:rPr lang="en-US" b="0" i="1" smtClean="0">
                        <a:latin typeface="Cambria Math" panose="02040503050406030204" pitchFamily="18" charset="0"/>
                      </a:rPr>
                      <m:t> 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𝑜𝑟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 </m:t>
                    </m:r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𝜆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</m:oMath>
                </a14:m>
                <a:r>
                  <a:rPr lang="en-US" dirty="0"/>
                  <a:t> large</a:t>
                </a:r>
              </a:p>
              <a:p>
                <a:pPr marL="742950" lvl="1" indent="-285750"/>
                <a:r>
                  <a:rPr lang="en-US" b="1" dirty="0"/>
                  <a:t>Corner or other interest point</a:t>
                </a:r>
                <a:r>
                  <a:rPr lang="en-US" dirty="0"/>
                  <a:t>: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𝜆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r>
                      <a:rPr lang="en-US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~</m:t>
                    </m:r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𝜆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2</m:t>
                        </m:r>
                      </m:sub>
                    </m:sSub>
                  </m:oMath>
                </a14:m>
                <a:r>
                  <a:rPr lang="en-US" dirty="0"/>
                  <a:t>, and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𝜆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r>
                      <a:rPr lang="en-US" b="0" i="1" smtClean="0">
                        <a:latin typeface="Cambria Math" panose="02040503050406030204" pitchFamily="18" charset="0"/>
                      </a:rPr>
                      <m:t>,  </m:t>
                    </m:r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𝜆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</m:oMath>
                </a14:m>
                <a:r>
                  <a:rPr lang="en-US" dirty="0"/>
                  <a:t> large</a:t>
                </a:r>
              </a:p>
              <a:p>
                <a:pPr marL="742950" lvl="1" indent="-285750"/>
                <a:endParaRPr lang="en-US" dirty="0"/>
              </a:p>
              <a:p>
                <a:pPr marL="0" indent="0">
                  <a:buNone/>
                </a:pPr>
                <a:endParaRPr lang="en-US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4DBC6555-A8E7-4F73-8035-156F702D1410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789301" y="1595438"/>
                <a:ext cx="5726002" cy="5122369"/>
              </a:xfrm>
              <a:blipFill>
                <a:blip r:embed="rId2"/>
                <a:stretch>
                  <a:fillRect l="-2128" t="-2024" r="-234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AutoShape 2">
            <a:extLst>
              <a:ext uri="{FF2B5EF4-FFF2-40B4-BE49-F238E27FC236}">
                <a16:creationId xmlns:a16="http://schemas.microsoft.com/office/drawing/2014/main" id="{DFF048D4-E9D9-4B6B-883E-B6DBA764B81E}"/>
              </a:ext>
            </a:extLst>
          </p:cNvPr>
          <p:cNvSpPr>
            <a:spLocks noChangeArrowheads="1"/>
          </p:cNvSpPr>
          <p:nvPr/>
        </p:nvSpPr>
        <p:spPr bwMode="auto">
          <a:xfrm>
            <a:off x="4381703" y="4960318"/>
            <a:ext cx="3124200" cy="1219200"/>
          </a:xfrm>
          <a:prstGeom prst="rightArrowCallout">
            <a:avLst>
              <a:gd name="adj1" fmla="val 25000"/>
              <a:gd name="adj2" fmla="val 24093"/>
              <a:gd name="adj3" fmla="val 41581"/>
              <a:gd name="adj4" fmla="val 75662"/>
            </a:avLst>
          </a:prstGeom>
          <a:solidFill>
            <a:srgbClr val="C0C0C0"/>
          </a:soli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 wrap="none" anchor="ctr"/>
          <a:lstStyle>
            <a:lvl1pPr>
              <a:spcBef>
                <a:spcPct val="20000"/>
              </a:spcBef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–"/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»"/>
              <a:defRPr sz="16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14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0" hangingPunct="0">
              <a:spcBef>
                <a:spcPct val="0"/>
              </a:spcBef>
            </a:pPr>
            <a:endParaRPr lang="en-US" altLang="en-US">
              <a:solidFill>
                <a:srgbClr val="000000"/>
              </a:solidFill>
              <a:cs typeface="Arial" panose="020B0604020202020204" pitchFamily="34" charset="0"/>
            </a:endParaRP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F248440E-163E-42B2-AFC2-067378FBC429}"/>
              </a:ext>
            </a:extLst>
          </p:cNvPr>
          <p:cNvSpPr>
            <a:spLocks noChangeArrowheads="1"/>
          </p:cNvSpPr>
          <p:nvPr/>
        </p:nvSpPr>
        <p:spPr bwMode="auto">
          <a:xfrm>
            <a:off x="7582103" y="1912318"/>
            <a:ext cx="4343400" cy="4343400"/>
          </a:xfrm>
          <a:prstGeom prst="rect">
            <a:avLst/>
          </a:prstGeom>
          <a:solidFill>
            <a:srgbClr val="F38F67"/>
          </a:soli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 wrap="none" anchor="ctr"/>
          <a:lstStyle>
            <a:lvl1pPr>
              <a:spcBef>
                <a:spcPct val="20000"/>
              </a:spcBef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–"/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»"/>
              <a:defRPr sz="16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14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0" hangingPunct="0">
              <a:spcBef>
                <a:spcPct val="0"/>
              </a:spcBef>
            </a:pPr>
            <a:endParaRPr lang="en-US" altLang="en-US">
              <a:solidFill>
                <a:srgbClr val="000000"/>
              </a:solidFill>
              <a:cs typeface="Arial" panose="020B0604020202020204" pitchFamily="34" charset="0"/>
            </a:endParaRP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C90FD3FA-D7DE-4D0E-8E51-33A3D80C0CA0}"/>
              </a:ext>
            </a:extLst>
          </p:cNvPr>
          <p:cNvSpPr>
            <a:spLocks noChangeArrowheads="1"/>
          </p:cNvSpPr>
          <p:nvPr/>
        </p:nvSpPr>
        <p:spPr bwMode="auto">
          <a:xfrm>
            <a:off x="11315903" y="6255718"/>
            <a:ext cx="762000" cy="4572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>
              <a:spcBef>
                <a:spcPct val="20000"/>
              </a:spcBef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–"/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»"/>
              <a:defRPr sz="16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14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algn="ctr">
              <a:spcBef>
                <a:spcPct val="0"/>
              </a:spcBef>
            </a:pPr>
            <a:r>
              <a:rPr lang="ru-RU" altLang="en-US" sz="2400" dirty="0">
                <a:solidFill>
                  <a:srgbClr val="000000"/>
                </a:solidFill>
                <a:latin typeface="Times New Roman" panose="02020603050405020304" pitchFamily="18" charset="0"/>
                <a:cs typeface="Times New Roman" panose="02020603050405020304" pitchFamily="18" charset="0"/>
                <a:sym typeface="Symbol" panose="05050102010706020507" pitchFamily="18" charset="2"/>
              </a:rPr>
              <a:t></a:t>
            </a:r>
            <a:r>
              <a:rPr lang="en-US" altLang="en-US" sz="2400" baseline="-25000" dirty="0">
                <a:solidFill>
                  <a:srgbClr val="000000"/>
                </a:solidFill>
                <a:latin typeface="Times New Roman" panose="02020603050405020304" pitchFamily="18" charset="0"/>
                <a:cs typeface="Times New Roman" panose="02020603050405020304" pitchFamily="18" charset="0"/>
                <a:sym typeface="Symbol" panose="05050102010706020507" pitchFamily="18" charset="2"/>
              </a:rPr>
              <a:t>1</a:t>
            </a:r>
            <a:endParaRPr lang="ru-RU" altLang="en-US" sz="2400" baseline="-25000" dirty="0">
              <a:solidFill>
                <a:srgbClr val="000000"/>
              </a:solidFill>
              <a:latin typeface="Times New Roman" panose="02020603050405020304" pitchFamily="18" charset="0"/>
              <a:cs typeface="Times New Roman" panose="02020603050405020304" pitchFamily="18" charset="0"/>
              <a:sym typeface="Symbol" panose="05050102010706020507" pitchFamily="18" charset="2"/>
            </a:endParaRP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60A80EFA-E20B-4B19-BAC7-B594490608C6}"/>
              </a:ext>
            </a:extLst>
          </p:cNvPr>
          <p:cNvSpPr>
            <a:spLocks noChangeArrowheads="1"/>
          </p:cNvSpPr>
          <p:nvPr/>
        </p:nvSpPr>
        <p:spPr bwMode="auto">
          <a:xfrm>
            <a:off x="6667703" y="1988518"/>
            <a:ext cx="1066800" cy="4572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>
              <a:spcBef>
                <a:spcPct val="20000"/>
              </a:spcBef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–"/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»"/>
              <a:defRPr sz="16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14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algn="ctr">
              <a:spcBef>
                <a:spcPct val="0"/>
              </a:spcBef>
            </a:pPr>
            <a:r>
              <a:rPr lang="ru-RU" altLang="en-US" sz="2400" dirty="0">
                <a:solidFill>
                  <a:srgbClr val="000000"/>
                </a:solidFill>
                <a:latin typeface="Times New Roman" panose="02020603050405020304" pitchFamily="18" charset="0"/>
                <a:cs typeface="Times New Roman" panose="02020603050405020304" pitchFamily="18" charset="0"/>
                <a:sym typeface="Symbol" panose="05050102010706020507" pitchFamily="18" charset="2"/>
              </a:rPr>
              <a:t></a:t>
            </a:r>
            <a:r>
              <a:rPr lang="en-US" altLang="en-US" sz="2400" baseline="-25000" dirty="0">
                <a:solidFill>
                  <a:srgbClr val="000000"/>
                </a:solidFill>
                <a:latin typeface="Times New Roman" panose="02020603050405020304" pitchFamily="18" charset="0"/>
                <a:cs typeface="Times New Roman" panose="02020603050405020304" pitchFamily="18" charset="0"/>
                <a:sym typeface="Symbol" panose="05050102010706020507" pitchFamily="18" charset="2"/>
              </a:rPr>
              <a:t>2</a:t>
            </a:r>
            <a:endParaRPr lang="ru-RU" altLang="en-US" sz="2400" baseline="-25000" dirty="0">
              <a:solidFill>
                <a:srgbClr val="000000"/>
              </a:solidFill>
              <a:latin typeface="Times New Roman" panose="02020603050405020304" pitchFamily="18" charset="0"/>
              <a:cs typeface="Times New Roman" panose="02020603050405020304" pitchFamily="18" charset="0"/>
              <a:sym typeface="Symbol" panose="05050102010706020507" pitchFamily="18" charset="2"/>
            </a:endParaRPr>
          </a:p>
        </p:txBody>
      </p:sp>
      <p:sp>
        <p:nvSpPr>
          <p:cNvPr id="8" name="Freeform 7">
            <a:extLst>
              <a:ext uri="{FF2B5EF4-FFF2-40B4-BE49-F238E27FC236}">
                <a16:creationId xmlns:a16="http://schemas.microsoft.com/office/drawing/2014/main" id="{8D546064-3EDB-4C85-8D4E-49E42AF707FA}"/>
              </a:ext>
            </a:extLst>
          </p:cNvPr>
          <p:cNvSpPr>
            <a:spLocks/>
          </p:cNvSpPr>
          <p:nvPr/>
        </p:nvSpPr>
        <p:spPr bwMode="auto">
          <a:xfrm>
            <a:off x="8039303" y="1912318"/>
            <a:ext cx="3886200" cy="3937000"/>
          </a:xfrm>
          <a:custGeom>
            <a:avLst/>
            <a:gdLst>
              <a:gd name="T0" fmla="*/ 0 w 2448"/>
              <a:gd name="T1" fmla="*/ 2147483646 h 2480"/>
              <a:gd name="T2" fmla="*/ 2147483646 w 2448"/>
              <a:gd name="T3" fmla="*/ 0 h 2480"/>
              <a:gd name="T4" fmla="*/ 2147483646 w 2448"/>
              <a:gd name="T5" fmla="*/ 0 h 2480"/>
              <a:gd name="T6" fmla="*/ 2147483646 w 2448"/>
              <a:gd name="T7" fmla="*/ 2147483646 h 2480"/>
              <a:gd name="T8" fmla="*/ 2147483646 w 2448"/>
              <a:gd name="T9" fmla="*/ 2147483646 h 2480"/>
              <a:gd name="T10" fmla="*/ 0 w 2448"/>
              <a:gd name="T11" fmla="*/ 2147483646 h 2480"/>
              <a:gd name="T12" fmla="*/ 0 60000 65536"/>
              <a:gd name="T13" fmla="*/ 0 60000 65536"/>
              <a:gd name="T14" fmla="*/ 0 60000 65536"/>
              <a:gd name="T15" fmla="*/ 0 60000 65536"/>
              <a:gd name="T16" fmla="*/ 0 60000 65536"/>
              <a:gd name="T17" fmla="*/ 0 60000 65536"/>
              <a:gd name="T18" fmla="*/ 0 w 2448"/>
              <a:gd name="T19" fmla="*/ 0 h 2480"/>
              <a:gd name="T20" fmla="*/ 2448 w 2448"/>
              <a:gd name="T21" fmla="*/ 2480 h 2480"/>
            </a:gdLst>
            <a:ahLst/>
            <a:cxnLst>
              <a:cxn ang="T12">
                <a:pos x="T0" y="T1"/>
              </a:cxn>
              <a:cxn ang="T13">
                <a:pos x="T2" y="T3"/>
              </a:cxn>
              <a:cxn ang="T14">
                <a:pos x="T4" y="T5"/>
              </a:cxn>
              <a:cxn ang="T15">
                <a:pos x="T6" y="T7"/>
              </a:cxn>
              <a:cxn ang="T16">
                <a:pos x="T8" y="T9"/>
              </a:cxn>
              <a:cxn ang="T17">
                <a:pos x="T10" y="T11"/>
              </a:cxn>
            </a:cxnLst>
            <a:rect l="T18" t="T19" r="T20" b="T21"/>
            <a:pathLst>
              <a:path w="2448" h="2480">
                <a:moveTo>
                  <a:pt x="0" y="1920"/>
                </a:moveTo>
                <a:lnTo>
                  <a:pt x="672" y="0"/>
                </a:lnTo>
                <a:lnTo>
                  <a:pt x="2448" y="0"/>
                </a:lnTo>
                <a:lnTo>
                  <a:pt x="2448" y="1872"/>
                </a:lnTo>
                <a:lnTo>
                  <a:pt x="555" y="2480"/>
                </a:lnTo>
                <a:lnTo>
                  <a:pt x="0" y="1920"/>
                </a:lnTo>
                <a:close/>
              </a:path>
            </a:pathLst>
          </a:custGeom>
          <a:solidFill>
            <a:schemeClr val="accent1"/>
          </a:solidFill>
          <a:ln w="9525">
            <a:solidFill>
              <a:schemeClr val="tx1"/>
            </a:solidFill>
            <a:round/>
            <a:headEnd/>
            <a:tailEnd/>
          </a:ln>
        </p:spPr>
        <p:txBody>
          <a:bodyPr/>
          <a:lstStyle/>
          <a:p>
            <a:pPr eaLnBrk="0" hangingPunct="0"/>
            <a:endParaRPr lang="en-US" sz="2800">
              <a:solidFill>
                <a:srgbClr val="000000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9" name="AutoShape 8">
            <a:extLst>
              <a:ext uri="{FF2B5EF4-FFF2-40B4-BE49-F238E27FC236}">
                <a16:creationId xmlns:a16="http://schemas.microsoft.com/office/drawing/2014/main" id="{749AD3E2-D10F-4C35-B58F-2712E687C646}"/>
              </a:ext>
            </a:extLst>
          </p:cNvPr>
          <p:cNvSpPr>
            <a:spLocks noChangeArrowheads="1"/>
          </p:cNvSpPr>
          <p:nvPr/>
        </p:nvSpPr>
        <p:spPr bwMode="auto">
          <a:xfrm>
            <a:off x="7582104" y="4503118"/>
            <a:ext cx="1749425" cy="1752600"/>
          </a:xfrm>
          <a:prstGeom prst="rtTriangle">
            <a:avLst/>
          </a:prstGeom>
          <a:solidFill>
            <a:srgbClr val="B2B2B2"/>
          </a:soli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 wrap="none" anchor="ctr"/>
          <a:lstStyle>
            <a:lvl1pPr>
              <a:spcBef>
                <a:spcPct val="20000"/>
              </a:spcBef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–"/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»"/>
              <a:defRPr sz="16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14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0" hangingPunct="0">
              <a:spcBef>
                <a:spcPct val="0"/>
              </a:spcBef>
            </a:pPr>
            <a:endParaRPr lang="en-US" altLang="en-US">
              <a:solidFill>
                <a:srgbClr val="000000"/>
              </a:solidFill>
              <a:cs typeface="Arial" panose="020B0604020202020204" pitchFamily="34" charset="0"/>
            </a:endParaRP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942D7B86-87E7-44A3-9AB9-817D3BE57606}"/>
              </a:ext>
            </a:extLst>
          </p:cNvPr>
          <p:cNvSpPr>
            <a:spLocks noChangeArrowheads="1"/>
          </p:cNvSpPr>
          <p:nvPr/>
        </p:nvSpPr>
        <p:spPr bwMode="auto">
          <a:xfrm>
            <a:off x="9106103" y="2521919"/>
            <a:ext cx="2667000" cy="187743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>
              <a:spcBef>
                <a:spcPct val="20000"/>
              </a:spcBef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–"/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»"/>
              <a:defRPr sz="16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14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>
              <a:spcBef>
                <a:spcPct val="0"/>
              </a:spcBef>
            </a:pPr>
            <a:r>
              <a:rPr lang="en-US" altLang="en-US" sz="2400" dirty="0">
                <a:solidFill>
                  <a:srgbClr val="0033CC"/>
                </a:solidFill>
                <a:latin typeface="Times New Roman" panose="02020603050405020304" pitchFamily="18" charset="0"/>
                <a:cs typeface="Times New Roman" panose="02020603050405020304" pitchFamily="18" charset="0"/>
                <a:sym typeface="Symbol" panose="05050102010706020507" pitchFamily="18" charset="2"/>
              </a:rPr>
              <a:t>“Corner”</a:t>
            </a:r>
            <a:br>
              <a:rPr lang="en-US" altLang="en-US" sz="2400" dirty="0">
                <a:solidFill>
                  <a:srgbClr val="000000"/>
                </a:solidFill>
                <a:latin typeface="Times New Roman" panose="02020603050405020304" pitchFamily="18" charset="0"/>
                <a:cs typeface="Times New Roman" panose="02020603050405020304" pitchFamily="18" charset="0"/>
                <a:sym typeface="Symbol" panose="05050102010706020507" pitchFamily="18" charset="2"/>
              </a:rPr>
            </a:br>
            <a:r>
              <a:rPr lang="ru-RU" altLang="en-US" sz="2400" dirty="0">
                <a:solidFill>
                  <a:srgbClr val="000000"/>
                </a:solidFill>
                <a:latin typeface="Times New Roman" panose="02020603050405020304" pitchFamily="18" charset="0"/>
                <a:cs typeface="Times New Roman" panose="02020603050405020304" pitchFamily="18" charset="0"/>
                <a:sym typeface="Symbol" panose="05050102010706020507" pitchFamily="18" charset="2"/>
              </a:rPr>
              <a:t></a:t>
            </a:r>
            <a:r>
              <a:rPr lang="en-US" altLang="en-US" sz="2400" baseline="-25000" dirty="0">
                <a:solidFill>
                  <a:srgbClr val="000000"/>
                </a:solidFill>
                <a:latin typeface="Times New Roman" panose="02020603050405020304" pitchFamily="18" charset="0"/>
                <a:cs typeface="Times New Roman" panose="02020603050405020304" pitchFamily="18" charset="0"/>
                <a:sym typeface="Symbol" panose="05050102010706020507" pitchFamily="18" charset="2"/>
              </a:rPr>
              <a:t>1</a:t>
            </a:r>
            <a:r>
              <a:rPr lang="en-US" altLang="en-US" sz="2000" dirty="0">
                <a:solidFill>
                  <a:srgbClr val="000000"/>
                </a:solidFill>
                <a:latin typeface="Times New Roman" panose="02020603050405020304" pitchFamily="18" charset="0"/>
                <a:cs typeface="Times New Roman" panose="02020603050405020304" pitchFamily="18" charset="0"/>
                <a:sym typeface="Symbol" panose="05050102010706020507" pitchFamily="18" charset="2"/>
              </a:rPr>
              <a:t> and </a:t>
            </a:r>
            <a:r>
              <a:rPr lang="ru-RU" altLang="en-US" sz="2400" dirty="0">
                <a:solidFill>
                  <a:srgbClr val="000000"/>
                </a:solidFill>
                <a:latin typeface="Times New Roman" panose="02020603050405020304" pitchFamily="18" charset="0"/>
                <a:cs typeface="Times New Roman" panose="02020603050405020304" pitchFamily="18" charset="0"/>
                <a:sym typeface="Symbol" panose="05050102010706020507" pitchFamily="18" charset="2"/>
              </a:rPr>
              <a:t></a:t>
            </a:r>
            <a:r>
              <a:rPr lang="en-US" altLang="en-US" sz="2400" baseline="-25000" dirty="0">
                <a:solidFill>
                  <a:srgbClr val="000000"/>
                </a:solidFill>
                <a:latin typeface="Times New Roman" panose="02020603050405020304" pitchFamily="18" charset="0"/>
                <a:cs typeface="Times New Roman" panose="02020603050405020304" pitchFamily="18" charset="0"/>
                <a:sym typeface="Symbol" panose="05050102010706020507" pitchFamily="18" charset="2"/>
              </a:rPr>
              <a:t>2</a:t>
            </a:r>
            <a:r>
              <a:rPr lang="en-US" altLang="en-US" sz="2000" dirty="0">
                <a:solidFill>
                  <a:srgbClr val="000000"/>
                </a:solidFill>
                <a:latin typeface="Times New Roman" panose="02020603050405020304" pitchFamily="18" charset="0"/>
                <a:cs typeface="Times New Roman" panose="02020603050405020304" pitchFamily="18" charset="0"/>
                <a:sym typeface="Symbol" panose="05050102010706020507" pitchFamily="18" charset="2"/>
              </a:rPr>
              <a:t> are large,</a:t>
            </a:r>
            <a:br>
              <a:rPr lang="en-US" altLang="en-US" sz="2000" dirty="0">
                <a:solidFill>
                  <a:srgbClr val="000000"/>
                </a:solidFill>
                <a:latin typeface="Times New Roman" panose="02020603050405020304" pitchFamily="18" charset="0"/>
                <a:cs typeface="Times New Roman" panose="02020603050405020304" pitchFamily="18" charset="0"/>
                <a:sym typeface="Symbol" panose="05050102010706020507" pitchFamily="18" charset="2"/>
              </a:rPr>
            </a:br>
            <a:r>
              <a:rPr lang="en-US" altLang="en-US" sz="2000" dirty="0">
                <a:solidFill>
                  <a:srgbClr val="000000"/>
                </a:solidFill>
                <a:latin typeface="Times New Roman" panose="02020603050405020304" pitchFamily="18" charset="0"/>
                <a:cs typeface="Times New Roman" panose="02020603050405020304" pitchFamily="18" charset="0"/>
                <a:sym typeface="Symbol" panose="05050102010706020507" pitchFamily="18" charset="2"/>
              </a:rPr>
              <a:t> </a:t>
            </a:r>
            <a:r>
              <a:rPr lang="ru-RU" altLang="en-US" sz="2400" dirty="0">
                <a:solidFill>
                  <a:srgbClr val="000000"/>
                </a:solidFill>
                <a:latin typeface="Times New Roman" panose="02020603050405020304" pitchFamily="18" charset="0"/>
                <a:cs typeface="Times New Roman" panose="02020603050405020304" pitchFamily="18" charset="0"/>
                <a:sym typeface="Symbol" panose="05050102010706020507" pitchFamily="18" charset="2"/>
              </a:rPr>
              <a:t></a:t>
            </a:r>
            <a:r>
              <a:rPr lang="en-US" altLang="en-US" sz="2400" baseline="-25000" dirty="0">
                <a:solidFill>
                  <a:srgbClr val="000000"/>
                </a:solidFill>
                <a:latin typeface="Times New Roman" panose="02020603050405020304" pitchFamily="18" charset="0"/>
                <a:cs typeface="Times New Roman" panose="02020603050405020304" pitchFamily="18" charset="0"/>
                <a:sym typeface="Symbol" panose="05050102010706020507" pitchFamily="18" charset="2"/>
              </a:rPr>
              <a:t>1 </a:t>
            </a:r>
            <a:r>
              <a:rPr lang="en-US" altLang="en-US" sz="2400" dirty="0">
                <a:solidFill>
                  <a:srgbClr val="000000"/>
                </a:solidFill>
                <a:latin typeface="Times New Roman" panose="02020603050405020304" pitchFamily="18" charset="0"/>
                <a:cs typeface="Times New Roman" panose="02020603050405020304" pitchFamily="18" charset="0"/>
                <a:sym typeface="Symbol" panose="05050102010706020507" pitchFamily="18" charset="2"/>
              </a:rPr>
              <a:t>~ </a:t>
            </a:r>
            <a:r>
              <a:rPr lang="ru-RU" altLang="en-US" sz="2400" dirty="0">
                <a:solidFill>
                  <a:srgbClr val="000000"/>
                </a:solidFill>
                <a:latin typeface="Times New Roman" panose="02020603050405020304" pitchFamily="18" charset="0"/>
                <a:cs typeface="Times New Roman" panose="02020603050405020304" pitchFamily="18" charset="0"/>
                <a:sym typeface="Symbol" panose="05050102010706020507" pitchFamily="18" charset="2"/>
              </a:rPr>
              <a:t></a:t>
            </a:r>
            <a:r>
              <a:rPr lang="en-US" altLang="en-US" sz="2400" baseline="-25000" dirty="0">
                <a:solidFill>
                  <a:srgbClr val="000000"/>
                </a:solidFill>
                <a:latin typeface="Times New Roman" panose="02020603050405020304" pitchFamily="18" charset="0"/>
                <a:cs typeface="Times New Roman" panose="02020603050405020304" pitchFamily="18" charset="0"/>
                <a:sym typeface="Symbol" panose="05050102010706020507" pitchFamily="18" charset="2"/>
              </a:rPr>
              <a:t>2</a:t>
            </a:r>
            <a:r>
              <a:rPr lang="en-US" altLang="en-US" sz="2000" dirty="0">
                <a:solidFill>
                  <a:srgbClr val="000000"/>
                </a:solidFill>
                <a:latin typeface="Times New Roman" panose="02020603050405020304" pitchFamily="18" charset="0"/>
                <a:cs typeface="Times New Roman" panose="02020603050405020304" pitchFamily="18" charset="0"/>
                <a:sym typeface="Symbol" panose="05050102010706020507" pitchFamily="18" charset="2"/>
              </a:rPr>
              <a:t>;</a:t>
            </a:r>
            <a:br>
              <a:rPr lang="en-US" altLang="en-US" sz="2000" dirty="0">
                <a:solidFill>
                  <a:srgbClr val="000000"/>
                </a:solidFill>
                <a:latin typeface="Times New Roman" panose="02020603050405020304" pitchFamily="18" charset="0"/>
                <a:cs typeface="Times New Roman" panose="02020603050405020304" pitchFamily="18" charset="0"/>
                <a:sym typeface="Symbol" panose="05050102010706020507" pitchFamily="18" charset="2"/>
              </a:rPr>
            </a:br>
            <a:r>
              <a:rPr lang="en-US" altLang="en-US" sz="2400" i="1" dirty="0">
                <a:solidFill>
                  <a:srgbClr val="000000"/>
                </a:solidFill>
                <a:latin typeface="Times New Roman" panose="02020603050405020304" pitchFamily="18" charset="0"/>
                <a:cs typeface="Times New Roman" panose="02020603050405020304" pitchFamily="18" charset="0"/>
                <a:sym typeface="Symbol" panose="05050102010706020507" pitchFamily="18" charset="2"/>
              </a:rPr>
              <a:t>E</a:t>
            </a:r>
            <a:r>
              <a:rPr lang="en-US" altLang="en-US" sz="2000" dirty="0">
                <a:solidFill>
                  <a:srgbClr val="000000"/>
                </a:solidFill>
                <a:latin typeface="Times New Roman" panose="02020603050405020304" pitchFamily="18" charset="0"/>
                <a:cs typeface="Times New Roman" panose="02020603050405020304" pitchFamily="18" charset="0"/>
                <a:sym typeface="Symbol" panose="05050102010706020507" pitchFamily="18" charset="2"/>
              </a:rPr>
              <a:t> increases in all directions</a:t>
            </a:r>
            <a:endParaRPr lang="ru-RU" altLang="en-US" sz="2000" dirty="0">
              <a:solidFill>
                <a:srgbClr val="000000"/>
              </a:solidFill>
              <a:latin typeface="Times New Roman" panose="02020603050405020304" pitchFamily="18" charset="0"/>
              <a:cs typeface="Times New Roman" panose="02020603050405020304" pitchFamily="18" charset="0"/>
              <a:sym typeface="Symbol" panose="05050102010706020507" pitchFamily="18" charset="2"/>
            </a:endParaRP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E2ACF3CE-A081-41A5-B30C-19FCE54ADB8B}"/>
              </a:ext>
            </a:extLst>
          </p:cNvPr>
          <p:cNvSpPr>
            <a:spLocks noChangeArrowheads="1"/>
          </p:cNvSpPr>
          <p:nvPr/>
        </p:nvSpPr>
        <p:spPr bwMode="auto">
          <a:xfrm>
            <a:off x="4457903" y="4960319"/>
            <a:ext cx="2362200" cy="113877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>
              <a:spcBef>
                <a:spcPct val="20000"/>
              </a:spcBef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–"/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»"/>
              <a:defRPr sz="16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14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>
              <a:spcBef>
                <a:spcPct val="0"/>
              </a:spcBef>
            </a:pPr>
            <a:r>
              <a:rPr lang="ru-RU" altLang="en-US" sz="2400" dirty="0">
                <a:solidFill>
                  <a:srgbClr val="000000"/>
                </a:solidFill>
                <a:latin typeface="Times New Roman" panose="02020603050405020304" pitchFamily="18" charset="0"/>
                <a:cs typeface="Times New Roman" panose="02020603050405020304" pitchFamily="18" charset="0"/>
                <a:sym typeface="Symbol" panose="05050102010706020507" pitchFamily="18" charset="2"/>
              </a:rPr>
              <a:t></a:t>
            </a:r>
            <a:r>
              <a:rPr lang="en-US" altLang="en-US" sz="2400" baseline="-25000" dirty="0">
                <a:solidFill>
                  <a:srgbClr val="000000"/>
                </a:solidFill>
                <a:latin typeface="Times New Roman" panose="02020603050405020304" pitchFamily="18" charset="0"/>
                <a:cs typeface="Times New Roman" panose="02020603050405020304" pitchFamily="18" charset="0"/>
                <a:sym typeface="Symbol" panose="05050102010706020507" pitchFamily="18" charset="2"/>
              </a:rPr>
              <a:t>1</a:t>
            </a:r>
            <a:r>
              <a:rPr lang="en-US" altLang="en-US" sz="2000" dirty="0">
                <a:solidFill>
                  <a:srgbClr val="000000"/>
                </a:solidFill>
                <a:latin typeface="Times New Roman" panose="02020603050405020304" pitchFamily="18" charset="0"/>
                <a:cs typeface="Times New Roman" panose="02020603050405020304" pitchFamily="18" charset="0"/>
                <a:sym typeface="Symbol" panose="05050102010706020507" pitchFamily="18" charset="2"/>
              </a:rPr>
              <a:t> and </a:t>
            </a:r>
            <a:r>
              <a:rPr lang="ru-RU" altLang="en-US" sz="2400" dirty="0">
                <a:solidFill>
                  <a:srgbClr val="000000"/>
                </a:solidFill>
                <a:latin typeface="Times New Roman" panose="02020603050405020304" pitchFamily="18" charset="0"/>
                <a:cs typeface="Times New Roman" panose="02020603050405020304" pitchFamily="18" charset="0"/>
                <a:sym typeface="Symbol" panose="05050102010706020507" pitchFamily="18" charset="2"/>
              </a:rPr>
              <a:t></a:t>
            </a:r>
            <a:r>
              <a:rPr lang="en-US" altLang="en-US" sz="2400" baseline="-25000" dirty="0">
                <a:solidFill>
                  <a:srgbClr val="000000"/>
                </a:solidFill>
                <a:latin typeface="Times New Roman" panose="02020603050405020304" pitchFamily="18" charset="0"/>
                <a:cs typeface="Times New Roman" panose="02020603050405020304" pitchFamily="18" charset="0"/>
                <a:sym typeface="Symbol" panose="05050102010706020507" pitchFamily="18" charset="2"/>
              </a:rPr>
              <a:t>2</a:t>
            </a:r>
            <a:r>
              <a:rPr lang="en-US" altLang="en-US" sz="2000" dirty="0">
                <a:solidFill>
                  <a:srgbClr val="000000"/>
                </a:solidFill>
                <a:latin typeface="Times New Roman" panose="02020603050405020304" pitchFamily="18" charset="0"/>
                <a:cs typeface="Times New Roman" panose="02020603050405020304" pitchFamily="18" charset="0"/>
                <a:sym typeface="Symbol" panose="05050102010706020507" pitchFamily="18" charset="2"/>
              </a:rPr>
              <a:t> are small;</a:t>
            </a:r>
            <a:br>
              <a:rPr lang="en-US" altLang="en-US" sz="2000" dirty="0">
                <a:solidFill>
                  <a:srgbClr val="000000"/>
                </a:solidFill>
                <a:latin typeface="Times New Roman" panose="02020603050405020304" pitchFamily="18" charset="0"/>
                <a:cs typeface="Times New Roman" panose="02020603050405020304" pitchFamily="18" charset="0"/>
                <a:sym typeface="Symbol" panose="05050102010706020507" pitchFamily="18" charset="2"/>
              </a:rPr>
            </a:br>
            <a:r>
              <a:rPr lang="en-US" altLang="en-US" sz="2400" i="1" dirty="0">
                <a:solidFill>
                  <a:srgbClr val="000000"/>
                </a:solidFill>
                <a:latin typeface="Times New Roman" panose="02020603050405020304" pitchFamily="18" charset="0"/>
                <a:cs typeface="Times New Roman" panose="02020603050405020304" pitchFamily="18" charset="0"/>
                <a:sym typeface="Symbol" panose="05050102010706020507" pitchFamily="18" charset="2"/>
              </a:rPr>
              <a:t>E</a:t>
            </a:r>
            <a:r>
              <a:rPr lang="en-US" altLang="en-US" sz="2000" dirty="0">
                <a:solidFill>
                  <a:srgbClr val="000000"/>
                </a:solidFill>
                <a:latin typeface="Times New Roman" panose="02020603050405020304" pitchFamily="18" charset="0"/>
                <a:cs typeface="Times New Roman" panose="02020603050405020304" pitchFamily="18" charset="0"/>
                <a:sym typeface="Symbol" panose="05050102010706020507" pitchFamily="18" charset="2"/>
              </a:rPr>
              <a:t> is almost constant in all directions</a:t>
            </a:r>
            <a:endParaRPr lang="ru-RU" altLang="en-US" sz="2000" dirty="0">
              <a:solidFill>
                <a:srgbClr val="000000"/>
              </a:solidFill>
              <a:latin typeface="Times New Roman" panose="02020603050405020304" pitchFamily="18" charset="0"/>
              <a:cs typeface="Times New Roman" panose="02020603050405020304" pitchFamily="18" charset="0"/>
              <a:sym typeface="Symbol" panose="05050102010706020507" pitchFamily="18" charset="2"/>
            </a:endParaRP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50ABD41D-0111-4DA7-9FF1-E73E426D5070}"/>
              </a:ext>
            </a:extLst>
          </p:cNvPr>
          <p:cNvSpPr>
            <a:spLocks noChangeArrowheads="1"/>
          </p:cNvSpPr>
          <p:nvPr/>
        </p:nvSpPr>
        <p:spPr bwMode="auto">
          <a:xfrm>
            <a:off x="10706303" y="5265119"/>
            <a:ext cx="1295400" cy="83099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>
              <a:spcBef>
                <a:spcPct val="20000"/>
              </a:spcBef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–"/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»"/>
              <a:defRPr sz="16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14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>
              <a:spcBef>
                <a:spcPct val="0"/>
              </a:spcBef>
            </a:pPr>
            <a:r>
              <a:rPr lang="en-US" altLang="en-US" sz="2400" dirty="0">
                <a:solidFill>
                  <a:srgbClr val="0033CC"/>
                </a:solidFill>
                <a:latin typeface="Times New Roman" panose="02020603050405020304" pitchFamily="18" charset="0"/>
                <a:cs typeface="Times New Roman" panose="02020603050405020304" pitchFamily="18" charset="0"/>
                <a:sym typeface="Symbol" panose="05050102010706020507" pitchFamily="18" charset="2"/>
              </a:rPr>
              <a:t>“Edge” </a:t>
            </a:r>
            <a:br>
              <a:rPr lang="en-US" altLang="en-US" sz="2400" dirty="0">
                <a:solidFill>
                  <a:srgbClr val="000000"/>
                </a:solidFill>
                <a:latin typeface="Times New Roman" panose="02020603050405020304" pitchFamily="18" charset="0"/>
                <a:cs typeface="Times New Roman" panose="02020603050405020304" pitchFamily="18" charset="0"/>
                <a:sym typeface="Symbol" panose="05050102010706020507" pitchFamily="18" charset="2"/>
              </a:rPr>
            </a:br>
            <a:r>
              <a:rPr lang="ru-RU" altLang="en-US" sz="2400" dirty="0">
                <a:solidFill>
                  <a:srgbClr val="000000"/>
                </a:solidFill>
                <a:latin typeface="Times New Roman" panose="02020603050405020304" pitchFamily="18" charset="0"/>
                <a:cs typeface="Times New Roman" panose="02020603050405020304" pitchFamily="18" charset="0"/>
                <a:sym typeface="Symbol" panose="05050102010706020507" pitchFamily="18" charset="2"/>
              </a:rPr>
              <a:t></a:t>
            </a:r>
            <a:r>
              <a:rPr lang="en-US" altLang="en-US" sz="2400" baseline="-25000" dirty="0">
                <a:solidFill>
                  <a:srgbClr val="000000"/>
                </a:solidFill>
                <a:latin typeface="Times New Roman" panose="02020603050405020304" pitchFamily="18" charset="0"/>
                <a:cs typeface="Times New Roman" panose="02020603050405020304" pitchFamily="18" charset="0"/>
                <a:sym typeface="Symbol" panose="05050102010706020507" pitchFamily="18" charset="2"/>
              </a:rPr>
              <a:t>1</a:t>
            </a:r>
            <a:r>
              <a:rPr lang="en-US" altLang="en-US" sz="2000" dirty="0">
                <a:solidFill>
                  <a:srgbClr val="000000"/>
                </a:solidFill>
                <a:latin typeface="Times New Roman" panose="02020603050405020304" pitchFamily="18" charset="0"/>
                <a:cs typeface="Times New Roman" panose="02020603050405020304" pitchFamily="18" charset="0"/>
                <a:sym typeface="Symbol" panose="05050102010706020507" pitchFamily="18" charset="2"/>
              </a:rPr>
              <a:t> &gt;&gt; </a:t>
            </a:r>
            <a:r>
              <a:rPr lang="ru-RU" altLang="en-US" sz="2400" dirty="0">
                <a:solidFill>
                  <a:srgbClr val="000000"/>
                </a:solidFill>
                <a:latin typeface="Times New Roman" panose="02020603050405020304" pitchFamily="18" charset="0"/>
                <a:cs typeface="Times New Roman" panose="02020603050405020304" pitchFamily="18" charset="0"/>
                <a:sym typeface="Symbol" panose="05050102010706020507" pitchFamily="18" charset="2"/>
              </a:rPr>
              <a:t></a:t>
            </a:r>
            <a:r>
              <a:rPr lang="en-US" altLang="en-US" sz="2400" baseline="-25000" dirty="0">
                <a:solidFill>
                  <a:srgbClr val="000000"/>
                </a:solidFill>
                <a:latin typeface="Times New Roman" panose="02020603050405020304" pitchFamily="18" charset="0"/>
                <a:cs typeface="Times New Roman" panose="02020603050405020304" pitchFamily="18" charset="0"/>
                <a:sym typeface="Symbol" panose="05050102010706020507" pitchFamily="18" charset="2"/>
              </a:rPr>
              <a:t>2</a:t>
            </a:r>
            <a:endParaRPr lang="ru-RU" altLang="en-US" sz="2000" dirty="0">
              <a:solidFill>
                <a:srgbClr val="000000"/>
              </a:solidFill>
              <a:latin typeface="Times New Roman" panose="02020603050405020304" pitchFamily="18" charset="0"/>
              <a:cs typeface="Times New Roman" panose="02020603050405020304" pitchFamily="18" charset="0"/>
              <a:sym typeface="Symbol" panose="05050102010706020507" pitchFamily="18" charset="2"/>
            </a:endParaRP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69FB0571-BF89-47CC-8CA4-0B5D637DCC13}"/>
              </a:ext>
            </a:extLst>
          </p:cNvPr>
          <p:cNvSpPr>
            <a:spLocks noChangeArrowheads="1"/>
          </p:cNvSpPr>
          <p:nvPr/>
        </p:nvSpPr>
        <p:spPr bwMode="auto">
          <a:xfrm>
            <a:off x="7658303" y="2064719"/>
            <a:ext cx="1295400" cy="83099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>
              <a:spcBef>
                <a:spcPct val="20000"/>
              </a:spcBef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–"/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»"/>
              <a:defRPr sz="16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14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>
              <a:spcBef>
                <a:spcPct val="0"/>
              </a:spcBef>
            </a:pPr>
            <a:r>
              <a:rPr lang="en-US" altLang="en-US" sz="2400" dirty="0">
                <a:solidFill>
                  <a:srgbClr val="0033CC"/>
                </a:solidFill>
                <a:latin typeface="Times New Roman" panose="02020603050405020304" pitchFamily="18" charset="0"/>
                <a:cs typeface="Times New Roman" panose="02020603050405020304" pitchFamily="18" charset="0"/>
                <a:sym typeface="Symbol" panose="05050102010706020507" pitchFamily="18" charset="2"/>
              </a:rPr>
              <a:t>“Edge” </a:t>
            </a:r>
            <a:br>
              <a:rPr lang="en-US" altLang="en-US" sz="2400" dirty="0">
                <a:solidFill>
                  <a:srgbClr val="000000"/>
                </a:solidFill>
                <a:latin typeface="Times New Roman" panose="02020603050405020304" pitchFamily="18" charset="0"/>
                <a:cs typeface="Times New Roman" panose="02020603050405020304" pitchFamily="18" charset="0"/>
                <a:sym typeface="Symbol" panose="05050102010706020507" pitchFamily="18" charset="2"/>
              </a:rPr>
            </a:br>
            <a:r>
              <a:rPr lang="ru-RU" altLang="en-US" sz="2400" dirty="0">
                <a:solidFill>
                  <a:srgbClr val="000000"/>
                </a:solidFill>
                <a:latin typeface="Times New Roman" panose="02020603050405020304" pitchFamily="18" charset="0"/>
                <a:cs typeface="Times New Roman" panose="02020603050405020304" pitchFamily="18" charset="0"/>
                <a:sym typeface="Symbol" panose="05050102010706020507" pitchFamily="18" charset="2"/>
              </a:rPr>
              <a:t></a:t>
            </a:r>
            <a:r>
              <a:rPr lang="en-US" altLang="en-US" sz="2400" baseline="-25000" dirty="0">
                <a:solidFill>
                  <a:srgbClr val="000000"/>
                </a:solidFill>
                <a:latin typeface="Times New Roman" panose="02020603050405020304" pitchFamily="18" charset="0"/>
                <a:cs typeface="Times New Roman" panose="02020603050405020304" pitchFamily="18" charset="0"/>
                <a:sym typeface="Symbol" panose="05050102010706020507" pitchFamily="18" charset="2"/>
              </a:rPr>
              <a:t>2</a:t>
            </a:r>
            <a:r>
              <a:rPr lang="en-US" altLang="en-US" sz="2000" dirty="0">
                <a:solidFill>
                  <a:srgbClr val="000000"/>
                </a:solidFill>
                <a:latin typeface="Times New Roman" panose="02020603050405020304" pitchFamily="18" charset="0"/>
                <a:cs typeface="Times New Roman" panose="02020603050405020304" pitchFamily="18" charset="0"/>
                <a:sym typeface="Symbol" panose="05050102010706020507" pitchFamily="18" charset="2"/>
              </a:rPr>
              <a:t> &gt;&gt; </a:t>
            </a:r>
            <a:r>
              <a:rPr lang="ru-RU" altLang="en-US" sz="2400" dirty="0">
                <a:solidFill>
                  <a:srgbClr val="000000"/>
                </a:solidFill>
                <a:latin typeface="Times New Roman" panose="02020603050405020304" pitchFamily="18" charset="0"/>
                <a:cs typeface="Times New Roman" panose="02020603050405020304" pitchFamily="18" charset="0"/>
                <a:sym typeface="Symbol" panose="05050102010706020507" pitchFamily="18" charset="2"/>
              </a:rPr>
              <a:t></a:t>
            </a:r>
            <a:r>
              <a:rPr lang="en-US" altLang="en-US" sz="2400" baseline="-25000" dirty="0">
                <a:solidFill>
                  <a:srgbClr val="000000"/>
                </a:solidFill>
                <a:latin typeface="Times New Roman" panose="02020603050405020304" pitchFamily="18" charset="0"/>
                <a:cs typeface="Times New Roman" panose="02020603050405020304" pitchFamily="18" charset="0"/>
                <a:sym typeface="Symbol" panose="05050102010706020507" pitchFamily="18" charset="2"/>
              </a:rPr>
              <a:t>1</a:t>
            </a:r>
            <a:endParaRPr lang="ru-RU" altLang="en-US" sz="2000" dirty="0">
              <a:solidFill>
                <a:srgbClr val="000000"/>
              </a:solidFill>
              <a:latin typeface="Times New Roman" panose="02020603050405020304" pitchFamily="18" charset="0"/>
              <a:cs typeface="Times New Roman" panose="02020603050405020304" pitchFamily="18" charset="0"/>
              <a:sym typeface="Symbol" panose="05050102010706020507" pitchFamily="18" charset="2"/>
            </a:endParaRP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9EFCBAFD-393F-4E84-BA21-BA2ED4711BA0}"/>
              </a:ext>
            </a:extLst>
          </p:cNvPr>
          <p:cNvSpPr>
            <a:spLocks noChangeArrowheads="1"/>
          </p:cNvSpPr>
          <p:nvPr/>
        </p:nvSpPr>
        <p:spPr bwMode="auto">
          <a:xfrm>
            <a:off x="7505903" y="5341319"/>
            <a:ext cx="1219200" cy="83099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>
              <a:spcBef>
                <a:spcPct val="20000"/>
              </a:spcBef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–"/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»"/>
              <a:defRPr sz="16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14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algn="ctr">
              <a:spcBef>
                <a:spcPct val="0"/>
              </a:spcBef>
            </a:pPr>
            <a:r>
              <a:rPr lang="en-US" altLang="en-US" sz="2400" dirty="0">
                <a:solidFill>
                  <a:srgbClr val="0033CC"/>
                </a:solidFill>
                <a:latin typeface="Times New Roman" panose="02020603050405020304" pitchFamily="18" charset="0"/>
                <a:cs typeface="Times New Roman" panose="02020603050405020304" pitchFamily="18" charset="0"/>
                <a:sym typeface="Symbol" panose="05050102010706020507" pitchFamily="18" charset="2"/>
              </a:rPr>
              <a:t>“Flat” region</a:t>
            </a:r>
            <a:endParaRPr lang="ru-RU" altLang="en-US" sz="2400" dirty="0">
              <a:solidFill>
                <a:srgbClr val="0033CC"/>
              </a:solidFill>
              <a:latin typeface="Times New Roman" panose="02020603050405020304" pitchFamily="18" charset="0"/>
              <a:cs typeface="Times New Roman" panose="02020603050405020304" pitchFamily="18" charset="0"/>
              <a:sym typeface="Symbol" panose="05050102010706020507" pitchFamily="18" charset="2"/>
            </a:endParaRPr>
          </a:p>
        </p:txBody>
      </p:sp>
      <p:sp>
        <p:nvSpPr>
          <p:cNvPr id="15" name="Oval 15">
            <a:extLst>
              <a:ext uri="{FF2B5EF4-FFF2-40B4-BE49-F238E27FC236}">
                <a16:creationId xmlns:a16="http://schemas.microsoft.com/office/drawing/2014/main" id="{45500BC7-8E30-43EF-8C9D-4900A4226B4E}"/>
              </a:ext>
            </a:extLst>
          </p:cNvPr>
          <p:cNvSpPr>
            <a:spLocks noChangeArrowheads="1"/>
          </p:cNvSpPr>
          <p:nvPr/>
        </p:nvSpPr>
        <p:spPr bwMode="auto">
          <a:xfrm>
            <a:off x="10477703" y="2293319"/>
            <a:ext cx="609600" cy="638175"/>
          </a:xfrm>
          <a:prstGeom prst="ellipse">
            <a:avLst/>
          </a:prstGeom>
          <a:solidFill>
            <a:srgbClr val="000099"/>
          </a:solidFill>
          <a:ln w="9525">
            <a:solidFill>
              <a:schemeClr val="tx1"/>
            </a:solidFill>
            <a:round/>
            <a:headEnd/>
            <a:tailEnd/>
          </a:ln>
        </p:spPr>
        <p:txBody>
          <a:bodyPr wrap="none" anchor="ctr"/>
          <a:lstStyle>
            <a:lvl1pPr>
              <a:spcBef>
                <a:spcPct val="20000"/>
              </a:spcBef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–"/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»"/>
              <a:defRPr sz="16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14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0" hangingPunct="0">
              <a:spcBef>
                <a:spcPct val="0"/>
              </a:spcBef>
            </a:pPr>
            <a:endParaRPr lang="en-US" altLang="en-US">
              <a:solidFill>
                <a:srgbClr val="000000"/>
              </a:solidFill>
              <a:cs typeface="Arial" panose="020B0604020202020204" pitchFamily="34" charset="0"/>
            </a:endParaRPr>
          </a:p>
        </p:txBody>
      </p:sp>
      <p:sp>
        <p:nvSpPr>
          <p:cNvPr id="16" name="Oval 16">
            <a:extLst>
              <a:ext uri="{FF2B5EF4-FFF2-40B4-BE49-F238E27FC236}">
                <a16:creationId xmlns:a16="http://schemas.microsoft.com/office/drawing/2014/main" id="{510B106E-47C0-4C95-9857-D9C027F92FF2}"/>
              </a:ext>
            </a:extLst>
          </p:cNvPr>
          <p:cNvSpPr>
            <a:spLocks noChangeArrowheads="1"/>
          </p:cNvSpPr>
          <p:nvPr/>
        </p:nvSpPr>
        <p:spPr bwMode="auto">
          <a:xfrm>
            <a:off x="7728153" y="1988519"/>
            <a:ext cx="927100" cy="125413"/>
          </a:xfrm>
          <a:prstGeom prst="ellipse">
            <a:avLst/>
          </a:prstGeom>
          <a:solidFill>
            <a:srgbClr val="000099"/>
          </a:solidFill>
          <a:ln w="9525">
            <a:solidFill>
              <a:schemeClr val="tx1"/>
            </a:solidFill>
            <a:round/>
            <a:headEnd/>
            <a:tailEnd/>
          </a:ln>
        </p:spPr>
        <p:txBody>
          <a:bodyPr wrap="none" anchor="ctr"/>
          <a:lstStyle>
            <a:lvl1pPr>
              <a:spcBef>
                <a:spcPct val="20000"/>
              </a:spcBef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–"/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»"/>
              <a:defRPr sz="16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14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0" hangingPunct="0">
              <a:spcBef>
                <a:spcPct val="0"/>
              </a:spcBef>
            </a:pPr>
            <a:endParaRPr lang="en-US" altLang="en-US">
              <a:solidFill>
                <a:srgbClr val="000000"/>
              </a:solidFill>
              <a:cs typeface="Arial" panose="020B0604020202020204" pitchFamily="34" charset="0"/>
            </a:endParaRPr>
          </a:p>
        </p:txBody>
      </p:sp>
      <p:sp>
        <p:nvSpPr>
          <p:cNvPr id="17" name="Oval 17">
            <a:extLst>
              <a:ext uri="{FF2B5EF4-FFF2-40B4-BE49-F238E27FC236}">
                <a16:creationId xmlns:a16="http://schemas.microsoft.com/office/drawing/2014/main" id="{017F2858-082D-4EEA-BD76-E76719A29060}"/>
              </a:ext>
            </a:extLst>
          </p:cNvPr>
          <p:cNvSpPr>
            <a:spLocks noChangeArrowheads="1"/>
          </p:cNvSpPr>
          <p:nvPr/>
        </p:nvSpPr>
        <p:spPr bwMode="auto">
          <a:xfrm>
            <a:off x="7810703" y="5112718"/>
            <a:ext cx="152400" cy="152400"/>
          </a:xfrm>
          <a:prstGeom prst="ellipse">
            <a:avLst/>
          </a:prstGeom>
          <a:solidFill>
            <a:srgbClr val="000099"/>
          </a:solidFill>
          <a:ln w="9525">
            <a:solidFill>
              <a:schemeClr val="tx1"/>
            </a:solidFill>
            <a:round/>
            <a:headEnd/>
            <a:tailEnd/>
          </a:ln>
        </p:spPr>
        <p:txBody>
          <a:bodyPr wrap="none" anchor="ctr"/>
          <a:lstStyle>
            <a:lvl1pPr>
              <a:spcBef>
                <a:spcPct val="20000"/>
              </a:spcBef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–"/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»"/>
              <a:defRPr sz="16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14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0" hangingPunct="0">
              <a:spcBef>
                <a:spcPct val="0"/>
              </a:spcBef>
            </a:pPr>
            <a:endParaRPr lang="en-US" altLang="en-US">
              <a:solidFill>
                <a:srgbClr val="000000"/>
              </a:solidFill>
              <a:cs typeface="Arial" panose="020B0604020202020204" pitchFamily="34" charset="0"/>
            </a:endParaRPr>
          </a:p>
        </p:txBody>
      </p:sp>
      <p:sp>
        <p:nvSpPr>
          <p:cNvPr id="18" name="Oval 18">
            <a:extLst>
              <a:ext uri="{FF2B5EF4-FFF2-40B4-BE49-F238E27FC236}">
                <a16:creationId xmlns:a16="http://schemas.microsoft.com/office/drawing/2014/main" id="{8430FEC0-4DF0-461D-B6FC-0E8FCABF2394}"/>
              </a:ext>
            </a:extLst>
          </p:cNvPr>
          <p:cNvSpPr>
            <a:spLocks noChangeArrowheads="1"/>
          </p:cNvSpPr>
          <p:nvPr/>
        </p:nvSpPr>
        <p:spPr bwMode="auto">
          <a:xfrm rot="5542000">
            <a:off x="10194335" y="5716762"/>
            <a:ext cx="927100" cy="125413"/>
          </a:xfrm>
          <a:prstGeom prst="ellipse">
            <a:avLst/>
          </a:prstGeom>
          <a:solidFill>
            <a:srgbClr val="000099"/>
          </a:solidFill>
          <a:ln w="9525">
            <a:solidFill>
              <a:schemeClr val="tx1"/>
            </a:solidFill>
            <a:round/>
            <a:headEnd/>
            <a:tailEnd/>
          </a:ln>
        </p:spPr>
        <p:txBody>
          <a:bodyPr wrap="none" anchor="ctr"/>
          <a:lstStyle>
            <a:lvl1pPr>
              <a:spcBef>
                <a:spcPct val="20000"/>
              </a:spcBef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–"/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»"/>
              <a:defRPr sz="16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14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0" hangingPunct="0">
              <a:spcBef>
                <a:spcPct val="0"/>
              </a:spcBef>
            </a:pPr>
            <a:endParaRPr lang="en-US" altLang="en-US">
              <a:solidFill>
                <a:srgbClr val="000000"/>
              </a:solidFill>
              <a:cs typeface="Arial" panose="020B0604020202020204" pitchFamily="34" charset="0"/>
            </a:endParaRPr>
          </a:p>
        </p:txBody>
      </p:sp>
      <p:sp>
        <p:nvSpPr>
          <p:cNvPr id="19" name="Footer Placeholder 4">
            <a:extLst>
              <a:ext uri="{FF2B5EF4-FFF2-40B4-BE49-F238E27FC236}">
                <a16:creationId xmlns:a16="http://schemas.microsoft.com/office/drawing/2014/main" id="{18585DD4-06D0-4988-A918-163F911D9F3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5956503" y="6431930"/>
            <a:ext cx="3860800" cy="365125"/>
          </a:xfrm>
        </p:spPr>
        <p:txBody>
          <a:bodyPr/>
          <a:lstStyle/>
          <a:p>
            <a:pPr>
              <a:defRPr/>
            </a:pPr>
            <a:r>
              <a:rPr lang="de-DE" dirty="0"/>
              <a:t>Credit, K. Grauman, B. Leibe</a:t>
            </a:r>
          </a:p>
        </p:txBody>
      </p:sp>
    </p:spTree>
    <p:extLst>
      <p:ext uri="{BB962C8B-B14F-4D97-AF65-F5344CB8AC3E}">
        <p14:creationId xmlns:p14="http://schemas.microsoft.com/office/powerpoint/2010/main" val="370581556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animBg="1"/>
      <p:bldP spid="8" grpId="0" animBg="1"/>
      <p:bldP spid="9" grpId="0" animBg="1"/>
      <p:bldP spid="10" grpId="0"/>
      <p:bldP spid="11" grpId="0"/>
      <p:bldP spid="12" grpId="0"/>
      <p:bldP spid="13" grpId="0"/>
      <p:bldP spid="14" grpId="0"/>
      <p:bldP spid="15" grpId="0" animBg="1"/>
      <p:bldP spid="16" grpId="0" animBg="1"/>
      <p:bldP spid="17" grpId="0" animBg="1"/>
      <p:bldP spid="18" grpId="0" animBg="1"/>
    </p:bldLst>
  </p:timing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46856AD-D906-FEFD-7FD8-7B84DF60675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algn="ctr"/>
            <a:r>
              <a:rPr lang="en-US" sz="4000" dirty="0"/>
              <a:t>Dealing with Scale</a:t>
            </a:r>
          </a:p>
        </p:txBody>
      </p:sp>
    </p:spTree>
    <p:extLst>
      <p:ext uri="{BB962C8B-B14F-4D97-AF65-F5344CB8AC3E}">
        <p14:creationId xmlns:p14="http://schemas.microsoft.com/office/powerpoint/2010/main" val="1434118685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DFB6AB4-96EB-434D-8BFC-6697DE744D7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89301" y="140193"/>
            <a:ext cx="10515600" cy="872004"/>
          </a:xfrm>
        </p:spPr>
        <p:txBody>
          <a:bodyPr>
            <a:normAutofit/>
          </a:bodyPr>
          <a:lstStyle/>
          <a:p>
            <a:r>
              <a:rPr lang="en-US" sz="4000" dirty="0">
                <a:latin typeface="+mn-lt"/>
              </a:rPr>
              <a:t>Problem with scale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DBC6555-A8E7-4F73-8035-156F702D141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89301" y="1012197"/>
            <a:ext cx="10828958" cy="1250236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dirty="0"/>
              <a:t>How does the gradient change with feature scale </a:t>
            </a:r>
          </a:p>
          <a:p>
            <a:r>
              <a:rPr lang="en-US" dirty="0"/>
              <a:t>Gradient is not scale independent   </a:t>
            </a:r>
          </a:p>
          <a:p>
            <a:endParaRPr lang="en-US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DA42E8F8-16E0-4064-AE83-94B42D13DC6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978130" y="3453152"/>
            <a:ext cx="590601" cy="522015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1EFBAF75-7568-4D9C-8B97-95F22239EFA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930636" y="3561730"/>
            <a:ext cx="2362405" cy="1867062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8233CDC8-50D2-49D3-990B-403525B16E1D}"/>
              </a:ext>
            </a:extLst>
          </p:cNvPr>
          <p:cNvSpPr txBox="1"/>
          <p:nvPr/>
        </p:nvSpPr>
        <p:spPr>
          <a:xfrm>
            <a:off x="7450661" y="4547600"/>
            <a:ext cx="3469064" cy="224676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800" dirty="0"/>
              <a:t>2. Hessian is </a:t>
            </a:r>
            <a:r>
              <a:rPr lang="en-US" sz="2800" b="1" dirty="0"/>
              <a:t>not translation invariant, only one large eigenvalue, no inverse!  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A3D12E6D-CA7E-4FBE-A550-2D94A8B0651C}"/>
              </a:ext>
            </a:extLst>
          </p:cNvPr>
          <p:cNvSpPr txBox="1"/>
          <p:nvPr/>
        </p:nvSpPr>
        <p:spPr>
          <a:xfrm>
            <a:off x="1236482" y="4604995"/>
            <a:ext cx="3469064" cy="95410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800" dirty="0"/>
              <a:t>1. Hessian has two large eigenvalues </a:t>
            </a:r>
          </a:p>
        </p:txBody>
      </p:sp>
      <p:sp>
        <p:nvSpPr>
          <p:cNvPr id="10" name="Arrow: Right 9">
            <a:extLst>
              <a:ext uri="{FF2B5EF4-FFF2-40B4-BE49-F238E27FC236}">
                <a16:creationId xmlns:a16="http://schemas.microsoft.com/office/drawing/2014/main" id="{5D8AB2A0-9F44-4BDB-B569-6F077ED1709F}"/>
              </a:ext>
            </a:extLst>
          </p:cNvPr>
          <p:cNvSpPr/>
          <p:nvPr/>
        </p:nvSpPr>
        <p:spPr>
          <a:xfrm>
            <a:off x="4128940" y="3429000"/>
            <a:ext cx="2422690" cy="546167"/>
          </a:xfrm>
          <a:prstGeom prst="rightArrow">
            <a:avLst/>
          </a:prstGeom>
          <a:noFill/>
          <a:ln w="317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9511932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/>
      <p:bldP spid="9" grpId="0"/>
      <p:bldP spid="10" grpId="0" animBg="1"/>
    </p:bldLst>
  </p:timing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DFB6AB4-96EB-434D-8BFC-6697DE744D7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89301" y="140193"/>
            <a:ext cx="10515600" cy="872004"/>
          </a:xfrm>
        </p:spPr>
        <p:txBody>
          <a:bodyPr>
            <a:normAutofit/>
          </a:bodyPr>
          <a:lstStyle/>
          <a:p>
            <a:r>
              <a:rPr lang="en-US" sz="4000" dirty="0">
                <a:latin typeface="+mn-lt"/>
              </a:rPr>
              <a:t>Multi-Scale Feature Identification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DBC6555-A8E7-4F73-8035-156F702D141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89301" y="1012197"/>
            <a:ext cx="5894303" cy="5705610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b="1" dirty="0"/>
              <a:t> </a:t>
            </a:r>
            <a:r>
              <a:rPr lang="en-US" dirty="0"/>
              <a:t>Pyramid structure enables extraction of interest points at several scales  </a:t>
            </a:r>
          </a:p>
          <a:p>
            <a:r>
              <a:rPr lang="en-US" dirty="0"/>
              <a:t>Pyramid scales from fine to coarse in octaves </a:t>
            </a:r>
          </a:p>
          <a:p>
            <a:r>
              <a:rPr lang="en-US" dirty="0"/>
              <a:t>Features at each scale extracted</a:t>
            </a:r>
          </a:p>
          <a:p>
            <a:r>
              <a:rPr lang="en-US" dirty="0"/>
              <a:t>Allow flow to be computed at several scales </a:t>
            </a:r>
          </a:p>
          <a:p>
            <a:r>
              <a:rPr lang="en-US" dirty="0"/>
              <a:t>Small motion is scale dependent, so get wider range of velocities </a:t>
            </a:r>
          </a:p>
          <a:p>
            <a:pPr lvl="1"/>
            <a:endParaRPr lang="en-US" dirty="0"/>
          </a:p>
          <a:p>
            <a:pPr lvl="1"/>
            <a:endParaRPr lang="en-US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591E6667-5C9B-4274-9D2A-0AD26F2F498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030144" y="2598271"/>
            <a:ext cx="4801752" cy="2269485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F0CC3EDD-2DD5-465A-AC42-2E2562C6DD59}"/>
              </a:ext>
            </a:extLst>
          </p:cNvPr>
          <p:cNvSpPr txBox="1"/>
          <p:nvPr/>
        </p:nvSpPr>
        <p:spPr>
          <a:xfrm>
            <a:off x="10850252" y="3733014"/>
            <a:ext cx="362932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800" dirty="0"/>
              <a:t>x</a:t>
            </a:r>
          </a:p>
        </p:txBody>
      </p:sp>
    </p:spTree>
    <p:extLst>
      <p:ext uri="{BB962C8B-B14F-4D97-AF65-F5344CB8AC3E}">
        <p14:creationId xmlns:p14="http://schemas.microsoft.com/office/powerpoint/2010/main" val="122989985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46856AD-D906-FEFD-7FD8-7B84DF60675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algn="ctr"/>
            <a:r>
              <a:rPr lang="en-US" sz="4000" dirty="0"/>
              <a:t>Depth and Motion in 3D</a:t>
            </a:r>
          </a:p>
        </p:txBody>
      </p:sp>
    </p:spTree>
    <p:extLst>
      <p:ext uri="{BB962C8B-B14F-4D97-AF65-F5344CB8AC3E}">
        <p14:creationId xmlns:p14="http://schemas.microsoft.com/office/powerpoint/2010/main" val="3108386336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DFB6AB4-96EB-434D-8BFC-6697DE744D7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89301" y="140193"/>
            <a:ext cx="10515600" cy="872004"/>
          </a:xfrm>
        </p:spPr>
        <p:txBody>
          <a:bodyPr>
            <a:normAutofit/>
          </a:bodyPr>
          <a:lstStyle/>
          <a:p>
            <a:r>
              <a:rPr lang="en-US" sz="4000" dirty="0">
                <a:latin typeface="+mn-lt"/>
              </a:rPr>
              <a:t>Depth and Motion In 3D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DBC6555-A8E7-4F73-8035-156F702D141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89301" y="1124339"/>
            <a:ext cx="10515600" cy="5593468"/>
          </a:xfrm>
        </p:spPr>
        <p:txBody>
          <a:bodyPr/>
          <a:lstStyle/>
          <a:p>
            <a:pPr marL="0" indent="0">
              <a:buNone/>
            </a:pPr>
            <a:r>
              <a:rPr lang="en-US" dirty="0"/>
              <a:t>Disparity can be computed using images from multiple camera poses    </a:t>
            </a:r>
          </a:p>
          <a:p>
            <a:r>
              <a:rPr lang="en-US" dirty="0"/>
              <a:t>We have investigated disparity estimation using a fixed stereo camera array</a:t>
            </a:r>
          </a:p>
          <a:p>
            <a:r>
              <a:rPr lang="en-US" dirty="0"/>
              <a:t>But, can we estimate disparity by changing the pose of a single camera?    </a:t>
            </a:r>
          </a:p>
          <a:p>
            <a:r>
              <a:rPr lang="en-US" dirty="0"/>
              <a:t>Yes! </a:t>
            </a:r>
          </a:p>
          <a:p>
            <a:r>
              <a:rPr lang="en-US" dirty="0"/>
              <a:t>We can estimate depth from changing camera poses </a:t>
            </a:r>
          </a:p>
          <a:p>
            <a:r>
              <a:rPr lang="en-US" dirty="0">
                <a:solidFill>
                  <a:schemeClr val="accent2"/>
                </a:solidFill>
              </a:rPr>
              <a:t>For additional details see Chapter 47 of Torralba, Isola and Freeman</a:t>
            </a:r>
          </a:p>
        </p:txBody>
      </p:sp>
    </p:spTree>
    <p:extLst>
      <p:ext uri="{BB962C8B-B14F-4D97-AF65-F5344CB8AC3E}">
        <p14:creationId xmlns:p14="http://schemas.microsoft.com/office/powerpoint/2010/main" val="278916951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210E42A-D68E-2C41-C376-25BECDF7F7B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20A6EF6-9C8A-D4F4-17BD-CF1F5A2C2D9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89301" y="140193"/>
            <a:ext cx="10515600" cy="872004"/>
          </a:xfrm>
        </p:spPr>
        <p:txBody>
          <a:bodyPr>
            <a:normAutofit/>
          </a:bodyPr>
          <a:lstStyle/>
          <a:p>
            <a:r>
              <a:rPr lang="en-US" sz="4000" dirty="0">
                <a:latin typeface="+mn-lt"/>
              </a:rPr>
              <a:t>Depth and Motion In 3D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68CF4266-328D-1436-ED8C-9FDF9D4328B2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789301" y="1124339"/>
                <a:ext cx="10515600" cy="5593468"/>
              </a:xfrm>
            </p:spPr>
            <p:txBody>
              <a:bodyPr>
                <a:normAutofit/>
              </a:bodyPr>
              <a:lstStyle/>
              <a:p>
                <a:pPr marL="0" indent="0">
                  <a:buNone/>
                </a:pPr>
                <a:r>
                  <a:rPr lang="en-US" dirty="0"/>
                  <a:t>Let’s start by defining some notation to simplify the problem   </a:t>
                </a:r>
              </a:p>
              <a:p>
                <a:r>
                  <a:rPr lang="en-US" dirty="0"/>
                  <a:t>The velocity vector in the 3-D space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1" i="1" smtClean="0">
                          <a:latin typeface="Cambria Math" panose="02040503050406030204" pitchFamily="18" charset="0"/>
                        </a:rPr>
                        <m:t>𝑽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</m:t>
                      </m:r>
                      <m:d>
                        <m:dPr>
                          <m:begChr m:val="["/>
                          <m:endChr m:val="]"/>
                          <m:ctrlPr>
                            <a:rPr lang="en-US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m>
                            <m:mPr>
                              <m:mcs>
                                <m:mc>
                                  <m:mcPr>
                                    <m:count m:val="1"/>
                                    <m:mcJc m:val="center"/>
                                  </m:mcPr>
                                </m:mc>
                              </m:mcs>
                              <m:ctrlPr>
                                <a:rPr lang="en-US" i="1" smtClean="0">
                                  <a:latin typeface="Cambria Math" panose="02040503050406030204" pitchFamily="18" charset="0"/>
                                </a:rPr>
                              </m:ctrlPr>
                            </m:mPr>
                            <m:mr>
                              <m:e>
                                <m:r>
                                  <m:rPr>
                                    <m:brk m:alnAt="7"/>
                                  </m:rP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  <m:t>𝑢</m:t>
                                </m:r>
                              </m:e>
                            </m:mr>
                            <m:mr>
                              <m:e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  <m:t>𝑣</m:t>
                                </m:r>
                              </m:e>
                            </m:mr>
                            <m:mr>
                              <m:e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  <m:t>𝑤</m:t>
                                </m:r>
                              </m:e>
                            </m:mr>
                          </m:m>
                        </m:e>
                      </m:d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n-US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𝑑</m:t>
                          </m:r>
                          <m:r>
                            <a:rPr lang="en-US" b="1" i="1">
                              <a:latin typeface="Cambria Math" panose="02040503050406030204" pitchFamily="18" charset="0"/>
                            </a:rPr>
                            <m:t>𝑿</m:t>
                          </m:r>
                        </m:num>
                        <m:den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𝑑𝑡</m:t>
                          </m:r>
                        </m:den>
                      </m:f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</m:t>
                      </m:r>
                      <m:d>
                        <m:dPr>
                          <m:begChr m:val="["/>
                          <m:endChr m:val="]"/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m>
                            <m:mPr>
                              <m:mcs>
                                <m:mc>
                                  <m:mcPr>
                                    <m:count m:val="1"/>
                                    <m:mcJc m:val="center"/>
                                  </m:mcPr>
                                </m:mc>
                              </m:mcs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mPr>
                            <m:mr>
                              <m:e>
                                <m:f>
                                  <m:fPr>
                                    <m:ctrlPr>
                                      <a:rPr lang="en-US" i="1">
                                        <a:latin typeface="Cambria Math" panose="02040503050406030204" pitchFamily="18" charset="0"/>
                                      </a:rPr>
                                    </m:ctrlPr>
                                  </m:fPr>
                                  <m:num>
                                    <m:r>
                                      <a:rPr lang="en-US" i="1">
                                        <a:latin typeface="Cambria Math" panose="02040503050406030204" pitchFamily="18" charset="0"/>
                                      </a:rPr>
                                      <m:t>𝑑</m:t>
                                    </m:r>
                                    <m:r>
                                      <a:rPr lang="en-US" b="0" i="1" smtClean="0">
                                        <a:latin typeface="Cambria Math" panose="02040503050406030204" pitchFamily="18" charset="0"/>
                                      </a:rPr>
                                      <m:t>𝑋</m:t>
                                    </m:r>
                                  </m:num>
                                  <m:den>
                                    <m:r>
                                      <a:rPr lang="en-US" i="1">
                                        <a:latin typeface="Cambria Math" panose="02040503050406030204" pitchFamily="18" charset="0"/>
                                      </a:rPr>
                                      <m:t>𝑑𝑡</m:t>
                                    </m:r>
                                  </m:den>
                                </m:f>
                              </m:e>
                            </m:mr>
                            <m:mr>
                              <m:e>
                                <m:f>
                                  <m:fPr>
                                    <m:ctrlPr>
                                      <a:rPr lang="en-US" i="1">
                                        <a:latin typeface="Cambria Math" panose="02040503050406030204" pitchFamily="18" charset="0"/>
                                      </a:rPr>
                                    </m:ctrlPr>
                                  </m:fPr>
                                  <m:num>
                                    <m:r>
                                      <a:rPr lang="en-US" i="1">
                                        <a:latin typeface="Cambria Math" panose="02040503050406030204" pitchFamily="18" charset="0"/>
                                      </a:rPr>
                                      <m:t>𝑑</m:t>
                                    </m:r>
                                    <m:r>
                                      <a:rPr lang="en-US" b="0" i="1" smtClean="0">
                                        <a:latin typeface="Cambria Math" panose="02040503050406030204" pitchFamily="18" charset="0"/>
                                      </a:rPr>
                                      <m:t>𝑌</m:t>
                                    </m:r>
                                  </m:num>
                                  <m:den>
                                    <m:r>
                                      <a:rPr lang="en-US" i="1">
                                        <a:latin typeface="Cambria Math" panose="02040503050406030204" pitchFamily="18" charset="0"/>
                                      </a:rPr>
                                      <m:t>𝑑𝑡</m:t>
                                    </m:r>
                                  </m:den>
                                </m:f>
                              </m:e>
                            </m:mr>
                            <m:mr>
                              <m:e>
                                <m:f>
                                  <m:fPr>
                                    <m:ctrlPr>
                                      <a:rPr lang="en-US" i="1">
                                        <a:latin typeface="Cambria Math" panose="02040503050406030204" pitchFamily="18" charset="0"/>
                                      </a:rPr>
                                    </m:ctrlPr>
                                  </m:fPr>
                                  <m:num>
                                    <m:r>
                                      <a:rPr lang="en-US" i="1">
                                        <a:latin typeface="Cambria Math" panose="02040503050406030204" pitchFamily="18" charset="0"/>
                                      </a:rPr>
                                      <m:t>𝑑</m:t>
                                    </m:r>
                                    <m:r>
                                      <a:rPr lang="en-US" b="0" i="1" smtClean="0">
                                        <a:latin typeface="Cambria Math" panose="02040503050406030204" pitchFamily="18" charset="0"/>
                                      </a:rPr>
                                      <m:t>𝑍</m:t>
                                    </m:r>
                                  </m:num>
                                  <m:den>
                                    <m:r>
                                      <a:rPr lang="en-US" i="1">
                                        <a:latin typeface="Cambria Math" panose="02040503050406030204" pitchFamily="18" charset="0"/>
                                      </a:rPr>
                                      <m:t>𝑑𝑡</m:t>
                                    </m:r>
                                  </m:den>
                                </m:f>
                              </m:e>
                            </m:mr>
                          </m:m>
                        </m:e>
                      </m:d>
                    </m:oMath>
                  </m:oMathPara>
                </a14:m>
                <a:endParaRPr lang="en-US" dirty="0"/>
              </a:p>
              <a:p>
                <a:r>
                  <a:rPr lang="en-US" dirty="0"/>
                  <a:t>The velocity on the image plane, the optical flow</a:t>
                </a:r>
              </a:p>
              <a:p>
                <a:pPr marL="0" indent="0">
                  <a:buNone/>
                </a:pPr>
                <a:endParaRPr lang="en-US" sz="1100" dirty="0"/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1" i="1" smtClean="0">
                          <a:latin typeface="Cambria Math" panose="02040503050406030204" pitchFamily="18" charset="0"/>
                        </a:rPr>
                        <m:t>𝒗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</m:t>
                      </m:r>
                      <m:d>
                        <m:dPr>
                          <m:begChr m:val="["/>
                          <m:endChr m:val="]"/>
                          <m:ctrlPr>
                            <a:rPr lang="en-US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m>
                            <m:mPr>
                              <m:mcs>
                                <m:mc>
                                  <m:mcPr>
                                    <m:count m:val="1"/>
                                    <m:mcJc m:val="center"/>
                                  </m:mcPr>
                                </m:mc>
                              </m:mcs>
                              <m:ctrlPr>
                                <a:rPr lang="en-US" i="1" smtClean="0">
                                  <a:latin typeface="Cambria Math" panose="02040503050406030204" pitchFamily="18" charset="0"/>
                                </a:rPr>
                              </m:ctrlPr>
                            </m:mPr>
                            <m:mr>
                              <m:e>
                                <m:acc>
                                  <m:accPr>
                                    <m:chr m:val="̇"/>
                                    <m:ctrlPr>
                                      <a:rPr lang="en-US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accPr>
                                  <m:e>
                                    <m:r>
                                      <a:rPr lang="en-US" b="0" i="1" smtClean="0">
                                        <a:latin typeface="Cambria Math" panose="02040503050406030204" pitchFamily="18" charset="0"/>
                                      </a:rPr>
                                      <m:t>𝑥</m:t>
                                    </m:r>
                                  </m:e>
                                </m:acc>
                              </m:e>
                            </m:mr>
                            <m:mr>
                              <m:e>
                                <m:acc>
                                  <m:accPr>
                                    <m:chr m:val="̇"/>
                                    <m:ctrlPr>
                                      <a:rPr lang="en-US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accPr>
                                  <m:e>
                                    <m:r>
                                      <a:rPr lang="en-US" b="0" i="1" smtClean="0">
                                        <a:latin typeface="Cambria Math" panose="02040503050406030204" pitchFamily="18" charset="0"/>
                                      </a:rPr>
                                      <m:t>𝑦</m:t>
                                    </m:r>
                                  </m:e>
                                </m:acc>
                              </m:e>
                            </m:mr>
                          </m:m>
                        </m:e>
                      </m:d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𝑑</m:t>
                          </m:r>
                          <m:r>
                            <a:rPr lang="en-US" b="1" i="1">
                              <a:latin typeface="Cambria Math" panose="02040503050406030204" pitchFamily="18" charset="0"/>
                            </a:rPr>
                            <m:t>𝒙</m:t>
                          </m:r>
                        </m:num>
                        <m:den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𝑑𝑡</m:t>
                          </m:r>
                        </m:den>
                      </m:f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</m:t>
                      </m:r>
                      <m:d>
                        <m:dPr>
                          <m:begChr m:val="["/>
                          <m:endChr m:val="]"/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m>
                            <m:mPr>
                              <m:mcs>
                                <m:mc>
                                  <m:mcPr>
                                    <m:count m:val="1"/>
                                    <m:mcJc m:val="center"/>
                                  </m:mcPr>
                                </m:mc>
                              </m:mcs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mPr>
                            <m:mr>
                              <m:e>
                                <m:f>
                                  <m:fPr>
                                    <m:ctrlPr>
                                      <a:rPr lang="en-US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fPr>
                                  <m:num>
                                    <m:r>
                                      <a:rPr lang="en-US" b="0" i="1" smtClean="0">
                                        <a:latin typeface="Cambria Math" panose="02040503050406030204" pitchFamily="18" charset="0"/>
                                      </a:rPr>
                                      <m:t>𝑑𝑥</m:t>
                                    </m:r>
                                  </m:num>
                                  <m:den>
                                    <m:r>
                                      <a:rPr lang="en-US" b="0" i="1" smtClean="0">
                                        <a:latin typeface="Cambria Math" panose="02040503050406030204" pitchFamily="18" charset="0"/>
                                      </a:rPr>
                                      <m:t>𝑑𝑡</m:t>
                                    </m:r>
                                  </m:den>
                                </m:f>
                              </m:e>
                            </m:mr>
                            <m:mr>
                              <m:e>
                                <m:f>
                                  <m:fPr>
                                    <m:ctrlPr>
                                      <a:rPr lang="en-US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fPr>
                                  <m:num>
                                    <m:r>
                                      <a:rPr lang="en-US" b="0" i="1" smtClean="0">
                                        <a:latin typeface="Cambria Math" panose="02040503050406030204" pitchFamily="18" charset="0"/>
                                      </a:rPr>
                                      <m:t>𝑑𝑦</m:t>
                                    </m:r>
                                  </m:num>
                                  <m:den>
                                    <m:r>
                                      <a:rPr lang="en-US" b="0" i="1" smtClean="0">
                                        <a:latin typeface="Cambria Math" panose="02040503050406030204" pitchFamily="18" charset="0"/>
                                      </a:rPr>
                                      <m:t>𝑑𝑡</m:t>
                                    </m:r>
                                  </m:den>
                                </m:f>
                              </m:e>
                            </m:mr>
                          </m:m>
                        </m:e>
                      </m:d>
                    </m:oMath>
                  </m:oMathPara>
                </a14:m>
                <a:endParaRPr lang="en-US" dirty="0"/>
              </a:p>
            </p:txBody>
          </p:sp>
        </mc:Choice>
        <mc:Fallback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68CF4266-328D-1436-ED8C-9FDF9D4328B2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789301" y="1124339"/>
                <a:ext cx="10515600" cy="5593468"/>
              </a:xfrm>
              <a:blipFill>
                <a:blip r:embed="rId3"/>
                <a:stretch>
                  <a:fillRect l="-1159" t="-174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58638756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C30370E-7422-5691-D8CE-1B3996580D8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Parallelogram 3">
            <a:extLst>
              <a:ext uri="{FF2B5EF4-FFF2-40B4-BE49-F238E27FC236}">
                <a16:creationId xmlns:a16="http://schemas.microsoft.com/office/drawing/2014/main" id="{C0A5700E-9D45-0A8D-D2A0-EB7076706357}"/>
              </a:ext>
            </a:extLst>
          </p:cNvPr>
          <p:cNvSpPr/>
          <p:nvPr/>
        </p:nvSpPr>
        <p:spPr>
          <a:xfrm rot="9954247">
            <a:off x="1757285" y="3005278"/>
            <a:ext cx="3624332" cy="2830316"/>
          </a:xfrm>
          <a:prstGeom prst="parallelogram">
            <a:avLst/>
          </a:prstGeom>
          <a:solidFill>
            <a:schemeClr val="bg2">
              <a:lumMod val="9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54" name="Straight Arrow Connector 53">
            <a:extLst>
              <a:ext uri="{FF2B5EF4-FFF2-40B4-BE49-F238E27FC236}">
                <a16:creationId xmlns:a16="http://schemas.microsoft.com/office/drawing/2014/main" id="{3CA38E16-EFE5-849F-BA24-81D1BB6778CD}"/>
              </a:ext>
            </a:extLst>
          </p:cNvPr>
          <p:cNvCxnSpPr>
            <a:cxnSpLocks/>
          </p:cNvCxnSpPr>
          <p:nvPr/>
        </p:nvCxnSpPr>
        <p:spPr>
          <a:xfrm flipV="1">
            <a:off x="3149295" y="4450626"/>
            <a:ext cx="325425" cy="458491"/>
          </a:xfrm>
          <a:prstGeom prst="straightConnector1">
            <a:avLst/>
          </a:prstGeom>
          <a:ln w="53975">
            <a:solidFill>
              <a:srgbClr val="C0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" name="Oval 4">
            <a:extLst>
              <a:ext uri="{FF2B5EF4-FFF2-40B4-BE49-F238E27FC236}">
                <a16:creationId xmlns:a16="http://schemas.microsoft.com/office/drawing/2014/main" id="{93F7BA90-E1D5-872D-276F-2D9BF8D68C9F}"/>
              </a:ext>
            </a:extLst>
          </p:cNvPr>
          <p:cNvSpPr/>
          <p:nvPr/>
        </p:nvSpPr>
        <p:spPr>
          <a:xfrm>
            <a:off x="505471" y="4657871"/>
            <a:ext cx="226243" cy="230957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7" name="Straight Arrow Connector 6">
            <a:extLst>
              <a:ext uri="{FF2B5EF4-FFF2-40B4-BE49-F238E27FC236}">
                <a16:creationId xmlns:a16="http://schemas.microsoft.com/office/drawing/2014/main" id="{EC9D5ED9-5E7A-B29C-2162-FCEDB91AF26D}"/>
              </a:ext>
            </a:extLst>
          </p:cNvPr>
          <p:cNvCxnSpPr>
            <a:cxnSpLocks/>
            <a:stCxn id="5" idx="6"/>
          </p:cNvCxnSpPr>
          <p:nvPr/>
        </p:nvCxnSpPr>
        <p:spPr>
          <a:xfrm>
            <a:off x="731714" y="4773350"/>
            <a:ext cx="825126" cy="0"/>
          </a:xfrm>
          <a:prstGeom prst="straightConnector1">
            <a:avLst/>
          </a:prstGeom>
          <a:ln w="635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" name="Straight Arrow Connector 13">
            <a:extLst>
              <a:ext uri="{FF2B5EF4-FFF2-40B4-BE49-F238E27FC236}">
                <a16:creationId xmlns:a16="http://schemas.microsoft.com/office/drawing/2014/main" id="{3640F4DF-D89A-899E-A1D1-4984D30EF594}"/>
              </a:ext>
            </a:extLst>
          </p:cNvPr>
          <p:cNvCxnSpPr>
            <a:cxnSpLocks/>
            <a:stCxn id="5" idx="0"/>
          </p:cNvCxnSpPr>
          <p:nvPr/>
        </p:nvCxnSpPr>
        <p:spPr>
          <a:xfrm flipH="1" flipV="1">
            <a:off x="594973" y="3582833"/>
            <a:ext cx="23620" cy="1075038"/>
          </a:xfrm>
          <a:prstGeom prst="straightConnector1">
            <a:avLst/>
          </a:prstGeom>
          <a:ln w="635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" name="Straight Arrow Connector 20">
            <a:extLst>
              <a:ext uri="{FF2B5EF4-FFF2-40B4-BE49-F238E27FC236}">
                <a16:creationId xmlns:a16="http://schemas.microsoft.com/office/drawing/2014/main" id="{4D88AE4C-2261-1F4B-A814-871EC1A3CAF5}"/>
              </a:ext>
            </a:extLst>
          </p:cNvPr>
          <p:cNvCxnSpPr>
            <a:cxnSpLocks/>
            <a:stCxn id="5" idx="7"/>
          </p:cNvCxnSpPr>
          <p:nvPr/>
        </p:nvCxnSpPr>
        <p:spPr>
          <a:xfrm flipV="1">
            <a:off x="698581" y="4127205"/>
            <a:ext cx="367403" cy="564489"/>
          </a:xfrm>
          <a:prstGeom prst="straightConnector1">
            <a:avLst/>
          </a:prstGeom>
          <a:ln w="635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9" name="TextBox 28">
            <a:extLst>
              <a:ext uri="{FF2B5EF4-FFF2-40B4-BE49-F238E27FC236}">
                <a16:creationId xmlns:a16="http://schemas.microsoft.com/office/drawing/2014/main" id="{1AB0CCC3-AAFA-6F10-2B18-8FE2D4267552}"/>
              </a:ext>
            </a:extLst>
          </p:cNvPr>
          <p:cNvSpPr txBox="1"/>
          <p:nvPr/>
        </p:nvSpPr>
        <p:spPr>
          <a:xfrm>
            <a:off x="290681" y="4887984"/>
            <a:ext cx="567160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b="1" i="1" dirty="0"/>
              <a:t>O</a:t>
            </a:r>
          </a:p>
        </p:txBody>
      </p:sp>
      <p:cxnSp>
        <p:nvCxnSpPr>
          <p:cNvPr id="31" name="Straight Connector 30">
            <a:extLst>
              <a:ext uri="{FF2B5EF4-FFF2-40B4-BE49-F238E27FC236}">
                <a16:creationId xmlns:a16="http://schemas.microsoft.com/office/drawing/2014/main" id="{0A93C100-5346-AF0D-5732-6CCC71BC723E}"/>
              </a:ext>
            </a:extLst>
          </p:cNvPr>
          <p:cNvCxnSpPr>
            <a:cxnSpLocks/>
            <a:stCxn id="5" idx="2"/>
            <a:endCxn id="71" idx="2"/>
          </p:cNvCxnSpPr>
          <p:nvPr/>
        </p:nvCxnSpPr>
        <p:spPr>
          <a:xfrm>
            <a:off x="505471" y="4773350"/>
            <a:ext cx="6979013" cy="233879"/>
          </a:xfrm>
          <a:prstGeom prst="line">
            <a:avLst/>
          </a:prstGeom>
          <a:ln w="25400">
            <a:solidFill>
              <a:schemeClr val="tx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40" name="TextBox 39">
                <a:extLst>
                  <a:ext uri="{FF2B5EF4-FFF2-40B4-BE49-F238E27FC236}">
                    <a16:creationId xmlns:a16="http://schemas.microsoft.com/office/drawing/2014/main" id="{957659F6-6672-37FF-9CC0-EF1210DA747A}"/>
                  </a:ext>
                </a:extLst>
              </p:cNvPr>
              <p:cNvSpPr txBox="1"/>
              <p:nvPr/>
            </p:nvSpPr>
            <p:spPr>
              <a:xfrm>
                <a:off x="1283834" y="4657573"/>
                <a:ext cx="448116" cy="52322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800" b="0" i="1" smtClean="0">
                          <a:latin typeface="Cambria Math" panose="02040503050406030204" pitchFamily="18" charset="0"/>
                        </a:rPr>
                        <m:t>𝑧</m:t>
                      </m:r>
                    </m:oMath>
                  </m:oMathPara>
                </a14:m>
                <a:endParaRPr lang="en-US" sz="2800" dirty="0">
                  <a:latin typeface="Script MT Bold" panose="03040602040607080904" pitchFamily="66" charset="0"/>
                </a:endParaRPr>
              </a:p>
            </p:txBody>
          </p:sp>
        </mc:Choice>
        <mc:Fallback xmlns="">
          <p:sp>
            <p:nvSpPr>
              <p:cNvPr id="40" name="TextBox 39">
                <a:extLst>
                  <a:ext uri="{FF2B5EF4-FFF2-40B4-BE49-F238E27FC236}">
                    <a16:creationId xmlns:a16="http://schemas.microsoft.com/office/drawing/2014/main" id="{880B66D1-A5C6-5305-2937-A65FBFFBFF2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283834" y="4657573"/>
                <a:ext cx="448116" cy="523220"/>
              </a:xfrm>
              <a:prstGeom prst="rect">
                <a:avLst/>
              </a:prstGeom>
              <a:blipFill>
                <a:blip r:embed="rId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1" name="TextBox 40">
                <a:extLst>
                  <a:ext uri="{FF2B5EF4-FFF2-40B4-BE49-F238E27FC236}">
                    <a16:creationId xmlns:a16="http://schemas.microsoft.com/office/drawing/2014/main" id="{2E0EDEB0-86DD-814A-6E10-F3D5C63AEF85}"/>
                  </a:ext>
                </a:extLst>
              </p:cNvPr>
              <p:cNvSpPr txBox="1"/>
              <p:nvPr/>
            </p:nvSpPr>
            <p:spPr>
              <a:xfrm>
                <a:off x="1022140" y="3790231"/>
                <a:ext cx="448116" cy="52322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800" b="0" i="1" smtClean="0">
                          <a:latin typeface="Cambria Math" panose="02040503050406030204" pitchFamily="18" charset="0"/>
                        </a:rPr>
                        <m:t>𝑥</m:t>
                      </m:r>
                    </m:oMath>
                  </m:oMathPara>
                </a14:m>
                <a:endParaRPr lang="en-US" sz="2800" dirty="0">
                  <a:latin typeface="Script MT Bold" panose="03040602040607080904" pitchFamily="66" charset="0"/>
                </a:endParaRPr>
              </a:p>
            </p:txBody>
          </p:sp>
        </mc:Choice>
        <mc:Fallback xmlns="">
          <p:sp>
            <p:nvSpPr>
              <p:cNvPr id="41" name="TextBox 40">
                <a:extLst>
                  <a:ext uri="{FF2B5EF4-FFF2-40B4-BE49-F238E27FC236}">
                    <a16:creationId xmlns:a16="http://schemas.microsoft.com/office/drawing/2014/main" id="{DA14907B-AAD6-ED85-E0B4-46528C4A504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22140" y="3790231"/>
                <a:ext cx="448116" cy="523220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2" name="TextBox 41">
                <a:extLst>
                  <a:ext uri="{FF2B5EF4-FFF2-40B4-BE49-F238E27FC236}">
                    <a16:creationId xmlns:a16="http://schemas.microsoft.com/office/drawing/2014/main" id="{A7235D50-8D9D-1BE6-A40D-69C0801FF651}"/>
                  </a:ext>
                </a:extLst>
              </p:cNvPr>
              <p:cNvSpPr txBox="1"/>
              <p:nvPr/>
            </p:nvSpPr>
            <p:spPr>
              <a:xfrm>
                <a:off x="368637" y="3088457"/>
                <a:ext cx="448116" cy="52322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800" b="0" i="1" smtClean="0">
                          <a:latin typeface="Cambria Math" panose="02040503050406030204" pitchFamily="18" charset="0"/>
                        </a:rPr>
                        <m:t>𝑦</m:t>
                      </m:r>
                    </m:oMath>
                  </m:oMathPara>
                </a14:m>
                <a:endParaRPr lang="en-US" sz="2800" dirty="0">
                  <a:latin typeface="Script MT Bold" panose="03040602040607080904" pitchFamily="66" charset="0"/>
                </a:endParaRPr>
              </a:p>
            </p:txBody>
          </p:sp>
        </mc:Choice>
        <mc:Fallback xmlns="">
          <p:sp>
            <p:nvSpPr>
              <p:cNvPr id="42" name="TextBox 41">
                <a:extLst>
                  <a:ext uri="{FF2B5EF4-FFF2-40B4-BE49-F238E27FC236}">
                    <a16:creationId xmlns:a16="http://schemas.microsoft.com/office/drawing/2014/main" id="{7BDEDDF6-CAA0-BFEE-DB20-2ECF28FC566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68637" y="3088457"/>
                <a:ext cx="448116" cy="523220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2" name="TextBox 51">
                <a:extLst>
                  <a:ext uri="{FF2B5EF4-FFF2-40B4-BE49-F238E27FC236}">
                    <a16:creationId xmlns:a16="http://schemas.microsoft.com/office/drawing/2014/main" id="{B93AE97F-D5CD-DB80-1F35-F8897C9EB85E}"/>
                  </a:ext>
                </a:extLst>
              </p:cNvPr>
              <p:cNvSpPr txBox="1"/>
              <p:nvPr/>
            </p:nvSpPr>
            <p:spPr>
              <a:xfrm rot="20732708">
                <a:off x="2024085" y="2518594"/>
                <a:ext cx="2719859" cy="46166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sz="2400" dirty="0"/>
                  <a:t>Image plane, </a:t>
                </a:r>
                <a14:m>
                  <m:oMath xmlns:m="http://schemas.openxmlformats.org/officeDocument/2006/math"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𝑧</m:t>
                    </m:r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𝑓</m:t>
                    </m:r>
                  </m:oMath>
                </a14:m>
                <a:endParaRPr lang="en-US" sz="2400" dirty="0"/>
              </a:p>
            </p:txBody>
          </p:sp>
        </mc:Choice>
        <mc:Fallback xmlns="">
          <p:sp>
            <p:nvSpPr>
              <p:cNvPr id="52" name="TextBox 51">
                <a:extLst>
                  <a:ext uri="{FF2B5EF4-FFF2-40B4-BE49-F238E27FC236}">
                    <a16:creationId xmlns:a16="http://schemas.microsoft.com/office/drawing/2014/main" id="{B93AE97F-D5CD-DB80-1F35-F8897C9EB85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 rot="20732708">
                <a:off x="2024085" y="2518594"/>
                <a:ext cx="2719859" cy="461665"/>
              </a:xfrm>
              <a:prstGeom prst="rect">
                <a:avLst/>
              </a:prstGeom>
              <a:blipFill>
                <a:blip r:embed="rId5"/>
                <a:stretch>
                  <a:fillRect l="-3540" b="-1344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61" name="Straight Connector 60">
            <a:extLst>
              <a:ext uri="{FF2B5EF4-FFF2-40B4-BE49-F238E27FC236}">
                <a16:creationId xmlns:a16="http://schemas.microsoft.com/office/drawing/2014/main" id="{3BF25874-327D-AFD0-8C22-68289CC6E53D}"/>
              </a:ext>
            </a:extLst>
          </p:cNvPr>
          <p:cNvCxnSpPr>
            <a:cxnSpLocks/>
            <a:stCxn id="5" idx="2"/>
          </p:cNvCxnSpPr>
          <p:nvPr/>
        </p:nvCxnSpPr>
        <p:spPr>
          <a:xfrm flipV="1">
            <a:off x="505471" y="3967900"/>
            <a:ext cx="8506089" cy="805450"/>
          </a:xfrm>
          <a:prstGeom prst="line">
            <a:avLst/>
          </a:prstGeom>
          <a:ln w="25400">
            <a:solidFill>
              <a:schemeClr val="tx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0" name="Oval 69">
            <a:extLst>
              <a:ext uri="{FF2B5EF4-FFF2-40B4-BE49-F238E27FC236}">
                <a16:creationId xmlns:a16="http://schemas.microsoft.com/office/drawing/2014/main" id="{09579AE3-1762-15E8-9B67-BA39D8704B68}"/>
              </a:ext>
            </a:extLst>
          </p:cNvPr>
          <p:cNvSpPr/>
          <p:nvPr/>
        </p:nvSpPr>
        <p:spPr>
          <a:xfrm>
            <a:off x="3061321" y="4765720"/>
            <a:ext cx="226243" cy="230957"/>
          </a:xfrm>
          <a:prstGeom prst="ellipse">
            <a:avLst/>
          </a:prstGeom>
          <a:noFill/>
          <a:ln w="254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1" name="Oval 70">
            <a:extLst>
              <a:ext uri="{FF2B5EF4-FFF2-40B4-BE49-F238E27FC236}">
                <a16:creationId xmlns:a16="http://schemas.microsoft.com/office/drawing/2014/main" id="{6FA6FCAC-9296-DF8C-FF43-97C2F63DE804}"/>
              </a:ext>
            </a:extLst>
          </p:cNvPr>
          <p:cNvSpPr/>
          <p:nvPr/>
        </p:nvSpPr>
        <p:spPr>
          <a:xfrm>
            <a:off x="7484484" y="4891750"/>
            <a:ext cx="226243" cy="230957"/>
          </a:xfrm>
          <a:prstGeom prst="ellipse">
            <a:avLst/>
          </a:prstGeom>
          <a:noFill/>
          <a:ln w="254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20" name="Straight Arrow Connector 19">
            <a:extLst>
              <a:ext uri="{FF2B5EF4-FFF2-40B4-BE49-F238E27FC236}">
                <a16:creationId xmlns:a16="http://schemas.microsoft.com/office/drawing/2014/main" id="{7C7D08E4-B882-D24F-1826-421B322A2B2E}"/>
              </a:ext>
            </a:extLst>
          </p:cNvPr>
          <p:cNvCxnSpPr>
            <a:cxnSpLocks/>
            <a:stCxn id="15" idx="3"/>
          </p:cNvCxnSpPr>
          <p:nvPr/>
        </p:nvCxnSpPr>
        <p:spPr>
          <a:xfrm flipV="1">
            <a:off x="7466574" y="3990372"/>
            <a:ext cx="1608602" cy="1114603"/>
          </a:xfrm>
          <a:prstGeom prst="straightConnector1">
            <a:avLst/>
          </a:prstGeom>
          <a:ln w="44450">
            <a:solidFill>
              <a:srgbClr val="C0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4" name="Oval 23">
            <a:extLst>
              <a:ext uri="{FF2B5EF4-FFF2-40B4-BE49-F238E27FC236}">
                <a16:creationId xmlns:a16="http://schemas.microsoft.com/office/drawing/2014/main" id="{2C782248-E192-F463-8C22-8B9152A2DDB1}"/>
              </a:ext>
            </a:extLst>
          </p:cNvPr>
          <p:cNvSpPr/>
          <p:nvPr/>
        </p:nvSpPr>
        <p:spPr>
          <a:xfrm>
            <a:off x="8929431" y="3861699"/>
            <a:ext cx="226243" cy="230957"/>
          </a:xfrm>
          <a:prstGeom prst="ellipse">
            <a:avLst/>
          </a:prstGeom>
          <a:noFill/>
          <a:ln w="254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5" name="TextBox 24">
                <a:extLst>
                  <a:ext uri="{FF2B5EF4-FFF2-40B4-BE49-F238E27FC236}">
                    <a16:creationId xmlns:a16="http://schemas.microsoft.com/office/drawing/2014/main" id="{9E699DF5-FF18-73AF-5A78-0E72D8F9F127}"/>
                  </a:ext>
                </a:extLst>
              </p:cNvPr>
              <p:cNvSpPr txBox="1"/>
              <p:nvPr/>
            </p:nvSpPr>
            <p:spPr>
              <a:xfrm>
                <a:off x="7305098" y="5184771"/>
                <a:ext cx="811257" cy="46166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4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400" b="1" i="1" smtClean="0">
                              <a:latin typeface="Cambria Math" panose="02040503050406030204" pitchFamily="18" charset="0"/>
                            </a:rPr>
                            <m:t>𝑿</m:t>
                          </m:r>
                        </m:e>
                        <m:sub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𝑡</m:t>
                          </m:r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=0</m:t>
                          </m:r>
                        </m:sub>
                      </m:sSub>
                    </m:oMath>
                  </m:oMathPara>
                </a14:m>
                <a:endParaRPr lang="en-US" sz="2400" dirty="0"/>
              </a:p>
            </p:txBody>
          </p:sp>
        </mc:Choice>
        <mc:Fallback xmlns="">
          <p:sp>
            <p:nvSpPr>
              <p:cNvPr id="25" name="TextBox 24">
                <a:extLst>
                  <a:ext uri="{FF2B5EF4-FFF2-40B4-BE49-F238E27FC236}">
                    <a16:creationId xmlns:a16="http://schemas.microsoft.com/office/drawing/2014/main" id="{712AF653-AFE6-F2B0-584C-D139F28270E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305098" y="5184771"/>
                <a:ext cx="811257" cy="461665"/>
              </a:xfrm>
              <a:prstGeom prst="rect">
                <a:avLst/>
              </a:prstGeom>
              <a:blipFill>
                <a:blip r:embed="rId6"/>
                <a:stretch>
                  <a:fillRect l="-5263" b="-133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6" name="TextBox 25">
                <a:extLst>
                  <a:ext uri="{FF2B5EF4-FFF2-40B4-BE49-F238E27FC236}">
                    <a16:creationId xmlns:a16="http://schemas.microsoft.com/office/drawing/2014/main" id="{A90AEA3D-915C-0B2F-FE72-48B1169DE6F8}"/>
                  </a:ext>
                </a:extLst>
              </p:cNvPr>
              <p:cNvSpPr txBox="1"/>
              <p:nvPr/>
            </p:nvSpPr>
            <p:spPr>
              <a:xfrm>
                <a:off x="8795124" y="4120352"/>
                <a:ext cx="811257" cy="46166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4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400" b="1" i="1" smtClean="0">
                              <a:latin typeface="Cambria Math" panose="02040503050406030204" pitchFamily="18" charset="0"/>
                            </a:rPr>
                            <m:t>𝑿</m:t>
                          </m:r>
                        </m:e>
                        <m:sub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𝑡</m:t>
                          </m:r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+1</m:t>
                          </m:r>
                        </m:sub>
                      </m:sSub>
                    </m:oMath>
                  </m:oMathPara>
                </a14:m>
                <a:endParaRPr lang="en-US" sz="2400" dirty="0"/>
              </a:p>
            </p:txBody>
          </p:sp>
        </mc:Choice>
        <mc:Fallback xmlns="">
          <p:sp>
            <p:nvSpPr>
              <p:cNvPr id="26" name="TextBox 25">
                <a:extLst>
                  <a:ext uri="{FF2B5EF4-FFF2-40B4-BE49-F238E27FC236}">
                    <a16:creationId xmlns:a16="http://schemas.microsoft.com/office/drawing/2014/main" id="{E3CA8C88-1208-04D9-BD47-BA7322BCF84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795124" y="4120352"/>
                <a:ext cx="811257" cy="461665"/>
              </a:xfrm>
              <a:prstGeom prst="rect">
                <a:avLst/>
              </a:prstGeom>
              <a:blipFill>
                <a:blip r:embed="rId7"/>
                <a:stretch>
                  <a:fillRect l="-5263" b="-131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59" name="Oval 58">
            <a:extLst>
              <a:ext uri="{FF2B5EF4-FFF2-40B4-BE49-F238E27FC236}">
                <a16:creationId xmlns:a16="http://schemas.microsoft.com/office/drawing/2014/main" id="{5729736C-5655-A01C-9A80-82B0E1084ECC}"/>
              </a:ext>
            </a:extLst>
          </p:cNvPr>
          <p:cNvSpPr/>
          <p:nvPr/>
        </p:nvSpPr>
        <p:spPr>
          <a:xfrm>
            <a:off x="3317281" y="4374147"/>
            <a:ext cx="226243" cy="230957"/>
          </a:xfrm>
          <a:prstGeom prst="ellipse">
            <a:avLst/>
          </a:prstGeom>
          <a:noFill/>
          <a:ln w="254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66" name="TextBox 65">
                <a:extLst>
                  <a:ext uri="{FF2B5EF4-FFF2-40B4-BE49-F238E27FC236}">
                    <a16:creationId xmlns:a16="http://schemas.microsoft.com/office/drawing/2014/main" id="{FAE197E2-FF9D-2E0C-3231-FA442F799672}"/>
                  </a:ext>
                </a:extLst>
              </p:cNvPr>
              <p:cNvSpPr txBox="1"/>
              <p:nvPr/>
            </p:nvSpPr>
            <p:spPr>
              <a:xfrm>
                <a:off x="3149295" y="4824884"/>
                <a:ext cx="627331" cy="46166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4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b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𝑡</m:t>
                          </m:r>
                        </m:sub>
                      </m:sSub>
                    </m:oMath>
                  </m:oMathPara>
                </a14:m>
                <a:endParaRPr lang="en-US" sz="2400" dirty="0"/>
              </a:p>
            </p:txBody>
          </p:sp>
        </mc:Choice>
        <mc:Fallback xmlns="">
          <p:sp>
            <p:nvSpPr>
              <p:cNvPr id="66" name="TextBox 65">
                <a:extLst>
                  <a:ext uri="{FF2B5EF4-FFF2-40B4-BE49-F238E27FC236}">
                    <a16:creationId xmlns:a16="http://schemas.microsoft.com/office/drawing/2014/main" id="{96E9E50F-DD81-2075-BD2A-7BEFE374B67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149295" y="4824884"/>
                <a:ext cx="627331" cy="461665"/>
              </a:xfrm>
              <a:prstGeom prst="rect">
                <a:avLst/>
              </a:prstGeom>
              <a:blipFill>
                <a:blip r:embed="rId8"/>
                <a:stretch>
                  <a:fillRect b="-131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68" name="TextBox 67">
                <a:extLst>
                  <a:ext uri="{FF2B5EF4-FFF2-40B4-BE49-F238E27FC236}">
                    <a16:creationId xmlns:a16="http://schemas.microsoft.com/office/drawing/2014/main" id="{1BB61E68-CD84-AB7A-AEBF-79565E662239}"/>
                  </a:ext>
                </a:extLst>
              </p:cNvPr>
              <p:cNvSpPr txBox="1"/>
              <p:nvPr/>
            </p:nvSpPr>
            <p:spPr>
              <a:xfrm>
                <a:off x="3523349" y="4375817"/>
                <a:ext cx="627331" cy="46166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4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b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𝑡</m:t>
                          </m:r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+1</m:t>
                          </m:r>
                        </m:sub>
                      </m:sSub>
                    </m:oMath>
                  </m:oMathPara>
                </a14:m>
                <a:endParaRPr lang="en-US" sz="2400" dirty="0"/>
              </a:p>
            </p:txBody>
          </p:sp>
        </mc:Choice>
        <mc:Fallback xmlns="">
          <p:sp>
            <p:nvSpPr>
              <p:cNvPr id="68" name="TextBox 67">
                <a:extLst>
                  <a:ext uri="{FF2B5EF4-FFF2-40B4-BE49-F238E27FC236}">
                    <a16:creationId xmlns:a16="http://schemas.microsoft.com/office/drawing/2014/main" id="{DD0AEAD0-DDDD-D6EF-760E-921E8E8F259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523349" y="4375817"/>
                <a:ext cx="627331" cy="461665"/>
              </a:xfrm>
              <a:prstGeom prst="rect">
                <a:avLst/>
              </a:prstGeom>
              <a:blipFill>
                <a:blip r:embed="rId9"/>
                <a:stretch>
                  <a:fillRect l="-12621" b="-131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B3F621E7-FBD8-507A-560F-7D5BEEC7F556}"/>
                  </a:ext>
                </a:extLst>
              </p:cNvPr>
              <p:cNvSpPr txBox="1"/>
              <p:nvPr/>
            </p:nvSpPr>
            <p:spPr>
              <a:xfrm>
                <a:off x="9044693" y="2523623"/>
                <a:ext cx="3053353" cy="1652888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sz="2400" dirty="0"/>
                  <a:t>2. Point</a:t>
                </a:r>
                <a:r>
                  <a:rPr lang="en-US" sz="2400" b="1" dirty="0"/>
                  <a:t> </a:t>
                </a:r>
                <a:r>
                  <a:rPr lang="en-US" sz="2400" b="1" i="1" dirty="0"/>
                  <a:t>X</a:t>
                </a:r>
                <a:r>
                  <a:rPr lang="en-US" sz="2400" b="1" dirty="0"/>
                  <a:t> </a:t>
                </a:r>
                <a:r>
                  <a:rPr lang="en-US" sz="2400" dirty="0"/>
                  <a:t>moves in 3-D space</a:t>
                </a:r>
                <a:endParaRPr lang="en-US" sz="2400" b="1" i="1" dirty="0">
                  <a:latin typeface="Cambria Math" panose="02040503050406030204" pitchFamily="18" charset="0"/>
                </a:endParaRPr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4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400" b="1" i="1" smtClean="0">
                              <a:latin typeface="Cambria Math" panose="02040503050406030204" pitchFamily="18" charset="0"/>
                            </a:rPr>
                            <m:t>𝑿</m:t>
                          </m:r>
                        </m:e>
                        <m:sub>
                          <m:r>
                            <a:rPr lang="en-US" sz="2400" i="1">
                              <a:latin typeface="Cambria Math" panose="02040503050406030204" pitchFamily="18" charset="0"/>
                            </a:rPr>
                            <m:t>𝑡</m:t>
                          </m:r>
                          <m:r>
                            <a:rPr lang="en-US" sz="2400" i="1">
                              <a:latin typeface="Cambria Math" panose="02040503050406030204" pitchFamily="18" charset="0"/>
                            </a:rPr>
                            <m:t>+1</m:t>
                          </m:r>
                        </m:sub>
                      </m:sSub>
                      <m:r>
                        <a:rPr lang="en-US" sz="2400" i="1"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en-US" sz="24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400" b="1" i="1" smtClean="0">
                              <a:latin typeface="Cambria Math" panose="02040503050406030204" pitchFamily="18" charset="0"/>
                            </a:rPr>
                            <m:t>𝑿</m:t>
                          </m:r>
                        </m:e>
                        <m:sub>
                          <m:r>
                            <a:rPr lang="en-US" sz="2400" i="1">
                              <a:latin typeface="Cambria Math" panose="02040503050406030204" pitchFamily="18" charset="0"/>
                            </a:rPr>
                            <m:t>𝑡</m:t>
                          </m:r>
                          <m:r>
                            <a:rPr lang="en-US" sz="2400" i="1">
                              <a:latin typeface="Cambria Math" panose="02040503050406030204" pitchFamily="18" charset="0"/>
                            </a:rPr>
                            <m:t>=0</m:t>
                          </m:r>
                        </m:sub>
                      </m:sSub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+</m:t>
                      </m:r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𝑡</m:t>
                      </m:r>
                      <m:d>
                        <m:dPr>
                          <m:begChr m:val="["/>
                          <m:endChr m:val="]"/>
                          <m:ctrlPr>
                            <a:rPr lang="en-US" sz="24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m>
                            <m:mPr>
                              <m:mcs>
                                <m:mc>
                                  <m:mcPr>
                                    <m:count m:val="1"/>
                                    <m:mcJc m:val="center"/>
                                  </m:mcPr>
                                </m:mc>
                              </m:mcs>
                              <m:ctrlPr>
                                <a:rPr lang="en-US" sz="2400" i="1">
                                  <a:latin typeface="Cambria Math" panose="02040503050406030204" pitchFamily="18" charset="0"/>
                                </a:rPr>
                              </m:ctrlPr>
                            </m:mPr>
                            <m:mr>
                              <m:e>
                                <m:r>
                                  <m:rPr>
                                    <m:brk m:alnAt="7"/>
                                  </m:rPr>
                                  <a:rPr lang="en-US" sz="2400" b="0" i="1" smtClean="0">
                                    <a:latin typeface="Cambria Math" panose="02040503050406030204" pitchFamily="18" charset="0"/>
                                  </a:rPr>
                                  <m:t>𝑢</m:t>
                                </m:r>
                              </m:e>
                            </m:mr>
                            <m:mr>
                              <m:e>
                                <m:m>
                                  <m:mPr>
                                    <m:mcs>
                                      <m:mc>
                                        <m:mcPr>
                                          <m:count m:val="1"/>
                                          <m:mcJc m:val="center"/>
                                        </m:mcPr>
                                      </m:mc>
                                    </m:mcs>
                                    <m:ctrlPr>
                                      <a:rPr lang="en-US" sz="2400" i="1">
                                        <a:latin typeface="Cambria Math" panose="02040503050406030204" pitchFamily="18" charset="0"/>
                                      </a:rPr>
                                    </m:ctrlPr>
                                  </m:mPr>
                                  <m:mr>
                                    <m:e>
                                      <m:r>
                                        <a:rPr lang="en-US" sz="2400" b="0" i="1" smtClean="0">
                                          <a:latin typeface="Cambria Math" panose="02040503050406030204" pitchFamily="18" charset="0"/>
                                        </a:rPr>
                                        <m:t>𝑣</m:t>
                                      </m:r>
                                    </m:e>
                                  </m:mr>
                                  <m:mr>
                                    <m:e>
                                      <m:r>
                                        <a:rPr lang="en-US" sz="2400" b="0" i="1" smtClean="0">
                                          <a:latin typeface="Cambria Math" panose="02040503050406030204" pitchFamily="18" charset="0"/>
                                        </a:rPr>
                                        <m:t>𝑤</m:t>
                                      </m:r>
                                    </m:e>
                                  </m:mr>
                                </m:m>
                              </m:e>
                            </m:mr>
                          </m:m>
                        </m:e>
                      </m:d>
                    </m:oMath>
                  </m:oMathPara>
                </a14:m>
                <a:endParaRPr lang="en-US" sz="2400" dirty="0"/>
              </a:p>
            </p:txBody>
          </p:sp>
        </mc:Choice>
        <mc:Fallback xmlns="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63040EA7-5E83-0A1E-AAB4-97D97970930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044693" y="2523623"/>
                <a:ext cx="3053353" cy="1652888"/>
              </a:xfrm>
              <a:prstGeom prst="rect">
                <a:avLst/>
              </a:prstGeom>
              <a:blipFill>
                <a:blip r:embed="rId10"/>
                <a:stretch>
                  <a:fillRect l="-3194" t="-2952" r="-459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0" name="Title 1">
            <a:extLst>
              <a:ext uri="{FF2B5EF4-FFF2-40B4-BE49-F238E27FC236}">
                <a16:creationId xmlns:a16="http://schemas.microsoft.com/office/drawing/2014/main" id="{694773E4-72B9-16D5-14A5-7F83FD49D03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90681" y="285063"/>
            <a:ext cx="11395848" cy="749889"/>
          </a:xfrm>
        </p:spPr>
        <p:txBody>
          <a:bodyPr>
            <a:normAutofit/>
          </a:bodyPr>
          <a:lstStyle/>
          <a:p>
            <a:r>
              <a:rPr lang="en-US" sz="3200" dirty="0">
                <a:latin typeface="+mn-lt"/>
              </a:rPr>
              <a:t>Depth and Motion in 3D</a:t>
            </a:r>
          </a:p>
        </p:txBody>
      </p:sp>
      <p:sp>
        <p:nvSpPr>
          <p:cNvPr id="15" name="Oval 14">
            <a:extLst>
              <a:ext uri="{FF2B5EF4-FFF2-40B4-BE49-F238E27FC236}">
                <a16:creationId xmlns:a16="http://schemas.microsoft.com/office/drawing/2014/main" id="{47B997A4-07E4-3687-FECB-09E649E46755}"/>
              </a:ext>
            </a:extLst>
          </p:cNvPr>
          <p:cNvSpPr/>
          <p:nvPr/>
        </p:nvSpPr>
        <p:spPr>
          <a:xfrm>
            <a:off x="7433441" y="4907841"/>
            <a:ext cx="226243" cy="230957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17" name="Straight Arrow Connector 16">
            <a:extLst>
              <a:ext uri="{FF2B5EF4-FFF2-40B4-BE49-F238E27FC236}">
                <a16:creationId xmlns:a16="http://schemas.microsoft.com/office/drawing/2014/main" id="{4667BE18-8D16-9021-925E-A49660950A5C}"/>
              </a:ext>
            </a:extLst>
          </p:cNvPr>
          <p:cNvCxnSpPr>
            <a:cxnSpLocks/>
            <a:stCxn id="15" idx="6"/>
          </p:cNvCxnSpPr>
          <p:nvPr/>
        </p:nvCxnSpPr>
        <p:spPr>
          <a:xfrm>
            <a:off x="7659684" y="5023320"/>
            <a:ext cx="825126" cy="0"/>
          </a:xfrm>
          <a:prstGeom prst="straightConnector1">
            <a:avLst/>
          </a:prstGeom>
          <a:ln w="635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" name="Straight Arrow Connector 17">
            <a:extLst>
              <a:ext uri="{FF2B5EF4-FFF2-40B4-BE49-F238E27FC236}">
                <a16:creationId xmlns:a16="http://schemas.microsoft.com/office/drawing/2014/main" id="{7BB55AA3-8555-EE14-A9A7-78D61B8CE5FF}"/>
              </a:ext>
            </a:extLst>
          </p:cNvPr>
          <p:cNvCxnSpPr>
            <a:cxnSpLocks/>
            <a:stCxn id="15" idx="0"/>
          </p:cNvCxnSpPr>
          <p:nvPr/>
        </p:nvCxnSpPr>
        <p:spPr>
          <a:xfrm flipH="1" flipV="1">
            <a:off x="7522943" y="3832803"/>
            <a:ext cx="23620" cy="1075038"/>
          </a:xfrm>
          <a:prstGeom prst="straightConnector1">
            <a:avLst/>
          </a:prstGeom>
          <a:ln w="635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" name="Straight Arrow Connector 18">
            <a:extLst>
              <a:ext uri="{FF2B5EF4-FFF2-40B4-BE49-F238E27FC236}">
                <a16:creationId xmlns:a16="http://schemas.microsoft.com/office/drawing/2014/main" id="{46F414C4-6FF2-E8D2-A6E5-DEF7B2823D23}"/>
              </a:ext>
            </a:extLst>
          </p:cNvPr>
          <p:cNvCxnSpPr>
            <a:cxnSpLocks/>
            <a:stCxn id="15" idx="7"/>
          </p:cNvCxnSpPr>
          <p:nvPr/>
        </p:nvCxnSpPr>
        <p:spPr>
          <a:xfrm flipV="1">
            <a:off x="7626551" y="4377175"/>
            <a:ext cx="367403" cy="564489"/>
          </a:xfrm>
          <a:prstGeom prst="straightConnector1">
            <a:avLst/>
          </a:prstGeom>
          <a:ln w="635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22" name="TextBox 21">
                <a:extLst>
                  <a:ext uri="{FF2B5EF4-FFF2-40B4-BE49-F238E27FC236}">
                    <a16:creationId xmlns:a16="http://schemas.microsoft.com/office/drawing/2014/main" id="{71B815DE-E83A-7B4E-577F-2795BE893DC6}"/>
                  </a:ext>
                </a:extLst>
              </p:cNvPr>
              <p:cNvSpPr txBox="1"/>
              <p:nvPr/>
            </p:nvSpPr>
            <p:spPr>
              <a:xfrm>
                <a:off x="7950110" y="4040201"/>
                <a:ext cx="448116" cy="52322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800" b="0" i="1" smtClean="0">
                          <a:latin typeface="Cambria Math" panose="02040503050406030204" pitchFamily="18" charset="0"/>
                        </a:rPr>
                        <m:t>𝑢</m:t>
                      </m:r>
                    </m:oMath>
                  </m:oMathPara>
                </a14:m>
                <a:endParaRPr lang="en-US" sz="2800" dirty="0">
                  <a:latin typeface="Script MT Bold" panose="03040602040607080904" pitchFamily="66" charset="0"/>
                </a:endParaRPr>
              </a:p>
            </p:txBody>
          </p:sp>
        </mc:Choice>
        <mc:Fallback xmlns="">
          <p:sp>
            <p:nvSpPr>
              <p:cNvPr id="22" name="TextBox 21">
                <a:extLst>
                  <a:ext uri="{FF2B5EF4-FFF2-40B4-BE49-F238E27FC236}">
                    <a16:creationId xmlns:a16="http://schemas.microsoft.com/office/drawing/2014/main" id="{5F09EE0F-66D3-F5AB-CC38-63B6105709D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950110" y="4040201"/>
                <a:ext cx="448116" cy="523220"/>
              </a:xfrm>
              <a:prstGeom prst="rect">
                <a:avLst/>
              </a:prstGeom>
              <a:blipFill>
                <a:blip r:embed="rId11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3" name="TextBox 22">
            <a:extLst>
              <a:ext uri="{FF2B5EF4-FFF2-40B4-BE49-F238E27FC236}">
                <a16:creationId xmlns:a16="http://schemas.microsoft.com/office/drawing/2014/main" id="{647A125C-F12A-F1BE-9B54-E9ADD1203939}"/>
              </a:ext>
            </a:extLst>
          </p:cNvPr>
          <p:cNvSpPr txBox="1"/>
          <p:nvPr/>
        </p:nvSpPr>
        <p:spPr>
          <a:xfrm>
            <a:off x="7296607" y="3338427"/>
            <a:ext cx="448116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800" dirty="0">
                <a:latin typeface="Script MT Bold" panose="03040602040607080904" pitchFamily="66" charset="0"/>
              </a:rPr>
              <a:t>v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0" name="TextBox 29">
                <a:extLst>
                  <a:ext uri="{FF2B5EF4-FFF2-40B4-BE49-F238E27FC236}">
                    <a16:creationId xmlns:a16="http://schemas.microsoft.com/office/drawing/2014/main" id="{3FDA7B3D-58A5-4925-D95C-0FB579758D64}"/>
                  </a:ext>
                </a:extLst>
              </p:cNvPr>
              <p:cNvSpPr txBox="1"/>
              <p:nvPr/>
            </p:nvSpPr>
            <p:spPr>
              <a:xfrm>
                <a:off x="8484810" y="4773334"/>
                <a:ext cx="448116" cy="52322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800" b="0" i="1" smtClean="0">
                          <a:latin typeface="Cambria Math" panose="02040503050406030204" pitchFamily="18" charset="0"/>
                        </a:rPr>
                        <m:t>𝑤</m:t>
                      </m:r>
                    </m:oMath>
                  </m:oMathPara>
                </a14:m>
                <a:endParaRPr lang="en-US" sz="2800" dirty="0">
                  <a:latin typeface="Script MT Bold" panose="03040602040607080904" pitchFamily="66" charset="0"/>
                </a:endParaRPr>
              </a:p>
            </p:txBody>
          </p:sp>
        </mc:Choice>
        <mc:Fallback xmlns="">
          <p:sp>
            <p:nvSpPr>
              <p:cNvPr id="30" name="TextBox 29">
                <a:extLst>
                  <a:ext uri="{FF2B5EF4-FFF2-40B4-BE49-F238E27FC236}">
                    <a16:creationId xmlns:a16="http://schemas.microsoft.com/office/drawing/2014/main" id="{D24D6F53-276D-CED8-23BD-7C9E0BFA6AB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484810" y="4773334"/>
                <a:ext cx="448116" cy="523220"/>
              </a:xfrm>
              <a:prstGeom prst="rect">
                <a:avLst/>
              </a:prstGeom>
              <a:blipFill>
                <a:blip r:embed="rId1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4" name="Content Placeholder 2">
                <a:extLst>
                  <a:ext uri="{FF2B5EF4-FFF2-40B4-BE49-F238E27FC236}">
                    <a16:creationId xmlns:a16="http://schemas.microsoft.com/office/drawing/2014/main" id="{3F9B646B-1C01-23A1-61D2-BF888A2D33A8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789301" y="1124339"/>
                <a:ext cx="10515600" cy="993778"/>
              </a:xfrm>
            </p:spPr>
            <p:txBody>
              <a:bodyPr/>
              <a:lstStyle/>
              <a:p>
                <a:pPr marL="0" indent="0">
                  <a:buNone/>
                </a:pPr>
                <a:r>
                  <a:rPr lang="en-US" dirty="0"/>
                  <a:t>Consider what happens when there is motion between the objects in a scene and the image plane with depth-dependent projection </a:t>
                </a:r>
                <a14:m>
                  <m:oMath xmlns:m="http://schemas.openxmlformats.org/officeDocument/2006/math">
                    <m:r>
                      <a:rPr lang="en-US" b="1" i="1">
                        <a:latin typeface="Cambria Math" panose="02040503050406030204" pitchFamily="18" charset="0"/>
                      </a:rPr>
                      <m:t>𝑷</m:t>
                    </m:r>
                  </m:oMath>
                </a14:m>
                <a:endParaRPr lang="en-US" dirty="0"/>
              </a:p>
            </p:txBody>
          </p:sp>
        </mc:Choice>
        <mc:Fallback xmlns="">
          <p:sp>
            <p:nvSpPr>
              <p:cNvPr id="34" name="Content Placeholder 2">
                <a:extLst>
                  <a:ext uri="{FF2B5EF4-FFF2-40B4-BE49-F238E27FC236}">
                    <a16:creationId xmlns:a16="http://schemas.microsoft.com/office/drawing/2014/main" id="{3F9B646B-1C01-23A1-61D2-BF888A2D33A8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789301" y="1124339"/>
                <a:ext cx="10515600" cy="993778"/>
              </a:xfrm>
              <a:blipFill>
                <a:blip r:embed="rId13"/>
                <a:stretch>
                  <a:fillRect l="-1159" t="-9816" r="-812" b="-4294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9" name="TextBox 38">
                <a:extLst>
                  <a:ext uri="{FF2B5EF4-FFF2-40B4-BE49-F238E27FC236}">
                    <a16:creationId xmlns:a16="http://schemas.microsoft.com/office/drawing/2014/main" id="{45B2FE48-9B8E-FB52-0B85-796807F4C806}"/>
                  </a:ext>
                </a:extLst>
              </p:cNvPr>
              <p:cNvSpPr txBox="1"/>
              <p:nvPr/>
            </p:nvSpPr>
            <p:spPr>
              <a:xfrm>
                <a:off x="9194952" y="5187344"/>
                <a:ext cx="2615116" cy="1652888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sz="2400" dirty="0"/>
                  <a:t>1. Point</a:t>
                </a:r>
                <a:r>
                  <a:rPr lang="en-US" sz="2400" b="1" dirty="0"/>
                  <a:t> </a:t>
                </a:r>
                <a:r>
                  <a:rPr lang="en-US" sz="2400" b="1" i="1" dirty="0"/>
                  <a:t>X</a:t>
                </a:r>
                <a:r>
                  <a:rPr lang="en-US" sz="2400" b="1" dirty="0"/>
                  <a:t> </a:t>
                </a:r>
                <a:r>
                  <a:rPr lang="en-US" sz="2400" dirty="0"/>
                  <a:t>with</a:t>
                </a:r>
                <a:r>
                  <a:rPr lang="en-US" sz="2400" b="1" dirty="0"/>
                  <a:t> velocity vector </a:t>
                </a:r>
                <a:endParaRPr lang="en-US" sz="2400" b="1" i="1" dirty="0">
                  <a:latin typeface="Cambria Math" panose="02040503050406030204" pitchFamily="18" charset="0"/>
                </a:endParaRPr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400" b="1" i="1" smtClean="0">
                          <a:latin typeface="Cambria Math" panose="02040503050406030204" pitchFamily="18" charset="0"/>
                        </a:rPr>
                        <m:t>𝑽</m:t>
                      </m:r>
                      <m:r>
                        <a:rPr lang="en-US" sz="2400" i="1">
                          <a:latin typeface="Cambria Math" panose="02040503050406030204" pitchFamily="18" charset="0"/>
                        </a:rPr>
                        <m:t>=</m:t>
                      </m:r>
                      <m:d>
                        <m:dPr>
                          <m:begChr m:val="["/>
                          <m:endChr m:val="]"/>
                          <m:ctrlPr>
                            <a:rPr lang="en-US" sz="24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m>
                            <m:mPr>
                              <m:mcs>
                                <m:mc>
                                  <m:mcPr>
                                    <m:count m:val="1"/>
                                    <m:mcJc m:val="center"/>
                                  </m:mcPr>
                                </m:mc>
                              </m:mcs>
                              <m:ctrlPr>
                                <a:rPr lang="en-US" sz="2400" i="1">
                                  <a:latin typeface="Cambria Math" panose="02040503050406030204" pitchFamily="18" charset="0"/>
                                </a:rPr>
                              </m:ctrlPr>
                            </m:mPr>
                            <m:mr>
                              <m:e>
                                <m:r>
                                  <m:rPr>
                                    <m:brk m:alnAt="7"/>
                                  </m:rPr>
                                  <a:rPr lang="en-US" sz="2400" b="0" i="1" smtClean="0">
                                    <a:latin typeface="Cambria Math" panose="02040503050406030204" pitchFamily="18" charset="0"/>
                                  </a:rPr>
                                  <m:t>𝑢</m:t>
                                </m:r>
                              </m:e>
                            </m:mr>
                            <m:mr>
                              <m:e>
                                <m:m>
                                  <m:mPr>
                                    <m:mcs>
                                      <m:mc>
                                        <m:mcPr>
                                          <m:count m:val="1"/>
                                          <m:mcJc m:val="center"/>
                                        </m:mcPr>
                                      </m:mc>
                                    </m:mcs>
                                    <m:ctrlPr>
                                      <a:rPr lang="en-US" sz="2400" i="1">
                                        <a:latin typeface="Cambria Math" panose="02040503050406030204" pitchFamily="18" charset="0"/>
                                      </a:rPr>
                                    </m:ctrlPr>
                                  </m:mPr>
                                  <m:mr>
                                    <m:e>
                                      <m:r>
                                        <a:rPr lang="en-US" sz="2400" b="0" i="1" smtClean="0">
                                          <a:latin typeface="Cambria Math" panose="02040503050406030204" pitchFamily="18" charset="0"/>
                                        </a:rPr>
                                        <m:t>𝑣</m:t>
                                      </m:r>
                                    </m:e>
                                  </m:mr>
                                  <m:mr>
                                    <m:e>
                                      <m:r>
                                        <a:rPr lang="en-US" sz="2400" b="0" i="1" smtClean="0">
                                          <a:latin typeface="Cambria Math" panose="02040503050406030204" pitchFamily="18" charset="0"/>
                                        </a:rPr>
                                        <m:t>𝑤</m:t>
                                      </m:r>
                                    </m:e>
                                  </m:mr>
                                </m:m>
                              </m:e>
                            </m:mr>
                          </m:m>
                        </m:e>
                      </m:d>
                    </m:oMath>
                  </m:oMathPara>
                </a14:m>
                <a:endParaRPr lang="en-US" sz="2400" dirty="0"/>
              </a:p>
            </p:txBody>
          </p:sp>
        </mc:Choice>
        <mc:Fallback xmlns="">
          <p:sp>
            <p:nvSpPr>
              <p:cNvPr id="39" name="TextBox 38">
                <a:extLst>
                  <a:ext uri="{FF2B5EF4-FFF2-40B4-BE49-F238E27FC236}">
                    <a16:creationId xmlns:a16="http://schemas.microsoft.com/office/drawing/2014/main" id="{2B972BE7-D2AE-5484-FE3E-FEDB572545A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194952" y="5187344"/>
                <a:ext cx="2615116" cy="1652888"/>
              </a:xfrm>
              <a:prstGeom prst="rect">
                <a:avLst/>
              </a:prstGeom>
              <a:blipFill>
                <a:blip r:embed="rId14"/>
                <a:stretch>
                  <a:fillRect l="-3497" t="-2952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4" name="TextBox 43">
                <a:extLst>
                  <a:ext uri="{FF2B5EF4-FFF2-40B4-BE49-F238E27FC236}">
                    <a16:creationId xmlns:a16="http://schemas.microsoft.com/office/drawing/2014/main" id="{2ECF145B-824A-65A9-3EDC-5A63FB6C9129}"/>
                  </a:ext>
                </a:extLst>
              </p:cNvPr>
              <p:cNvSpPr txBox="1"/>
              <p:nvPr/>
            </p:nvSpPr>
            <p:spPr>
              <a:xfrm>
                <a:off x="5199904" y="2101679"/>
                <a:ext cx="3583641" cy="156966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sz="2400" dirty="0"/>
                  <a:t>3. Projection matrix</a:t>
                </a:r>
                <a14:m>
                  <m:oMath xmlns:m="http://schemas.openxmlformats.org/officeDocument/2006/math">
                    <m:r>
                      <a:rPr lang="en-US" sz="2400" b="0" i="0" smtClean="0">
                        <a:latin typeface="Cambria Math" panose="02040503050406030204" pitchFamily="18" charset="0"/>
                      </a:rPr>
                      <m:t> </m:t>
                    </m:r>
                    <m:sSub>
                      <m:sSubPr>
                        <m:ctrlPr>
                          <a:rPr lang="en-US" sz="24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400" b="1" i="1" smtClean="0">
                            <a:latin typeface="Cambria Math" panose="02040503050406030204" pitchFamily="18" charset="0"/>
                          </a:rPr>
                          <m:t>𝑷</m:t>
                        </m:r>
                      </m:e>
                      <m:sub>
                        <m:r>
                          <a:rPr lang="en-US" sz="2400" i="1"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</m:oMath>
                </a14:m>
                <a:r>
                  <a:rPr lang="en-US" sz="2400" dirty="0"/>
                  <a:t>for points on image plane</a:t>
                </a:r>
                <a:endParaRPr lang="en-US" sz="2400" b="1" i="1" dirty="0">
                  <a:latin typeface="Cambria Math" panose="02040503050406030204" pitchFamily="18" charset="0"/>
                </a:endParaRPr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4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400" b="1" i="1" smtClean="0">
                              <a:latin typeface="Cambria Math" panose="02040503050406030204" pitchFamily="18" charset="0"/>
                            </a:rPr>
                            <m:t>𝒙</m:t>
                          </m:r>
                        </m:e>
                        <m:sub>
                          <m:r>
                            <a:rPr lang="en-US" sz="2400" i="1">
                              <a:latin typeface="Cambria Math" panose="02040503050406030204" pitchFamily="18" charset="0"/>
                            </a:rPr>
                            <m:t>𝑡</m:t>
                          </m:r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=0</m:t>
                          </m:r>
                        </m:sub>
                      </m:sSub>
                      <m:r>
                        <a:rPr lang="en-US" sz="2400" i="1"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en-US" sz="24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400" b="1" i="1">
                              <a:latin typeface="Cambria Math" panose="02040503050406030204" pitchFamily="18" charset="0"/>
                            </a:rPr>
                            <m:t>𝑷</m:t>
                          </m:r>
                        </m:e>
                        <m:sub>
                          <m:r>
                            <a:rPr lang="en-US" sz="2400" i="1">
                              <a:latin typeface="Cambria Math" panose="02040503050406030204" pitchFamily="18" charset="0"/>
                            </a:rPr>
                            <m:t>𝑡</m:t>
                          </m:r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=0</m:t>
                          </m:r>
                        </m:sub>
                      </m:sSub>
                      <m:sSub>
                        <m:sSubPr>
                          <m:ctrlPr>
                            <a:rPr lang="en-US" sz="24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400" b="1" i="1" smtClean="0">
                              <a:latin typeface="Cambria Math" panose="02040503050406030204" pitchFamily="18" charset="0"/>
                            </a:rPr>
                            <m:t>𝑿</m:t>
                          </m:r>
                        </m:e>
                        <m:sub>
                          <m:r>
                            <a:rPr lang="en-US" sz="2400" i="1">
                              <a:latin typeface="Cambria Math" panose="02040503050406030204" pitchFamily="18" charset="0"/>
                            </a:rPr>
                            <m:t>𝑡</m:t>
                          </m:r>
                          <m:r>
                            <a:rPr lang="en-US" sz="2400" i="1">
                              <a:latin typeface="Cambria Math" panose="02040503050406030204" pitchFamily="18" charset="0"/>
                            </a:rPr>
                            <m:t>=0</m:t>
                          </m:r>
                        </m:sub>
                      </m:sSub>
                    </m:oMath>
                  </m:oMathPara>
                </a14:m>
                <a:endParaRPr lang="en-US" sz="2400" dirty="0"/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4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400" b="1" i="1">
                              <a:latin typeface="Cambria Math" panose="02040503050406030204" pitchFamily="18" charset="0"/>
                            </a:rPr>
                            <m:t>𝒙</m:t>
                          </m:r>
                        </m:e>
                        <m:sub>
                          <m:r>
                            <a:rPr lang="en-US" sz="2400" i="1">
                              <a:latin typeface="Cambria Math" panose="02040503050406030204" pitchFamily="18" charset="0"/>
                            </a:rPr>
                            <m:t>𝑡</m:t>
                          </m:r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+1</m:t>
                          </m:r>
                        </m:sub>
                      </m:sSub>
                      <m:r>
                        <a:rPr lang="en-US" sz="2400" i="1"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en-US" sz="24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400" b="1" i="1">
                              <a:latin typeface="Cambria Math" panose="02040503050406030204" pitchFamily="18" charset="0"/>
                            </a:rPr>
                            <m:t>𝑷</m:t>
                          </m:r>
                        </m:e>
                        <m:sub>
                          <m:r>
                            <a:rPr lang="en-US" sz="2400" i="1">
                              <a:latin typeface="Cambria Math" panose="02040503050406030204" pitchFamily="18" charset="0"/>
                            </a:rPr>
                            <m:t>𝑡</m:t>
                          </m:r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+1</m:t>
                          </m:r>
                        </m:sub>
                      </m:sSub>
                      <m:sSub>
                        <m:sSubPr>
                          <m:ctrlPr>
                            <a:rPr lang="en-US" sz="24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400" b="1" i="1">
                              <a:latin typeface="Cambria Math" panose="02040503050406030204" pitchFamily="18" charset="0"/>
                            </a:rPr>
                            <m:t>𝑿</m:t>
                          </m:r>
                        </m:e>
                        <m:sub>
                          <m:r>
                            <a:rPr lang="en-US" sz="2400" i="1">
                              <a:latin typeface="Cambria Math" panose="02040503050406030204" pitchFamily="18" charset="0"/>
                            </a:rPr>
                            <m:t>𝑡</m:t>
                          </m:r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+1</m:t>
                          </m:r>
                        </m:sub>
                      </m:sSub>
                    </m:oMath>
                  </m:oMathPara>
                </a14:m>
                <a:endParaRPr lang="en-US" sz="2400" dirty="0"/>
              </a:p>
            </p:txBody>
          </p:sp>
        </mc:Choice>
        <mc:Fallback xmlns="">
          <p:sp>
            <p:nvSpPr>
              <p:cNvPr id="44" name="TextBox 43">
                <a:extLst>
                  <a:ext uri="{FF2B5EF4-FFF2-40B4-BE49-F238E27FC236}">
                    <a16:creationId xmlns:a16="http://schemas.microsoft.com/office/drawing/2014/main" id="{B5E0B333-AC0B-8813-B7EC-BF7E8B8C6FE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199904" y="2101679"/>
                <a:ext cx="3583641" cy="1569660"/>
              </a:xfrm>
              <a:prstGeom prst="rect">
                <a:avLst/>
              </a:prstGeom>
              <a:blipFill>
                <a:blip r:embed="rId15"/>
                <a:stretch>
                  <a:fillRect l="-2551" t="-311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5" name="TextBox 44">
                <a:extLst>
                  <a:ext uri="{FF2B5EF4-FFF2-40B4-BE49-F238E27FC236}">
                    <a16:creationId xmlns:a16="http://schemas.microsoft.com/office/drawing/2014/main" id="{BD1B20BC-57A3-25A4-21F9-AF5E328C18C5}"/>
                  </a:ext>
                </a:extLst>
              </p:cNvPr>
              <p:cNvSpPr txBox="1"/>
              <p:nvPr/>
            </p:nvSpPr>
            <p:spPr>
              <a:xfrm>
                <a:off x="3776626" y="5759554"/>
                <a:ext cx="4525934" cy="830997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sz="2400" dirty="0"/>
                  <a:t>4</a:t>
                </a:r>
                <a:r>
                  <a:rPr lang="en-US" sz="2400" b="1" dirty="0"/>
                  <a:t>. Projected velocity vector </a:t>
                </a:r>
                <a:endParaRPr lang="en-US" sz="2400" b="1" i="1" dirty="0">
                  <a:latin typeface="Cambria Math" panose="02040503050406030204" pitchFamily="18" charset="0"/>
                </a:endParaRPr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400" b="1" i="1" smtClean="0">
                          <a:latin typeface="Cambria Math" panose="02040503050406030204" pitchFamily="18" charset="0"/>
                        </a:rPr>
                        <m:t>𝒗</m:t>
                      </m:r>
                      <m:r>
                        <a:rPr lang="en-US" sz="2400" i="1"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en-US" sz="24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400" b="1" i="1">
                              <a:latin typeface="Cambria Math" panose="02040503050406030204" pitchFamily="18" charset="0"/>
                            </a:rPr>
                            <m:t>𝒙</m:t>
                          </m:r>
                        </m:e>
                        <m:sub>
                          <m:r>
                            <a:rPr lang="en-US" sz="2400" i="1">
                              <a:latin typeface="Cambria Math" panose="02040503050406030204" pitchFamily="18" charset="0"/>
                            </a:rPr>
                            <m:t>𝑡</m:t>
                          </m:r>
                          <m:r>
                            <a:rPr lang="en-US" sz="2400" i="1">
                              <a:latin typeface="Cambria Math" panose="02040503050406030204" pitchFamily="18" charset="0"/>
                            </a:rPr>
                            <m:t>+1</m:t>
                          </m:r>
                        </m:sub>
                      </m:sSub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−</m:t>
                      </m:r>
                      <m:sSub>
                        <m:sSubPr>
                          <m:ctrlPr>
                            <a:rPr lang="en-US" sz="24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400" b="1" i="1">
                              <a:latin typeface="Cambria Math" panose="02040503050406030204" pitchFamily="18" charset="0"/>
                            </a:rPr>
                            <m:t>𝒙</m:t>
                          </m:r>
                        </m:e>
                        <m:sub>
                          <m:r>
                            <a:rPr lang="en-US" sz="2400" i="1">
                              <a:latin typeface="Cambria Math" panose="02040503050406030204" pitchFamily="18" charset="0"/>
                            </a:rPr>
                            <m:t>𝑡</m:t>
                          </m:r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=0</m:t>
                          </m:r>
                        </m:sub>
                      </m:sSub>
                    </m:oMath>
                  </m:oMathPara>
                </a14:m>
                <a:endParaRPr lang="en-US" sz="2400" dirty="0"/>
              </a:p>
            </p:txBody>
          </p:sp>
        </mc:Choice>
        <mc:Fallback xmlns="">
          <p:sp>
            <p:nvSpPr>
              <p:cNvPr id="45" name="TextBox 44">
                <a:extLst>
                  <a:ext uri="{FF2B5EF4-FFF2-40B4-BE49-F238E27FC236}">
                    <a16:creationId xmlns:a16="http://schemas.microsoft.com/office/drawing/2014/main" id="{929CBD46-74AF-79EB-753B-BA7448FA9A1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776626" y="5759554"/>
                <a:ext cx="4525934" cy="830997"/>
              </a:xfrm>
              <a:prstGeom prst="rect">
                <a:avLst/>
              </a:prstGeom>
              <a:blipFill>
                <a:blip r:embed="rId16"/>
                <a:stretch>
                  <a:fillRect l="-2156" t="-5882" b="-735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7" name="TextBox 46">
                <a:extLst>
                  <a:ext uri="{FF2B5EF4-FFF2-40B4-BE49-F238E27FC236}">
                    <a16:creationId xmlns:a16="http://schemas.microsoft.com/office/drawing/2014/main" id="{1AF58112-578B-726C-311C-590F6A6C73A0}"/>
                  </a:ext>
                </a:extLst>
              </p:cNvPr>
              <p:cNvSpPr txBox="1"/>
              <p:nvPr/>
            </p:nvSpPr>
            <p:spPr>
              <a:xfrm>
                <a:off x="2902393" y="4375816"/>
                <a:ext cx="448116" cy="46166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400" b="1" i="1" smtClean="0">
                          <a:latin typeface="Cambria Math" panose="02040503050406030204" pitchFamily="18" charset="0"/>
                        </a:rPr>
                        <m:t>𝒗</m:t>
                      </m:r>
                    </m:oMath>
                  </m:oMathPara>
                </a14:m>
                <a:endParaRPr lang="en-US" sz="2400" b="1" dirty="0"/>
              </a:p>
            </p:txBody>
          </p:sp>
        </mc:Choice>
        <mc:Fallback xmlns="">
          <p:sp>
            <p:nvSpPr>
              <p:cNvPr id="47" name="TextBox 46">
                <a:extLst>
                  <a:ext uri="{FF2B5EF4-FFF2-40B4-BE49-F238E27FC236}">
                    <a16:creationId xmlns:a16="http://schemas.microsoft.com/office/drawing/2014/main" id="{057F3DD2-FB22-F352-6476-C755769833A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902393" y="4375816"/>
                <a:ext cx="448116" cy="461665"/>
              </a:xfrm>
              <a:prstGeom prst="rect">
                <a:avLst/>
              </a:prstGeom>
              <a:blipFill>
                <a:blip r:embed="rId17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688319152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F5EE22D-5D6A-34BC-2951-7CCA44D149F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8EA36B1-C093-892D-12F5-AA3D6D422BC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89301" y="140193"/>
            <a:ext cx="10515600" cy="872004"/>
          </a:xfrm>
        </p:spPr>
        <p:txBody>
          <a:bodyPr>
            <a:normAutofit/>
          </a:bodyPr>
          <a:lstStyle/>
          <a:p>
            <a:r>
              <a:rPr lang="en-US" sz="4000" dirty="0">
                <a:latin typeface="+mn-lt"/>
              </a:rPr>
              <a:t>Depth and Motion In 3D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DFFEC512-2593-5BA6-DB79-0ACC4803D5B8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789301" y="1124339"/>
                <a:ext cx="10515600" cy="5593468"/>
              </a:xfrm>
            </p:spPr>
            <p:txBody>
              <a:bodyPr>
                <a:normAutofit/>
              </a:bodyPr>
              <a:lstStyle/>
              <a:p>
                <a:pPr marL="0" indent="0">
                  <a:buNone/>
                </a:pPr>
                <a:r>
                  <a:rPr lang="en-US" dirty="0"/>
                  <a:t>We can simplify the interpretation in Cartesian coordinates  </a:t>
                </a:r>
              </a:p>
              <a:p>
                <a:r>
                  <a:rPr lang="en-US" dirty="0"/>
                  <a:t>The projection of 3-D motion to the image plane for a camera with a focal length </a:t>
                </a:r>
                <a14:m>
                  <m:oMath xmlns:m="http://schemas.openxmlformats.org/officeDocument/2006/math">
                    <m:r>
                      <m:rPr>
                        <m:brk m:alnAt="7"/>
                      </m:rPr>
                      <a:rPr lang="en-US" i="1">
                        <a:latin typeface="Cambria Math" panose="02040503050406030204" pitchFamily="18" charset="0"/>
                      </a:rPr>
                      <m:t>𝑓</m:t>
                    </m:r>
                  </m:oMath>
                </a14:m>
                <a:r>
                  <a:rPr lang="en-US" dirty="0"/>
                  <a:t>, with no rotation    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1" i="1" smtClean="0">
                          <a:latin typeface="Cambria Math" panose="02040503050406030204" pitchFamily="18" charset="0"/>
                        </a:rPr>
                        <m:t>𝒗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</m:t>
                      </m:r>
                      <m:d>
                        <m:dPr>
                          <m:begChr m:val="["/>
                          <m:endChr m:val="]"/>
                          <m:ctrlPr>
                            <a:rPr lang="en-US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m>
                            <m:mPr>
                              <m:mcs>
                                <m:mc>
                                  <m:mcPr>
                                    <m:count m:val="1"/>
                                    <m:mcJc m:val="center"/>
                                  </m:mcPr>
                                </m:mc>
                              </m:mcs>
                              <m:ctrlPr>
                                <a:rPr lang="en-US" i="1" smtClean="0">
                                  <a:latin typeface="Cambria Math" panose="02040503050406030204" pitchFamily="18" charset="0"/>
                                </a:rPr>
                              </m:ctrlPr>
                            </m:mPr>
                            <m:mr>
                              <m:e>
                                <m:acc>
                                  <m:accPr>
                                    <m:chr m:val="̇"/>
                                    <m:ctrlPr>
                                      <a:rPr lang="en-US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accPr>
                                  <m:e>
                                    <m:r>
                                      <a:rPr lang="en-US" b="0" i="1" smtClean="0">
                                        <a:latin typeface="Cambria Math" panose="02040503050406030204" pitchFamily="18" charset="0"/>
                                      </a:rPr>
                                      <m:t>𝑥</m:t>
                                    </m:r>
                                  </m:e>
                                </m:acc>
                              </m:e>
                            </m:mr>
                            <m:mr>
                              <m:e>
                                <m:acc>
                                  <m:accPr>
                                    <m:chr m:val="̇"/>
                                    <m:ctrlPr>
                                      <a:rPr lang="en-US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accPr>
                                  <m:e>
                                    <m:r>
                                      <a:rPr lang="en-US" b="0" i="1" smtClean="0">
                                        <a:latin typeface="Cambria Math" panose="02040503050406030204" pitchFamily="18" charset="0"/>
                                      </a:rPr>
                                      <m:t>𝑦</m:t>
                                    </m:r>
                                  </m:e>
                                </m:acc>
                              </m:e>
                            </m:mr>
                          </m:m>
                        </m:e>
                      </m:d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𝑍</m:t>
                          </m:r>
                        </m:den>
                      </m:f>
                      <m:d>
                        <m:dPr>
                          <m:begChr m:val="["/>
                          <m:endChr m:val="]"/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m>
                            <m:mPr>
                              <m:mcs>
                                <m:mc>
                                  <m:mcPr>
                                    <m:count m:val="3"/>
                                    <m:mcJc m:val="center"/>
                                  </m:mcPr>
                                </m:mc>
                              </m:mcs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mPr>
                            <m:mr>
                              <m:e>
                                <m:r>
                                  <m:rPr>
                                    <m:brk m:alnAt="7"/>
                                  </m:rP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  <m:t>−</m:t>
                                </m:r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  <m:t>𝑓</m:t>
                                </m:r>
                              </m:e>
                              <m:e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  <m:t>0</m:t>
                                </m:r>
                              </m:e>
                              <m:e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  <m:t>𝑥</m:t>
                                </m:r>
                              </m:e>
                            </m:mr>
                            <m:mr>
                              <m:e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  <m:t>0</m:t>
                                </m:r>
                              </m:e>
                              <m:e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  <m:t>−</m:t>
                                </m:r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  <m:t>𝑓</m:t>
                                </m:r>
                              </m:e>
                              <m:e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  <m:t>𝑦</m:t>
                                </m:r>
                              </m:e>
                            </m:mr>
                          </m:m>
                        </m:e>
                      </m:d>
                      <m:d>
                        <m:dPr>
                          <m:begChr m:val="["/>
                          <m:endChr m:val="]"/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m>
                            <m:mPr>
                              <m:mcs>
                                <m:mc>
                                  <m:mcPr>
                                    <m:count m:val="1"/>
                                    <m:mcJc m:val="center"/>
                                  </m:mcPr>
                                </m:mc>
                              </m:mcs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mPr>
                            <m:mr>
                              <m:e>
                                <m:r>
                                  <m:rPr>
                                    <m:brk m:alnAt="7"/>
                                  </m:rPr>
                                  <a:rPr lang="en-US" i="1">
                                    <a:latin typeface="Cambria Math" panose="02040503050406030204" pitchFamily="18" charset="0"/>
                                  </a:rPr>
                                  <m:t>𝑢</m:t>
                                </m:r>
                              </m:e>
                            </m:mr>
                            <m:mr>
                              <m:e>
                                <m:r>
                                  <a:rPr lang="en-US" i="1">
                                    <a:latin typeface="Cambria Math" panose="02040503050406030204" pitchFamily="18" charset="0"/>
                                  </a:rPr>
                                  <m:t>𝑣</m:t>
                                </m:r>
                              </m:e>
                            </m:mr>
                            <m:mr>
                              <m:e>
                                <m:r>
                                  <a:rPr lang="en-US" i="1">
                                    <a:latin typeface="Cambria Math" panose="02040503050406030204" pitchFamily="18" charset="0"/>
                                  </a:rPr>
                                  <m:t>𝑤</m:t>
                                </m:r>
                              </m:e>
                            </m:mr>
                          </m:m>
                        </m:e>
                      </m:d>
                    </m:oMath>
                  </m:oMathPara>
                </a14:m>
                <a:endParaRPr lang="en-US" dirty="0"/>
              </a:p>
              <a:p>
                <a:r>
                  <a:rPr lang="en-US" dirty="0"/>
                  <a:t>Factoring into two components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1" i="1">
                          <a:latin typeface="Cambria Math" panose="02040503050406030204" pitchFamily="18" charset="0"/>
                        </a:rPr>
                        <m:t>𝒗</m:t>
                      </m:r>
                      <m:r>
                        <a:rPr lang="en-US" i="1">
                          <a:latin typeface="Cambria Math" panose="02040503050406030204" pitchFamily="18" charset="0"/>
                        </a:rPr>
                        <m:t>=</m:t>
                      </m:r>
                      <m:d>
                        <m:dPr>
                          <m:begChr m:val="["/>
                          <m:endChr m:val="]"/>
                          <m:ctrlPr>
                            <a:rPr lang="en-US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m>
                            <m:mPr>
                              <m:mcs>
                                <m:mc>
                                  <m:mcPr>
                                    <m:count m:val="1"/>
                                    <m:mcJc m:val="center"/>
                                  </m:mcPr>
                                </m:mc>
                              </m:mcs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mPr>
                            <m:mr>
                              <m:e>
                                <m:acc>
                                  <m:accPr>
                                    <m:chr m:val="̇"/>
                                    <m:ctrlPr>
                                      <a:rPr lang="en-US" i="1">
                                        <a:latin typeface="Cambria Math" panose="02040503050406030204" pitchFamily="18" charset="0"/>
                                      </a:rPr>
                                    </m:ctrlPr>
                                  </m:accPr>
                                  <m:e>
                                    <m:r>
                                      <a:rPr lang="en-US" i="1">
                                        <a:latin typeface="Cambria Math" panose="02040503050406030204" pitchFamily="18" charset="0"/>
                                      </a:rPr>
                                      <m:t>𝑥</m:t>
                                    </m:r>
                                  </m:e>
                                </m:acc>
                              </m:e>
                            </m:mr>
                            <m:mr>
                              <m:e>
                                <m:acc>
                                  <m:accPr>
                                    <m:chr m:val="̇"/>
                                    <m:ctrlPr>
                                      <a:rPr lang="en-US" i="1">
                                        <a:latin typeface="Cambria Math" panose="02040503050406030204" pitchFamily="18" charset="0"/>
                                      </a:rPr>
                                    </m:ctrlPr>
                                  </m:accPr>
                                  <m:e>
                                    <m:r>
                                      <a:rPr lang="en-US" i="1">
                                        <a:latin typeface="Cambria Math" panose="02040503050406030204" pitchFamily="18" charset="0"/>
                                      </a:rPr>
                                      <m:t>𝑦</m:t>
                                    </m:r>
                                  </m:e>
                                </m:acc>
                              </m:e>
                            </m:mr>
                          </m:m>
                        </m:e>
                      </m:d>
                      <m:r>
                        <a:rPr lang="en-US" i="1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−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𝑓</m:t>
                          </m:r>
                        </m:num>
                        <m:den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𝑍</m:t>
                          </m:r>
                        </m:den>
                      </m:f>
                      <m:d>
                        <m:dPr>
                          <m:begChr m:val="["/>
                          <m:endChr m:val="]"/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m>
                            <m:mPr>
                              <m:mcs>
                                <m:mc>
                                  <m:mcPr>
                                    <m:count m:val="1"/>
                                    <m:mcJc m:val="center"/>
                                  </m:mcPr>
                                </m:mc>
                              </m:mcs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mPr>
                            <m:mr>
                              <m:e>
                                <m:r>
                                  <m:rPr>
                                    <m:brk m:alnAt="7"/>
                                  </m:rP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  <m:t>𝑢</m:t>
                                </m:r>
                              </m:e>
                            </m:mr>
                            <m:mr>
                              <m:e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  <m:t>𝑣</m:t>
                                </m:r>
                              </m:e>
                            </m:mr>
                          </m:m>
                        </m:e>
                      </m:d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+</m:t>
                      </m:r>
                      <m:f>
                        <m:f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𝑤</m:t>
                          </m:r>
                        </m:num>
                        <m:den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𝑍</m:t>
                          </m:r>
                        </m:den>
                      </m:f>
                      <m:d>
                        <m:dPr>
                          <m:begChr m:val="["/>
                          <m:endChr m:val="]"/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m>
                            <m:mPr>
                              <m:mcs>
                                <m:mc>
                                  <m:mcPr>
                                    <m:count m:val="1"/>
                                    <m:mcJc m:val="center"/>
                                  </m:mcPr>
                                </m:mc>
                              </m:mcs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mPr>
                            <m:mr>
                              <m:e>
                                <m:r>
                                  <m:rPr>
                                    <m:brk m:alnAt="7"/>
                                  </m:rP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  <m:t>𝑥</m:t>
                                </m:r>
                              </m:e>
                            </m:mr>
                            <m:mr>
                              <m:e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  <m:t>𝑦</m:t>
                                </m:r>
                              </m:e>
                            </m:mr>
                          </m:m>
                        </m:e>
                      </m:d>
                    </m:oMath>
                  </m:oMathPara>
                </a14:m>
                <a:endParaRPr lang="en-US" dirty="0"/>
              </a:p>
              <a:p>
                <a:r>
                  <a:rPr lang="en-US" dirty="0"/>
                  <a:t>Notice that the projected motion on the image plane decreases with depth,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</a:rPr>
                      <m:t>𝑍</m:t>
                    </m:r>
                  </m:oMath>
                </a14:m>
                <a:r>
                  <a:rPr lang="en-US" dirty="0"/>
                  <a:t> </a:t>
                </a:r>
              </a:p>
            </p:txBody>
          </p:sp>
        </mc:Choice>
        <mc:Fallback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DFFEC512-2593-5BA6-DB79-0ACC4803D5B8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789301" y="1124339"/>
                <a:ext cx="10515600" cy="5593468"/>
              </a:xfrm>
              <a:blipFill>
                <a:blip r:embed="rId3"/>
                <a:stretch>
                  <a:fillRect l="-1159" t="-174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42139396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F7C4A0D-A2AB-A05E-EB69-3D11B5C7099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74BA227-A300-8858-7281-C4B792DB649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89301" y="140193"/>
            <a:ext cx="10515600" cy="872004"/>
          </a:xfrm>
        </p:spPr>
        <p:txBody>
          <a:bodyPr>
            <a:normAutofit/>
          </a:bodyPr>
          <a:lstStyle/>
          <a:p>
            <a:r>
              <a:rPr lang="en-US" sz="4000" dirty="0">
                <a:latin typeface="+mn-lt"/>
              </a:rPr>
              <a:t>Depth and Motion In 3D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626A67A3-DA0D-D1CB-8C38-02F6D13764A0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789301" y="1124339"/>
                <a:ext cx="10515600" cy="5593468"/>
              </a:xfrm>
            </p:spPr>
            <p:txBody>
              <a:bodyPr>
                <a:normAutofit/>
              </a:bodyPr>
              <a:lstStyle/>
              <a:p>
                <a:pPr marL="0" indent="0">
                  <a:buNone/>
                </a:pPr>
                <a:r>
                  <a:rPr lang="en-US" dirty="0"/>
                  <a:t>We can simplify the interpretation in Cartesian coordinates  </a:t>
                </a:r>
              </a:p>
              <a:p>
                <a:r>
                  <a:rPr lang="en-US" dirty="0"/>
                  <a:t>Factoring into two components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1" i="1">
                          <a:latin typeface="Cambria Math" panose="02040503050406030204" pitchFamily="18" charset="0"/>
                        </a:rPr>
                        <m:t>𝒗</m:t>
                      </m:r>
                      <m:r>
                        <a:rPr lang="en-US" i="1">
                          <a:latin typeface="Cambria Math" panose="02040503050406030204" pitchFamily="18" charset="0"/>
                        </a:rPr>
                        <m:t>=</m:t>
                      </m:r>
                      <m:d>
                        <m:dPr>
                          <m:begChr m:val="["/>
                          <m:endChr m:val="]"/>
                          <m:ctrlPr>
                            <a:rPr lang="en-US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m>
                            <m:mPr>
                              <m:mcs>
                                <m:mc>
                                  <m:mcPr>
                                    <m:count m:val="1"/>
                                    <m:mcJc m:val="center"/>
                                  </m:mcPr>
                                </m:mc>
                              </m:mcs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mPr>
                            <m:mr>
                              <m:e>
                                <m:acc>
                                  <m:accPr>
                                    <m:chr m:val="̇"/>
                                    <m:ctrlPr>
                                      <a:rPr lang="en-US" i="1">
                                        <a:latin typeface="Cambria Math" panose="02040503050406030204" pitchFamily="18" charset="0"/>
                                      </a:rPr>
                                    </m:ctrlPr>
                                  </m:accPr>
                                  <m:e>
                                    <m:r>
                                      <a:rPr lang="en-US" i="1">
                                        <a:latin typeface="Cambria Math" panose="02040503050406030204" pitchFamily="18" charset="0"/>
                                      </a:rPr>
                                      <m:t>𝑥</m:t>
                                    </m:r>
                                  </m:e>
                                </m:acc>
                              </m:e>
                            </m:mr>
                            <m:mr>
                              <m:e>
                                <m:acc>
                                  <m:accPr>
                                    <m:chr m:val="̇"/>
                                    <m:ctrlPr>
                                      <a:rPr lang="en-US" i="1">
                                        <a:latin typeface="Cambria Math" panose="02040503050406030204" pitchFamily="18" charset="0"/>
                                      </a:rPr>
                                    </m:ctrlPr>
                                  </m:accPr>
                                  <m:e>
                                    <m:r>
                                      <a:rPr lang="en-US" i="1">
                                        <a:latin typeface="Cambria Math" panose="02040503050406030204" pitchFamily="18" charset="0"/>
                                      </a:rPr>
                                      <m:t>𝑦</m:t>
                                    </m:r>
                                  </m:e>
                                </m:acc>
                              </m:e>
                            </m:mr>
                          </m:m>
                        </m:e>
                      </m:d>
                      <m:r>
                        <a:rPr lang="en-US" i="1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−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𝑓</m:t>
                          </m:r>
                        </m:num>
                        <m:den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𝑍</m:t>
                          </m:r>
                        </m:den>
                      </m:f>
                      <m:d>
                        <m:dPr>
                          <m:begChr m:val="["/>
                          <m:endChr m:val="]"/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m>
                            <m:mPr>
                              <m:mcs>
                                <m:mc>
                                  <m:mcPr>
                                    <m:count m:val="1"/>
                                    <m:mcJc m:val="center"/>
                                  </m:mcPr>
                                </m:mc>
                              </m:mcs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mPr>
                            <m:mr>
                              <m:e>
                                <m:r>
                                  <m:rPr>
                                    <m:brk m:alnAt="7"/>
                                  </m:rP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  <m:t>𝑢</m:t>
                                </m:r>
                              </m:e>
                            </m:mr>
                            <m:mr>
                              <m:e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  <m:t>𝑣</m:t>
                                </m:r>
                              </m:e>
                            </m:mr>
                          </m:m>
                        </m:e>
                      </m:d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+</m:t>
                      </m:r>
                      <m:f>
                        <m:f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𝑤</m:t>
                          </m:r>
                        </m:num>
                        <m:den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𝑍</m:t>
                          </m:r>
                        </m:den>
                      </m:f>
                      <m:d>
                        <m:dPr>
                          <m:begChr m:val="["/>
                          <m:endChr m:val="]"/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m>
                            <m:mPr>
                              <m:mcs>
                                <m:mc>
                                  <m:mcPr>
                                    <m:count m:val="1"/>
                                    <m:mcJc m:val="center"/>
                                  </m:mcPr>
                                </m:mc>
                              </m:mcs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mPr>
                            <m:mr>
                              <m:e>
                                <m:r>
                                  <m:rPr>
                                    <m:brk m:alnAt="7"/>
                                  </m:rP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  <m:t>𝑥</m:t>
                                </m:r>
                              </m:e>
                            </m:mr>
                            <m:mr>
                              <m:e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  <m:t>𝑦</m:t>
                                </m:r>
                              </m:e>
                            </m:mr>
                          </m:m>
                        </m:e>
                      </m:d>
                    </m:oMath>
                  </m:oMathPara>
                </a14:m>
                <a:endParaRPr lang="en-US" dirty="0"/>
              </a:p>
              <a:p>
                <a:r>
                  <a:rPr lang="en-US" dirty="0"/>
                  <a:t>For in-plane translation, with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𝑤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=0</m:t>
                    </m:r>
                  </m:oMath>
                </a14:m>
                <a:r>
                  <a:rPr lang="en-US" dirty="0"/>
                  <a:t>, a fixed focal length,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</a:rPr>
                      <m:t>𝑓</m:t>
                    </m:r>
                  </m:oMath>
                </a14:m>
                <a:r>
                  <a:rPr lang="en-US" dirty="0"/>
                  <a:t>, relationship for depth,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</a:rPr>
                      <m:t>𝑍</m:t>
                    </m:r>
                  </m:oMath>
                </a14:m>
                <a:r>
                  <a:rPr lang="en-US" dirty="0"/>
                  <a:t> 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𝑍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−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𝑓𝑢</m:t>
                          </m:r>
                        </m:num>
                        <m:den>
                          <m:acc>
                            <m:accPr>
                              <m:chr m:val="̇"/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</m:acc>
                        </m:den>
                      </m:f>
                    </m:oMath>
                  </m:oMathPara>
                </a14:m>
                <a:endParaRPr lang="en-US" dirty="0"/>
              </a:p>
              <a:p>
                <a:pPr marL="457200" lvl="1" indent="0">
                  <a:buNone/>
                </a:pPr>
                <a:r>
                  <a:rPr lang="en-US" dirty="0"/>
                  <a:t>Or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i="1">
                          <a:latin typeface="Cambria Math" panose="02040503050406030204" pitchFamily="18" charset="0"/>
                        </a:rPr>
                        <m:t>𝑍</m:t>
                      </m:r>
                      <m:r>
                        <a:rPr lang="en-US" i="1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−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𝑓</m:t>
                          </m:r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𝑣</m:t>
                          </m:r>
                        </m:num>
                        <m:den>
                          <m:acc>
                            <m:accPr>
                              <m:chr m:val="̇"/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𝑦</m:t>
                              </m:r>
                            </m:e>
                          </m:acc>
                        </m:den>
                      </m:f>
                    </m:oMath>
                  </m:oMathPara>
                </a14:m>
                <a:endParaRPr lang="en-US" dirty="0"/>
              </a:p>
              <a:p>
                <a:r>
                  <a:rPr lang="en-US" dirty="0"/>
                  <a:t>We can improve accuracy by using several pixels in a patch and finding the least squares solution</a:t>
                </a: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626A67A3-DA0D-D1CB-8C38-02F6D13764A0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789301" y="1124339"/>
                <a:ext cx="10515600" cy="5593468"/>
              </a:xfrm>
              <a:blipFill>
                <a:blip r:embed="rId3"/>
                <a:stretch>
                  <a:fillRect l="-1159" t="-1743" b="-43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91318308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BD8222F-E991-8EAE-1B48-B65483E4039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00BAB4E-B46C-B2FD-EDF1-109730D852A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89301" y="140193"/>
            <a:ext cx="10515600" cy="872004"/>
          </a:xfrm>
        </p:spPr>
        <p:txBody>
          <a:bodyPr>
            <a:normAutofit/>
          </a:bodyPr>
          <a:lstStyle/>
          <a:p>
            <a:r>
              <a:rPr lang="en-US" sz="4000" dirty="0">
                <a:latin typeface="+mn-lt"/>
              </a:rPr>
              <a:t>Depth and Motion In 3D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D1940C5D-46E9-FB20-635D-C3B6638F6813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789301" y="1124339"/>
                <a:ext cx="10515600" cy="5593468"/>
              </a:xfrm>
            </p:spPr>
            <p:txBody>
              <a:bodyPr/>
              <a:lstStyle/>
              <a:p>
                <a:pPr marL="0" indent="0">
                  <a:buNone/>
                </a:pPr>
                <a:r>
                  <a:rPr lang="en-US" dirty="0"/>
                  <a:t>Pitfalls of computing depth from motion     </a:t>
                </a:r>
              </a:p>
              <a:p>
                <a:r>
                  <a:rPr lang="en-US" dirty="0"/>
                  <a:t>The velocity of the camera must be known    </a:t>
                </a:r>
              </a:p>
              <a:p>
                <a:r>
                  <a:rPr lang="en-US" dirty="0"/>
                  <a:t>If the camera and an object in the scene are moving at the same velocity, there is no optical flow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acc>
                        <m:accPr>
                          <m:chr m:val="̇"/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</m:acc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=0</m:t>
                      </m:r>
                    </m:oMath>
                  </m:oMathPara>
                </a14:m>
                <a:endParaRPr lang="en-US" b="0" dirty="0"/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i="1">
                          <a:latin typeface="Cambria Math" panose="02040503050406030204" pitchFamily="18" charset="0"/>
                        </a:rPr>
                        <m:t>𝑍</m:t>
                      </m:r>
                      <m:r>
                        <a:rPr lang="en-US" i="1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−</m:t>
                          </m:r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𝑓𝑢</m:t>
                          </m:r>
                        </m:num>
                        <m:den>
                          <m:acc>
                            <m:accPr>
                              <m:chr m:val="̇"/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</m:acc>
                        </m:den>
                      </m:f>
                      <m:r>
                        <a:rPr lang="en-US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→∞</m:t>
                      </m:r>
                    </m:oMath>
                  </m:oMathPara>
                </a14:m>
                <a:endParaRPr lang="en-US" dirty="0"/>
              </a:p>
              <a:p>
                <a:r>
                  <a:rPr lang="en-US" dirty="0"/>
                  <a:t>Rotation complicates the calculation     </a:t>
                </a:r>
              </a:p>
            </p:txBody>
          </p:sp>
        </mc:Choice>
        <mc:Fallback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D1940C5D-46E9-FB20-635D-C3B6638F6813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789301" y="1124339"/>
                <a:ext cx="10515600" cy="5593468"/>
              </a:xfrm>
              <a:blipFill>
                <a:blip r:embed="rId3"/>
                <a:stretch>
                  <a:fillRect l="-1159" t="-174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8426261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E62FED3-36FD-5365-EB2C-39CFFC7DA6A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726BB3D-1666-1247-E300-2BE8FA0CCAA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89301" y="140193"/>
            <a:ext cx="10515600" cy="872004"/>
          </a:xfrm>
        </p:spPr>
        <p:txBody>
          <a:bodyPr>
            <a:normAutofit/>
          </a:bodyPr>
          <a:lstStyle/>
          <a:p>
            <a:r>
              <a:rPr lang="en-US" sz="4000" dirty="0">
                <a:latin typeface="+mn-lt"/>
              </a:rPr>
              <a:t>Depth and Motion In 3D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73C49DBD-ABB5-DA7D-89EA-DDBCBBD06610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789300" y="1124339"/>
                <a:ext cx="11044111" cy="5593468"/>
              </a:xfrm>
            </p:spPr>
            <p:txBody>
              <a:bodyPr>
                <a:normAutofit/>
              </a:bodyPr>
              <a:lstStyle/>
              <a:p>
                <a:pPr marL="0" indent="0">
                  <a:buNone/>
                </a:pPr>
                <a:r>
                  <a:rPr lang="en-US" dirty="0"/>
                  <a:t>Can we determine depth from camera rotation with no translation?  </a:t>
                </a:r>
              </a:p>
              <a:p>
                <a:r>
                  <a:rPr lang="en-US" dirty="0"/>
                  <a:t>The projection matrix is for camera rotation is </a:t>
                </a:r>
              </a:p>
              <a:p>
                <a:pPr marL="457200" lvl="1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1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𝑷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𝑟𝑜𝑡</m:t>
                          </m:r>
                        </m:sub>
                      </m:sSub>
                      <m:r>
                        <a:rPr lang="en-US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</m:t>
                      </m:r>
                      <m:d>
                        <m:dPr>
                          <m:begChr m:val="["/>
                          <m:endChr m:val="]"/>
                          <m:ctrlP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m>
                            <m:mPr>
                              <m:mcs>
                                <m:mc>
                                  <m:mcPr>
                                    <m:count m:val="3"/>
                                    <m:mcJc m:val="center"/>
                                  </m:mcPr>
                                </m:mc>
                              </m:mcs>
                              <m:ctrlP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mPr>
                            <m:mr>
                              <m:e>
                                <m:r>
                                  <a:rPr lang="en-US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1</m:t>
                                </m:r>
                              </m:e>
                              <m:e>
                                <m:r>
                                  <a:rPr lang="en-US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0</m:t>
                                </m:r>
                              </m:e>
                              <m:e>
                                <m:r>
                                  <a:rPr lang="en-US" i="1">
                                    <a:latin typeface="Cambria Math" panose="02040503050406030204" pitchFamily="18" charset="0"/>
                                  </a:rPr>
                                  <m:t>0</m:t>
                                </m:r>
                              </m:e>
                            </m:mr>
                            <m:mr>
                              <m:e>
                                <m:r>
                                  <a:rPr lang="en-US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0</m:t>
                                </m:r>
                              </m:e>
                              <m:e>
                                <m:func>
                                  <m:funcPr>
                                    <m:ctrlPr>
                                      <a:rPr lang="en-US" i="1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</m:ctrlPr>
                                  </m:funcPr>
                                  <m:fName>
                                    <m:r>
                                      <m:rPr>
                                        <m:sty m:val="p"/>
                                        <m:brk m:alnAt="7"/>
                                      </m:rPr>
                                      <a:rPr lang="en-US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c</m:t>
                                    </m:r>
                                    <m:r>
                                      <m:rPr>
                                        <m:sty m:val="p"/>
                                      </m:rPr>
                                      <a:rPr lang="en-US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os</m:t>
                                    </m:r>
                                  </m:fName>
                                  <m:e>
                                    <m:sSub>
                                      <m:sSubPr>
                                        <m:ctrlPr>
                                          <a:rPr lang="en-US" i="1"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a:rPr lang="en-US" i="1"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  <m:t>𝜃</m:t>
                                        </m:r>
                                      </m:e>
                                      <m:sub>
                                        <m:r>
                                          <a:rPr lang="en-US" i="1"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  <m:t>𝑥</m:t>
                                        </m:r>
                                      </m:sub>
                                    </m:sSub>
                                  </m:e>
                                </m:func>
                              </m:e>
                              <m:e>
                                <m:func>
                                  <m:funcPr>
                                    <m:ctrlPr>
                                      <a:rPr lang="en-US" i="1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</m:ctrlPr>
                                  </m:funcPr>
                                  <m:fName>
                                    <m:r>
                                      <m:rPr>
                                        <m:sty m:val="p"/>
                                      </m:rPr>
                                      <a:rPr lang="en-US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sin</m:t>
                                    </m:r>
                                  </m:fName>
                                  <m:e>
                                    <m:sSub>
                                      <m:sSubPr>
                                        <m:ctrlPr>
                                          <a:rPr lang="en-US" i="1"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a:rPr lang="en-US" i="1"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  <m:t>𝜃</m:t>
                                        </m:r>
                                      </m:e>
                                      <m:sub>
                                        <m:r>
                                          <a:rPr lang="en-US" i="1"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  <m:t>𝑥</m:t>
                                        </m:r>
                                      </m:sub>
                                    </m:sSub>
                                  </m:e>
                                </m:func>
                              </m:e>
                            </m:mr>
                            <m:mr>
                              <m:e>
                                <m:r>
                                  <a:rPr lang="en-US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0</m:t>
                                </m:r>
                              </m:e>
                              <m:e>
                                <m:func>
                                  <m:funcPr>
                                    <m:ctrlPr>
                                      <a:rPr lang="en-US" i="1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</m:ctrlPr>
                                  </m:funcPr>
                                  <m:fName>
                                    <m:r>
                                      <a:rPr lang="en-US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−</m:t>
                                    </m:r>
                                    <m:r>
                                      <m:rPr>
                                        <m:sty m:val="p"/>
                                      </m:rPr>
                                      <a:rPr lang="en-US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sin</m:t>
                                    </m:r>
                                  </m:fName>
                                  <m:e>
                                    <m:sSub>
                                      <m:sSubPr>
                                        <m:ctrlPr>
                                          <a:rPr lang="en-US" i="1"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a:rPr lang="en-US" i="1"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  <m:t>𝜃</m:t>
                                        </m:r>
                                      </m:e>
                                      <m:sub>
                                        <m:r>
                                          <a:rPr lang="en-US" i="1"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  <m:t>𝑥</m:t>
                                        </m:r>
                                      </m:sub>
                                    </m:sSub>
                                  </m:e>
                                </m:func>
                              </m:e>
                              <m:e>
                                <m:func>
                                  <m:funcPr>
                                    <m:ctrlPr>
                                      <a:rPr lang="en-US" i="1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</m:ctrlPr>
                                  </m:funcPr>
                                  <m:fName>
                                    <m:r>
                                      <m:rPr>
                                        <m:sty m:val="p"/>
                                        <m:brk m:alnAt="7"/>
                                      </m:rPr>
                                      <a:rPr lang="en-US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c</m:t>
                                    </m:r>
                                    <m:r>
                                      <m:rPr>
                                        <m:sty m:val="p"/>
                                      </m:rPr>
                                      <a:rPr lang="en-US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os</m:t>
                                    </m:r>
                                  </m:fName>
                                  <m:e>
                                    <m:sSub>
                                      <m:sSubPr>
                                        <m:ctrlPr>
                                          <a:rPr lang="en-US" i="1"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a:rPr lang="en-US" i="1"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  <m:t>𝜃</m:t>
                                        </m:r>
                                      </m:e>
                                      <m:sub>
                                        <m:r>
                                          <a:rPr lang="en-US" i="1"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  <m:t>𝑥</m:t>
                                        </m:r>
                                      </m:sub>
                                    </m:sSub>
                                  </m:e>
                                </m:func>
                              </m:e>
                            </m:mr>
                          </m:m>
                        </m:e>
                      </m:d>
                      <m:d>
                        <m:dPr>
                          <m:begChr m:val="["/>
                          <m:endChr m:val="]"/>
                          <m:ctrlP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m>
                            <m:mPr>
                              <m:mcs>
                                <m:mc>
                                  <m:mcPr>
                                    <m:count m:val="3"/>
                                    <m:mcJc m:val="center"/>
                                  </m:mcPr>
                                </m:mc>
                              </m:mcs>
                              <m:ctrlP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mPr>
                            <m:mr>
                              <m:e>
                                <m:func>
                                  <m:funcPr>
                                    <m:ctrlPr>
                                      <a:rPr lang="en-US" i="1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</m:ctrlPr>
                                  </m:funcPr>
                                  <m:fName>
                                    <m:r>
                                      <m:rPr>
                                        <m:sty m:val="p"/>
                                        <m:brk m:alnAt="7"/>
                                      </m:rPr>
                                      <a:rPr lang="en-US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c</m:t>
                                    </m:r>
                                    <m:r>
                                      <m:rPr>
                                        <m:sty m:val="p"/>
                                      </m:rPr>
                                      <a:rPr lang="en-US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os</m:t>
                                    </m:r>
                                  </m:fName>
                                  <m:e>
                                    <m:sSub>
                                      <m:sSubPr>
                                        <m:ctrlPr>
                                          <a:rPr lang="en-US" i="1"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a:rPr lang="en-US" i="1"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  <m:t>𝜃</m:t>
                                        </m:r>
                                      </m:e>
                                      <m:sub>
                                        <m:r>
                                          <a:rPr lang="en-US" i="1"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  <m:t>𝑦</m:t>
                                        </m:r>
                                      </m:sub>
                                    </m:sSub>
                                  </m:e>
                                </m:func>
                              </m:e>
                              <m:e>
                                <m:r>
                                  <a:rPr lang="en-US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0</m:t>
                                </m:r>
                              </m:e>
                              <m:e>
                                <m:func>
                                  <m:funcPr>
                                    <m:ctrlPr>
                                      <a:rPr lang="en-US" i="1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</m:ctrlPr>
                                  </m:funcPr>
                                  <m:fName>
                                    <m:r>
                                      <a:rPr lang="en-US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−</m:t>
                                    </m:r>
                                    <m:r>
                                      <m:rPr>
                                        <m:sty m:val="p"/>
                                      </m:rPr>
                                      <a:rPr lang="en-US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sin</m:t>
                                    </m:r>
                                  </m:fName>
                                  <m:e>
                                    <m:sSub>
                                      <m:sSubPr>
                                        <m:ctrlPr>
                                          <a:rPr lang="en-US" i="1"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a:rPr lang="en-US" i="1"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  <m:t>𝜃</m:t>
                                        </m:r>
                                      </m:e>
                                      <m:sub>
                                        <m:r>
                                          <a:rPr lang="en-US" i="1"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  <m:t>𝑦</m:t>
                                        </m:r>
                                      </m:sub>
                                    </m:sSub>
                                  </m:e>
                                </m:func>
                              </m:e>
                            </m:mr>
                            <m:mr>
                              <m:e>
                                <m:r>
                                  <a:rPr lang="en-US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0</m:t>
                                </m:r>
                              </m:e>
                              <m:e>
                                <m:r>
                                  <a:rPr lang="en-US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1</m:t>
                                </m:r>
                              </m:e>
                              <m:e>
                                <m:r>
                                  <a:rPr lang="en-US" i="1">
                                    <a:latin typeface="Cambria Math" panose="02040503050406030204" pitchFamily="18" charset="0"/>
                                  </a:rPr>
                                  <m:t>0</m:t>
                                </m:r>
                              </m:e>
                            </m:mr>
                            <m:mr>
                              <m:e>
                                <m:func>
                                  <m:funcPr>
                                    <m:ctrlPr>
                                      <a:rPr lang="en-US" i="1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</m:ctrlPr>
                                  </m:funcPr>
                                  <m:fName>
                                    <m:r>
                                      <m:rPr>
                                        <m:sty m:val="p"/>
                                      </m:rPr>
                                      <a:rPr lang="en-US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sin</m:t>
                                    </m:r>
                                  </m:fName>
                                  <m:e>
                                    <m:sSub>
                                      <m:sSubPr>
                                        <m:ctrlPr>
                                          <a:rPr lang="en-US" i="1"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a:rPr lang="en-US" i="1"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  <m:t>𝜃</m:t>
                                        </m:r>
                                      </m:e>
                                      <m:sub>
                                        <m:r>
                                          <a:rPr lang="en-US" i="1"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  <m:t>𝑦</m:t>
                                        </m:r>
                                      </m:sub>
                                    </m:sSub>
                                  </m:e>
                                </m:func>
                              </m:e>
                              <m:e>
                                <m:r>
                                  <a:rPr lang="en-US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0</m:t>
                                </m:r>
                              </m:e>
                              <m:e>
                                <m:func>
                                  <m:funcPr>
                                    <m:ctrlPr>
                                      <a:rPr lang="en-US" i="1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</m:ctrlPr>
                                  </m:funcPr>
                                  <m:fName>
                                    <m:r>
                                      <m:rPr>
                                        <m:sty m:val="p"/>
                                        <m:brk m:alnAt="7"/>
                                      </m:rPr>
                                      <a:rPr lang="en-US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c</m:t>
                                    </m:r>
                                    <m:r>
                                      <m:rPr>
                                        <m:sty m:val="p"/>
                                      </m:rPr>
                                      <a:rPr lang="en-US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os</m:t>
                                    </m:r>
                                  </m:fName>
                                  <m:e>
                                    <m:sSub>
                                      <m:sSubPr>
                                        <m:ctrlPr>
                                          <a:rPr lang="en-US" i="1"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a:rPr lang="en-US" i="1"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  <m:t>𝜃</m:t>
                                        </m:r>
                                      </m:e>
                                      <m:sub>
                                        <m:r>
                                          <a:rPr lang="en-US" i="1"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  <m:t>𝑦</m:t>
                                        </m:r>
                                      </m:sub>
                                    </m:sSub>
                                  </m:e>
                                </m:func>
                              </m:e>
                            </m:mr>
                          </m:m>
                        </m:e>
                      </m:d>
                      <m:d>
                        <m:dPr>
                          <m:begChr m:val="["/>
                          <m:endChr m:val="]"/>
                          <m:ctrlP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m>
                            <m:mPr>
                              <m:mcs>
                                <m:mc>
                                  <m:mcPr>
                                    <m:count m:val="3"/>
                                    <m:mcJc m:val="center"/>
                                  </m:mcPr>
                                </m:mc>
                              </m:mcs>
                              <m:ctrlP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mPr>
                            <m:mr>
                              <m:e>
                                <m:func>
                                  <m:funcPr>
                                    <m:ctrlPr>
                                      <a:rPr lang="en-US" i="1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</m:ctrlPr>
                                  </m:funcPr>
                                  <m:fName>
                                    <m:r>
                                      <m:rPr>
                                        <m:sty m:val="p"/>
                                        <m:brk m:alnAt="7"/>
                                      </m:rPr>
                                      <a:rPr lang="en-US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c</m:t>
                                    </m:r>
                                    <m:r>
                                      <m:rPr>
                                        <m:sty m:val="p"/>
                                      </m:rPr>
                                      <a:rPr lang="en-US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os</m:t>
                                    </m:r>
                                  </m:fName>
                                  <m:e>
                                    <m:sSub>
                                      <m:sSubPr>
                                        <m:ctrlPr>
                                          <a:rPr lang="en-US" i="1"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a:rPr lang="en-US" i="1"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  <m:t>𝜃</m:t>
                                        </m:r>
                                      </m:e>
                                      <m:sub>
                                        <m:r>
                                          <a:rPr lang="en-US" i="1"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  <m:t>𝑧</m:t>
                                        </m:r>
                                      </m:sub>
                                    </m:sSub>
                                  </m:e>
                                </m:func>
                              </m:e>
                              <m:e>
                                <m:func>
                                  <m:funcPr>
                                    <m:ctrlPr>
                                      <a:rPr lang="en-US" i="1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</m:ctrlPr>
                                  </m:funcPr>
                                  <m:fName>
                                    <m:r>
                                      <a:rPr lang="en-US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−</m:t>
                                    </m:r>
                                    <m:r>
                                      <m:rPr>
                                        <m:sty m:val="p"/>
                                      </m:rPr>
                                      <a:rPr lang="en-US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sin</m:t>
                                    </m:r>
                                  </m:fName>
                                  <m:e>
                                    <m:sSub>
                                      <m:sSubPr>
                                        <m:ctrlPr>
                                          <a:rPr lang="en-US" i="1"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a:rPr lang="en-US" i="1"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  <m:t>𝜃</m:t>
                                        </m:r>
                                      </m:e>
                                      <m:sub>
                                        <m:r>
                                          <a:rPr lang="en-US" i="1"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  <m:t>𝑧</m:t>
                                        </m:r>
                                      </m:sub>
                                    </m:sSub>
                                  </m:e>
                                </m:func>
                              </m:e>
                              <m:e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  <m:t>0</m:t>
                                </m:r>
                              </m:e>
                            </m:mr>
                            <m:mr>
                              <m:e>
                                <m:func>
                                  <m:funcPr>
                                    <m:ctrlPr>
                                      <a:rPr lang="en-US" i="1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</m:ctrlPr>
                                  </m:funcPr>
                                  <m:fName>
                                    <m:r>
                                      <m:rPr>
                                        <m:sty m:val="p"/>
                                      </m:rPr>
                                      <a:rPr lang="en-US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sin</m:t>
                                    </m:r>
                                  </m:fName>
                                  <m:e>
                                    <m:sSub>
                                      <m:sSubPr>
                                        <m:ctrlPr>
                                          <a:rPr lang="en-US" i="1"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a:rPr lang="en-US" i="1"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  <m:t>𝜃</m:t>
                                        </m:r>
                                      </m:e>
                                      <m:sub>
                                        <m:r>
                                          <a:rPr lang="en-US" i="1"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  <m:t>𝑧</m:t>
                                        </m:r>
                                      </m:sub>
                                    </m:sSub>
                                  </m:e>
                                </m:func>
                              </m:e>
                              <m:e>
                                <m:func>
                                  <m:funcPr>
                                    <m:ctrlPr>
                                      <a:rPr lang="en-US" i="1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</m:ctrlPr>
                                  </m:funcPr>
                                  <m:fName>
                                    <m:r>
                                      <m:rPr>
                                        <m:sty m:val="p"/>
                                        <m:brk m:alnAt="7"/>
                                      </m:rPr>
                                      <a:rPr lang="en-US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c</m:t>
                                    </m:r>
                                    <m:r>
                                      <m:rPr>
                                        <m:sty m:val="p"/>
                                      </m:rPr>
                                      <a:rPr lang="en-US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os</m:t>
                                    </m:r>
                                  </m:fName>
                                  <m:e>
                                    <m:sSub>
                                      <m:sSubPr>
                                        <m:ctrlPr>
                                          <a:rPr lang="en-US" i="1"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a:rPr lang="en-US" i="1"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  <m:t>𝜃</m:t>
                                        </m:r>
                                      </m:e>
                                      <m:sub>
                                        <m:r>
                                          <a:rPr lang="en-US" i="1"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  <m:t>𝑧</m:t>
                                        </m:r>
                                      </m:sub>
                                    </m:sSub>
                                  </m:e>
                                </m:func>
                              </m:e>
                              <m:e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  <m:t>0</m:t>
                                </m:r>
                              </m:e>
                            </m:mr>
                            <m:mr>
                              <m:e>
                                <m:r>
                                  <a:rPr lang="en-US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0</m:t>
                                </m:r>
                              </m:e>
                              <m:e>
                                <m:r>
                                  <a:rPr lang="en-US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0</m:t>
                                </m:r>
                              </m:e>
                              <m:e>
                                <m:r>
                                  <a:rPr lang="en-US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1</m:t>
                                </m:r>
                              </m:e>
                            </m:mr>
                          </m:m>
                        </m:e>
                      </m:d>
                    </m:oMath>
                  </m:oMathPara>
                </a14:m>
                <a:endParaRPr lang="en-US" dirty="0">
                  <a:ea typeface="Cambria Math" panose="02040503050406030204" pitchFamily="18" charset="0"/>
                </a:endParaRPr>
              </a:p>
              <a:p>
                <a:r>
                  <a:rPr lang="en-US" dirty="0"/>
                  <a:t>For small rotations we can use the approximations 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𝜃</m:t>
                      </m:r>
                      <m:r>
                        <a:rPr lang="en-US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≈0,</m:t>
                      </m:r>
                      <m:func>
                        <m:funcPr>
                          <m:ctrlP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funcPr>
                        <m:fName>
                          <m: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  </m:t>
                          </m:r>
                          <m:r>
                            <a:rPr lang="en-US" b="0" i="0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    </m:t>
                          </m:r>
                          <m:r>
                            <m:rPr>
                              <m:sty m:val="p"/>
                            </m:rPr>
                            <a:rPr lang="en-US" b="0" i="0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sin</m:t>
                          </m:r>
                        </m:fName>
                        <m:e>
                          <m:d>
                            <m:d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𝜃</m:t>
                              </m:r>
                            </m:e>
                          </m:d>
                        </m:e>
                      </m:func>
                      <m:r>
                        <a:rPr lang="en-US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≈</m:t>
                      </m:r>
                      <m:r>
                        <a:rPr lang="en-US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𝜃</m:t>
                      </m:r>
                      <m:r>
                        <a:rPr lang="en-US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,  </m:t>
                      </m:r>
                      <m:func>
                        <m:funcPr>
                          <m:ctrlP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funcPr>
                        <m:fName>
                          <m:r>
                            <m:rPr>
                              <m:sty m:val="p"/>
                            </m:rPr>
                            <a:rPr lang="en-US" b="0" i="0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cos</m:t>
                          </m:r>
                        </m:fName>
                        <m:e>
                          <m:d>
                            <m:d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𝜃</m:t>
                              </m:r>
                            </m:e>
                          </m:d>
                        </m:e>
                      </m:func>
                      <m:r>
                        <a:rPr lang="en-US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=0</m:t>
                      </m:r>
                    </m:oMath>
                  </m:oMathPara>
                </a14:m>
                <a:endParaRPr lang="en-US" dirty="0"/>
              </a:p>
              <a:p>
                <a:r>
                  <a:rPr lang="en-US" dirty="0"/>
                  <a:t>The approximate rotation matrix is</a:t>
                </a:r>
              </a:p>
              <a:p>
                <a:pPr marL="457200" lvl="1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1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𝑷</m:t>
                          </m:r>
                        </m:e>
                        <m:sub>
                          <m: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𝑟𝑜𝑡</m:t>
                          </m:r>
                        </m:sub>
                      </m:sSub>
                      <m:r>
                        <a:rPr lang="en-US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</m:t>
                      </m:r>
                      <m:d>
                        <m:dPr>
                          <m:begChr m:val="["/>
                          <m:endChr m:val="]"/>
                          <m:ctrlP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m>
                            <m:mPr>
                              <m:mcs>
                                <m:mc>
                                  <m:mcPr>
                                    <m:count m:val="3"/>
                                    <m:mcJc m:val="center"/>
                                  </m:mcPr>
                                </m:mc>
                              </m:mcs>
                              <m:ctrlP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mPr>
                            <m:mr>
                              <m:e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0</m:t>
                                </m:r>
                              </m:e>
                              <m:e>
                                <m:sSub>
                                  <m:sSubPr>
                                    <m:ctrlPr>
                                      <a:rPr lang="en-US" i="1" smtClean="0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b="0" i="1" smtClean="0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−</m:t>
                                    </m:r>
                                    <m:r>
                                      <a:rPr lang="en-US" i="1" smtClean="0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𝜃</m:t>
                                    </m:r>
                                  </m:e>
                                  <m:sub>
                                    <m:r>
                                      <a:rPr lang="en-US" b="0" i="1" smtClean="0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𝑧</m:t>
                                    </m:r>
                                  </m:sub>
                                </m:sSub>
                              </m:e>
                              <m:e>
                                <m:sSub>
                                  <m:sSubPr>
                                    <m:ctrlPr>
                                      <a:rPr lang="en-US" i="1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i="1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𝜃</m:t>
                                    </m:r>
                                  </m:e>
                                  <m:sub>
                                    <m:r>
                                      <a:rPr lang="en-US" b="0" i="1" smtClean="0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𝑦</m:t>
                                    </m:r>
                                  </m:sub>
                                </m:sSub>
                              </m:e>
                            </m:mr>
                            <m:mr>
                              <m:e>
                                <m:sSub>
                                  <m:sSubPr>
                                    <m:ctrlPr>
                                      <a:rPr lang="en-US" i="1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i="1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𝜃</m:t>
                                    </m:r>
                                  </m:e>
                                  <m:sub>
                                    <m:r>
                                      <a:rPr lang="en-US" i="1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𝑧</m:t>
                                    </m:r>
                                  </m:sub>
                                </m:sSub>
                              </m:e>
                              <m:e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0</m:t>
                                </m:r>
                              </m:e>
                              <m:e>
                                <m:sSub>
                                  <m:sSubPr>
                                    <m:ctrlPr>
                                      <a:rPr lang="en-US" i="1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b="0" i="1" smtClean="0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−</m:t>
                                    </m:r>
                                    <m:r>
                                      <a:rPr lang="en-US" i="1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𝜃</m:t>
                                    </m:r>
                                  </m:e>
                                  <m:sub>
                                    <m:r>
                                      <a:rPr lang="en-US" b="0" i="1" smtClean="0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𝑥</m:t>
                                    </m:r>
                                  </m:sub>
                                </m:sSub>
                              </m:e>
                            </m:mr>
                            <m:mr>
                              <m:e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−</m:t>
                                </m:r>
                                <m:sSub>
                                  <m:sSubPr>
                                    <m:ctrlPr>
                                      <a:rPr lang="en-US" i="1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i="1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𝜃</m:t>
                                    </m:r>
                                  </m:e>
                                  <m:sub>
                                    <m:r>
                                      <a:rPr lang="en-US" i="1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𝑦</m:t>
                                    </m:r>
                                  </m:sub>
                                </m:sSub>
                              </m:e>
                              <m:e>
                                <m:sSub>
                                  <m:sSubPr>
                                    <m:ctrlPr>
                                      <a:rPr lang="en-US" i="1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i="1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𝜃</m:t>
                                    </m:r>
                                  </m:e>
                                  <m:sub>
                                    <m:r>
                                      <a:rPr lang="en-US" i="1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𝑥</m:t>
                                    </m:r>
                                  </m:sub>
                                </m:sSub>
                              </m:e>
                              <m:e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0</m:t>
                                </m:r>
                              </m:e>
                            </m:mr>
                          </m:m>
                        </m:e>
                      </m:d>
                      <m:d>
                        <m:dPr>
                          <m:begChr m:val="["/>
                          <m:endChr m:val="]"/>
                          <m:ctrlP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m>
                            <m:mPr>
                              <m:mcs>
                                <m:mc>
                                  <m:mcPr>
                                    <m:count m:val="1"/>
                                    <m:mcJc m:val="center"/>
                                  </m:mcPr>
                                </m:mc>
                              </m:mcs>
                              <m:ctrlP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mPr>
                            <m:mr>
                              <m:e>
                                <m:r>
                                  <m:rPr>
                                    <m:brk m:alnAt="7"/>
                                  </m:rPr>
                                  <a:rPr lang="en-US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𝑢</m:t>
                                </m:r>
                              </m:e>
                            </m:mr>
                            <m:mr>
                              <m:e>
                                <m:r>
                                  <a:rPr lang="en-US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𝑣</m:t>
                                </m:r>
                              </m:e>
                            </m:mr>
                            <m:mr>
                              <m:e>
                                <m:r>
                                  <a:rPr lang="en-US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𝑤</m:t>
                                </m:r>
                              </m:e>
                            </m:mr>
                          </m:m>
                        </m:e>
                      </m:d>
                    </m:oMath>
                  </m:oMathPara>
                </a14:m>
                <a:endParaRPr lang="en-US" dirty="0"/>
              </a:p>
            </p:txBody>
          </p:sp>
        </mc:Choice>
        <mc:Fallback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73C49DBD-ABB5-DA7D-89EA-DDBCBBD06610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789300" y="1124339"/>
                <a:ext cx="11044111" cy="5593468"/>
              </a:xfrm>
              <a:blipFill>
                <a:blip r:embed="rId3"/>
                <a:stretch>
                  <a:fillRect l="-1104" t="-174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176375090"/>
      </p:ext>
    </p:extLst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521A5E6-962C-DC12-9176-FDD37C1D75A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9C965BF-97CA-0A12-5551-52A3502B305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89301" y="140193"/>
            <a:ext cx="10515600" cy="872004"/>
          </a:xfrm>
        </p:spPr>
        <p:txBody>
          <a:bodyPr>
            <a:normAutofit/>
          </a:bodyPr>
          <a:lstStyle/>
          <a:p>
            <a:r>
              <a:rPr lang="en-US" sz="4000" dirty="0">
                <a:latin typeface="+mn-lt"/>
              </a:rPr>
              <a:t>Depth and Motion In 3D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1EBBEB95-1499-B021-81DE-795E5FF3621A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789300" y="1124339"/>
                <a:ext cx="11044111" cy="5593468"/>
              </a:xfrm>
            </p:spPr>
            <p:txBody>
              <a:bodyPr>
                <a:normAutofit/>
              </a:bodyPr>
              <a:lstStyle/>
              <a:p>
                <a:pPr marL="0" indent="0">
                  <a:buNone/>
                </a:pPr>
                <a:r>
                  <a:rPr lang="en-US" dirty="0"/>
                  <a:t>Can we determine depth from camera rotation with no translation?  </a:t>
                </a:r>
              </a:p>
              <a:p>
                <a:r>
                  <a:rPr lang="en-US" dirty="0"/>
                  <a:t>The angular velocity of camera rotation 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acc>
                        <m:accPr>
                          <m:chr m:val="̇"/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sSub>
                            <m:sSubPr>
                              <m:ctrlP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𝜃</m:t>
                              </m:r>
                            </m:e>
                            <m:sub>
                              <m: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𝑥</m:t>
                              </m:r>
                            </m:sub>
                          </m:sSub>
                        </m:e>
                      </m:acc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sSub>
                            <m:sSubPr>
                              <m:ctrlP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𝜃</m:t>
                              </m:r>
                            </m:e>
                            <m:sub>
                              <m: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𝑥</m:t>
                              </m:r>
                            </m:sub>
                          </m:sSub>
                        </m:num>
                        <m:den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𝑑𝑡</m:t>
                          </m:r>
                        </m:den>
                      </m:f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,  </m:t>
                      </m:r>
                      <m:acc>
                        <m:accPr>
                          <m:chr m:val="̇"/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sSub>
                            <m:sSubPr>
                              <m:ctrlP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𝜃</m:t>
                              </m:r>
                            </m:e>
                            <m:sub>
                              <m:r>
                                <a:rPr lang="en-US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𝑦</m:t>
                              </m:r>
                            </m:sub>
                          </m:sSub>
                        </m:e>
                      </m:acc>
                      <m:r>
                        <a:rPr lang="en-US" i="1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sSub>
                            <m:sSubPr>
                              <m:ctrlP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𝜃</m:t>
                              </m:r>
                            </m:e>
                            <m:sub>
                              <m:r>
                                <a:rPr lang="en-US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𝑦</m:t>
                              </m:r>
                            </m:sub>
                          </m:sSub>
                        </m:num>
                        <m:den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𝑑𝑡</m:t>
                          </m:r>
                        </m:den>
                      </m:f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,  </m:t>
                      </m:r>
                      <m:acc>
                        <m:accPr>
                          <m:chr m:val="̇"/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sSub>
                            <m:sSubPr>
                              <m:ctrlP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𝜃</m:t>
                              </m:r>
                            </m:e>
                            <m:sub>
                              <m:r>
                                <a:rPr lang="en-US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𝑧</m:t>
                              </m:r>
                            </m:sub>
                          </m:sSub>
                        </m:e>
                      </m:acc>
                      <m:r>
                        <a:rPr lang="en-US" i="1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sSub>
                            <m:sSubPr>
                              <m:ctrlP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𝜃</m:t>
                              </m:r>
                            </m:e>
                            <m:sub>
                              <m:r>
                                <a:rPr lang="en-US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𝑧</m:t>
                              </m:r>
                            </m:sub>
                          </m:sSub>
                        </m:num>
                        <m:den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𝑑𝑡</m:t>
                          </m:r>
                        </m:den>
                      </m:f>
                    </m:oMath>
                  </m:oMathPara>
                </a14:m>
                <a:endParaRPr lang="en-US" dirty="0"/>
              </a:p>
              <a:p>
                <a:r>
                  <a:rPr lang="en-US" dirty="0"/>
                  <a:t>Multiplying by the approximate angular rotation matrix the projected flow from the rotation is</a:t>
                </a:r>
              </a:p>
              <a:p>
                <a:pPr marL="457200" lvl="1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begChr m:val="["/>
                          <m:endChr m:val="]"/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m>
                            <m:mPr>
                              <m:mcs>
                                <m:mc>
                                  <m:mcPr>
                                    <m:count m:val="1"/>
                                    <m:mcJc m:val="center"/>
                                  </m:mcPr>
                                </m:mc>
                              </m:mcs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mPr>
                            <m:mr>
                              <m:e>
                                <m:acc>
                                  <m:accPr>
                                    <m:chr m:val="̇"/>
                                    <m:ctrlPr>
                                      <a:rPr lang="en-US" i="1">
                                        <a:latin typeface="Cambria Math" panose="02040503050406030204" pitchFamily="18" charset="0"/>
                                      </a:rPr>
                                    </m:ctrlPr>
                                  </m:accPr>
                                  <m:e>
                                    <m:r>
                                      <a:rPr lang="en-US" i="1">
                                        <a:latin typeface="Cambria Math" panose="02040503050406030204" pitchFamily="18" charset="0"/>
                                      </a:rPr>
                                      <m:t>𝑥</m:t>
                                    </m:r>
                                  </m:e>
                                </m:acc>
                              </m:e>
                            </m:mr>
                            <m:mr>
                              <m:e>
                                <m:acc>
                                  <m:accPr>
                                    <m:chr m:val="̇"/>
                                    <m:ctrlPr>
                                      <a:rPr lang="en-US" i="1">
                                        <a:latin typeface="Cambria Math" panose="02040503050406030204" pitchFamily="18" charset="0"/>
                                      </a:rPr>
                                    </m:ctrlPr>
                                  </m:accPr>
                                  <m:e>
                                    <m:r>
                                      <a:rPr lang="en-US" i="1">
                                        <a:latin typeface="Cambria Math" panose="02040503050406030204" pitchFamily="18" charset="0"/>
                                      </a:rPr>
                                      <m:t>𝑦</m:t>
                                    </m:r>
                                  </m:e>
                                </m:acc>
                              </m:e>
                            </m:mr>
                          </m:m>
                        </m:e>
                      </m:d>
                      <m:r>
                        <a:rPr lang="en-US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𝑓</m:t>
                          </m:r>
                        </m:den>
                      </m:f>
                      <m:d>
                        <m:dPr>
                          <m:begChr m:val="["/>
                          <m:endChr m:val="]"/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m>
                            <m:mPr>
                              <m:mcs>
                                <m:mc>
                                  <m:mcPr>
                                    <m:count m:val="3"/>
                                    <m:mcJc m:val="center"/>
                                  </m:mcPr>
                                </m:mc>
                              </m:mcs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mPr>
                            <m:mr>
                              <m:e>
                                <m:r>
                                  <m:rPr>
                                    <m:brk m:alnAt="7"/>
                                  </m:rPr>
                                  <a:rPr lang="en-US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𝑥</m:t>
                                </m:r>
                                <m:r>
                                  <a:rPr lang="en-US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𝑦</m:t>
                                </m:r>
                              </m:e>
                              <m:e>
                                <m:sSup>
                                  <m:sSupPr>
                                    <m:ctrlPr>
                                      <a:rPr lang="en-US" i="1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</m:ctrlPr>
                                  </m:sSupPr>
                                  <m:e>
                                    <m:r>
                                      <a:rPr lang="en-US" i="1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−</m:t>
                                    </m:r>
                                    <m:r>
                                      <a:rPr lang="en-US" i="1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𝑓</m:t>
                                    </m:r>
                                  </m:e>
                                  <m:sup>
                                    <m:r>
                                      <a:rPr lang="en-US" i="1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2</m:t>
                                    </m:r>
                                  </m:sup>
                                </m:sSup>
                                <m:r>
                                  <a:rPr lang="en-US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−</m:t>
                                </m:r>
                                <m:sSup>
                                  <m:sSupPr>
                                    <m:ctrlPr>
                                      <a:rPr lang="en-US" i="1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</m:ctrlPr>
                                  </m:sSupPr>
                                  <m:e>
                                    <m:r>
                                      <a:rPr lang="en-US" i="1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𝑥</m:t>
                                    </m:r>
                                  </m:e>
                                  <m:sup>
                                    <m:r>
                                      <a:rPr lang="en-US" i="1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2</m:t>
                                    </m:r>
                                  </m:sup>
                                </m:sSup>
                              </m:e>
                              <m:e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  <m:t>𝑓𝑦</m:t>
                                </m:r>
                              </m:e>
                            </m:mr>
                            <m:mr>
                              <m:e>
                                <m:sSup>
                                  <m:sSupPr>
                                    <m:ctrlPr>
                                      <a:rPr lang="en-US" i="1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</m:ctrlPr>
                                  </m:sSupPr>
                                  <m:e>
                                    <m:r>
                                      <a:rPr lang="en-US" i="1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𝑓</m:t>
                                    </m:r>
                                  </m:e>
                                  <m:sup>
                                    <m:r>
                                      <a:rPr lang="en-US" i="1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2</m:t>
                                    </m:r>
                                  </m:sup>
                                </m:sSup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+</m:t>
                                </m:r>
                                <m:sSup>
                                  <m:sSupPr>
                                    <m:ctrlPr>
                                      <a:rPr lang="en-US" i="1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</m:ctrlPr>
                                  </m:sSupPr>
                                  <m:e>
                                    <m:r>
                                      <a:rPr lang="en-US" i="1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𝑥</m:t>
                                    </m:r>
                                  </m:e>
                                  <m:sup>
                                    <m:r>
                                      <a:rPr lang="en-US" i="1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2</m:t>
                                    </m:r>
                                  </m:sup>
                                </m:sSup>
                              </m:e>
                              <m:e>
                                <m:r>
                                  <a:rPr lang="en-US" i="1">
                                    <a:latin typeface="Cambria Math" panose="02040503050406030204" pitchFamily="18" charset="0"/>
                                  </a:rPr>
                                  <m:t>−</m:t>
                                </m:r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  <m:t>𝑥𝑦</m:t>
                                </m:r>
                              </m:e>
                              <m:e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  <m:t>𝑓𝑥</m:t>
                                </m:r>
                              </m:e>
                            </m:mr>
                          </m:m>
                        </m:e>
                      </m:d>
                      <m:d>
                        <m:dPr>
                          <m:begChr m:val="["/>
                          <m:endChr m:val="]"/>
                          <m:ctrlP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m>
                            <m:mPr>
                              <m:mcs>
                                <m:mc>
                                  <m:mcPr>
                                    <m:count m:val="1"/>
                                    <m:mcJc m:val="center"/>
                                  </m:mcPr>
                                </m:mc>
                              </m:mcs>
                              <m:ctrlP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mPr>
                            <m:mr>
                              <m:e>
                                <m:acc>
                                  <m:accPr>
                                    <m:chr m:val="̇"/>
                                    <m:ctrlPr>
                                      <a:rPr lang="en-US" i="1">
                                        <a:latin typeface="Cambria Math" panose="02040503050406030204" pitchFamily="18" charset="0"/>
                                      </a:rPr>
                                    </m:ctrlPr>
                                  </m:accPr>
                                  <m:e>
                                    <m:sSub>
                                      <m:sSubPr>
                                        <m:ctrlPr>
                                          <a:rPr lang="en-US" i="1"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a:rPr lang="en-US" i="1"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  <m:t>𝜃</m:t>
                                        </m:r>
                                      </m:e>
                                      <m:sub>
                                        <m:r>
                                          <a:rPr lang="en-US" i="1"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  <m:t>𝑥</m:t>
                                        </m:r>
                                      </m:sub>
                                    </m:sSub>
                                  </m:e>
                                </m:acc>
                              </m:e>
                            </m:mr>
                            <m:mr>
                              <m:e>
                                <m:acc>
                                  <m:accPr>
                                    <m:chr m:val="̇"/>
                                    <m:ctrlPr>
                                      <a:rPr lang="en-US" i="1">
                                        <a:latin typeface="Cambria Math" panose="02040503050406030204" pitchFamily="18" charset="0"/>
                                      </a:rPr>
                                    </m:ctrlPr>
                                  </m:accPr>
                                  <m:e>
                                    <m:sSub>
                                      <m:sSubPr>
                                        <m:ctrlPr>
                                          <a:rPr lang="en-US" i="1"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a:rPr lang="en-US" i="1"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  <m:t>𝜃</m:t>
                                        </m:r>
                                      </m:e>
                                      <m:sub>
                                        <m:r>
                                          <a:rPr lang="en-US" i="1"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  <m:t>𝑦</m:t>
                                        </m:r>
                                      </m:sub>
                                    </m:sSub>
                                  </m:e>
                                </m:acc>
                              </m:e>
                            </m:mr>
                            <m:mr>
                              <m:e>
                                <m:acc>
                                  <m:accPr>
                                    <m:chr m:val="̇"/>
                                    <m:ctrlPr>
                                      <a:rPr lang="en-US" i="1">
                                        <a:latin typeface="Cambria Math" panose="02040503050406030204" pitchFamily="18" charset="0"/>
                                      </a:rPr>
                                    </m:ctrlPr>
                                  </m:accPr>
                                  <m:e>
                                    <m:sSub>
                                      <m:sSubPr>
                                        <m:ctrlPr>
                                          <a:rPr lang="en-US" i="1"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a:rPr lang="en-US" i="1"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  <m:t>𝜃</m:t>
                                        </m:r>
                                      </m:e>
                                      <m:sub>
                                        <m:r>
                                          <a:rPr lang="en-US" i="1"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  <m:t>𝑧</m:t>
                                        </m:r>
                                      </m:sub>
                                    </m:sSub>
                                  </m:e>
                                </m:acc>
                              </m:e>
                            </m:mr>
                          </m:m>
                        </m:e>
                      </m:d>
                    </m:oMath>
                  </m:oMathPara>
                </a14:m>
                <a:endParaRPr lang="en-US" dirty="0"/>
              </a:p>
              <a:p>
                <a:r>
                  <a:rPr lang="en-US" dirty="0"/>
                  <a:t>There is </a:t>
                </a:r>
                <a:r>
                  <a:rPr lang="en-US" b="1" dirty="0"/>
                  <a:t>no dependency on Z</a:t>
                </a:r>
                <a:r>
                  <a:rPr lang="en-US" dirty="0"/>
                  <a:t>!</a:t>
                </a:r>
              </a:p>
              <a:p>
                <a:r>
                  <a:rPr lang="en-US" dirty="0"/>
                  <a:t>Projection of rotation is independent of depth</a:t>
                </a: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1EBBEB95-1499-B021-81DE-795E5FF3621A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789300" y="1124339"/>
                <a:ext cx="11044111" cy="5593468"/>
              </a:xfrm>
              <a:blipFill>
                <a:blip r:embed="rId3"/>
                <a:stretch>
                  <a:fillRect l="-1104" t="-174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82911644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8743427-2068-D2A6-63F4-E0E40454DBA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4DEDE60-7EC0-3B1D-2B39-930C1AFE21C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algn="ctr"/>
            <a:r>
              <a:rPr lang="en-US" sz="4000" dirty="0"/>
              <a:t>Iterative Lucas-</a:t>
            </a:r>
            <a:r>
              <a:rPr lang="en-US" sz="4000" dirty="0" err="1"/>
              <a:t>Kanade</a:t>
            </a:r>
            <a:r>
              <a:rPr lang="en-US" sz="4000" dirty="0"/>
              <a:t> Algorithm </a:t>
            </a:r>
          </a:p>
        </p:txBody>
      </p:sp>
    </p:spTree>
    <p:extLst>
      <p:ext uri="{BB962C8B-B14F-4D97-AF65-F5344CB8AC3E}">
        <p14:creationId xmlns:p14="http://schemas.microsoft.com/office/powerpoint/2010/main" val="3037933661"/>
      </p:ext>
    </p:extLst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F3BBFD6-BD84-FA62-05B0-67D991531B4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BA94DF4-B518-6B72-5FC7-B10966305FD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89301" y="140193"/>
            <a:ext cx="10515600" cy="872004"/>
          </a:xfrm>
        </p:spPr>
        <p:txBody>
          <a:bodyPr>
            <a:normAutofit/>
          </a:bodyPr>
          <a:lstStyle/>
          <a:p>
            <a:r>
              <a:rPr lang="en-US" sz="4000" dirty="0">
                <a:latin typeface="+mn-lt"/>
              </a:rPr>
              <a:t>The Lucas-</a:t>
            </a:r>
            <a:r>
              <a:rPr lang="en-US" sz="4000" dirty="0" err="1">
                <a:latin typeface="+mn-lt"/>
              </a:rPr>
              <a:t>Kanade</a:t>
            </a:r>
            <a:r>
              <a:rPr lang="en-US" sz="4000" dirty="0">
                <a:latin typeface="+mn-lt"/>
              </a:rPr>
              <a:t> Algorithm  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3AAE76CF-FD31-414C-4702-712489D2BA26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789301" y="1124339"/>
                <a:ext cx="10515600" cy="5593468"/>
              </a:xfrm>
            </p:spPr>
            <p:txBody>
              <a:bodyPr/>
              <a:lstStyle/>
              <a:p>
                <a:pPr marL="0" indent="0">
                  <a:buNone/>
                </a:pPr>
                <a:r>
                  <a:rPr lang="en-US" dirty="0"/>
                  <a:t>Recall the LK linearized equations for the optical flow,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[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𝑢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,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𝑣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]</m:t>
                    </m:r>
                  </m:oMath>
                </a14:m>
                <a:r>
                  <a:rPr lang="en-US" dirty="0"/>
                  <a:t>: 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>
                        <m:f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𝑑𝐼</m:t>
                          </m:r>
                        </m:num>
                        <m:den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𝑑𝑥</m:t>
                          </m:r>
                        </m:den>
                      </m:f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𝑢</m:t>
                      </m:r>
                      <m:r>
                        <a:rPr lang="en-US" i="1">
                          <a:latin typeface="Cambria Math" panose="02040503050406030204" pitchFamily="18" charset="0"/>
                        </a:rPr>
                        <m:t>+</m:t>
                      </m:r>
                      <m:f>
                        <m:f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𝑑𝐼</m:t>
                          </m:r>
                        </m:num>
                        <m:den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𝑑𝑦</m:t>
                          </m:r>
                        </m:den>
                      </m:f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𝑣</m:t>
                      </m:r>
                      <m:r>
                        <a:rPr lang="en-US" i="1">
                          <a:latin typeface="Cambria Math" panose="02040503050406030204" pitchFamily="18" charset="0"/>
                        </a:rPr>
                        <m:t>+</m:t>
                      </m:r>
                      <m:f>
                        <m:f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𝑑𝐼</m:t>
                          </m:r>
                        </m:num>
                        <m:den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𝑑𝑡</m:t>
                          </m:r>
                        </m:den>
                      </m:f>
                      <m:r>
                        <a:rPr lang="en-US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=0</m:t>
                      </m:r>
                    </m:oMath>
                  </m:oMathPara>
                </a14:m>
                <a:endParaRPr lang="en-US" dirty="0"/>
              </a:p>
              <a:p>
                <a:r>
                  <a:rPr lang="en-US" dirty="0"/>
                  <a:t>The LK algorithm makes the following assumptions</a:t>
                </a:r>
              </a:p>
              <a:p>
                <a:pPr marL="914400" lvl="1" indent="-457200">
                  <a:buFont typeface="+mj-lt"/>
                  <a:buAutoNum type="arabicPeriod"/>
                </a:pPr>
                <a:r>
                  <a:rPr lang="en-US" b="1" dirty="0"/>
                  <a:t>Small motion</a:t>
                </a:r>
                <a:endParaRPr lang="en-US" dirty="0"/>
              </a:p>
              <a:p>
                <a:pPr marL="914400" lvl="1" indent="-457200">
                  <a:buFont typeface="+mj-lt"/>
                  <a:buAutoNum type="arabicPeriod"/>
                </a:pPr>
                <a:r>
                  <a:rPr lang="en-US" b="1" dirty="0"/>
                  <a:t>Brightness consistency  </a:t>
                </a:r>
              </a:p>
              <a:p>
                <a:pPr marL="914400" lvl="1" indent="-457200">
                  <a:buFont typeface="+mj-lt"/>
                  <a:buAutoNum type="arabicPeriod"/>
                </a:pPr>
                <a:r>
                  <a:rPr lang="en-US" b="1" dirty="0"/>
                  <a:t>Constant flow</a:t>
                </a:r>
              </a:p>
              <a:p>
                <a:pPr marL="0" indent="0">
                  <a:buNone/>
                </a:pPr>
                <a:endParaRPr lang="en-US" dirty="0"/>
              </a:p>
              <a:p>
                <a:pPr marL="0" indent="0">
                  <a:buNone/>
                </a:pPr>
                <a:endParaRPr lang="en-US" dirty="0"/>
              </a:p>
              <a:p>
                <a:pPr marL="0" indent="0">
                  <a:buNone/>
                </a:pPr>
                <a:endParaRPr lang="en-US" dirty="0"/>
              </a:p>
              <a:p>
                <a:endParaRPr lang="en-US" dirty="0"/>
              </a:p>
              <a:p>
                <a:pPr marL="0" indent="0">
                  <a:buNone/>
                </a:pPr>
                <a:endParaRPr lang="en-US" dirty="0"/>
              </a:p>
            </p:txBody>
          </p:sp>
        </mc:Choice>
        <mc:Fallback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3AAE76CF-FD31-414C-4702-712489D2BA26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789301" y="1124339"/>
                <a:ext cx="10515600" cy="5593468"/>
              </a:xfrm>
              <a:blipFill>
                <a:blip r:embed="rId3"/>
                <a:stretch>
                  <a:fillRect l="-1159" t="-174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25936319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10A4DB3-D884-657B-D3E5-486303FFDE5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4C3CF5B-C802-126C-0E1D-A815332C97C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89301" y="140193"/>
            <a:ext cx="10515600" cy="872004"/>
          </a:xfrm>
        </p:spPr>
        <p:txBody>
          <a:bodyPr>
            <a:normAutofit/>
          </a:bodyPr>
          <a:lstStyle/>
          <a:p>
            <a:r>
              <a:rPr lang="en-US" sz="4000" dirty="0">
                <a:latin typeface="+mn-lt"/>
              </a:rPr>
              <a:t>The Lucas-</a:t>
            </a:r>
            <a:r>
              <a:rPr lang="en-US" sz="4000" dirty="0" err="1">
                <a:latin typeface="+mn-lt"/>
              </a:rPr>
              <a:t>Kanade</a:t>
            </a:r>
            <a:r>
              <a:rPr lang="en-US" sz="4000" dirty="0">
                <a:latin typeface="+mn-lt"/>
              </a:rPr>
              <a:t> Algorithm  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0D793B5E-5A0D-3F6C-2745-BB159F10EFCA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789301" y="1124339"/>
                <a:ext cx="10515600" cy="5593468"/>
              </a:xfrm>
            </p:spPr>
            <p:txBody>
              <a:bodyPr>
                <a:normAutofit lnSpcReduction="10000"/>
              </a:bodyPr>
              <a:lstStyle/>
              <a:p>
                <a:pPr marL="0" indent="0">
                  <a:buNone/>
                </a:pPr>
                <a:r>
                  <a:rPr lang="en-US" dirty="0"/>
                  <a:t>Recall the LK linearized equations for the optical flow, </a:t>
                </a:r>
                <a14:m>
                  <m:oMath xmlns:m="http://schemas.openxmlformats.org/officeDocument/2006/math">
                    <m:d>
                      <m:dPr>
                        <m:begChr m:val="["/>
                        <m:endChr m:val="]"/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𝑢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𝑣</m:t>
                        </m:r>
                      </m:e>
                    </m:d>
                  </m:oMath>
                </a14:m>
                <a:endParaRPr lang="en-US" b="0" dirty="0"/>
              </a:p>
              <a:p>
                <a:r>
                  <a:rPr lang="en-US" dirty="0"/>
                  <a:t>The brightness consistency energy to be minimized is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𝐸</m:t>
                          </m:r>
                        </m:e>
                        <m:sub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𝑏</m:t>
                          </m:r>
                        </m:sub>
                      </m:sSub>
                      <m:d>
                        <m:d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𝑖</m:t>
                          </m:r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𝑗</m:t>
                          </m:r>
                        </m:e>
                      </m:d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𝑑𝐼</m:t>
                          </m:r>
                        </m:num>
                        <m:den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𝑑𝑥</m:t>
                          </m:r>
                        </m:den>
                      </m:f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𝑢</m:t>
                      </m:r>
                      <m:r>
                        <a:rPr lang="en-US" i="1">
                          <a:latin typeface="Cambria Math" panose="02040503050406030204" pitchFamily="18" charset="0"/>
                        </a:rPr>
                        <m:t>+</m:t>
                      </m:r>
                      <m:f>
                        <m:f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𝑑𝐼</m:t>
                          </m:r>
                        </m:num>
                        <m:den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𝑑𝑦</m:t>
                          </m:r>
                        </m:den>
                      </m:f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𝑣</m:t>
                      </m:r>
                      <m:r>
                        <a:rPr lang="en-US" i="1">
                          <a:latin typeface="Cambria Math" panose="02040503050406030204" pitchFamily="18" charset="0"/>
                        </a:rPr>
                        <m:t>+</m:t>
                      </m:r>
                      <m:f>
                        <m:f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𝑑𝐼</m:t>
                          </m:r>
                        </m:num>
                        <m:den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𝑑𝑡</m:t>
                          </m:r>
                        </m:den>
                      </m:f>
                    </m:oMath>
                  </m:oMathPara>
                </a14:m>
                <a:endParaRPr lang="en-US" dirty="0"/>
              </a:p>
              <a:p>
                <a:r>
                  <a:rPr lang="en-US" dirty="0"/>
                  <a:t>Using the more compact notation of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𝐼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𝑥</m:t>
                        </m:r>
                      </m:sub>
                    </m:sSub>
                    <m:r>
                      <a:rPr lang="en-US" b="0" i="1" smtClean="0">
                        <a:latin typeface="Cambria Math" panose="02040503050406030204" pitchFamily="18" charset="0"/>
                      </a:rPr>
                      <m:t>,</m:t>
                    </m:r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𝐼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𝑦</m:t>
                        </m:r>
                      </m:sub>
                    </m:sSub>
                    <m:r>
                      <a:rPr lang="en-US" b="0" i="1" smtClean="0">
                        <a:latin typeface="Cambria Math" panose="02040503050406030204" pitchFamily="18" charset="0"/>
                      </a:rPr>
                      <m:t>,</m:t>
                    </m:r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𝐼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</m:oMath>
                </a14:m>
                <a:r>
                  <a:rPr lang="en-US" dirty="0"/>
                  <a:t> for the spatial and temporal derivatives of the image intensity we can write a linear system of 25 equations: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𝐼</m:t>
                          </m:r>
                        </m:e>
                        <m:sub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𝑥</m:t>
                          </m:r>
                        </m:sub>
                      </m:sSub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(</m:t>
                      </m:r>
                      <m:sSub>
                        <m:sSub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𝑝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)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𝑢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+</m:t>
                      </m:r>
                      <m:sSub>
                        <m:sSub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𝐼</m:t>
                          </m:r>
                        </m:e>
                        <m:sub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𝑦</m:t>
                          </m:r>
                        </m:sub>
                      </m:sSub>
                      <m:r>
                        <a:rPr lang="en-US" i="1">
                          <a:latin typeface="Cambria Math" panose="02040503050406030204" pitchFamily="18" charset="0"/>
                        </a:rPr>
                        <m:t>(</m:t>
                      </m:r>
                      <m:sSub>
                        <m:sSub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𝑝</m:t>
                          </m:r>
                        </m:e>
                        <m:sub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r>
                        <a:rPr lang="en-US" i="1">
                          <a:latin typeface="Cambria Math" panose="02040503050406030204" pitchFamily="18" charset="0"/>
                        </a:rPr>
                        <m:t>)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𝑣</m:t>
                      </m:r>
                      <m:sSub>
                        <m:sSub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=−</m:t>
                          </m:r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𝐼</m:t>
                          </m:r>
                        </m:e>
                        <m:sub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𝑡</m:t>
                          </m:r>
                        </m:sub>
                      </m:sSub>
                      <m:r>
                        <a:rPr lang="en-US" i="1">
                          <a:latin typeface="Cambria Math" panose="02040503050406030204" pitchFamily="18" charset="0"/>
                        </a:rPr>
                        <m:t>(</m:t>
                      </m:r>
                      <m:sSub>
                        <m:sSub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𝑝</m:t>
                          </m:r>
                        </m:e>
                        <m:sub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r>
                        <a:rPr lang="en-US" i="1"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en-US" dirty="0"/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𝐼</m:t>
                          </m:r>
                        </m:e>
                        <m:sub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𝑥</m:t>
                          </m:r>
                        </m:sub>
                      </m:sSub>
                      <m:r>
                        <a:rPr lang="en-US" i="1">
                          <a:latin typeface="Cambria Math" panose="02040503050406030204" pitchFamily="18" charset="0"/>
                        </a:rPr>
                        <m:t>(</m:t>
                      </m:r>
                      <m:sSub>
                        <m:sSub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𝑝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  <m:r>
                        <a:rPr lang="en-US" i="1">
                          <a:latin typeface="Cambria Math" panose="02040503050406030204" pitchFamily="18" charset="0"/>
                        </a:rPr>
                        <m:t>)</m:t>
                      </m:r>
                      <m:r>
                        <a:rPr lang="en-US" i="1">
                          <a:latin typeface="Cambria Math" panose="02040503050406030204" pitchFamily="18" charset="0"/>
                        </a:rPr>
                        <m:t>𝑢</m:t>
                      </m:r>
                      <m:r>
                        <a:rPr lang="en-US" i="1">
                          <a:latin typeface="Cambria Math" panose="02040503050406030204" pitchFamily="18" charset="0"/>
                        </a:rPr>
                        <m:t>+</m:t>
                      </m:r>
                      <m:sSub>
                        <m:sSub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𝐼</m:t>
                          </m:r>
                        </m:e>
                        <m:sub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𝑦</m:t>
                          </m:r>
                        </m:sub>
                      </m:sSub>
                      <m:r>
                        <a:rPr lang="en-US" i="1">
                          <a:latin typeface="Cambria Math" panose="02040503050406030204" pitchFamily="18" charset="0"/>
                        </a:rPr>
                        <m:t>(</m:t>
                      </m:r>
                      <m:sSub>
                        <m:sSub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𝑝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  <m:r>
                        <a:rPr lang="en-US" i="1">
                          <a:latin typeface="Cambria Math" panose="02040503050406030204" pitchFamily="18" charset="0"/>
                        </a:rPr>
                        <m:t>)</m:t>
                      </m:r>
                      <m:r>
                        <a:rPr lang="en-US" i="1">
                          <a:latin typeface="Cambria Math" panose="02040503050406030204" pitchFamily="18" charset="0"/>
                        </a:rPr>
                        <m:t>𝑣</m:t>
                      </m:r>
                      <m:sSub>
                        <m:sSub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=−</m:t>
                          </m:r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𝐼</m:t>
                          </m:r>
                        </m:e>
                        <m:sub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𝑡</m:t>
                          </m:r>
                        </m:sub>
                      </m:sSub>
                      <m:r>
                        <a:rPr lang="en-US" i="1">
                          <a:latin typeface="Cambria Math" panose="02040503050406030204" pitchFamily="18" charset="0"/>
                        </a:rPr>
                        <m:t>(</m:t>
                      </m:r>
                      <m:sSub>
                        <m:sSub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𝑝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  <m:r>
                        <a:rPr lang="en-US" i="1"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en-US" dirty="0"/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⋮</m:t>
                      </m:r>
                    </m:oMath>
                  </m:oMathPara>
                </a14:m>
                <a:endParaRPr lang="en-US" dirty="0"/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𝐼</m:t>
                          </m:r>
                        </m:e>
                        <m:sub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𝑥</m:t>
                          </m:r>
                        </m:sub>
                      </m:sSub>
                      <m:r>
                        <a:rPr lang="en-US" i="1">
                          <a:latin typeface="Cambria Math" panose="02040503050406030204" pitchFamily="18" charset="0"/>
                        </a:rPr>
                        <m:t>(</m:t>
                      </m:r>
                      <m:sSub>
                        <m:sSub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𝑝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25</m:t>
                          </m:r>
                        </m:sub>
                      </m:sSub>
                      <m:r>
                        <a:rPr lang="en-US" i="1">
                          <a:latin typeface="Cambria Math" panose="02040503050406030204" pitchFamily="18" charset="0"/>
                        </a:rPr>
                        <m:t>)</m:t>
                      </m:r>
                      <m:r>
                        <a:rPr lang="en-US" i="1">
                          <a:latin typeface="Cambria Math" panose="02040503050406030204" pitchFamily="18" charset="0"/>
                        </a:rPr>
                        <m:t>𝑢</m:t>
                      </m:r>
                      <m:r>
                        <a:rPr lang="en-US" i="1">
                          <a:latin typeface="Cambria Math" panose="02040503050406030204" pitchFamily="18" charset="0"/>
                        </a:rPr>
                        <m:t>+</m:t>
                      </m:r>
                      <m:sSub>
                        <m:sSub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𝐼</m:t>
                          </m:r>
                        </m:e>
                        <m:sub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𝑦</m:t>
                          </m:r>
                        </m:sub>
                      </m:sSub>
                      <m:r>
                        <a:rPr lang="en-US" i="1">
                          <a:latin typeface="Cambria Math" panose="02040503050406030204" pitchFamily="18" charset="0"/>
                        </a:rPr>
                        <m:t>(</m:t>
                      </m:r>
                      <m:sSub>
                        <m:sSub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𝑝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25</m:t>
                          </m:r>
                        </m:sub>
                      </m:sSub>
                      <m:r>
                        <a:rPr lang="en-US" i="1">
                          <a:latin typeface="Cambria Math" panose="02040503050406030204" pitchFamily="18" charset="0"/>
                        </a:rPr>
                        <m:t>)</m:t>
                      </m:r>
                      <m:r>
                        <a:rPr lang="en-US" i="1">
                          <a:latin typeface="Cambria Math" panose="02040503050406030204" pitchFamily="18" charset="0"/>
                        </a:rPr>
                        <m:t>𝑣</m:t>
                      </m:r>
                      <m:sSub>
                        <m:sSub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=−</m:t>
                          </m:r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𝐼</m:t>
                          </m:r>
                        </m:e>
                        <m:sub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𝑡</m:t>
                          </m:r>
                        </m:sub>
                      </m:sSub>
                      <m:r>
                        <a:rPr lang="en-US" i="1">
                          <a:latin typeface="Cambria Math" panose="02040503050406030204" pitchFamily="18" charset="0"/>
                        </a:rPr>
                        <m:t>(</m:t>
                      </m:r>
                      <m:sSub>
                        <m:sSub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𝑝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25</m:t>
                          </m:r>
                        </m:sub>
                      </m:sSub>
                      <m:r>
                        <a:rPr lang="en-US" i="1"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en-US" dirty="0"/>
              </a:p>
              <a:p>
                <a:r>
                  <a:rPr lang="en-US" dirty="0"/>
                  <a:t>Then find </a:t>
                </a:r>
                <a:r>
                  <a:rPr lang="en-US" b="1" dirty="0"/>
                  <a:t>least squares estimates </a:t>
                </a:r>
                <a:r>
                  <a:rPr lang="en-US" dirty="0"/>
                  <a:t>for the optical flow, </a:t>
                </a:r>
                <a14:m>
                  <m:oMath xmlns:m="http://schemas.openxmlformats.org/officeDocument/2006/math">
                    <m:d>
                      <m:dPr>
                        <m:begChr m:val="["/>
                        <m:endChr m:val="]"/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𝑢</m:t>
                        </m:r>
                        <m:r>
                          <a:rPr lang="en-US" i="1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en-US" i="1">
                            <a:latin typeface="Cambria Math" panose="02040503050406030204" pitchFamily="18" charset="0"/>
                          </a:rPr>
                          <m:t>𝑣</m:t>
                        </m:r>
                      </m:e>
                    </m:d>
                  </m:oMath>
                </a14:m>
                <a:r>
                  <a:rPr lang="en-US" dirty="0"/>
                  <a:t>, at center of patch, </a:t>
                </a:r>
                <a14:m>
                  <m:oMath xmlns:m="http://schemas.openxmlformats.org/officeDocument/2006/math">
                    <m:d>
                      <m:dPr>
                        <m:begChr m:val="["/>
                        <m:endChr m:val="]"/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𝑥</m:t>
                        </m:r>
                        <m:r>
                          <a:rPr lang="en-US" i="1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𝑦</m:t>
                        </m:r>
                      </m:e>
                    </m:d>
                  </m:oMath>
                </a14:m>
                <a:r>
                  <a:rPr lang="en-US" dirty="0"/>
                  <a:t> </a:t>
                </a:r>
              </a:p>
              <a:p>
                <a:pPr marL="0" indent="0">
                  <a:buNone/>
                </a:pPr>
                <a:endParaRPr lang="en-US" dirty="0"/>
              </a:p>
              <a:p>
                <a:pPr marL="0" indent="0">
                  <a:buNone/>
                </a:pPr>
                <a:endParaRPr lang="en-US" dirty="0"/>
              </a:p>
              <a:p>
                <a:pPr marL="0" indent="0">
                  <a:buNone/>
                </a:pPr>
                <a:endParaRPr lang="en-US" dirty="0"/>
              </a:p>
              <a:p>
                <a:endParaRPr lang="en-US" dirty="0"/>
              </a:p>
              <a:p>
                <a:pPr marL="0" indent="0">
                  <a:buNone/>
                </a:pPr>
                <a:endParaRPr lang="en-US" dirty="0"/>
              </a:p>
            </p:txBody>
          </p:sp>
        </mc:Choice>
        <mc:Fallback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0D793B5E-5A0D-3F6C-2745-BB159F10EFCA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789301" y="1124339"/>
                <a:ext cx="10515600" cy="5593468"/>
              </a:xfrm>
              <a:blipFill>
                <a:blip r:embed="rId3"/>
                <a:stretch>
                  <a:fillRect l="-1159" t="-239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418541105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DFB6AB4-96EB-434D-8BFC-6697DE744D7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89301" y="140193"/>
            <a:ext cx="10515600" cy="872004"/>
          </a:xfrm>
        </p:spPr>
        <p:txBody>
          <a:bodyPr>
            <a:normAutofit/>
          </a:bodyPr>
          <a:lstStyle/>
          <a:p>
            <a:r>
              <a:rPr lang="en-US" sz="4000" dirty="0">
                <a:latin typeface="+mn-lt"/>
              </a:rPr>
              <a:t>Iterative Lucas-</a:t>
            </a:r>
            <a:r>
              <a:rPr lang="en-US" sz="4000" dirty="0" err="1">
                <a:latin typeface="+mn-lt"/>
              </a:rPr>
              <a:t>Kanade</a:t>
            </a:r>
            <a:r>
              <a:rPr lang="en-US" sz="4000" dirty="0">
                <a:latin typeface="+mn-lt"/>
              </a:rPr>
              <a:t> algorithm 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DBC6555-A8E7-4F73-8035-156F702D141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41689" y="1012197"/>
            <a:ext cx="11231249" cy="5593468"/>
          </a:xfrm>
        </p:spPr>
        <p:txBody>
          <a:bodyPr>
            <a:normAutofit lnSpcReduction="10000"/>
          </a:bodyPr>
          <a:lstStyle/>
          <a:p>
            <a:pPr marL="0" indent="0">
              <a:buNone/>
            </a:pPr>
            <a:r>
              <a:rPr lang="en-US" dirty="0"/>
              <a:t>We can apply the </a:t>
            </a:r>
            <a:r>
              <a:rPr lang="en-US" b="1" dirty="0"/>
              <a:t>iterative Lucas-</a:t>
            </a:r>
            <a:r>
              <a:rPr lang="en-US" b="1" dirty="0" err="1"/>
              <a:t>Kanade</a:t>
            </a:r>
            <a:r>
              <a:rPr lang="en-US" b="1" dirty="0"/>
              <a:t> (ilk) </a:t>
            </a:r>
            <a:r>
              <a:rPr lang="en-US" dirty="0"/>
              <a:t>algorithm </a:t>
            </a:r>
          </a:p>
          <a:p>
            <a:r>
              <a:rPr lang="en-US"/>
              <a:t>ilk </a:t>
            </a:r>
            <a:r>
              <a:rPr lang="en-US" dirty="0"/>
              <a:t>applies the Lucas-</a:t>
            </a:r>
            <a:r>
              <a:rPr lang="en-US" dirty="0" err="1"/>
              <a:t>Kanade</a:t>
            </a:r>
            <a:r>
              <a:rPr lang="en-US" dirty="0"/>
              <a:t> algorithm large to small scale iteratively</a:t>
            </a:r>
          </a:p>
          <a:p>
            <a:pPr marL="0" indent="0">
              <a:buNone/>
            </a:pPr>
            <a:endParaRPr lang="en-US" sz="220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indent="0">
              <a:buNone/>
            </a:pPr>
            <a:r>
              <a:rPr lang="en-US" sz="2200" dirty="0">
                <a:latin typeface="Courier New" panose="02070309020205020404" pitchFamily="49" charset="0"/>
                <a:cs typeface="Courier New" panose="02070309020205020404" pitchFamily="49" charset="0"/>
              </a:rPr>
              <a:t>Procedure </a:t>
            </a:r>
            <a:r>
              <a:rPr lang="en-US" sz="22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iLK</a:t>
            </a:r>
            <a:r>
              <a:rPr lang="en-US" sz="2200" dirty="0">
                <a:latin typeface="Courier New" panose="02070309020205020404" pitchFamily="49" charset="0"/>
                <a:cs typeface="Courier New" panose="02070309020205020404" pitchFamily="49" charset="0"/>
              </a:rPr>
              <a:t>(image1, image2):</a:t>
            </a:r>
          </a:p>
          <a:p>
            <a:pPr marL="457200" lvl="1" indent="0">
              <a:buNone/>
            </a:pPr>
            <a:r>
              <a:rPr lang="en-US" sz="2200" dirty="0">
                <a:latin typeface="Courier New" panose="02070309020205020404" pitchFamily="49" charset="0"/>
                <a:cs typeface="Courier New" panose="02070309020205020404" pitchFamily="49" charset="0"/>
              </a:rPr>
              <a:t>pyramid1 = </a:t>
            </a:r>
            <a:r>
              <a:rPr lang="en-US" sz="22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LaplacianPyramid</a:t>
            </a:r>
            <a:r>
              <a:rPr lang="en-US" sz="2200" dirty="0">
                <a:latin typeface="Courier New" panose="02070309020205020404" pitchFamily="49" charset="0"/>
                <a:cs typeface="Courier New" panose="02070309020205020404" pitchFamily="49" charset="0"/>
              </a:rPr>
              <a:t>(image1)</a:t>
            </a:r>
          </a:p>
          <a:p>
            <a:pPr marL="457200" lvl="1" indent="0">
              <a:buNone/>
            </a:pPr>
            <a:r>
              <a:rPr lang="en-US" sz="2200" dirty="0">
                <a:latin typeface="Courier New" panose="02070309020205020404" pitchFamily="49" charset="0"/>
                <a:cs typeface="Courier New" panose="02070309020205020404" pitchFamily="49" charset="0"/>
              </a:rPr>
              <a:t>pyramid2 = </a:t>
            </a:r>
            <a:r>
              <a:rPr lang="en-US" sz="22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LaplacianPyramid</a:t>
            </a:r>
            <a:r>
              <a:rPr lang="en-US" sz="2200" dirty="0">
                <a:latin typeface="Courier New" panose="02070309020205020404" pitchFamily="49" charset="0"/>
                <a:cs typeface="Courier New" panose="02070309020205020404" pitchFamily="49" charset="0"/>
              </a:rPr>
              <a:t>(image2)</a:t>
            </a:r>
          </a:p>
          <a:p>
            <a:pPr marL="457200" lvl="1" indent="0">
              <a:buNone/>
            </a:pPr>
            <a:r>
              <a:rPr lang="en-US" sz="2200" dirty="0">
                <a:latin typeface="Courier New" panose="02070309020205020404" pitchFamily="49" charset="0"/>
                <a:cs typeface="Courier New" panose="02070309020205020404" pitchFamily="49" charset="0"/>
              </a:rPr>
              <a:t>flow = zeros(</a:t>
            </a:r>
            <a:r>
              <a:rPr lang="en-US" sz="22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pyramid.shape</a:t>
            </a:r>
            <a:r>
              <a:rPr lang="en-US" sz="2200" dirty="0">
                <a:latin typeface="Courier New" panose="02070309020205020404" pitchFamily="49" charset="0"/>
                <a:cs typeface="Courier New" panose="02070309020205020404" pitchFamily="49" charset="0"/>
              </a:rPr>
              <a:t>)</a:t>
            </a:r>
          </a:p>
          <a:p>
            <a:pPr marL="457200" lvl="1" indent="0">
              <a:buNone/>
            </a:pPr>
            <a:r>
              <a:rPr lang="en-US" sz="2200" dirty="0">
                <a:latin typeface="Courier New" panose="02070309020205020404" pitchFamily="49" charset="0"/>
                <a:cs typeface="Courier New" panose="02070309020205020404" pitchFamily="49" charset="0"/>
              </a:rPr>
              <a:t>for scale in pyramid: # Loop from coarse to fine </a:t>
            </a:r>
          </a:p>
          <a:p>
            <a:pPr marL="457200" lvl="1" indent="0">
              <a:buNone/>
            </a:pPr>
            <a:r>
              <a:rPr lang="en-US" sz="2200" dirty="0">
                <a:latin typeface="Courier New" panose="02070309020205020404" pitchFamily="49" charset="0"/>
                <a:cs typeface="Courier New" panose="02070309020205020404" pitchFamily="49" charset="0"/>
              </a:rPr>
              <a:t>	flow = </a:t>
            </a:r>
            <a:r>
              <a:rPr lang="en-US" sz="22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UpSample</a:t>
            </a:r>
            <a:r>
              <a:rPr lang="en-US" sz="2200" dirty="0">
                <a:latin typeface="Courier New" panose="02070309020205020404" pitchFamily="49" charset="0"/>
                <a:cs typeface="Courier New" panose="02070309020205020404" pitchFamily="49" charset="0"/>
              </a:rPr>
              <a:t>(flow) # Up sample flow to scale</a:t>
            </a:r>
          </a:p>
          <a:p>
            <a:pPr marL="457200" lvl="1" indent="0">
              <a:buNone/>
            </a:pPr>
            <a:r>
              <a:rPr lang="en-US" sz="2200" dirty="0">
                <a:latin typeface="Courier New" panose="02070309020205020404" pitchFamily="49" charset="0"/>
                <a:cs typeface="Courier New" panose="02070309020205020404" pitchFamily="49" charset="0"/>
              </a:rPr>
              <a:t>	</a:t>
            </a:r>
            <a:r>
              <a:rPr lang="en-US" sz="22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warped_image</a:t>
            </a:r>
            <a:r>
              <a:rPr lang="en-US" sz="2200" dirty="0">
                <a:latin typeface="Courier New" panose="02070309020205020404" pitchFamily="49" charset="0"/>
                <a:cs typeface="Courier New" panose="02070309020205020404" pitchFamily="49" charset="0"/>
              </a:rPr>
              <a:t> = Warp(pyramid2(scale), flow) # Dense warp</a:t>
            </a:r>
          </a:p>
          <a:p>
            <a:pPr marL="457200" lvl="1" indent="0">
              <a:buNone/>
            </a:pPr>
            <a:r>
              <a:rPr lang="en-US" sz="2200" dirty="0">
                <a:latin typeface="Courier New" panose="02070309020205020404" pitchFamily="49" charset="0"/>
                <a:cs typeface="Courier New" panose="02070309020205020404" pitchFamily="49" charset="0"/>
              </a:rPr>
              <a:t>	# flow components updated for each scale </a:t>
            </a:r>
          </a:p>
          <a:p>
            <a:pPr marL="457200" lvl="1" indent="0">
              <a:buNone/>
            </a:pPr>
            <a:r>
              <a:rPr lang="en-US" sz="2200" dirty="0">
                <a:latin typeface="Courier New" panose="02070309020205020404" pitchFamily="49" charset="0"/>
                <a:cs typeface="Courier New" panose="02070309020205020404" pitchFamily="49" charset="0"/>
              </a:rPr>
              <a:t>	flow = </a:t>
            </a:r>
            <a:r>
              <a:rPr lang="en-US" sz="22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LucasKanade</a:t>
            </a:r>
            <a:r>
              <a:rPr lang="en-US" sz="2200" dirty="0">
                <a:latin typeface="Courier New" panose="02070309020205020404" pitchFamily="49" charset="0"/>
                <a:cs typeface="Courier New" panose="02070309020205020404" pitchFamily="49" charset="0"/>
              </a:rPr>
              <a:t>(pyramid1(scale), </a:t>
            </a:r>
            <a:r>
              <a:rPr lang="en-US" sz="22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warped_image</a:t>
            </a:r>
            <a:r>
              <a:rPr lang="en-US" sz="2200" dirty="0">
                <a:latin typeface="Courier New" panose="02070309020205020404" pitchFamily="49" charset="0"/>
                <a:cs typeface="Courier New" panose="02070309020205020404" pitchFamily="49" charset="0"/>
              </a:rPr>
              <a:t>) + flow</a:t>
            </a:r>
          </a:p>
          <a:p>
            <a:pPr marL="457200" lvl="1" indent="0">
              <a:buNone/>
            </a:pPr>
            <a:r>
              <a:rPr lang="en-US" sz="2200" dirty="0">
                <a:latin typeface="Courier New" panose="02070309020205020404" pitchFamily="49" charset="0"/>
                <a:cs typeface="Courier New" panose="02070309020205020404" pitchFamily="49" charset="0"/>
              </a:rPr>
              <a:t>Filter(flow) # Post processing 	</a:t>
            </a:r>
          </a:p>
          <a:p>
            <a:pPr marL="457200" lvl="1" indent="0">
              <a:buNone/>
            </a:pPr>
            <a:r>
              <a:rPr lang="en-US" sz="2200" dirty="0">
                <a:latin typeface="Courier New" panose="02070309020205020404" pitchFamily="49" charset="0"/>
                <a:cs typeface="Courier New" panose="02070309020205020404" pitchFamily="49" charset="0"/>
              </a:rPr>
              <a:t>return flow</a:t>
            </a:r>
          </a:p>
          <a:p>
            <a:pPr marL="457200" lvl="1" indent="0">
              <a:buNone/>
            </a:pP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2181025081"/>
      </p:ext>
    </p:extLst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DFB6AB4-96EB-434D-8BFC-6697DE744D7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89301" y="140193"/>
            <a:ext cx="10515600" cy="872004"/>
          </a:xfrm>
        </p:spPr>
        <p:txBody>
          <a:bodyPr>
            <a:normAutofit/>
          </a:bodyPr>
          <a:lstStyle/>
          <a:p>
            <a:r>
              <a:rPr lang="en-US" sz="4000" dirty="0">
                <a:latin typeface="+mn-lt"/>
              </a:rPr>
              <a:t>Iterative Lucas-</a:t>
            </a:r>
            <a:r>
              <a:rPr lang="en-US" sz="4000" dirty="0" err="1">
                <a:latin typeface="+mn-lt"/>
              </a:rPr>
              <a:t>Kanade</a:t>
            </a:r>
            <a:r>
              <a:rPr lang="en-US" sz="4000" dirty="0">
                <a:latin typeface="+mn-lt"/>
              </a:rPr>
              <a:t> algorithm 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DBC6555-A8E7-4F73-8035-156F702D141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41689" y="1012197"/>
            <a:ext cx="11231249" cy="5593468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dirty="0"/>
              <a:t>We can apply the </a:t>
            </a:r>
            <a:r>
              <a:rPr lang="en-US" b="1" dirty="0"/>
              <a:t>iterative Lucas-</a:t>
            </a:r>
            <a:r>
              <a:rPr lang="en-US" b="1" dirty="0" err="1"/>
              <a:t>Kanade</a:t>
            </a:r>
            <a:r>
              <a:rPr lang="en-US" b="1" dirty="0"/>
              <a:t> (</a:t>
            </a:r>
            <a:r>
              <a:rPr lang="en-US" b="1" dirty="0" err="1"/>
              <a:t>iKL</a:t>
            </a:r>
            <a:r>
              <a:rPr lang="en-US" b="1" dirty="0"/>
              <a:t>) </a:t>
            </a:r>
            <a:r>
              <a:rPr lang="en-US" dirty="0"/>
              <a:t>algorithm </a:t>
            </a:r>
          </a:p>
          <a:p>
            <a:r>
              <a:rPr lang="en-US" dirty="0" err="1"/>
              <a:t>iLK</a:t>
            </a:r>
            <a:r>
              <a:rPr lang="en-US" dirty="0"/>
              <a:t> applies the Lucas-Kanade algorithm from large to small scale iteratively</a:t>
            </a:r>
          </a:p>
          <a:p>
            <a:pPr marL="0" indent="0">
              <a:buNone/>
            </a:pPr>
            <a:endParaRPr lang="en-US" sz="220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indent="0">
              <a:buNone/>
            </a:pPr>
            <a:endParaRPr lang="en-US" dirty="0"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91C55C62-710F-4E2C-A201-66BA1C0B73D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02794" y="1976739"/>
            <a:ext cx="7688614" cy="4300235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16E4FA3D-D593-455B-8E4C-9EF043E47937}"/>
              </a:ext>
            </a:extLst>
          </p:cNvPr>
          <p:cNvSpPr txBox="1"/>
          <p:nvPr/>
        </p:nvSpPr>
        <p:spPr>
          <a:xfrm>
            <a:off x="4138613" y="6400679"/>
            <a:ext cx="43053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>
                <a:hlinkClick r:id="rId3"/>
              </a:rPr>
              <a:t>Credit: Sun, et. al, 2018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712962093"/>
      </p:ext>
    </p:extLst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46856AD-D906-FEFD-7FD8-7B84DF60675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algn="ctr"/>
            <a:r>
              <a:rPr lang="en-US" sz="4000" dirty="0"/>
              <a:t>The Horn-</a:t>
            </a:r>
            <a:r>
              <a:rPr lang="en-US" sz="4000" dirty="0" err="1"/>
              <a:t>Shunck</a:t>
            </a:r>
            <a:r>
              <a:rPr lang="en-US" sz="4000" dirty="0"/>
              <a:t> Algorithm</a:t>
            </a:r>
          </a:p>
        </p:txBody>
      </p:sp>
    </p:spTree>
    <p:extLst>
      <p:ext uri="{BB962C8B-B14F-4D97-AF65-F5344CB8AC3E}">
        <p14:creationId xmlns:p14="http://schemas.microsoft.com/office/powerpoint/2010/main" val="50447262"/>
      </p:ext>
    </p:extLst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3D61176-890B-AF8C-244D-D9E442E4CBC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FEB8FAF-3264-A3E6-D82E-72C8C3FBE34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89301" y="140193"/>
            <a:ext cx="10515600" cy="872004"/>
          </a:xfrm>
        </p:spPr>
        <p:txBody>
          <a:bodyPr>
            <a:normAutofit/>
          </a:bodyPr>
          <a:lstStyle/>
          <a:p>
            <a:r>
              <a:rPr lang="en-US" sz="4000" dirty="0">
                <a:latin typeface="+mn-lt"/>
              </a:rPr>
              <a:t>The Horn-</a:t>
            </a:r>
            <a:r>
              <a:rPr lang="en-US" sz="4000" dirty="0" err="1">
                <a:latin typeface="+mn-lt"/>
              </a:rPr>
              <a:t>Schunck</a:t>
            </a:r>
            <a:r>
              <a:rPr lang="en-US" sz="4000" dirty="0">
                <a:latin typeface="+mn-lt"/>
              </a:rPr>
              <a:t> Algorithm 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EDF669F-EB0D-F987-1405-28B20102B5E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89301" y="1124339"/>
            <a:ext cx="10515600" cy="5593468"/>
          </a:xfrm>
        </p:spPr>
        <p:txBody>
          <a:bodyPr/>
          <a:lstStyle/>
          <a:p>
            <a:pPr marL="0" indent="0">
              <a:buNone/>
            </a:pPr>
            <a:r>
              <a:rPr lang="en-US" dirty="0"/>
              <a:t>The </a:t>
            </a:r>
            <a:r>
              <a:rPr lang="en-US" b="1" dirty="0"/>
              <a:t>Horn-</a:t>
            </a:r>
            <a:r>
              <a:rPr lang="en-US" b="1" dirty="0" err="1"/>
              <a:t>Schunck</a:t>
            </a:r>
            <a:r>
              <a:rPr lang="en-US" b="1" dirty="0"/>
              <a:t> algorithm </a:t>
            </a:r>
            <a:r>
              <a:rPr lang="en-US" dirty="0"/>
              <a:t>uses a different set of assumptions from Lucas-</a:t>
            </a:r>
            <a:r>
              <a:rPr lang="en-US" dirty="0" err="1"/>
              <a:t>Kanade</a:t>
            </a:r>
            <a:r>
              <a:rPr lang="en-US" dirty="0"/>
              <a:t> algorithm   </a:t>
            </a:r>
          </a:p>
          <a:p>
            <a:r>
              <a:rPr lang="en-US" dirty="0"/>
              <a:t>Both algorithms assume </a:t>
            </a:r>
            <a:r>
              <a:rPr lang="en-US" b="1" dirty="0"/>
              <a:t>small motion</a:t>
            </a:r>
            <a:endParaRPr lang="en-US" dirty="0"/>
          </a:p>
          <a:p>
            <a:r>
              <a:rPr lang="en-US" dirty="0"/>
              <a:t>Both methods enforce </a:t>
            </a:r>
            <a:r>
              <a:rPr lang="en-US" b="1" dirty="0"/>
              <a:t>brightness consistency  </a:t>
            </a:r>
          </a:p>
          <a:p>
            <a:r>
              <a:rPr lang="en-US" dirty="0"/>
              <a:t>Lucas-</a:t>
            </a:r>
            <a:r>
              <a:rPr lang="en-US" dirty="0" err="1"/>
              <a:t>Kanade</a:t>
            </a:r>
            <a:r>
              <a:rPr lang="en-US" dirty="0"/>
              <a:t> enforces </a:t>
            </a:r>
            <a:r>
              <a:rPr lang="en-US" b="1" dirty="0"/>
              <a:t>constant flow</a:t>
            </a:r>
          </a:p>
          <a:p>
            <a:r>
              <a:rPr lang="en-US" dirty="0"/>
              <a:t>Horn-</a:t>
            </a:r>
            <a:r>
              <a:rPr lang="en-US" dirty="0" err="1"/>
              <a:t>Schunck</a:t>
            </a:r>
            <a:r>
              <a:rPr lang="en-US" dirty="0"/>
              <a:t> enforces </a:t>
            </a:r>
            <a:r>
              <a:rPr lang="en-US" b="1" dirty="0"/>
              <a:t>smooth flow</a:t>
            </a:r>
          </a:p>
          <a:p>
            <a:pPr lvl="1"/>
            <a:r>
              <a:rPr lang="en-US" dirty="0"/>
              <a:t>The smooth flow constraint is a </a:t>
            </a:r>
            <a:r>
              <a:rPr lang="en-US" b="1" dirty="0"/>
              <a:t>regularization method</a:t>
            </a:r>
          </a:p>
          <a:p>
            <a:pPr lvl="1"/>
            <a:r>
              <a:rPr lang="en-US" dirty="0"/>
              <a:t>Can find solution even when covariance eigenvalues are small or zero</a:t>
            </a:r>
          </a:p>
        </p:txBody>
      </p:sp>
    </p:spTree>
    <p:extLst>
      <p:ext uri="{BB962C8B-B14F-4D97-AF65-F5344CB8AC3E}">
        <p14:creationId xmlns:p14="http://schemas.microsoft.com/office/powerpoint/2010/main" val="386781031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DFB6AB4-96EB-434D-8BFC-6697DE744D7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89301" y="140193"/>
            <a:ext cx="10515600" cy="872004"/>
          </a:xfrm>
        </p:spPr>
        <p:txBody>
          <a:bodyPr>
            <a:normAutofit/>
          </a:bodyPr>
          <a:lstStyle/>
          <a:p>
            <a:r>
              <a:rPr lang="en-US" sz="4000" dirty="0">
                <a:latin typeface="+mn-lt"/>
              </a:rPr>
              <a:t>The Horn-</a:t>
            </a:r>
            <a:r>
              <a:rPr lang="en-US" sz="4000" dirty="0" err="1">
                <a:latin typeface="+mn-lt"/>
              </a:rPr>
              <a:t>Schunck</a:t>
            </a:r>
            <a:r>
              <a:rPr lang="en-US" sz="4000" dirty="0">
                <a:latin typeface="+mn-lt"/>
              </a:rPr>
              <a:t> Algorithm 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4DBC6555-A8E7-4F73-8035-156F702D1410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789301" y="1124339"/>
                <a:ext cx="10515600" cy="5593468"/>
              </a:xfrm>
            </p:spPr>
            <p:txBody>
              <a:bodyPr/>
              <a:lstStyle/>
              <a:p>
                <a:pPr marL="0" indent="0">
                  <a:buNone/>
                </a:pPr>
                <a:r>
                  <a:rPr lang="en-US" dirty="0"/>
                  <a:t>Formulation of </a:t>
                </a:r>
                <a:r>
                  <a:rPr lang="en-US" b="1" dirty="0"/>
                  <a:t>Horn-</a:t>
                </a:r>
                <a:r>
                  <a:rPr lang="en-US" b="1" dirty="0" err="1"/>
                  <a:t>Schunck</a:t>
                </a:r>
                <a:r>
                  <a:rPr lang="en-US" b="1" dirty="0"/>
                  <a:t> algorithm </a:t>
                </a:r>
                <a:r>
                  <a:rPr lang="en-US" dirty="0"/>
                  <a:t>similar to Lucas-</a:t>
                </a:r>
                <a:r>
                  <a:rPr lang="en-US" dirty="0" err="1"/>
                  <a:t>Kanade</a:t>
                </a:r>
                <a:endParaRPr lang="en-US" dirty="0"/>
              </a:p>
              <a:p>
                <a:r>
                  <a:rPr lang="en-US" dirty="0"/>
                  <a:t>Formulate Horn-</a:t>
                </a:r>
                <a:r>
                  <a:rPr lang="en-US" dirty="0" err="1"/>
                  <a:t>Schunck</a:t>
                </a:r>
                <a:r>
                  <a:rPr lang="en-US" dirty="0"/>
                  <a:t> in terms minimizing an </a:t>
                </a:r>
                <a:r>
                  <a:rPr lang="en-US" b="1" dirty="0"/>
                  <a:t>energy function </a:t>
                </a:r>
                <a:r>
                  <a:rPr lang="en-US" dirty="0"/>
                  <a:t>with two components </a:t>
                </a:r>
              </a:p>
              <a:p>
                <a:pPr lvl="1"/>
                <a14:m>
                  <m:oMath xmlns:m="http://schemas.openxmlformats.org/officeDocument/2006/math">
                    <m:sSub>
                      <m:sSubPr>
                        <m:ctrlPr>
                          <a:rPr lang="en-US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𝐸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𝑏</m:t>
                        </m:r>
                      </m:sub>
                    </m:sSub>
                    <m:r>
                      <a:rPr lang="en-US" b="0" i="1" smtClean="0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𝑖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,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𝑗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dirty="0"/>
                  <a:t> is brightness energy</a:t>
                </a:r>
              </a:p>
              <a:p>
                <a:pPr lvl="1"/>
                <a14:m>
                  <m:oMath xmlns:m="http://schemas.openxmlformats.org/officeDocument/2006/math"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𝐸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𝑠</m:t>
                        </m:r>
                      </m:sub>
                    </m:sSub>
                    <m:r>
                      <a:rPr lang="en-US" i="1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𝑖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,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𝑗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dirty="0"/>
                  <a:t> is smoothness energy</a:t>
                </a:r>
              </a:p>
              <a:p>
                <a:r>
                  <a:rPr lang="en-US" dirty="0"/>
                  <a:t>We have a relationship for brightness consistency following Lucas-</a:t>
                </a:r>
                <a:r>
                  <a:rPr lang="en-US" dirty="0" err="1"/>
                  <a:t>Kanade</a:t>
                </a:r>
                <a:endParaRPr lang="en-US" dirty="0"/>
              </a:p>
              <a:p>
                <a:r>
                  <a:rPr lang="en-US" dirty="0"/>
                  <a:t>The </a:t>
                </a:r>
                <a:r>
                  <a:rPr lang="en-US" b="1" dirty="0"/>
                  <a:t>energy</a:t>
                </a:r>
                <a:r>
                  <a:rPr lang="en-US" dirty="0"/>
                  <a:t> arising from enforcing brightness consistency is: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𝐸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𝑏</m:t>
                          </m:r>
                        </m:sub>
                      </m:sSub>
                      <m:d>
                        <m:d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𝑖</m:t>
                          </m:r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𝑗</m:t>
                          </m:r>
                        </m:e>
                      </m:d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</m:t>
                      </m:r>
                      <m:sSup>
                        <m:sSupPr>
                          <m:ctrlPr>
                            <a:rPr lang="en-US" i="1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d>
                            <m:dPr>
                              <m:begChr m:val="["/>
                              <m:endChr m:val="]"/>
                              <m:ctrlPr>
                                <a:rPr lang="en-US" i="1" smtClean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en-US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𝐼</m:t>
                                  </m:r>
                                </m:e>
                                <m:sub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𝑥</m:t>
                                  </m:r>
                                </m:sub>
                              </m:sSub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𝑢</m:t>
                              </m:r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+</m:t>
                              </m:r>
                              <m:sSub>
                                <m:sSubPr>
                                  <m:ctrlPr>
                                    <a:rPr lang="en-US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𝐼</m:t>
                                  </m:r>
                                </m:e>
                                <m:sub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𝑦</m:t>
                                  </m:r>
                                </m:sub>
                              </m:sSub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𝑣</m:t>
                              </m:r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+</m:t>
                              </m:r>
                              <m:sSub>
                                <m:sSubPr>
                                  <m:ctrlPr>
                                    <a:rPr lang="en-US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𝐼</m:t>
                                  </m:r>
                                </m:e>
                                <m:sub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𝑡</m:t>
                                  </m:r>
                                </m:sub>
                              </m:sSub>
                            </m:e>
                          </m:d>
                        </m:e>
                        <m:sup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p>
                      </m:sSup>
                    </m:oMath>
                  </m:oMathPara>
                </a14:m>
                <a:endParaRPr lang="en-US" dirty="0"/>
              </a:p>
              <a:p>
                <a:pPr marL="0" indent="0">
                  <a:buNone/>
                </a:pPr>
                <a:endParaRPr lang="en-US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4DBC6555-A8E7-4F73-8035-156F702D1410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789301" y="1124339"/>
                <a:ext cx="10515600" cy="5593468"/>
              </a:xfrm>
              <a:blipFill>
                <a:blip r:embed="rId3"/>
                <a:stretch>
                  <a:fillRect l="-1159" t="-1743" r="-168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09325671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DFB6AB4-96EB-434D-8BFC-6697DE744D7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89301" y="140193"/>
            <a:ext cx="10515600" cy="872004"/>
          </a:xfrm>
        </p:spPr>
        <p:txBody>
          <a:bodyPr>
            <a:normAutofit/>
          </a:bodyPr>
          <a:lstStyle/>
          <a:p>
            <a:r>
              <a:rPr lang="en-US" sz="4000" dirty="0">
                <a:latin typeface="+mn-lt"/>
              </a:rPr>
              <a:t>The Horn-</a:t>
            </a:r>
            <a:r>
              <a:rPr lang="en-US" sz="4000" dirty="0" err="1">
                <a:latin typeface="+mn-lt"/>
              </a:rPr>
              <a:t>Schunck</a:t>
            </a:r>
            <a:r>
              <a:rPr lang="en-US" sz="4000" dirty="0">
                <a:latin typeface="+mn-lt"/>
              </a:rPr>
              <a:t> Algorithm 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DBC6555-A8E7-4F73-8035-156F702D141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89301" y="1124339"/>
            <a:ext cx="10515600" cy="2122806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dirty="0"/>
              <a:t>Formulation of </a:t>
            </a:r>
            <a:r>
              <a:rPr lang="en-US" b="1" dirty="0"/>
              <a:t>Horn-</a:t>
            </a:r>
            <a:r>
              <a:rPr lang="en-US" b="1" dirty="0" err="1"/>
              <a:t>Schunck</a:t>
            </a:r>
            <a:r>
              <a:rPr lang="en-US" b="1" dirty="0"/>
              <a:t> algorithm </a:t>
            </a:r>
            <a:r>
              <a:rPr lang="en-US" dirty="0"/>
              <a:t>similar to Lucas-</a:t>
            </a:r>
            <a:r>
              <a:rPr lang="en-US" dirty="0" err="1"/>
              <a:t>Kanade</a:t>
            </a:r>
            <a:endParaRPr lang="en-US" dirty="0"/>
          </a:p>
          <a:p>
            <a:r>
              <a:rPr lang="en-US" dirty="0"/>
              <a:t>How do we express the smoothness energy?    </a:t>
            </a:r>
          </a:p>
          <a:p>
            <a:r>
              <a:rPr lang="en-US" dirty="0"/>
              <a:t>Start with neighbor relations for </a:t>
            </a:r>
            <a:r>
              <a:rPr lang="en-US" i="1" dirty="0"/>
              <a:t>u</a:t>
            </a:r>
            <a:r>
              <a:rPr lang="en-US" dirty="0"/>
              <a:t> and </a:t>
            </a:r>
            <a:r>
              <a:rPr lang="en-US" i="1" dirty="0"/>
              <a:t>v</a:t>
            </a:r>
            <a:r>
              <a:rPr lang="en-US" dirty="0"/>
              <a:t> </a:t>
            </a:r>
          </a:p>
          <a:p>
            <a:r>
              <a:rPr lang="en-US" dirty="0"/>
              <a:t>Compute the flow differences </a:t>
            </a:r>
          </a:p>
          <a:p>
            <a:endParaRPr lang="en-US" dirty="0"/>
          </a:p>
          <a:p>
            <a:pPr marL="0" indent="0">
              <a:buNone/>
            </a:pPr>
            <a:endParaRPr lang="en-US" dirty="0"/>
          </a:p>
        </p:txBody>
      </p:sp>
      <p:cxnSp>
        <p:nvCxnSpPr>
          <p:cNvPr id="5" name="Straight Connector 4">
            <a:extLst>
              <a:ext uri="{FF2B5EF4-FFF2-40B4-BE49-F238E27FC236}">
                <a16:creationId xmlns:a16="http://schemas.microsoft.com/office/drawing/2014/main" id="{D68CA305-C4C5-4ECD-BB19-41690D291883}"/>
              </a:ext>
            </a:extLst>
          </p:cNvPr>
          <p:cNvCxnSpPr/>
          <p:nvPr/>
        </p:nvCxnSpPr>
        <p:spPr>
          <a:xfrm>
            <a:off x="1648520" y="3732767"/>
            <a:ext cx="0" cy="1824317"/>
          </a:xfrm>
          <a:prstGeom prst="line">
            <a:avLst/>
          </a:prstGeom>
          <a:ln w="19050">
            <a:solidFill>
              <a:schemeClr val="tx1"/>
            </a:solidFill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" name="Straight Connector 5">
            <a:extLst>
              <a:ext uri="{FF2B5EF4-FFF2-40B4-BE49-F238E27FC236}">
                <a16:creationId xmlns:a16="http://schemas.microsoft.com/office/drawing/2014/main" id="{C3B2ED22-E0F4-44F5-847B-CACAB49E0ECD}"/>
              </a:ext>
            </a:extLst>
          </p:cNvPr>
          <p:cNvCxnSpPr>
            <a:cxnSpLocks/>
          </p:cNvCxnSpPr>
          <p:nvPr/>
        </p:nvCxnSpPr>
        <p:spPr>
          <a:xfrm>
            <a:off x="723480" y="4624755"/>
            <a:ext cx="1874018" cy="0"/>
          </a:xfrm>
          <a:prstGeom prst="line">
            <a:avLst/>
          </a:prstGeom>
          <a:ln w="19050">
            <a:solidFill>
              <a:schemeClr val="tx1"/>
            </a:solidFill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" name="TextBox 8">
            <a:extLst>
              <a:ext uri="{FF2B5EF4-FFF2-40B4-BE49-F238E27FC236}">
                <a16:creationId xmlns:a16="http://schemas.microsoft.com/office/drawing/2014/main" id="{238E90DD-929D-4D54-AA21-DFABDC3D799A}"/>
              </a:ext>
            </a:extLst>
          </p:cNvPr>
          <p:cNvSpPr txBox="1"/>
          <p:nvPr/>
        </p:nvSpPr>
        <p:spPr>
          <a:xfrm>
            <a:off x="2265903" y="4183260"/>
            <a:ext cx="964642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400" dirty="0" err="1"/>
              <a:t>i</a:t>
            </a:r>
            <a:r>
              <a:rPr lang="en-US" sz="2400" dirty="0"/>
              <a:t> + 1, j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0502E6DA-982C-4296-A606-F8BBEA196A78}"/>
              </a:ext>
            </a:extLst>
          </p:cNvPr>
          <p:cNvSpPr txBox="1"/>
          <p:nvPr/>
        </p:nvSpPr>
        <p:spPr>
          <a:xfrm>
            <a:off x="1393371" y="4615896"/>
            <a:ext cx="964642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400" dirty="0" err="1"/>
              <a:t>i</a:t>
            </a:r>
            <a:r>
              <a:rPr lang="en-US" sz="2400" dirty="0"/>
              <a:t>, j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C42063C4-AB07-4B17-A36E-B748E71BBD6B}"/>
              </a:ext>
            </a:extLst>
          </p:cNvPr>
          <p:cNvSpPr txBox="1"/>
          <p:nvPr/>
        </p:nvSpPr>
        <p:spPr>
          <a:xfrm>
            <a:off x="510249" y="4134062"/>
            <a:ext cx="964642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400" dirty="0" err="1"/>
              <a:t>i</a:t>
            </a:r>
            <a:r>
              <a:rPr lang="en-US" sz="2400" dirty="0"/>
              <a:t> - 1, j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68CBD735-65B7-4FAC-8F2C-C8160C2C6E0E}"/>
              </a:ext>
            </a:extLst>
          </p:cNvPr>
          <p:cNvSpPr txBox="1"/>
          <p:nvPr/>
        </p:nvSpPr>
        <p:spPr>
          <a:xfrm>
            <a:off x="1632856" y="5175254"/>
            <a:ext cx="964642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400" dirty="0" err="1"/>
              <a:t>i</a:t>
            </a:r>
            <a:r>
              <a:rPr lang="en-US" sz="2400" dirty="0"/>
              <a:t>, j - 1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C17F2FB8-FB11-4589-9F10-C34641DED5DB}"/>
              </a:ext>
            </a:extLst>
          </p:cNvPr>
          <p:cNvSpPr txBox="1"/>
          <p:nvPr/>
        </p:nvSpPr>
        <p:spPr>
          <a:xfrm>
            <a:off x="1632856" y="3546641"/>
            <a:ext cx="964642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400" dirty="0" err="1"/>
              <a:t>i</a:t>
            </a:r>
            <a:r>
              <a:rPr lang="en-US" sz="2400" dirty="0"/>
              <a:t>, j +1</a:t>
            </a:r>
          </a:p>
        </p:txBody>
      </p:sp>
      <p:cxnSp>
        <p:nvCxnSpPr>
          <p:cNvPr id="14" name="Straight Connector 13">
            <a:extLst>
              <a:ext uri="{FF2B5EF4-FFF2-40B4-BE49-F238E27FC236}">
                <a16:creationId xmlns:a16="http://schemas.microsoft.com/office/drawing/2014/main" id="{C6134AFA-8331-459D-BC1F-316AC97557DA}"/>
              </a:ext>
            </a:extLst>
          </p:cNvPr>
          <p:cNvCxnSpPr/>
          <p:nvPr/>
        </p:nvCxnSpPr>
        <p:spPr>
          <a:xfrm>
            <a:off x="4564217" y="3732767"/>
            <a:ext cx="0" cy="1824317"/>
          </a:xfrm>
          <a:prstGeom prst="line">
            <a:avLst/>
          </a:prstGeom>
          <a:ln w="19050">
            <a:solidFill>
              <a:schemeClr val="tx1"/>
            </a:solidFill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" name="Straight Connector 14">
            <a:extLst>
              <a:ext uri="{FF2B5EF4-FFF2-40B4-BE49-F238E27FC236}">
                <a16:creationId xmlns:a16="http://schemas.microsoft.com/office/drawing/2014/main" id="{09A0D334-6B60-4C99-8D0B-A1FBF8D29D92}"/>
              </a:ext>
            </a:extLst>
          </p:cNvPr>
          <p:cNvCxnSpPr>
            <a:cxnSpLocks/>
          </p:cNvCxnSpPr>
          <p:nvPr/>
        </p:nvCxnSpPr>
        <p:spPr>
          <a:xfrm>
            <a:off x="3639177" y="4624755"/>
            <a:ext cx="1874018" cy="0"/>
          </a:xfrm>
          <a:prstGeom prst="line">
            <a:avLst/>
          </a:prstGeom>
          <a:ln w="19050">
            <a:solidFill>
              <a:schemeClr val="tx1"/>
            </a:solidFill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6" name="TextBox 15">
            <a:extLst>
              <a:ext uri="{FF2B5EF4-FFF2-40B4-BE49-F238E27FC236}">
                <a16:creationId xmlns:a16="http://schemas.microsoft.com/office/drawing/2014/main" id="{3D6440E1-6E1B-48A9-B36C-06573E36BFA5}"/>
              </a:ext>
            </a:extLst>
          </p:cNvPr>
          <p:cNvSpPr txBox="1"/>
          <p:nvPr/>
        </p:nvSpPr>
        <p:spPr>
          <a:xfrm>
            <a:off x="5181600" y="4183260"/>
            <a:ext cx="964642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400" dirty="0" err="1"/>
              <a:t>i</a:t>
            </a:r>
            <a:r>
              <a:rPr lang="en-US" sz="2400" dirty="0"/>
              <a:t> + 1, j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D8EF885F-2EF0-4F4A-94F5-C0DC7E0B8D78}"/>
              </a:ext>
            </a:extLst>
          </p:cNvPr>
          <p:cNvSpPr txBox="1"/>
          <p:nvPr/>
        </p:nvSpPr>
        <p:spPr>
          <a:xfrm>
            <a:off x="4309068" y="4615896"/>
            <a:ext cx="964642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400" dirty="0" err="1"/>
              <a:t>i</a:t>
            </a:r>
            <a:r>
              <a:rPr lang="en-US" sz="2400" dirty="0"/>
              <a:t>, j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36DDCC8C-1DE0-4F0F-B42A-5C1A3FA9673C}"/>
              </a:ext>
            </a:extLst>
          </p:cNvPr>
          <p:cNvSpPr txBox="1"/>
          <p:nvPr/>
        </p:nvSpPr>
        <p:spPr>
          <a:xfrm>
            <a:off x="3425946" y="4134062"/>
            <a:ext cx="964642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400" dirty="0" err="1"/>
              <a:t>i</a:t>
            </a:r>
            <a:r>
              <a:rPr lang="en-US" sz="2400" dirty="0"/>
              <a:t> - 1, j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8343A627-AABB-4A1F-BFC6-28A41ED48196}"/>
              </a:ext>
            </a:extLst>
          </p:cNvPr>
          <p:cNvSpPr txBox="1"/>
          <p:nvPr/>
        </p:nvSpPr>
        <p:spPr>
          <a:xfrm>
            <a:off x="4548553" y="5175254"/>
            <a:ext cx="964642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400" dirty="0" err="1"/>
              <a:t>i</a:t>
            </a:r>
            <a:r>
              <a:rPr lang="en-US" sz="2400" dirty="0"/>
              <a:t>, j - 1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9D5FE79A-1FD4-4427-AA47-190C9AE29F11}"/>
              </a:ext>
            </a:extLst>
          </p:cNvPr>
          <p:cNvSpPr txBox="1"/>
          <p:nvPr/>
        </p:nvSpPr>
        <p:spPr>
          <a:xfrm>
            <a:off x="4612465" y="3539506"/>
            <a:ext cx="964642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400" dirty="0" err="1"/>
              <a:t>i</a:t>
            </a:r>
            <a:r>
              <a:rPr lang="en-US" sz="2400" dirty="0"/>
              <a:t>, j +1</a:t>
            </a:r>
          </a:p>
        </p:txBody>
      </p:sp>
      <p:cxnSp>
        <p:nvCxnSpPr>
          <p:cNvPr id="21" name="Straight Connector 20">
            <a:extLst>
              <a:ext uri="{FF2B5EF4-FFF2-40B4-BE49-F238E27FC236}">
                <a16:creationId xmlns:a16="http://schemas.microsoft.com/office/drawing/2014/main" id="{3D551F8C-0E47-4D43-AD88-0B0BB3790F63}"/>
              </a:ext>
            </a:extLst>
          </p:cNvPr>
          <p:cNvCxnSpPr/>
          <p:nvPr/>
        </p:nvCxnSpPr>
        <p:spPr>
          <a:xfrm>
            <a:off x="7479914" y="3732767"/>
            <a:ext cx="0" cy="1824317"/>
          </a:xfrm>
          <a:prstGeom prst="line">
            <a:avLst/>
          </a:prstGeom>
          <a:ln w="19050">
            <a:solidFill>
              <a:schemeClr val="tx1"/>
            </a:solidFill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2" name="Straight Connector 21">
            <a:extLst>
              <a:ext uri="{FF2B5EF4-FFF2-40B4-BE49-F238E27FC236}">
                <a16:creationId xmlns:a16="http://schemas.microsoft.com/office/drawing/2014/main" id="{91E95E30-F37C-471B-9EFA-99B1920FEBC3}"/>
              </a:ext>
            </a:extLst>
          </p:cNvPr>
          <p:cNvCxnSpPr>
            <a:cxnSpLocks/>
          </p:cNvCxnSpPr>
          <p:nvPr/>
        </p:nvCxnSpPr>
        <p:spPr>
          <a:xfrm>
            <a:off x="6554874" y="4624755"/>
            <a:ext cx="1874018" cy="0"/>
          </a:xfrm>
          <a:prstGeom prst="line">
            <a:avLst/>
          </a:prstGeom>
          <a:ln w="19050">
            <a:solidFill>
              <a:schemeClr val="tx1"/>
            </a:solidFill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3" name="TextBox 22">
            <a:extLst>
              <a:ext uri="{FF2B5EF4-FFF2-40B4-BE49-F238E27FC236}">
                <a16:creationId xmlns:a16="http://schemas.microsoft.com/office/drawing/2014/main" id="{05A4BABA-802C-409E-8063-F2A73DE3CE3C}"/>
              </a:ext>
            </a:extLst>
          </p:cNvPr>
          <p:cNvSpPr txBox="1"/>
          <p:nvPr/>
        </p:nvSpPr>
        <p:spPr>
          <a:xfrm>
            <a:off x="8097297" y="4183260"/>
            <a:ext cx="964642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400" dirty="0" err="1"/>
              <a:t>i</a:t>
            </a:r>
            <a:r>
              <a:rPr lang="en-US" sz="2400" dirty="0"/>
              <a:t> + 1, j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C9D40386-3B6E-45F2-8F08-A73CB39F6F88}"/>
              </a:ext>
            </a:extLst>
          </p:cNvPr>
          <p:cNvSpPr txBox="1"/>
          <p:nvPr/>
        </p:nvSpPr>
        <p:spPr>
          <a:xfrm>
            <a:off x="7224765" y="4615896"/>
            <a:ext cx="964642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400" dirty="0" err="1"/>
              <a:t>i</a:t>
            </a:r>
            <a:r>
              <a:rPr lang="en-US" sz="2400" dirty="0"/>
              <a:t>, j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CFC28156-332A-4EA2-9A86-E507C3EECA65}"/>
              </a:ext>
            </a:extLst>
          </p:cNvPr>
          <p:cNvSpPr txBox="1"/>
          <p:nvPr/>
        </p:nvSpPr>
        <p:spPr>
          <a:xfrm>
            <a:off x="6341643" y="4134062"/>
            <a:ext cx="964642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400" dirty="0" err="1"/>
              <a:t>i</a:t>
            </a:r>
            <a:r>
              <a:rPr lang="en-US" sz="2400" dirty="0"/>
              <a:t> - 1, j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FDD03B63-A325-4760-8540-6F0688558317}"/>
              </a:ext>
            </a:extLst>
          </p:cNvPr>
          <p:cNvSpPr txBox="1"/>
          <p:nvPr/>
        </p:nvSpPr>
        <p:spPr>
          <a:xfrm>
            <a:off x="7464250" y="5175254"/>
            <a:ext cx="964642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400" dirty="0" err="1"/>
              <a:t>i</a:t>
            </a:r>
            <a:r>
              <a:rPr lang="en-US" sz="2400" dirty="0"/>
              <a:t>, j - 1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60DC84F6-9CE5-4A9A-B7FD-7460F6DC816E}"/>
              </a:ext>
            </a:extLst>
          </p:cNvPr>
          <p:cNvSpPr txBox="1"/>
          <p:nvPr/>
        </p:nvSpPr>
        <p:spPr>
          <a:xfrm>
            <a:off x="7464250" y="3546641"/>
            <a:ext cx="964642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400" dirty="0" err="1"/>
              <a:t>i</a:t>
            </a:r>
            <a:r>
              <a:rPr lang="en-US" sz="2400" dirty="0"/>
              <a:t>, j +1</a:t>
            </a:r>
          </a:p>
        </p:txBody>
      </p:sp>
      <p:cxnSp>
        <p:nvCxnSpPr>
          <p:cNvPr id="28" name="Straight Connector 27">
            <a:extLst>
              <a:ext uri="{FF2B5EF4-FFF2-40B4-BE49-F238E27FC236}">
                <a16:creationId xmlns:a16="http://schemas.microsoft.com/office/drawing/2014/main" id="{19AA99F9-7FBB-4EEB-BA04-93F4D01AF466}"/>
              </a:ext>
            </a:extLst>
          </p:cNvPr>
          <p:cNvCxnSpPr/>
          <p:nvPr/>
        </p:nvCxnSpPr>
        <p:spPr>
          <a:xfrm>
            <a:off x="10395611" y="3732767"/>
            <a:ext cx="0" cy="1824317"/>
          </a:xfrm>
          <a:prstGeom prst="line">
            <a:avLst/>
          </a:prstGeom>
          <a:ln w="19050">
            <a:solidFill>
              <a:schemeClr val="tx1"/>
            </a:solidFill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9" name="Straight Connector 28">
            <a:extLst>
              <a:ext uri="{FF2B5EF4-FFF2-40B4-BE49-F238E27FC236}">
                <a16:creationId xmlns:a16="http://schemas.microsoft.com/office/drawing/2014/main" id="{A4E31838-2E46-4F39-B1BE-B428ADBFC487}"/>
              </a:ext>
            </a:extLst>
          </p:cNvPr>
          <p:cNvCxnSpPr>
            <a:cxnSpLocks/>
          </p:cNvCxnSpPr>
          <p:nvPr/>
        </p:nvCxnSpPr>
        <p:spPr>
          <a:xfrm>
            <a:off x="9470571" y="4624755"/>
            <a:ext cx="1874018" cy="0"/>
          </a:xfrm>
          <a:prstGeom prst="line">
            <a:avLst/>
          </a:prstGeom>
          <a:ln w="19050">
            <a:solidFill>
              <a:schemeClr val="tx1"/>
            </a:solidFill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0" name="TextBox 29">
            <a:extLst>
              <a:ext uri="{FF2B5EF4-FFF2-40B4-BE49-F238E27FC236}">
                <a16:creationId xmlns:a16="http://schemas.microsoft.com/office/drawing/2014/main" id="{CCE29C70-B605-4246-8F67-16145077C5E4}"/>
              </a:ext>
            </a:extLst>
          </p:cNvPr>
          <p:cNvSpPr txBox="1"/>
          <p:nvPr/>
        </p:nvSpPr>
        <p:spPr>
          <a:xfrm>
            <a:off x="11012994" y="4183260"/>
            <a:ext cx="964642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400" dirty="0" err="1"/>
              <a:t>i</a:t>
            </a:r>
            <a:r>
              <a:rPr lang="en-US" sz="2400" dirty="0"/>
              <a:t> + 1, j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8151799B-B416-4EDD-88BE-9E316014CD3F}"/>
              </a:ext>
            </a:extLst>
          </p:cNvPr>
          <p:cNvSpPr txBox="1"/>
          <p:nvPr/>
        </p:nvSpPr>
        <p:spPr>
          <a:xfrm>
            <a:off x="10140462" y="4615896"/>
            <a:ext cx="964642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400" dirty="0" err="1"/>
              <a:t>i</a:t>
            </a:r>
            <a:r>
              <a:rPr lang="en-US" sz="2400" dirty="0"/>
              <a:t>, j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9B7875C1-7654-4356-BD7D-FBF76AA032DA}"/>
              </a:ext>
            </a:extLst>
          </p:cNvPr>
          <p:cNvSpPr txBox="1"/>
          <p:nvPr/>
        </p:nvSpPr>
        <p:spPr>
          <a:xfrm>
            <a:off x="9257340" y="4134062"/>
            <a:ext cx="964642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400" dirty="0" err="1"/>
              <a:t>i</a:t>
            </a:r>
            <a:r>
              <a:rPr lang="en-US" sz="2400" dirty="0"/>
              <a:t> - 1, j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48CDE5C4-B50A-490B-AF90-321D8F8F4382}"/>
              </a:ext>
            </a:extLst>
          </p:cNvPr>
          <p:cNvSpPr txBox="1"/>
          <p:nvPr/>
        </p:nvSpPr>
        <p:spPr>
          <a:xfrm>
            <a:off x="10379947" y="5175254"/>
            <a:ext cx="964642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400" dirty="0" err="1"/>
              <a:t>i</a:t>
            </a:r>
            <a:r>
              <a:rPr lang="en-US" sz="2400" dirty="0"/>
              <a:t>, j - 1</a:t>
            </a: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B4FDE204-8B03-48C6-A014-5D2B9BC5C694}"/>
              </a:ext>
            </a:extLst>
          </p:cNvPr>
          <p:cNvSpPr txBox="1"/>
          <p:nvPr/>
        </p:nvSpPr>
        <p:spPr>
          <a:xfrm>
            <a:off x="10379947" y="3546641"/>
            <a:ext cx="964642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400" dirty="0" err="1"/>
              <a:t>i</a:t>
            </a:r>
            <a:r>
              <a:rPr lang="en-US" sz="2400" dirty="0"/>
              <a:t>, j +1</a:t>
            </a:r>
          </a:p>
        </p:txBody>
      </p:sp>
      <p:cxnSp>
        <p:nvCxnSpPr>
          <p:cNvPr id="36" name="Straight Connector 35">
            <a:extLst>
              <a:ext uri="{FF2B5EF4-FFF2-40B4-BE49-F238E27FC236}">
                <a16:creationId xmlns:a16="http://schemas.microsoft.com/office/drawing/2014/main" id="{3316CC96-B231-40E0-9C30-84C3CD50DCB4}"/>
              </a:ext>
            </a:extLst>
          </p:cNvPr>
          <p:cNvCxnSpPr>
            <a:cxnSpLocks/>
          </p:cNvCxnSpPr>
          <p:nvPr/>
        </p:nvCxnSpPr>
        <p:spPr>
          <a:xfrm>
            <a:off x="1632856" y="4624754"/>
            <a:ext cx="964642" cy="1"/>
          </a:xfrm>
          <a:prstGeom prst="line">
            <a:avLst/>
          </a:prstGeom>
          <a:ln w="38100">
            <a:solidFill>
              <a:schemeClr val="accent2">
                <a:lumMod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8" name="Straight Connector 37">
            <a:extLst>
              <a:ext uri="{FF2B5EF4-FFF2-40B4-BE49-F238E27FC236}">
                <a16:creationId xmlns:a16="http://schemas.microsoft.com/office/drawing/2014/main" id="{5BED041F-22D5-49AC-A340-487E07D7CC96}"/>
              </a:ext>
            </a:extLst>
          </p:cNvPr>
          <p:cNvCxnSpPr>
            <a:cxnSpLocks/>
          </p:cNvCxnSpPr>
          <p:nvPr/>
        </p:nvCxnSpPr>
        <p:spPr>
          <a:xfrm flipH="1">
            <a:off x="4565340" y="3777473"/>
            <a:ext cx="10846" cy="828338"/>
          </a:xfrm>
          <a:prstGeom prst="line">
            <a:avLst/>
          </a:prstGeom>
          <a:ln w="38100">
            <a:solidFill>
              <a:schemeClr val="accent2">
                <a:lumMod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41" name="TextBox 40">
                <a:extLst>
                  <a:ext uri="{FF2B5EF4-FFF2-40B4-BE49-F238E27FC236}">
                    <a16:creationId xmlns:a16="http://schemas.microsoft.com/office/drawing/2014/main" id="{8AEB9411-6C0F-4371-8FCE-CCE49AAC4F6C}"/>
                  </a:ext>
                </a:extLst>
              </p:cNvPr>
              <p:cNvSpPr txBox="1"/>
              <p:nvPr/>
            </p:nvSpPr>
            <p:spPr>
              <a:xfrm>
                <a:off x="909375" y="5663650"/>
                <a:ext cx="1874017" cy="491417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4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𝑢</m:t>
                          </m:r>
                        </m:e>
                        <m:sub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𝑖</m:t>
                          </m:r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𝑗</m:t>
                          </m:r>
                        </m:sub>
                      </m:sSub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−</m:t>
                      </m:r>
                      <m:sSub>
                        <m:sSubPr>
                          <m:ctrlPr>
                            <a:rPr lang="en-US" sz="24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𝑢</m:t>
                          </m:r>
                        </m:e>
                        <m:sub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𝑖</m:t>
                          </m:r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+1,</m:t>
                          </m:r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𝑗</m:t>
                          </m:r>
                        </m:sub>
                      </m:sSub>
                    </m:oMath>
                  </m:oMathPara>
                </a14:m>
                <a:endParaRPr lang="en-US" sz="2400" dirty="0"/>
              </a:p>
            </p:txBody>
          </p:sp>
        </mc:Choice>
        <mc:Fallback xmlns="">
          <p:sp>
            <p:nvSpPr>
              <p:cNvPr id="41" name="TextBox 40">
                <a:extLst>
                  <a:ext uri="{FF2B5EF4-FFF2-40B4-BE49-F238E27FC236}">
                    <a16:creationId xmlns:a16="http://schemas.microsoft.com/office/drawing/2014/main" id="{8AEB9411-6C0F-4371-8FCE-CCE49AAC4F6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09375" y="5663650"/>
                <a:ext cx="1874017" cy="491417"/>
              </a:xfrm>
              <a:prstGeom prst="rect">
                <a:avLst/>
              </a:prstGeom>
              <a:blipFill>
                <a:blip r:embed="rId3"/>
                <a:stretch>
                  <a:fillRect b="-987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2" name="TextBox 41">
                <a:extLst>
                  <a:ext uri="{FF2B5EF4-FFF2-40B4-BE49-F238E27FC236}">
                    <a16:creationId xmlns:a16="http://schemas.microsoft.com/office/drawing/2014/main" id="{90392669-72A2-4092-89E2-88B185D3767B}"/>
                  </a:ext>
                </a:extLst>
              </p:cNvPr>
              <p:cNvSpPr txBox="1"/>
              <p:nvPr/>
            </p:nvSpPr>
            <p:spPr>
              <a:xfrm>
                <a:off x="3797438" y="5639656"/>
                <a:ext cx="1874017" cy="491417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4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𝑢</m:t>
                          </m:r>
                        </m:e>
                        <m:sub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𝑖</m:t>
                          </m:r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𝑗</m:t>
                          </m:r>
                        </m:sub>
                      </m:sSub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−</m:t>
                      </m:r>
                      <m:sSub>
                        <m:sSubPr>
                          <m:ctrlPr>
                            <a:rPr lang="en-US" sz="24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𝑢</m:t>
                          </m:r>
                        </m:e>
                        <m:sub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𝑖</m:t>
                          </m:r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𝑗</m:t>
                          </m:r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+1</m:t>
                          </m:r>
                        </m:sub>
                      </m:sSub>
                    </m:oMath>
                  </m:oMathPara>
                </a14:m>
                <a:endParaRPr lang="en-US" sz="2400" dirty="0"/>
              </a:p>
            </p:txBody>
          </p:sp>
        </mc:Choice>
        <mc:Fallback xmlns="">
          <p:sp>
            <p:nvSpPr>
              <p:cNvPr id="42" name="TextBox 41">
                <a:extLst>
                  <a:ext uri="{FF2B5EF4-FFF2-40B4-BE49-F238E27FC236}">
                    <a16:creationId xmlns:a16="http://schemas.microsoft.com/office/drawing/2014/main" id="{90392669-72A2-4092-89E2-88B185D3767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797438" y="5639656"/>
                <a:ext cx="1874017" cy="491417"/>
              </a:xfrm>
              <a:prstGeom prst="rect">
                <a:avLst/>
              </a:prstGeom>
              <a:blipFill>
                <a:blip r:embed="rId4"/>
                <a:stretch>
                  <a:fillRect b="-987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3" name="TextBox 42">
                <a:extLst>
                  <a:ext uri="{FF2B5EF4-FFF2-40B4-BE49-F238E27FC236}">
                    <a16:creationId xmlns:a16="http://schemas.microsoft.com/office/drawing/2014/main" id="{0AF1B1FB-2642-458F-AE2F-752D556A0051}"/>
                  </a:ext>
                </a:extLst>
              </p:cNvPr>
              <p:cNvSpPr txBox="1"/>
              <p:nvPr/>
            </p:nvSpPr>
            <p:spPr>
              <a:xfrm>
                <a:off x="6713135" y="5639655"/>
                <a:ext cx="1874017" cy="491417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4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𝑣</m:t>
                          </m:r>
                        </m:e>
                        <m:sub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𝑖</m:t>
                          </m:r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𝑗</m:t>
                          </m:r>
                        </m:sub>
                      </m:sSub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−</m:t>
                      </m:r>
                      <m:sSub>
                        <m:sSubPr>
                          <m:ctrlPr>
                            <a:rPr lang="en-US" sz="24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𝑣</m:t>
                          </m:r>
                        </m:e>
                        <m:sub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𝑖</m:t>
                          </m:r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+1,</m:t>
                          </m:r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𝑗</m:t>
                          </m:r>
                        </m:sub>
                      </m:sSub>
                    </m:oMath>
                  </m:oMathPara>
                </a14:m>
                <a:endParaRPr lang="en-US" sz="2400" dirty="0"/>
              </a:p>
            </p:txBody>
          </p:sp>
        </mc:Choice>
        <mc:Fallback xmlns="">
          <p:sp>
            <p:nvSpPr>
              <p:cNvPr id="43" name="TextBox 42">
                <a:extLst>
                  <a:ext uri="{FF2B5EF4-FFF2-40B4-BE49-F238E27FC236}">
                    <a16:creationId xmlns:a16="http://schemas.microsoft.com/office/drawing/2014/main" id="{0AF1B1FB-2642-458F-AE2F-752D556A005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713135" y="5639655"/>
                <a:ext cx="1874017" cy="491417"/>
              </a:xfrm>
              <a:prstGeom prst="rect">
                <a:avLst/>
              </a:prstGeom>
              <a:blipFill>
                <a:blip r:embed="rId5"/>
                <a:stretch>
                  <a:fillRect b="-987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4" name="TextBox 43">
                <a:extLst>
                  <a:ext uri="{FF2B5EF4-FFF2-40B4-BE49-F238E27FC236}">
                    <a16:creationId xmlns:a16="http://schemas.microsoft.com/office/drawing/2014/main" id="{D9FE04A6-84DA-42E7-AE99-B92B0B6E9D8D}"/>
                  </a:ext>
                </a:extLst>
              </p:cNvPr>
              <p:cNvSpPr txBox="1"/>
              <p:nvPr/>
            </p:nvSpPr>
            <p:spPr>
              <a:xfrm>
                <a:off x="9656465" y="5638400"/>
                <a:ext cx="1874017" cy="491417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4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𝑣</m:t>
                          </m:r>
                        </m:e>
                        <m:sub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𝑖</m:t>
                          </m:r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𝑗</m:t>
                          </m:r>
                        </m:sub>
                      </m:sSub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−</m:t>
                      </m:r>
                      <m:sSub>
                        <m:sSubPr>
                          <m:ctrlPr>
                            <a:rPr lang="en-US" sz="24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𝑣</m:t>
                          </m:r>
                        </m:e>
                        <m:sub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𝑖</m:t>
                          </m:r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𝑗</m:t>
                          </m:r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+1</m:t>
                          </m:r>
                        </m:sub>
                      </m:sSub>
                    </m:oMath>
                  </m:oMathPara>
                </a14:m>
                <a:endParaRPr lang="en-US" sz="2400" dirty="0"/>
              </a:p>
            </p:txBody>
          </p:sp>
        </mc:Choice>
        <mc:Fallback xmlns="">
          <p:sp>
            <p:nvSpPr>
              <p:cNvPr id="44" name="TextBox 43">
                <a:extLst>
                  <a:ext uri="{FF2B5EF4-FFF2-40B4-BE49-F238E27FC236}">
                    <a16:creationId xmlns:a16="http://schemas.microsoft.com/office/drawing/2014/main" id="{D9FE04A6-84DA-42E7-AE99-B92B0B6E9D8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656465" y="5638400"/>
                <a:ext cx="1874017" cy="491417"/>
              </a:xfrm>
              <a:prstGeom prst="rect">
                <a:avLst/>
              </a:prstGeom>
              <a:blipFill>
                <a:blip r:embed="rId6"/>
                <a:stretch>
                  <a:fillRect b="-987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39" name="Straight Connector 38">
            <a:extLst>
              <a:ext uri="{FF2B5EF4-FFF2-40B4-BE49-F238E27FC236}">
                <a16:creationId xmlns:a16="http://schemas.microsoft.com/office/drawing/2014/main" id="{372A7415-499A-49E2-9F90-A31002B34547}"/>
              </a:ext>
            </a:extLst>
          </p:cNvPr>
          <p:cNvCxnSpPr>
            <a:cxnSpLocks/>
          </p:cNvCxnSpPr>
          <p:nvPr/>
        </p:nvCxnSpPr>
        <p:spPr>
          <a:xfrm>
            <a:off x="7464249" y="4620324"/>
            <a:ext cx="964642" cy="1"/>
          </a:xfrm>
          <a:prstGeom prst="line">
            <a:avLst/>
          </a:prstGeom>
          <a:ln w="38100">
            <a:solidFill>
              <a:schemeClr val="accent2">
                <a:lumMod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5" name="Straight Connector 44">
            <a:extLst>
              <a:ext uri="{FF2B5EF4-FFF2-40B4-BE49-F238E27FC236}">
                <a16:creationId xmlns:a16="http://schemas.microsoft.com/office/drawing/2014/main" id="{28F9ACD4-DC7B-4352-9E6C-67FDA6302FFD}"/>
              </a:ext>
            </a:extLst>
          </p:cNvPr>
          <p:cNvCxnSpPr>
            <a:cxnSpLocks/>
          </p:cNvCxnSpPr>
          <p:nvPr/>
        </p:nvCxnSpPr>
        <p:spPr>
          <a:xfrm flipH="1">
            <a:off x="10390188" y="3776248"/>
            <a:ext cx="10846" cy="828338"/>
          </a:xfrm>
          <a:prstGeom prst="line">
            <a:avLst/>
          </a:prstGeom>
          <a:ln w="38100">
            <a:solidFill>
              <a:schemeClr val="accent2">
                <a:lumMod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46" name="TextBox 45">
                <a:extLst>
                  <a:ext uri="{FF2B5EF4-FFF2-40B4-BE49-F238E27FC236}">
                    <a16:creationId xmlns:a16="http://schemas.microsoft.com/office/drawing/2014/main" id="{C78E654D-7BDD-4F49-84A7-AD8E44519212}"/>
                  </a:ext>
                </a:extLst>
              </p:cNvPr>
              <p:cNvSpPr txBox="1"/>
              <p:nvPr/>
            </p:nvSpPr>
            <p:spPr>
              <a:xfrm>
                <a:off x="1730040" y="4132106"/>
                <a:ext cx="357450" cy="46166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400" i="1" smtClean="0">
                          <a:latin typeface="Cambria Math" panose="02040503050406030204" pitchFamily="18" charset="0"/>
                        </a:rPr>
                        <m:t>𝑢</m:t>
                      </m:r>
                    </m:oMath>
                  </m:oMathPara>
                </a14:m>
                <a:endParaRPr lang="en-US" sz="2400" dirty="0"/>
              </a:p>
            </p:txBody>
          </p:sp>
        </mc:Choice>
        <mc:Fallback xmlns="">
          <p:sp>
            <p:nvSpPr>
              <p:cNvPr id="46" name="TextBox 45">
                <a:extLst>
                  <a:ext uri="{FF2B5EF4-FFF2-40B4-BE49-F238E27FC236}">
                    <a16:creationId xmlns:a16="http://schemas.microsoft.com/office/drawing/2014/main" id="{C78E654D-7BDD-4F49-84A7-AD8E4451921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730040" y="4132106"/>
                <a:ext cx="357450" cy="461665"/>
              </a:xfrm>
              <a:prstGeom prst="rect">
                <a:avLst/>
              </a:prstGeom>
              <a:blipFill>
                <a:blip r:embed="rId7"/>
                <a:stretch>
                  <a:fillRect l="-689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7" name="TextBox 46">
                <a:extLst>
                  <a:ext uri="{FF2B5EF4-FFF2-40B4-BE49-F238E27FC236}">
                    <a16:creationId xmlns:a16="http://schemas.microsoft.com/office/drawing/2014/main" id="{78F8AB3F-4B7C-41DD-8795-ABECD60F99DF}"/>
                  </a:ext>
                </a:extLst>
              </p:cNvPr>
              <p:cNvSpPr txBox="1"/>
              <p:nvPr/>
            </p:nvSpPr>
            <p:spPr>
              <a:xfrm>
                <a:off x="4655944" y="4128758"/>
                <a:ext cx="357450" cy="46166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400" i="1" smtClean="0">
                          <a:latin typeface="Cambria Math" panose="02040503050406030204" pitchFamily="18" charset="0"/>
                        </a:rPr>
                        <m:t>𝑢</m:t>
                      </m:r>
                    </m:oMath>
                  </m:oMathPara>
                </a14:m>
                <a:endParaRPr lang="en-US" sz="2400" dirty="0"/>
              </a:p>
            </p:txBody>
          </p:sp>
        </mc:Choice>
        <mc:Fallback xmlns="">
          <p:sp>
            <p:nvSpPr>
              <p:cNvPr id="47" name="TextBox 46">
                <a:extLst>
                  <a:ext uri="{FF2B5EF4-FFF2-40B4-BE49-F238E27FC236}">
                    <a16:creationId xmlns:a16="http://schemas.microsoft.com/office/drawing/2014/main" id="{78F8AB3F-4B7C-41DD-8795-ABECD60F99D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655944" y="4128758"/>
                <a:ext cx="357450" cy="461665"/>
              </a:xfrm>
              <a:prstGeom prst="rect">
                <a:avLst/>
              </a:prstGeom>
              <a:blipFill>
                <a:blip r:embed="rId8"/>
                <a:stretch>
                  <a:fillRect l="-689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8" name="TextBox 47">
                <a:extLst>
                  <a:ext uri="{FF2B5EF4-FFF2-40B4-BE49-F238E27FC236}">
                    <a16:creationId xmlns:a16="http://schemas.microsoft.com/office/drawing/2014/main" id="{B50D2DFD-98A8-49BC-976D-E993093FE386}"/>
                  </a:ext>
                </a:extLst>
              </p:cNvPr>
              <p:cNvSpPr txBox="1"/>
              <p:nvPr/>
            </p:nvSpPr>
            <p:spPr>
              <a:xfrm>
                <a:off x="7581848" y="4125410"/>
                <a:ext cx="357450" cy="46166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𝑣</m:t>
                      </m:r>
                    </m:oMath>
                  </m:oMathPara>
                </a14:m>
                <a:endParaRPr lang="en-US" sz="2400" dirty="0"/>
              </a:p>
            </p:txBody>
          </p:sp>
        </mc:Choice>
        <mc:Fallback xmlns="">
          <p:sp>
            <p:nvSpPr>
              <p:cNvPr id="48" name="TextBox 47">
                <a:extLst>
                  <a:ext uri="{FF2B5EF4-FFF2-40B4-BE49-F238E27FC236}">
                    <a16:creationId xmlns:a16="http://schemas.microsoft.com/office/drawing/2014/main" id="{B50D2DFD-98A8-49BC-976D-E993093FE38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581848" y="4125410"/>
                <a:ext cx="357450" cy="461665"/>
              </a:xfrm>
              <a:prstGeom prst="rect">
                <a:avLst/>
              </a:prstGeom>
              <a:blipFill>
                <a:blip r:embed="rId9"/>
                <a:stretch>
                  <a:fillRect l="-689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9" name="TextBox 48">
                <a:extLst>
                  <a:ext uri="{FF2B5EF4-FFF2-40B4-BE49-F238E27FC236}">
                    <a16:creationId xmlns:a16="http://schemas.microsoft.com/office/drawing/2014/main" id="{E02F08CF-9E90-478A-BD8B-EF65984FF1D9}"/>
                  </a:ext>
                </a:extLst>
              </p:cNvPr>
              <p:cNvSpPr txBox="1"/>
              <p:nvPr/>
            </p:nvSpPr>
            <p:spPr>
              <a:xfrm>
                <a:off x="10507752" y="4122062"/>
                <a:ext cx="357450" cy="46166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𝑣</m:t>
                      </m:r>
                    </m:oMath>
                  </m:oMathPara>
                </a14:m>
                <a:endParaRPr lang="en-US" sz="2400" dirty="0"/>
              </a:p>
            </p:txBody>
          </p:sp>
        </mc:Choice>
        <mc:Fallback xmlns="">
          <p:sp>
            <p:nvSpPr>
              <p:cNvPr id="49" name="TextBox 48">
                <a:extLst>
                  <a:ext uri="{FF2B5EF4-FFF2-40B4-BE49-F238E27FC236}">
                    <a16:creationId xmlns:a16="http://schemas.microsoft.com/office/drawing/2014/main" id="{E02F08CF-9E90-478A-BD8B-EF65984FF1D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507752" y="4122062"/>
                <a:ext cx="357450" cy="461665"/>
              </a:xfrm>
              <a:prstGeom prst="rect">
                <a:avLst/>
              </a:prstGeom>
              <a:blipFill>
                <a:blip r:embed="rId10"/>
                <a:stretch>
                  <a:fillRect l="-689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90239041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5" fill="hold">
                      <p:stCondLst>
                        <p:cond delay="indefinite"/>
                      </p:stCondLst>
                      <p:childTnLst>
                        <p:par>
                          <p:cTn id="76" fill="hold">
                            <p:stCondLst>
                              <p:cond delay="0"/>
                            </p:stCondLst>
                            <p:childTnLst>
                              <p:par>
                                <p:cTn id="7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8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8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8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8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8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/>
      <p:bldP spid="10" grpId="0"/>
      <p:bldP spid="11" grpId="0"/>
      <p:bldP spid="12" grpId="0"/>
      <p:bldP spid="13" grpId="0"/>
      <p:bldP spid="16" grpId="0"/>
      <p:bldP spid="17" grpId="0"/>
      <p:bldP spid="18" grpId="0"/>
      <p:bldP spid="19" grpId="0"/>
      <p:bldP spid="20" grpId="0"/>
      <p:bldP spid="23" grpId="0"/>
      <p:bldP spid="24" grpId="0"/>
      <p:bldP spid="25" grpId="0"/>
      <p:bldP spid="26" grpId="0"/>
      <p:bldP spid="27" grpId="0"/>
      <p:bldP spid="30" grpId="0"/>
      <p:bldP spid="31" grpId="0"/>
      <p:bldP spid="32" grpId="0"/>
      <p:bldP spid="33" grpId="0"/>
      <p:bldP spid="34" grpId="0"/>
      <p:bldP spid="41" grpId="0"/>
      <p:bldP spid="42" grpId="0"/>
      <p:bldP spid="43" grpId="0"/>
      <p:bldP spid="44" grpId="0"/>
      <p:bldP spid="46" grpId="0"/>
      <p:bldP spid="47" grpId="0"/>
      <p:bldP spid="48" grpId="0"/>
      <p:bldP spid="49" grpId="0"/>
    </p:bldLst>
  </p:timing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DFB6AB4-96EB-434D-8BFC-6697DE744D7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89301" y="140193"/>
            <a:ext cx="10515600" cy="872004"/>
          </a:xfrm>
        </p:spPr>
        <p:txBody>
          <a:bodyPr>
            <a:normAutofit/>
          </a:bodyPr>
          <a:lstStyle/>
          <a:p>
            <a:r>
              <a:rPr lang="en-US" sz="4000" dirty="0">
                <a:latin typeface="+mn-lt"/>
              </a:rPr>
              <a:t>The Horn-</a:t>
            </a:r>
            <a:r>
              <a:rPr lang="en-US" sz="4000" dirty="0" err="1">
                <a:latin typeface="+mn-lt"/>
              </a:rPr>
              <a:t>Schunck</a:t>
            </a:r>
            <a:r>
              <a:rPr lang="en-US" sz="4000" dirty="0">
                <a:latin typeface="+mn-lt"/>
              </a:rPr>
              <a:t> Algorithm 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4DBC6555-A8E7-4F73-8035-156F702D1410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789301" y="1124338"/>
                <a:ext cx="11102662" cy="5338369"/>
              </a:xfrm>
            </p:spPr>
            <p:txBody>
              <a:bodyPr>
                <a:normAutofit/>
              </a:bodyPr>
              <a:lstStyle/>
              <a:p>
                <a:pPr marL="0" indent="0">
                  <a:buNone/>
                </a:pPr>
                <a:r>
                  <a:rPr lang="en-US" dirty="0"/>
                  <a:t>Formulation of </a:t>
                </a:r>
                <a:r>
                  <a:rPr lang="en-US" b="1" dirty="0"/>
                  <a:t>Horn-</a:t>
                </a:r>
                <a:r>
                  <a:rPr lang="en-US" b="1" dirty="0" err="1"/>
                  <a:t>Schunck</a:t>
                </a:r>
                <a:r>
                  <a:rPr lang="en-US" b="1" dirty="0"/>
                  <a:t> algorithm </a:t>
                </a:r>
                <a:r>
                  <a:rPr lang="en-US" dirty="0"/>
                  <a:t>similar to Lucas-</a:t>
                </a:r>
                <a:r>
                  <a:rPr lang="en-US" dirty="0" err="1"/>
                  <a:t>Kanade</a:t>
                </a:r>
                <a:endParaRPr lang="en-US" dirty="0"/>
              </a:p>
              <a:p>
                <a:r>
                  <a:rPr lang="en-US" dirty="0"/>
                  <a:t>How do we express the smoothness energy?    </a:t>
                </a:r>
              </a:p>
              <a:p>
                <a:endParaRPr lang="en-US" dirty="0"/>
              </a:p>
              <a:p>
                <a:endParaRPr lang="en-US" dirty="0"/>
              </a:p>
              <a:p>
                <a:endParaRPr lang="en-US" dirty="0"/>
              </a:p>
              <a:p>
                <a:endParaRPr lang="en-US" dirty="0"/>
              </a:p>
              <a:p>
                <a:endParaRPr lang="en-US" dirty="0"/>
              </a:p>
              <a:p>
                <a:endParaRPr lang="en-US" dirty="0"/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4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𝐸</m:t>
                          </m:r>
                        </m:e>
                        <m:sub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𝑠</m:t>
                          </m:r>
                        </m:sub>
                      </m:sSub>
                      <m:d>
                        <m:dPr>
                          <m:ctrlPr>
                            <a:rPr lang="en-US" sz="24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𝑖</m:t>
                          </m:r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𝑗</m:t>
                          </m:r>
                        </m:e>
                      </m:d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n-US" sz="2400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4</m:t>
                          </m:r>
                        </m:den>
                      </m:f>
                      <m:d>
                        <m:dPr>
                          <m:begChr m:val="["/>
                          <m:endChr m:val="]"/>
                          <m:ctrlPr>
                            <a:rPr lang="en-US" sz="24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p>
                            <m:sSupPr>
                              <m:ctrlPr>
                                <a:rPr lang="en-US" sz="2400" b="0" i="1" smtClean="0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d>
                                <m:dPr>
                                  <m:ctrlPr>
                                    <a:rPr lang="en-US" sz="2400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sSub>
                                    <m:sSubPr>
                                      <m:ctrlPr>
                                        <a:rPr lang="en-US" sz="2400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sz="2400" i="1">
                                          <a:latin typeface="Cambria Math" panose="02040503050406030204" pitchFamily="18" charset="0"/>
                                        </a:rPr>
                                        <m:t>𝑢</m:t>
                                      </m:r>
                                    </m:e>
                                    <m:sub>
                                      <m:r>
                                        <a:rPr lang="en-US" sz="2400" i="1">
                                          <a:latin typeface="Cambria Math" panose="02040503050406030204" pitchFamily="18" charset="0"/>
                                        </a:rPr>
                                        <m:t>𝑖</m:t>
                                      </m:r>
                                      <m:r>
                                        <a:rPr lang="en-US" sz="2400" i="1">
                                          <a:latin typeface="Cambria Math" panose="02040503050406030204" pitchFamily="18" charset="0"/>
                                        </a:rPr>
                                        <m:t>,</m:t>
                                      </m:r>
                                      <m:r>
                                        <a:rPr lang="en-US" sz="2400" i="1">
                                          <a:latin typeface="Cambria Math" panose="02040503050406030204" pitchFamily="18" charset="0"/>
                                        </a:rPr>
                                        <m:t>𝑗</m:t>
                                      </m:r>
                                    </m:sub>
                                  </m:sSub>
                                  <m:r>
                                    <a:rPr lang="en-US" sz="2400" i="1">
                                      <a:latin typeface="Cambria Math" panose="02040503050406030204" pitchFamily="18" charset="0"/>
                                    </a:rPr>
                                    <m:t>−</m:t>
                                  </m:r>
                                  <m:sSub>
                                    <m:sSubPr>
                                      <m:ctrlPr>
                                        <a:rPr lang="en-US" sz="2400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sz="2400" i="1">
                                          <a:latin typeface="Cambria Math" panose="02040503050406030204" pitchFamily="18" charset="0"/>
                                        </a:rPr>
                                        <m:t>𝑢</m:t>
                                      </m:r>
                                    </m:e>
                                    <m:sub>
                                      <m:r>
                                        <a:rPr lang="en-US" sz="2400" i="1">
                                          <a:latin typeface="Cambria Math" panose="02040503050406030204" pitchFamily="18" charset="0"/>
                                        </a:rPr>
                                        <m:t>𝑖</m:t>
                                      </m:r>
                                      <m:r>
                                        <a:rPr lang="en-US" sz="2400" i="1">
                                          <a:latin typeface="Cambria Math" panose="02040503050406030204" pitchFamily="18" charset="0"/>
                                        </a:rPr>
                                        <m:t>+1,</m:t>
                                      </m:r>
                                      <m:r>
                                        <a:rPr lang="en-US" sz="2400" i="1">
                                          <a:latin typeface="Cambria Math" panose="02040503050406030204" pitchFamily="18" charset="0"/>
                                        </a:rPr>
                                        <m:t>𝑗</m:t>
                                      </m:r>
                                    </m:sub>
                                  </m:sSub>
                                </m:e>
                              </m:d>
                            </m:e>
                            <m:sup>
                              <m:r>
                                <a:rPr lang="en-US" sz="2400" b="0" i="1" smtClean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p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+</m:t>
                          </m:r>
                          <m:sSup>
                            <m:sSupPr>
                              <m:ctrlPr>
                                <a:rPr lang="en-US" sz="2400" i="1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d>
                                <m:dPr>
                                  <m:ctrlPr>
                                    <a:rPr lang="en-US" sz="2400" i="1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sSub>
                                    <m:sSubPr>
                                      <m:ctrlPr>
                                        <a:rPr lang="en-US" sz="2400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sz="2400" i="1">
                                          <a:latin typeface="Cambria Math" panose="02040503050406030204" pitchFamily="18" charset="0"/>
                                        </a:rPr>
                                        <m:t>𝑢</m:t>
                                      </m:r>
                                    </m:e>
                                    <m:sub>
                                      <m:r>
                                        <a:rPr lang="en-US" sz="2400" i="1">
                                          <a:latin typeface="Cambria Math" panose="02040503050406030204" pitchFamily="18" charset="0"/>
                                        </a:rPr>
                                        <m:t>𝑖</m:t>
                                      </m:r>
                                      <m:r>
                                        <a:rPr lang="en-US" sz="2400" i="1">
                                          <a:latin typeface="Cambria Math" panose="02040503050406030204" pitchFamily="18" charset="0"/>
                                        </a:rPr>
                                        <m:t>,</m:t>
                                      </m:r>
                                      <m:r>
                                        <a:rPr lang="en-US" sz="2400" i="1">
                                          <a:latin typeface="Cambria Math" panose="02040503050406030204" pitchFamily="18" charset="0"/>
                                        </a:rPr>
                                        <m:t>𝑗</m:t>
                                      </m:r>
                                    </m:sub>
                                  </m:sSub>
                                  <m:r>
                                    <a:rPr lang="en-US" sz="2400" i="1">
                                      <a:latin typeface="Cambria Math" panose="02040503050406030204" pitchFamily="18" charset="0"/>
                                    </a:rPr>
                                    <m:t>−</m:t>
                                  </m:r>
                                  <m:sSub>
                                    <m:sSubPr>
                                      <m:ctrlPr>
                                        <a:rPr lang="en-US" sz="2400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sz="2400" i="1">
                                          <a:latin typeface="Cambria Math" panose="02040503050406030204" pitchFamily="18" charset="0"/>
                                        </a:rPr>
                                        <m:t>𝑢</m:t>
                                      </m:r>
                                    </m:e>
                                    <m:sub>
                                      <m:r>
                                        <a:rPr lang="en-US" sz="2400" i="1">
                                          <a:latin typeface="Cambria Math" panose="02040503050406030204" pitchFamily="18" charset="0"/>
                                        </a:rPr>
                                        <m:t>𝑖</m:t>
                                      </m:r>
                                      <m:r>
                                        <a:rPr lang="en-US" sz="2400" i="1">
                                          <a:latin typeface="Cambria Math" panose="02040503050406030204" pitchFamily="18" charset="0"/>
                                        </a:rPr>
                                        <m:t>,</m:t>
                                      </m:r>
                                      <m:r>
                                        <a:rPr lang="en-US" sz="2400" i="1">
                                          <a:latin typeface="Cambria Math" panose="02040503050406030204" pitchFamily="18" charset="0"/>
                                        </a:rPr>
                                        <m:t>𝑗</m:t>
                                      </m:r>
                                      <m:r>
                                        <a:rPr lang="en-US" sz="2400" i="1">
                                          <a:latin typeface="Cambria Math" panose="02040503050406030204" pitchFamily="18" charset="0"/>
                                        </a:rPr>
                                        <m:t>+1</m:t>
                                      </m:r>
                                    </m:sub>
                                  </m:sSub>
                                </m:e>
                              </m:d>
                            </m:e>
                            <m:sup>
                              <m:r>
                                <a:rPr lang="en-US" sz="2400" i="1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p>
                          <m:r>
                            <a:rPr lang="en-US" sz="2400" i="1">
                              <a:latin typeface="Cambria Math" panose="02040503050406030204" pitchFamily="18" charset="0"/>
                            </a:rPr>
                            <m:t>+</m:t>
                          </m:r>
                          <m:sSup>
                            <m:sSupPr>
                              <m:ctrlPr>
                                <a:rPr lang="en-US" sz="2400" i="1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d>
                                <m:dPr>
                                  <m:ctrlPr>
                                    <a:rPr lang="en-US" sz="2400" i="1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sSub>
                                    <m:sSubPr>
                                      <m:ctrlPr>
                                        <a:rPr lang="en-US" sz="2400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sz="2400" i="1">
                                          <a:latin typeface="Cambria Math" panose="02040503050406030204" pitchFamily="18" charset="0"/>
                                        </a:rPr>
                                        <m:t>𝑣</m:t>
                                      </m:r>
                                    </m:e>
                                    <m:sub>
                                      <m:r>
                                        <a:rPr lang="en-US" sz="2400" i="1">
                                          <a:latin typeface="Cambria Math" panose="02040503050406030204" pitchFamily="18" charset="0"/>
                                        </a:rPr>
                                        <m:t>𝑖</m:t>
                                      </m:r>
                                      <m:r>
                                        <a:rPr lang="en-US" sz="2400" i="1">
                                          <a:latin typeface="Cambria Math" panose="02040503050406030204" pitchFamily="18" charset="0"/>
                                        </a:rPr>
                                        <m:t>,</m:t>
                                      </m:r>
                                      <m:r>
                                        <a:rPr lang="en-US" sz="2400" i="1">
                                          <a:latin typeface="Cambria Math" panose="02040503050406030204" pitchFamily="18" charset="0"/>
                                        </a:rPr>
                                        <m:t>𝑗</m:t>
                                      </m:r>
                                    </m:sub>
                                  </m:sSub>
                                  <m:r>
                                    <a:rPr lang="en-US" sz="2400" i="1">
                                      <a:latin typeface="Cambria Math" panose="02040503050406030204" pitchFamily="18" charset="0"/>
                                    </a:rPr>
                                    <m:t>−</m:t>
                                  </m:r>
                                  <m:sSub>
                                    <m:sSubPr>
                                      <m:ctrlPr>
                                        <a:rPr lang="en-US" sz="2400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sz="2400" i="1">
                                          <a:latin typeface="Cambria Math" panose="02040503050406030204" pitchFamily="18" charset="0"/>
                                        </a:rPr>
                                        <m:t>𝑣</m:t>
                                      </m:r>
                                    </m:e>
                                    <m:sub>
                                      <m:r>
                                        <a:rPr lang="en-US" sz="2400" i="1">
                                          <a:latin typeface="Cambria Math" panose="02040503050406030204" pitchFamily="18" charset="0"/>
                                        </a:rPr>
                                        <m:t>𝑖</m:t>
                                      </m:r>
                                      <m:r>
                                        <a:rPr lang="en-US" sz="2400" i="1">
                                          <a:latin typeface="Cambria Math" panose="02040503050406030204" pitchFamily="18" charset="0"/>
                                        </a:rPr>
                                        <m:t>+1,</m:t>
                                      </m:r>
                                      <m:r>
                                        <a:rPr lang="en-US" sz="2400" i="1">
                                          <a:latin typeface="Cambria Math" panose="02040503050406030204" pitchFamily="18" charset="0"/>
                                        </a:rPr>
                                        <m:t>𝑗</m:t>
                                      </m:r>
                                    </m:sub>
                                  </m:sSub>
                                </m:e>
                              </m:d>
                            </m:e>
                            <m:sup>
                              <m:r>
                                <a:rPr lang="en-US" sz="2400" i="1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p>
                          <m:r>
                            <a:rPr lang="en-US" sz="2400" i="1">
                              <a:latin typeface="Cambria Math" panose="02040503050406030204" pitchFamily="18" charset="0"/>
                            </a:rPr>
                            <m:t>+</m:t>
                          </m:r>
                          <m:sSup>
                            <m:sSupPr>
                              <m:ctrlPr>
                                <a:rPr lang="en-US" sz="2400" i="1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d>
                                <m:dPr>
                                  <m:ctrlPr>
                                    <a:rPr lang="en-US" sz="2400" i="1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sSub>
                                    <m:sSubPr>
                                      <m:ctrlPr>
                                        <a:rPr lang="en-US" sz="2400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sz="2400" i="1">
                                          <a:latin typeface="Cambria Math" panose="02040503050406030204" pitchFamily="18" charset="0"/>
                                        </a:rPr>
                                        <m:t>𝑣</m:t>
                                      </m:r>
                                    </m:e>
                                    <m:sub>
                                      <m:r>
                                        <a:rPr lang="en-US" sz="2400" i="1">
                                          <a:latin typeface="Cambria Math" panose="02040503050406030204" pitchFamily="18" charset="0"/>
                                        </a:rPr>
                                        <m:t>𝑖</m:t>
                                      </m:r>
                                      <m:r>
                                        <a:rPr lang="en-US" sz="2400" i="1">
                                          <a:latin typeface="Cambria Math" panose="02040503050406030204" pitchFamily="18" charset="0"/>
                                        </a:rPr>
                                        <m:t>,</m:t>
                                      </m:r>
                                      <m:r>
                                        <a:rPr lang="en-US" sz="2400" i="1">
                                          <a:latin typeface="Cambria Math" panose="02040503050406030204" pitchFamily="18" charset="0"/>
                                        </a:rPr>
                                        <m:t>𝑗</m:t>
                                      </m:r>
                                    </m:sub>
                                  </m:sSub>
                                  <m:r>
                                    <a:rPr lang="en-US" sz="2400" i="1">
                                      <a:latin typeface="Cambria Math" panose="02040503050406030204" pitchFamily="18" charset="0"/>
                                    </a:rPr>
                                    <m:t>−</m:t>
                                  </m:r>
                                  <m:sSub>
                                    <m:sSubPr>
                                      <m:ctrlPr>
                                        <a:rPr lang="en-US" sz="2400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sz="2400" i="1">
                                          <a:latin typeface="Cambria Math" panose="02040503050406030204" pitchFamily="18" charset="0"/>
                                        </a:rPr>
                                        <m:t>𝑣</m:t>
                                      </m:r>
                                    </m:e>
                                    <m:sub>
                                      <m:r>
                                        <a:rPr lang="en-US" sz="2400" i="1">
                                          <a:latin typeface="Cambria Math" panose="02040503050406030204" pitchFamily="18" charset="0"/>
                                        </a:rPr>
                                        <m:t>𝑖</m:t>
                                      </m:r>
                                      <m:r>
                                        <a:rPr lang="en-US" sz="2400" i="1">
                                          <a:latin typeface="Cambria Math" panose="02040503050406030204" pitchFamily="18" charset="0"/>
                                        </a:rPr>
                                        <m:t>,</m:t>
                                      </m:r>
                                      <m:r>
                                        <a:rPr lang="en-US" sz="2400" i="1">
                                          <a:latin typeface="Cambria Math" panose="02040503050406030204" pitchFamily="18" charset="0"/>
                                        </a:rPr>
                                        <m:t>𝑗</m:t>
                                      </m:r>
                                      <m:r>
                                        <a:rPr lang="en-US" sz="2400" i="1">
                                          <a:latin typeface="Cambria Math" panose="02040503050406030204" pitchFamily="18" charset="0"/>
                                        </a:rPr>
                                        <m:t>+1</m:t>
                                      </m:r>
                                    </m:sub>
                                  </m:sSub>
                                </m:e>
                              </m:d>
                            </m:e>
                            <m:sup>
                              <m:r>
                                <a:rPr lang="en-US" sz="2400" i="1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p>
                        </m:e>
                      </m:d>
                    </m:oMath>
                  </m:oMathPara>
                </a14:m>
                <a:endParaRPr lang="en-US" sz="2400" dirty="0"/>
              </a:p>
              <a:p>
                <a:pPr marL="0" indent="0">
                  <a:buNone/>
                </a:pPr>
                <a:endParaRPr lang="en-US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4DBC6555-A8E7-4F73-8035-156F702D1410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789301" y="1124338"/>
                <a:ext cx="11102662" cy="5338369"/>
              </a:xfrm>
              <a:blipFill>
                <a:blip r:embed="rId3"/>
                <a:stretch>
                  <a:fillRect l="-1098" t="-182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39" name="Straight Connector 38">
            <a:extLst>
              <a:ext uri="{FF2B5EF4-FFF2-40B4-BE49-F238E27FC236}">
                <a16:creationId xmlns:a16="http://schemas.microsoft.com/office/drawing/2014/main" id="{A17FC754-4213-4446-9958-D23ABFBF49BD}"/>
              </a:ext>
            </a:extLst>
          </p:cNvPr>
          <p:cNvCxnSpPr/>
          <p:nvPr/>
        </p:nvCxnSpPr>
        <p:spPr>
          <a:xfrm>
            <a:off x="1598278" y="2470705"/>
            <a:ext cx="0" cy="1824317"/>
          </a:xfrm>
          <a:prstGeom prst="line">
            <a:avLst/>
          </a:prstGeom>
          <a:ln w="19050">
            <a:solidFill>
              <a:schemeClr val="tx1"/>
            </a:solidFill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0" name="Straight Connector 39">
            <a:extLst>
              <a:ext uri="{FF2B5EF4-FFF2-40B4-BE49-F238E27FC236}">
                <a16:creationId xmlns:a16="http://schemas.microsoft.com/office/drawing/2014/main" id="{1A77E29F-CFBF-4ED4-8772-2F1CAB0ABB7B}"/>
              </a:ext>
            </a:extLst>
          </p:cNvPr>
          <p:cNvCxnSpPr>
            <a:cxnSpLocks/>
          </p:cNvCxnSpPr>
          <p:nvPr/>
        </p:nvCxnSpPr>
        <p:spPr>
          <a:xfrm>
            <a:off x="673238" y="3362693"/>
            <a:ext cx="1874018" cy="0"/>
          </a:xfrm>
          <a:prstGeom prst="line">
            <a:avLst/>
          </a:prstGeom>
          <a:ln w="19050">
            <a:solidFill>
              <a:schemeClr val="tx1"/>
            </a:solidFill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5" name="TextBox 44">
            <a:extLst>
              <a:ext uri="{FF2B5EF4-FFF2-40B4-BE49-F238E27FC236}">
                <a16:creationId xmlns:a16="http://schemas.microsoft.com/office/drawing/2014/main" id="{934B0DCC-7C7A-49A6-922B-6650A8FF9D69}"/>
              </a:ext>
            </a:extLst>
          </p:cNvPr>
          <p:cNvSpPr txBox="1"/>
          <p:nvPr/>
        </p:nvSpPr>
        <p:spPr>
          <a:xfrm>
            <a:off x="2215661" y="2921198"/>
            <a:ext cx="964642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400" dirty="0" err="1"/>
              <a:t>i</a:t>
            </a:r>
            <a:r>
              <a:rPr lang="en-US" sz="2400" dirty="0"/>
              <a:t> + 1, j</a:t>
            </a:r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5277E810-2B94-47AA-AEE7-C87D458130AA}"/>
              </a:ext>
            </a:extLst>
          </p:cNvPr>
          <p:cNvSpPr txBox="1"/>
          <p:nvPr/>
        </p:nvSpPr>
        <p:spPr>
          <a:xfrm>
            <a:off x="1343129" y="3353834"/>
            <a:ext cx="964642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400" dirty="0" err="1"/>
              <a:t>i</a:t>
            </a:r>
            <a:r>
              <a:rPr lang="en-US" sz="2400" dirty="0"/>
              <a:t>, j</a:t>
            </a:r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C47FA04B-A3D5-4E6A-9553-5709CC5862C5}"/>
              </a:ext>
            </a:extLst>
          </p:cNvPr>
          <p:cNvSpPr txBox="1"/>
          <p:nvPr/>
        </p:nvSpPr>
        <p:spPr>
          <a:xfrm>
            <a:off x="460007" y="2872000"/>
            <a:ext cx="964642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400" dirty="0" err="1"/>
              <a:t>i</a:t>
            </a:r>
            <a:r>
              <a:rPr lang="en-US" sz="2400" dirty="0"/>
              <a:t> - 1, j</a:t>
            </a:r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7EAE8B99-0401-4DDA-ADCD-5ABA714BBCA1}"/>
              </a:ext>
            </a:extLst>
          </p:cNvPr>
          <p:cNvSpPr txBox="1"/>
          <p:nvPr/>
        </p:nvSpPr>
        <p:spPr>
          <a:xfrm>
            <a:off x="1582614" y="3913192"/>
            <a:ext cx="964642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400" dirty="0" err="1"/>
              <a:t>i</a:t>
            </a:r>
            <a:r>
              <a:rPr lang="en-US" sz="2400" dirty="0"/>
              <a:t>, j - 1</a:t>
            </a:r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AD0FCF36-7FD3-4C7A-828C-19D648668F38}"/>
              </a:ext>
            </a:extLst>
          </p:cNvPr>
          <p:cNvSpPr txBox="1"/>
          <p:nvPr/>
        </p:nvSpPr>
        <p:spPr>
          <a:xfrm>
            <a:off x="1582614" y="2284579"/>
            <a:ext cx="964642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400" dirty="0" err="1"/>
              <a:t>i</a:t>
            </a:r>
            <a:r>
              <a:rPr lang="en-US" sz="2400" dirty="0"/>
              <a:t>, j +1</a:t>
            </a:r>
          </a:p>
        </p:txBody>
      </p:sp>
      <p:cxnSp>
        <p:nvCxnSpPr>
          <p:cNvPr id="50" name="Straight Connector 49">
            <a:extLst>
              <a:ext uri="{FF2B5EF4-FFF2-40B4-BE49-F238E27FC236}">
                <a16:creationId xmlns:a16="http://schemas.microsoft.com/office/drawing/2014/main" id="{AE01D891-AD73-4D1D-8625-664025FD1CD4}"/>
              </a:ext>
            </a:extLst>
          </p:cNvPr>
          <p:cNvCxnSpPr/>
          <p:nvPr/>
        </p:nvCxnSpPr>
        <p:spPr>
          <a:xfrm>
            <a:off x="4513975" y="2470705"/>
            <a:ext cx="0" cy="1824317"/>
          </a:xfrm>
          <a:prstGeom prst="line">
            <a:avLst/>
          </a:prstGeom>
          <a:ln w="19050">
            <a:solidFill>
              <a:schemeClr val="tx1"/>
            </a:solidFill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1" name="Straight Connector 50">
            <a:extLst>
              <a:ext uri="{FF2B5EF4-FFF2-40B4-BE49-F238E27FC236}">
                <a16:creationId xmlns:a16="http://schemas.microsoft.com/office/drawing/2014/main" id="{0E570D93-A0D3-4995-888F-0C1F4B088C71}"/>
              </a:ext>
            </a:extLst>
          </p:cNvPr>
          <p:cNvCxnSpPr>
            <a:cxnSpLocks/>
          </p:cNvCxnSpPr>
          <p:nvPr/>
        </p:nvCxnSpPr>
        <p:spPr>
          <a:xfrm>
            <a:off x="3588935" y="3362693"/>
            <a:ext cx="1874018" cy="0"/>
          </a:xfrm>
          <a:prstGeom prst="line">
            <a:avLst/>
          </a:prstGeom>
          <a:ln w="19050">
            <a:solidFill>
              <a:schemeClr val="tx1"/>
            </a:solidFill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2" name="TextBox 51">
            <a:extLst>
              <a:ext uri="{FF2B5EF4-FFF2-40B4-BE49-F238E27FC236}">
                <a16:creationId xmlns:a16="http://schemas.microsoft.com/office/drawing/2014/main" id="{CA0AB16F-7F9A-4F73-B689-25BEF935C029}"/>
              </a:ext>
            </a:extLst>
          </p:cNvPr>
          <p:cNvSpPr txBox="1"/>
          <p:nvPr/>
        </p:nvSpPr>
        <p:spPr>
          <a:xfrm>
            <a:off x="5131358" y="2921198"/>
            <a:ext cx="964642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400" dirty="0" err="1"/>
              <a:t>i</a:t>
            </a:r>
            <a:r>
              <a:rPr lang="en-US" sz="2400" dirty="0"/>
              <a:t> + 1, j</a:t>
            </a:r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9C448A90-C88D-4AA5-8B5C-8F3C4B32AFF4}"/>
              </a:ext>
            </a:extLst>
          </p:cNvPr>
          <p:cNvSpPr txBox="1"/>
          <p:nvPr/>
        </p:nvSpPr>
        <p:spPr>
          <a:xfrm>
            <a:off x="4258826" y="3353834"/>
            <a:ext cx="964642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400" dirty="0" err="1"/>
              <a:t>i</a:t>
            </a:r>
            <a:r>
              <a:rPr lang="en-US" sz="2400" dirty="0"/>
              <a:t>, j</a:t>
            </a:r>
          </a:p>
        </p:txBody>
      </p:sp>
      <p:sp>
        <p:nvSpPr>
          <p:cNvPr id="54" name="TextBox 53">
            <a:extLst>
              <a:ext uri="{FF2B5EF4-FFF2-40B4-BE49-F238E27FC236}">
                <a16:creationId xmlns:a16="http://schemas.microsoft.com/office/drawing/2014/main" id="{17F884C5-E104-4E23-93AB-3DF65C7CC162}"/>
              </a:ext>
            </a:extLst>
          </p:cNvPr>
          <p:cNvSpPr txBox="1"/>
          <p:nvPr/>
        </p:nvSpPr>
        <p:spPr>
          <a:xfrm>
            <a:off x="3375704" y="2872000"/>
            <a:ext cx="964642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400" dirty="0" err="1"/>
              <a:t>i</a:t>
            </a:r>
            <a:r>
              <a:rPr lang="en-US" sz="2400" dirty="0"/>
              <a:t> - 1, j</a:t>
            </a:r>
          </a:p>
        </p:txBody>
      </p:sp>
      <p:sp>
        <p:nvSpPr>
          <p:cNvPr id="55" name="TextBox 54">
            <a:extLst>
              <a:ext uri="{FF2B5EF4-FFF2-40B4-BE49-F238E27FC236}">
                <a16:creationId xmlns:a16="http://schemas.microsoft.com/office/drawing/2014/main" id="{6EDF4FF0-B043-436C-81FE-B15FE0D5C945}"/>
              </a:ext>
            </a:extLst>
          </p:cNvPr>
          <p:cNvSpPr txBox="1"/>
          <p:nvPr/>
        </p:nvSpPr>
        <p:spPr>
          <a:xfrm>
            <a:off x="4498311" y="3913192"/>
            <a:ext cx="964642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400" dirty="0" err="1"/>
              <a:t>i</a:t>
            </a:r>
            <a:r>
              <a:rPr lang="en-US" sz="2400" dirty="0"/>
              <a:t>, j - 1</a:t>
            </a:r>
          </a:p>
        </p:txBody>
      </p:sp>
      <p:sp>
        <p:nvSpPr>
          <p:cNvPr id="56" name="TextBox 55">
            <a:extLst>
              <a:ext uri="{FF2B5EF4-FFF2-40B4-BE49-F238E27FC236}">
                <a16:creationId xmlns:a16="http://schemas.microsoft.com/office/drawing/2014/main" id="{BAD3A82A-642E-4C34-8A1A-2DC3405CFA13}"/>
              </a:ext>
            </a:extLst>
          </p:cNvPr>
          <p:cNvSpPr txBox="1"/>
          <p:nvPr/>
        </p:nvSpPr>
        <p:spPr>
          <a:xfrm>
            <a:off x="4562223" y="2277444"/>
            <a:ext cx="964642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400" dirty="0" err="1"/>
              <a:t>i</a:t>
            </a:r>
            <a:r>
              <a:rPr lang="en-US" sz="2400" dirty="0"/>
              <a:t>, j +1</a:t>
            </a:r>
          </a:p>
        </p:txBody>
      </p:sp>
      <p:cxnSp>
        <p:nvCxnSpPr>
          <p:cNvPr id="57" name="Straight Connector 56">
            <a:extLst>
              <a:ext uri="{FF2B5EF4-FFF2-40B4-BE49-F238E27FC236}">
                <a16:creationId xmlns:a16="http://schemas.microsoft.com/office/drawing/2014/main" id="{E23347BC-67FF-42B0-85E6-DFBC5A7840DF}"/>
              </a:ext>
            </a:extLst>
          </p:cNvPr>
          <p:cNvCxnSpPr/>
          <p:nvPr/>
        </p:nvCxnSpPr>
        <p:spPr>
          <a:xfrm>
            <a:off x="7429672" y="2470705"/>
            <a:ext cx="0" cy="1824317"/>
          </a:xfrm>
          <a:prstGeom prst="line">
            <a:avLst/>
          </a:prstGeom>
          <a:ln w="19050">
            <a:solidFill>
              <a:schemeClr val="tx1"/>
            </a:solidFill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8" name="Straight Connector 57">
            <a:extLst>
              <a:ext uri="{FF2B5EF4-FFF2-40B4-BE49-F238E27FC236}">
                <a16:creationId xmlns:a16="http://schemas.microsoft.com/office/drawing/2014/main" id="{C2C5F29D-DF92-452F-8A8C-64D301F23FC1}"/>
              </a:ext>
            </a:extLst>
          </p:cNvPr>
          <p:cNvCxnSpPr>
            <a:cxnSpLocks/>
          </p:cNvCxnSpPr>
          <p:nvPr/>
        </p:nvCxnSpPr>
        <p:spPr>
          <a:xfrm>
            <a:off x="6504632" y="3362693"/>
            <a:ext cx="1874018" cy="0"/>
          </a:xfrm>
          <a:prstGeom prst="line">
            <a:avLst/>
          </a:prstGeom>
          <a:ln w="19050">
            <a:solidFill>
              <a:schemeClr val="tx1"/>
            </a:solidFill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9" name="TextBox 58">
            <a:extLst>
              <a:ext uri="{FF2B5EF4-FFF2-40B4-BE49-F238E27FC236}">
                <a16:creationId xmlns:a16="http://schemas.microsoft.com/office/drawing/2014/main" id="{CCFEADAD-7451-4489-A8AE-79D2F0D4A3F2}"/>
              </a:ext>
            </a:extLst>
          </p:cNvPr>
          <p:cNvSpPr txBox="1"/>
          <p:nvPr/>
        </p:nvSpPr>
        <p:spPr>
          <a:xfrm>
            <a:off x="8047055" y="2921198"/>
            <a:ext cx="964642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400" dirty="0" err="1"/>
              <a:t>i</a:t>
            </a:r>
            <a:r>
              <a:rPr lang="en-US" sz="2400" dirty="0"/>
              <a:t> + 1, j</a:t>
            </a:r>
          </a:p>
        </p:txBody>
      </p:sp>
      <p:sp>
        <p:nvSpPr>
          <p:cNvPr id="60" name="TextBox 59">
            <a:extLst>
              <a:ext uri="{FF2B5EF4-FFF2-40B4-BE49-F238E27FC236}">
                <a16:creationId xmlns:a16="http://schemas.microsoft.com/office/drawing/2014/main" id="{299F07BE-49B0-4199-A467-E21CEC90466E}"/>
              </a:ext>
            </a:extLst>
          </p:cNvPr>
          <p:cNvSpPr txBox="1"/>
          <p:nvPr/>
        </p:nvSpPr>
        <p:spPr>
          <a:xfrm>
            <a:off x="7174523" y="3353834"/>
            <a:ext cx="964642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400" dirty="0" err="1"/>
              <a:t>i</a:t>
            </a:r>
            <a:r>
              <a:rPr lang="en-US" sz="2400" dirty="0"/>
              <a:t>, j</a:t>
            </a:r>
          </a:p>
        </p:txBody>
      </p:sp>
      <p:sp>
        <p:nvSpPr>
          <p:cNvPr id="61" name="TextBox 60">
            <a:extLst>
              <a:ext uri="{FF2B5EF4-FFF2-40B4-BE49-F238E27FC236}">
                <a16:creationId xmlns:a16="http://schemas.microsoft.com/office/drawing/2014/main" id="{D5A25F8E-587C-4ECF-9A86-CA9616D6C22C}"/>
              </a:ext>
            </a:extLst>
          </p:cNvPr>
          <p:cNvSpPr txBox="1"/>
          <p:nvPr/>
        </p:nvSpPr>
        <p:spPr>
          <a:xfrm>
            <a:off x="6291401" y="2872000"/>
            <a:ext cx="964642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400" dirty="0" err="1"/>
              <a:t>i</a:t>
            </a:r>
            <a:r>
              <a:rPr lang="en-US" sz="2400" dirty="0"/>
              <a:t> - 1, j</a:t>
            </a:r>
          </a:p>
        </p:txBody>
      </p:sp>
      <p:sp>
        <p:nvSpPr>
          <p:cNvPr id="62" name="TextBox 61">
            <a:extLst>
              <a:ext uri="{FF2B5EF4-FFF2-40B4-BE49-F238E27FC236}">
                <a16:creationId xmlns:a16="http://schemas.microsoft.com/office/drawing/2014/main" id="{D62D4A1A-D1B5-481E-ACE3-F936D22DA8F0}"/>
              </a:ext>
            </a:extLst>
          </p:cNvPr>
          <p:cNvSpPr txBox="1"/>
          <p:nvPr/>
        </p:nvSpPr>
        <p:spPr>
          <a:xfrm>
            <a:off x="7414008" y="3913192"/>
            <a:ext cx="964642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400" dirty="0" err="1"/>
              <a:t>i</a:t>
            </a:r>
            <a:r>
              <a:rPr lang="en-US" sz="2400" dirty="0"/>
              <a:t>, j - 1</a:t>
            </a:r>
          </a:p>
        </p:txBody>
      </p:sp>
      <p:sp>
        <p:nvSpPr>
          <p:cNvPr id="63" name="TextBox 62">
            <a:extLst>
              <a:ext uri="{FF2B5EF4-FFF2-40B4-BE49-F238E27FC236}">
                <a16:creationId xmlns:a16="http://schemas.microsoft.com/office/drawing/2014/main" id="{58BDF7BE-D0F5-4B13-B77D-CCA0D6E76E07}"/>
              </a:ext>
            </a:extLst>
          </p:cNvPr>
          <p:cNvSpPr txBox="1"/>
          <p:nvPr/>
        </p:nvSpPr>
        <p:spPr>
          <a:xfrm>
            <a:off x="7414008" y="2284579"/>
            <a:ext cx="964642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400" dirty="0" err="1"/>
              <a:t>i</a:t>
            </a:r>
            <a:r>
              <a:rPr lang="en-US" sz="2400" dirty="0"/>
              <a:t>, j +1</a:t>
            </a:r>
          </a:p>
        </p:txBody>
      </p:sp>
      <p:cxnSp>
        <p:nvCxnSpPr>
          <p:cNvPr id="64" name="Straight Connector 63">
            <a:extLst>
              <a:ext uri="{FF2B5EF4-FFF2-40B4-BE49-F238E27FC236}">
                <a16:creationId xmlns:a16="http://schemas.microsoft.com/office/drawing/2014/main" id="{C584E015-DCCD-4FFA-8909-6C74CCBFB229}"/>
              </a:ext>
            </a:extLst>
          </p:cNvPr>
          <p:cNvCxnSpPr/>
          <p:nvPr/>
        </p:nvCxnSpPr>
        <p:spPr>
          <a:xfrm>
            <a:off x="10345369" y="2470705"/>
            <a:ext cx="0" cy="1824317"/>
          </a:xfrm>
          <a:prstGeom prst="line">
            <a:avLst/>
          </a:prstGeom>
          <a:ln w="19050">
            <a:solidFill>
              <a:schemeClr val="tx1"/>
            </a:solidFill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5" name="Straight Connector 64">
            <a:extLst>
              <a:ext uri="{FF2B5EF4-FFF2-40B4-BE49-F238E27FC236}">
                <a16:creationId xmlns:a16="http://schemas.microsoft.com/office/drawing/2014/main" id="{7307A2A9-4833-47E8-9948-BAFB378EEA34}"/>
              </a:ext>
            </a:extLst>
          </p:cNvPr>
          <p:cNvCxnSpPr>
            <a:cxnSpLocks/>
          </p:cNvCxnSpPr>
          <p:nvPr/>
        </p:nvCxnSpPr>
        <p:spPr>
          <a:xfrm>
            <a:off x="9420329" y="3362693"/>
            <a:ext cx="1874018" cy="0"/>
          </a:xfrm>
          <a:prstGeom prst="line">
            <a:avLst/>
          </a:prstGeom>
          <a:ln w="19050">
            <a:solidFill>
              <a:schemeClr val="tx1"/>
            </a:solidFill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6" name="TextBox 65">
            <a:extLst>
              <a:ext uri="{FF2B5EF4-FFF2-40B4-BE49-F238E27FC236}">
                <a16:creationId xmlns:a16="http://schemas.microsoft.com/office/drawing/2014/main" id="{AC09806D-959B-467D-91DE-D6CAC8C04826}"/>
              </a:ext>
            </a:extLst>
          </p:cNvPr>
          <p:cNvSpPr txBox="1"/>
          <p:nvPr/>
        </p:nvSpPr>
        <p:spPr>
          <a:xfrm>
            <a:off x="10962752" y="2921198"/>
            <a:ext cx="964642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400" dirty="0" err="1"/>
              <a:t>i</a:t>
            </a:r>
            <a:r>
              <a:rPr lang="en-US" sz="2400" dirty="0"/>
              <a:t> + 1, j</a:t>
            </a:r>
          </a:p>
        </p:txBody>
      </p:sp>
      <p:sp>
        <p:nvSpPr>
          <p:cNvPr id="67" name="TextBox 66">
            <a:extLst>
              <a:ext uri="{FF2B5EF4-FFF2-40B4-BE49-F238E27FC236}">
                <a16:creationId xmlns:a16="http://schemas.microsoft.com/office/drawing/2014/main" id="{E5943A7F-B708-44EB-8820-4495E4BD2211}"/>
              </a:ext>
            </a:extLst>
          </p:cNvPr>
          <p:cNvSpPr txBox="1"/>
          <p:nvPr/>
        </p:nvSpPr>
        <p:spPr>
          <a:xfrm>
            <a:off x="10090220" y="3353834"/>
            <a:ext cx="964642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400" dirty="0" err="1"/>
              <a:t>i</a:t>
            </a:r>
            <a:r>
              <a:rPr lang="en-US" sz="2400" dirty="0"/>
              <a:t>, j</a:t>
            </a:r>
          </a:p>
        </p:txBody>
      </p:sp>
      <p:sp>
        <p:nvSpPr>
          <p:cNvPr id="68" name="TextBox 67">
            <a:extLst>
              <a:ext uri="{FF2B5EF4-FFF2-40B4-BE49-F238E27FC236}">
                <a16:creationId xmlns:a16="http://schemas.microsoft.com/office/drawing/2014/main" id="{FA1009DE-0F3A-4D56-8A97-AA3973D05507}"/>
              </a:ext>
            </a:extLst>
          </p:cNvPr>
          <p:cNvSpPr txBox="1"/>
          <p:nvPr/>
        </p:nvSpPr>
        <p:spPr>
          <a:xfrm>
            <a:off x="9207098" y="2872000"/>
            <a:ext cx="964642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400" dirty="0" err="1"/>
              <a:t>i</a:t>
            </a:r>
            <a:r>
              <a:rPr lang="en-US" sz="2400" dirty="0"/>
              <a:t> - 1, j</a:t>
            </a:r>
          </a:p>
        </p:txBody>
      </p:sp>
      <p:sp>
        <p:nvSpPr>
          <p:cNvPr id="69" name="TextBox 68">
            <a:extLst>
              <a:ext uri="{FF2B5EF4-FFF2-40B4-BE49-F238E27FC236}">
                <a16:creationId xmlns:a16="http://schemas.microsoft.com/office/drawing/2014/main" id="{5BC4B580-798B-44A5-975C-C3E00DE3C417}"/>
              </a:ext>
            </a:extLst>
          </p:cNvPr>
          <p:cNvSpPr txBox="1"/>
          <p:nvPr/>
        </p:nvSpPr>
        <p:spPr>
          <a:xfrm>
            <a:off x="10329705" y="3913192"/>
            <a:ext cx="964642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400" dirty="0" err="1"/>
              <a:t>i</a:t>
            </a:r>
            <a:r>
              <a:rPr lang="en-US" sz="2400" dirty="0"/>
              <a:t>, j - 1</a:t>
            </a:r>
          </a:p>
        </p:txBody>
      </p:sp>
      <p:sp>
        <p:nvSpPr>
          <p:cNvPr id="70" name="TextBox 69">
            <a:extLst>
              <a:ext uri="{FF2B5EF4-FFF2-40B4-BE49-F238E27FC236}">
                <a16:creationId xmlns:a16="http://schemas.microsoft.com/office/drawing/2014/main" id="{23F9DE1B-361D-4321-AA7A-3F25FA518D0F}"/>
              </a:ext>
            </a:extLst>
          </p:cNvPr>
          <p:cNvSpPr txBox="1"/>
          <p:nvPr/>
        </p:nvSpPr>
        <p:spPr>
          <a:xfrm>
            <a:off x="10329705" y="2284579"/>
            <a:ext cx="964642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400" dirty="0" err="1"/>
              <a:t>i</a:t>
            </a:r>
            <a:r>
              <a:rPr lang="en-US" sz="2400" dirty="0"/>
              <a:t>, j +1</a:t>
            </a:r>
          </a:p>
        </p:txBody>
      </p:sp>
      <p:cxnSp>
        <p:nvCxnSpPr>
          <p:cNvPr id="71" name="Straight Connector 70">
            <a:extLst>
              <a:ext uri="{FF2B5EF4-FFF2-40B4-BE49-F238E27FC236}">
                <a16:creationId xmlns:a16="http://schemas.microsoft.com/office/drawing/2014/main" id="{8BAACE18-FE40-4DE2-81B5-5CA3A0B39150}"/>
              </a:ext>
            </a:extLst>
          </p:cNvPr>
          <p:cNvCxnSpPr>
            <a:cxnSpLocks/>
          </p:cNvCxnSpPr>
          <p:nvPr/>
        </p:nvCxnSpPr>
        <p:spPr>
          <a:xfrm>
            <a:off x="1582614" y="3362692"/>
            <a:ext cx="964642" cy="1"/>
          </a:xfrm>
          <a:prstGeom prst="line">
            <a:avLst/>
          </a:prstGeom>
          <a:ln w="38100">
            <a:solidFill>
              <a:schemeClr val="accent2">
                <a:lumMod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2" name="Straight Connector 71">
            <a:extLst>
              <a:ext uri="{FF2B5EF4-FFF2-40B4-BE49-F238E27FC236}">
                <a16:creationId xmlns:a16="http://schemas.microsoft.com/office/drawing/2014/main" id="{4ABC29C5-CFC4-4365-B5B6-9CEB7CE16FA1}"/>
              </a:ext>
            </a:extLst>
          </p:cNvPr>
          <p:cNvCxnSpPr>
            <a:cxnSpLocks/>
          </p:cNvCxnSpPr>
          <p:nvPr/>
        </p:nvCxnSpPr>
        <p:spPr>
          <a:xfrm flipH="1">
            <a:off x="4515098" y="2515411"/>
            <a:ext cx="10846" cy="828338"/>
          </a:xfrm>
          <a:prstGeom prst="line">
            <a:avLst/>
          </a:prstGeom>
          <a:ln w="38100">
            <a:solidFill>
              <a:schemeClr val="accent2">
                <a:lumMod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73" name="TextBox 72">
                <a:extLst>
                  <a:ext uri="{FF2B5EF4-FFF2-40B4-BE49-F238E27FC236}">
                    <a16:creationId xmlns:a16="http://schemas.microsoft.com/office/drawing/2014/main" id="{2B609DBD-3443-4EEE-837A-6216EF0FF680}"/>
                  </a:ext>
                </a:extLst>
              </p:cNvPr>
              <p:cNvSpPr txBox="1"/>
              <p:nvPr/>
            </p:nvSpPr>
            <p:spPr>
              <a:xfrm>
                <a:off x="859133" y="4401588"/>
                <a:ext cx="1874017" cy="491417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4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𝑢</m:t>
                          </m:r>
                        </m:e>
                        <m:sub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𝑖</m:t>
                          </m:r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𝑗</m:t>
                          </m:r>
                        </m:sub>
                      </m:sSub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−</m:t>
                      </m:r>
                      <m:sSub>
                        <m:sSubPr>
                          <m:ctrlPr>
                            <a:rPr lang="en-US" sz="24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𝑢</m:t>
                          </m:r>
                        </m:e>
                        <m:sub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𝑖</m:t>
                          </m:r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+1,</m:t>
                          </m:r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𝑗</m:t>
                          </m:r>
                        </m:sub>
                      </m:sSub>
                    </m:oMath>
                  </m:oMathPara>
                </a14:m>
                <a:endParaRPr lang="en-US" sz="2400" dirty="0"/>
              </a:p>
            </p:txBody>
          </p:sp>
        </mc:Choice>
        <mc:Fallback xmlns="">
          <p:sp>
            <p:nvSpPr>
              <p:cNvPr id="73" name="TextBox 72">
                <a:extLst>
                  <a:ext uri="{FF2B5EF4-FFF2-40B4-BE49-F238E27FC236}">
                    <a16:creationId xmlns:a16="http://schemas.microsoft.com/office/drawing/2014/main" id="{2B609DBD-3443-4EEE-837A-6216EF0FF68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59133" y="4401588"/>
                <a:ext cx="1874017" cy="491417"/>
              </a:xfrm>
              <a:prstGeom prst="rect">
                <a:avLst/>
              </a:prstGeom>
              <a:blipFill>
                <a:blip r:embed="rId4"/>
                <a:stretch>
                  <a:fillRect b="-987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74" name="TextBox 73">
                <a:extLst>
                  <a:ext uri="{FF2B5EF4-FFF2-40B4-BE49-F238E27FC236}">
                    <a16:creationId xmlns:a16="http://schemas.microsoft.com/office/drawing/2014/main" id="{FAA13EA7-759C-48A3-B3B2-98829AF60D29}"/>
                  </a:ext>
                </a:extLst>
              </p:cNvPr>
              <p:cNvSpPr txBox="1"/>
              <p:nvPr/>
            </p:nvSpPr>
            <p:spPr>
              <a:xfrm>
                <a:off x="3747196" y="4377594"/>
                <a:ext cx="1874017" cy="491417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4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𝑢</m:t>
                          </m:r>
                        </m:e>
                        <m:sub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𝑖</m:t>
                          </m:r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𝑗</m:t>
                          </m:r>
                        </m:sub>
                      </m:sSub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−</m:t>
                      </m:r>
                      <m:sSub>
                        <m:sSubPr>
                          <m:ctrlPr>
                            <a:rPr lang="en-US" sz="24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𝑢</m:t>
                          </m:r>
                        </m:e>
                        <m:sub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𝑖</m:t>
                          </m:r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𝑗</m:t>
                          </m:r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+1</m:t>
                          </m:r>
                        </m:sub>
                      </m:sSub>
                    </m:oMath>
                  </m:oMathPara>
                </a14:m>
                <a:endParaRPr lang="en-US" sz="2400" dirty="0"/>
              </a:p>
            </p:txBody>
          </p:sp>
        </mc:Choice>
        <mc:Fallback xmlns="">
          <p:sp>
            <p:nvSpPr>
              <p:cNvPr id="74" name="TextBox 73">
                <a:extLst>
                  <a:ext uri="{FF2B5EF4-FFF2-40B4-BE49-F238E27FC236}">
                    <a16:creationId xmlns:a16="http://schemas.microsoft.com/office/drawing/2014/main" id="{FAA13EA7-759C-48A3-B3B2-98829AF60D2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747196" y="4377594"/>
                <a:ext cx="1874017" cy="491417"/>
              </a:xfrm>
              <a:prstGeom prst="rect">
                <a:avLst/>
              </a:prstGeom>
              <a:blipFill>
                <a:blip r:embed="rId5"/>
                <a:stretch>
                  <a:fillRect b="-987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75" name="TextBox 74">
                <a:extLst>
                  <a:ext uri="{FF2B5EF4-FFF2-40B4-BE49-F238E27FC236}">
                    <a16:creationId xmlns:a16="http://schemas.microsoft.com/office/drawing/2014/main" id="{6FDFCC02-4621-4700-A8C6-6617C6D7A33E}"/>
                  </a:ext>
                </a:extLst>
              </p:cNvPr>
              <p:cNvSpPr txBox="1"/>
              <p:nvPr/>
            </p:nvSpPr>
            <p:spPr>
              <a:xfrm>
                <a:off x="6662893" y="4377593"/>
                <a:ext cx="1874017" cy="491417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4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𝑣</m:t>
                          </m:r>
                        </m:e>
                        <m:sub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𝑖</m:t>
                          </m:r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𝑗</m:t>
                          </m:r>
                        </m:sub>
                      </m:sSub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−</m:t>
                      </m:r>
                      <m:sSub>
                        <m:sSubPr>
                          <m:ctrlPr>
                            <a:rPr lang="en-US" sz="24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𝑣</m:t>
                          </m:r>
                        </m:e>
                        <m:sub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𝑖</m:t>
                          </m:r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+1,</m:t>
                          </m:r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𝑗</m:t>
                          </m:r>
                        </m:sub>
                      </m:sSub>
                    </m:oMath>
                  </m:oMathPara>
                </a14:m>
                <a:endParaRPr lang="en-US" sz="2400" dirty="0"/>
              </a:p>
            </p:txBody>
          </p:sp>
        </mc:Choice>
        <mc:Fallback xmlns="">
          <p:sp>
            <p:nvSpPr>
              <p:cNvPr id="75" name="TextBox 74">
                <a:extLst>
                  <a:ext uri="{FF2B5EF4-FFF2-40B4-BE49-F238E27FC236}">
                    <a16:creationId xmlns:a16="http://schemas.microsoft.com/office/drawing/2014/main" id="{6FDFCC02-4621-4700-A8C6-6617C6D7A33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662893" y="4377593"/>
                <a:ext cx="1874017" cy="491417"/>
              </a:xfrm>
              <a:prstGeom prst="rect">
                <a:avLst/>
              </a:prstGeom>
              <a:blipFill>
                <a:blip r:embed="rId6"/>
                <a:stretch>
                  <a:fillRect b="-987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76" name="TextBox 75">
                <a:extLst>
                  <a:ext uri="{FF2B5EF4-FFF2-40B4-BE49-F238E27FC236}">
                    <a16:creationId xmlns:a16="http://schemas.microsoft.com/office/drawing/2014/main" id="{4CECE8B8-321E-4076-A68C-337703F45AC0}"/>
                  </a:ext>
                </a:extLst>
              </p:cNvPr>
              <p:cNvSpPr txBox="1"/>
              <p:nvPr/>
            </p:nvSpPr>
            <p:spPr>
              <a:xfrm>
                <a:off x="9606223" y="4376338"/>
                <a:ext cx="1874017" cy="491417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4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𝑣</m:t>
                          </m:r>
                        </m:e>
                        <m:sub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𝑖</m:t>
                          </m:r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𝑗</m:t>
                          </m:r>
                        </m:sub>
                      </m:sSub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−</m:t>
                      </m:r>
                      <m:sSub>
                        <m:sSubPr>
                          <m:ctrlPr>
                            <a:rPr lang="en-US" sz="24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𝑣</m:t>
                          </m:r>
                        </m:e>
                        <m:sub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𝑖</m:t>
                          </m:r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𝑗</m:t>
                          </m:r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+1</m:t>
                          </m:r>
                        </m:sub>
                      </m:sSub>
                    </m:oMath>
                  </m:oMathPara>
                </a14:m>
                <a:endParaRPr lang="en-US" sz="2400" dirty="0"/>
              </a:p>
            </p:txBody>
          </p:sp>
        </mc:Choice>
        <mc:Fallback xmlns="">
          <p:sp>
            <p:nvSpPr>
              <p:cNvPr id="76" name="TextBox 75">
                <a:extLst>
                  <a:ext uri="{FF2B5EF4-FFF2-40B4-BE49-F238E27FC236}">
                    <a16:creationId xmlns:a16="http://schemas.microsoft.com/office/drawing/2014/main" id="{4CECE8B8-321E-4076-A68C-337703F45AC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606223" y="4376338"/>
                <a:ext cx="1874017" cy="491417"/>
              </a:xfrm>
              <a:prstGeom prst="rect">
                <a:avLst/>
              </a:prstGeom>
              <a:blipFill>
                <a:blip r:embed="rId7"/>
                <a:stretch>
                  <a:fillRect b="-987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77" name="Straight Connector 76">
            <a:extLst>
              <a:ext uri="{FF2B5EF4-FFF2-40B4-BE49-F238E27FC236}">
                <a16:creationId xmlns:a16="http://schemas.microsoft.com/office/drawing/2014/main" id="{EE334933-2CD6-42D8-B80F-1D164ACD639F}"/>
              </a:ext>
            </a:extLst>
          </p:cNvPr>
          <p:cNvCxnSpPr>
            <a:cxnSpLocks/>
          </p:cNvCxnSpPr>
          <p:nvPr/>
        </p:nvCxnSpPr>
        <p:spPr>
          <a:xfrm>
            <a:off x="7414007" y="3358262"/>
            <a:ext cx="964642" cy="1"/>
          </a:xfrm>
          <a:prstGeom prst="line">
            <a:avLst/>
          </a:prstGeom>
          <a:ln w="38100">
            <a:solidFill>
              <a:schemeClr val="accent2">
                <a:lumMod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8" name="Straight Connector 77">
            <a:extLst>
              <a:ext uri="{FF2B5EF4-FFF2-40B4-BE49-F238E27FC236}">
                <a16:creationId xmlns:a16="http://schemas.microsoft.com/office/drawing/2014/main" id="{19664916-A7C3-4DCA-B62D-D3429DC2C133}"/>
              </a:ext>
            </a:extLst>
          </p:cNvPr>
          <p:cNvCxnSpPr>
            <a:cxnSpLocks/>
          </p:cNvCxnSpPr>
          <p:nvPr/>
        </p:nvCxnSpPr>
        <p:spPr>
          <a:xfrm flipH="1">
            <a:off x="10339946" y="2514186"/>
            <a:ext cx="10846" cy="828338"/>
          </a:xfrm>
          <a:prstGeom prst="line">
            <a:avLst/>
          </a:prstGeom>
          <a:ln w="38100">
            <a:solidFill>
              <a:schemeClr val="accent2">
                <a:lumMod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79" name="TextBox 78">
                <a:extLst>
                  <a:ext uri="{FF2B5EF4-FFF2-40B4-BE49-F238E27FC236}">
                    <a16:creationId xmlns:a16="http://schemas.microsoft.com/office/drawing/2014/main" id="{7C8664EA-34CC-4C85-B9FA-6F7C9692EB5A}"/>
                  </a:ext>
                </a:extLst>
              </p:cNvPr>
              <p:cNvSpPr txBox="1"/>
              <p:nvPr/>
            </p:nvSpPr>
            <p:spPr>
              <a:xfrm>
                <a:off x="1679798" y="2870044"/>
                <a:ext cx="357450" cy="46166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400" i="1" smtClean="0">
                          <a:latin typeface="Cambria Math" panose="02040503050406030204" pitchFamily="18" charset="0"/>
                        </a:rPr>
                        <m:t>𝑢</m:t>
                      </m:r>
                    </m:oMath>
                  </m:oMathPara>
                </a14:m>
                <a:endParaRPr lang="en-US" sz="2400" dirty="0"/>
              </a:p>
            </p:txBody>
          </p:sp>
        </mc:Choice>
        <mc:Fallback xmlns="">
          <p:sp>
            <p:nvSpPr>
              <p:cNvPr id="79" name="TextBox 78">
                <a:extLst>
                  <a:ext uri="{FF2B5EF4-FFF2-40B4-BE49-F238E27FC236}">
                    <a16:creationId xmlns:a16="http://schemas.microsoft.com/office/drawing/2014/main" id="{7C8664EA-34CC-4C85-B9FA-6F7C9692EB5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679798" y="2870044"/>
                <a:ext cx="357450" cy="461665"/>
              </a:xfrm>
              <a:prstGeom prst="rect">
                <a:avLst/>
              </a:prstGeom>
              <a:blipFill>
                <a:blip r:embed="rId8"/>
                <a:stretch>
                  <a:fillRect l="-689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80" name="TextBox 79">
                <a:extLst>
                  <a:ext uri="{FF2B5EF4-FFF2-40B4-BE49-F238E27FC236}">
                    <a16:creationId xmlns:a16="http://schemas.microsoft.com/office/drawing/2014/main" id="{118C7EA4-19CD-4B69-A02B-904A6A7B1362}"/>
                  </a:ext>
                </a:extLst>
              </p:cNvPr>
              <p:cNvSpPr txBox="1"/>
              <p:nvPr/>
            </p:nvSpPr>
            <p:spPr>
              <a:xfrm>
                <a:off x="4605702" y="2866696"/>
                <a:ext cx="357450" cy="46166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400" i="1" smtClean="0">
                          <a:latin typeface="Cambria Math" panose="02040503050406030204" pitchFamily="18" charset="0"/>
                        </a:rPr>
                        <m:t>𝑢</m:t>
                      </m:r>
                    </m:oMath>
                  </m:oMathPara>
                </a14:m>
                <a:endParaRPr lang="en-US" sz="2400" dirty="0"/>
              </a:p>
            </p:txBody>
          </p:sp>
        </mc:Choice>
        <mc:Fallback xmlns="">
          <p:sp>
            <p:nvSpPr>
              <p:cNvPr id="80" name="TextBox 79">
                <a:extLst>
                  <a:ext uri="{FF2B5EF4-FFF2-40B4-BE49-F238E27FC236}">
                    <a16:creationId xmlns:a16="http://schemas.microsoft.com/office/drawing/2014/main" id="{118C7EA4-19CD-4B69-A02B-904A6A7B136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605702" y="2866696"/>
                <a:ext cx="357450" cy="461665"/>
              </a:xfrm>
              <a:prstGeom prst="rect">
                <a:avLst/>
              </a:prstGeom>
              <a:blipFill>
                <a:blip r:embed="rId9"/>
                <a:stretch>
                  <a:fillRect l="-689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81" name="TextBox 80">
                <a:extLst>
                  <a:ext uri="{FF2B5EF4-FFF2-40B4-BE49-F238E27FC236}">
                    <a16:creationId xmlns:a16="http://schemas.microsoft.com/office/drawing/2014/main" id="{3A2D1B80-5EF7-4350-B844-40CE27E49CCD}"/>
                  </a:ext>
                </a:extLst>
              </p:cNvPr>
              <p:cNvSpPr txBox="1"/>
              <p:nvPr/>
            </p:nvSpPr>
            <p:spPr>
              <a:xfrm>
                <a:off x="7531606" y="2863348"/>
                <a:ext cx="357450" cy="46166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𝑣</m:t>
                      </m:r>
                    </m:oMath>
                  </m:oMathPara>
                </a14:m>
                <a:endParaRPr lang="en-US" sz="2400" dirty="0"/>
              </a:p>
            </p:txBody>
          </p:sp>
        </mc:Choice>
        <mc:Fallback xmlns="">
          <p:sp>
            <p:nvSpPr>
              <p:cNvPr id="81" name="TextBox 80">
                <a:extLst>
                  <a:ext uri="{FF2B5EF4-FFF2-40B4-BE49-F238E27FC236}">
                    <a16:creationId xmlns:a16="http://schemas.microsoft.com/office/drawing/2014/main" id="{3A2D1B80-5EF7-4350-B844-40CE27E49CC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531606" y="2863348"/>
                <a:ext cx="357450" cy="461665"/>
              </a:xfrm>
              <a:prstGeom prst="rect">
                <a:avLst/>
              </a:prstGeom>
              <a:blipFill>
                <a:blip r:embed="rId10"/>
                <a:stretch>
                  <a:fillRect l="-5085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82" name="TextBox 81">
                <a:extLst>
                  <a:ext uri="{FF2B5EF4-FFF2-40B4-BE49-F238E27FC236}">
                    <a16:creationId xmlns:a16="http://schemas.microsoft.com/office/drawing/2014/main" id="{CBB0353C-8FD2-41A7-95E1-369EF9CB7D94}"/>
                  </a:ext>
                </a:extLst>
              </p:cNvPr>
              <p:cNvSpPr txBox="1"/>
              <p:nvPr/>
            </p:nvSpPr>
            <p:spPr>
              <a:xfrm>
                <a:off x="10457510" y="2860000"/>
                <a:ext cx="357450" cy="46166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𝑣</m:t>
                      </m:r>
                    </m:oMath>
                  </m:oMathPara>
                </a14:m>
                <a:endParaRPr lang="en-US" sz="2400" dirty="0"/>
              </a:p>
            </p:txBody>
          </p:sp>
        </mc:Choice>
        <mc:Fallback xmlns="">
          <p:sp>
            <p:nvSpPr>
              <p:cNvPr id="82" name="TextBox 81">
                <a:extLst>
                  <a:ext uri="{FF2B5EF4-FFF2-40B4-BE49-F238E27FC236}">
                    <a16:creationId xmlns:a16="http://schemas.microsoft.com/office/drawing/2014/main" id="{CBB0353C-8FD2-41A7-95E1-369EF9CB7D9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457510" y="2860000"/>
                <a:ext cx="357450" cy="461665"/>
              </a:xfrm>
              <a:prstGeom prst="rect">
                <a:avLst/>
              </a:prstGeom>
              <a:blipFill>
                <a:blip r:embed="rId11"/>
                <a:stretch>
                  <a:fillRect l="-5085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05395757"/>
      </p:ext>
    </p:extLst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DFB6AB4-96EB-434D-8BFC-6697DE744D7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89301" y="140193"/>
            <a:ext cx="10515600" cy="872004"/>
          </a:xfrm>
        </p:spPr>
        <p:txBody>
          <a:bodyPr>
            <a:normAutofit/>
          </a:bodyPr>
          <a:lstStyle/>
          <a:p>
            <a:r>
              <a:rPr lang="en-US" sz="4000" dirty="0">
                <a:latin typeface="+mn-lt"/>
              </a:rPr>
              <a:t>The Horn-</a:t>
            </a:r>
            <a:r>
              <a:rPr lang="en-US" sz="4000" dirty="0" err="1">
                <a:latin typeface="+mn-lt"/>
              </a:rPr>
              <a:t>Schunck</a:t>
            </a:r>
            <a:r>
              <a:rPr lang="en-US" sz="4000" dirty="0">
                <a:latin typeface="+mn-lt"/>
              </a:rPr>
              <a:t> Algorithm 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4DBC6555-A8E7-4F73-8035-156F702D1410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789301" y="1124338"/>
                <a:ext cx="11102662" cy="5338369"/>
              </a:xfrm>
            </p:spPr>
            <p:txBody>
              <a:bodyPr>
                <a:normAutofit/>
              </a:bodyPr>
              <a:lstStyle/>
              <a:p>
                <a:pPr marL="0" indent="0">
                  <a:buNone/>
                </a:pPr>
                <a:r>
                  <a:rPr lang="en-US" b="1" dirty="0"/>
                  <a:t>Horn-</a:t>
                </a:r>
                <a:r>
                  <a:rPr lang="en-US" b="1" dirty="0" err="1"/>
                  <a:t>Schunck</a:t>
                </a:r>
                <a:r>
                  <a:rPr lang="en-US" b="1" dirty="0"/>
                  <a:t> algorithm</a:t>
                </a:r>
                <a:r>
                  <a:rPr lang="en-US" dirty="0"/>
                  <a:t> combines brightness consistency and smoothness consistency   </a:t>
                </a:r>
              </a:p>
              <a:p>
                <a:r>
                  <a:rPr lang="en-US" dirty="0"/>
                  <a:t>Horn-</a:t>
                </a:r>
                <a:r>
                  <a:rPr lang="en-US" dirty="0" err="1"/>
                  <a:t>Schunck</a:t>
                </a:r>
                <a:r>
                  <a:rPr lang="en-US" dirty="0"/>
                  <a:t> finds the flow field that minimizes the total energy: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unc>
                        <m:funcPr>
                          <m:ctrlPr>
                            <a:rPr lang="en-US" i="1" smtClean="0">
                              <a:latin typeface="Cambria Math" panose="02040503050406030204" pitchFamily="18" charset="0"/>
                            </a:rPr>
                          </m:ctrlPr>
                        </m:funcPr>
                        <m:fName>
                          <m:limLow>
                            <m:limLowPr>
                              <m:ctrlPr>
                                <a:rPr lang="en-US" i="1" smtClean="0">
                                  <a:latin typeface="Cambria Math" panose="02040503050406030204" pitchFamily="18" charset="0"/>
                                </a:rPr>
                              </m:ctrlPr>
                            </m:limLowPr>
                            <m:e>
                              <m:r>
                                <m:rPr>
                                  <m:sty m:val="p"/>
                                </m:rPr>
                                <a:rPr lang="en-US" i="0" smtClean="0">
                                  <a:latin typeface="Cambria Math" panose="02040503050406030204" pitchFamily="18" charset="0"/>
                                </a:rPr>
                                <m:t>min</m:t>
                              </m:r>
                            </m:e>
                            <m:lim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𝑢</m:t>
                              </m:r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,</m:t>
                              </m:r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𝑣</m:t>
                              </m:r>
                            </m:lim>
                          </m:limLow>
                        </m:fName>
                        <m:e>
                          <m:nary>
                            <m:naryPr>
                              <m:chr m:val="∑"/>
                              <m:supHide m:val="on"/>
                              <m:ctrlPr>
                                <a:rPr lang="en-US" i="1" smtClean="0">
                                  <a:latin typeface="Cambria Math" panose="02040503050406030204" pitchFamily="18" charset="0"/>
                                </a:rPr>
                              </m:ctrlPr>
                            </m:naryPr>
                            <m:sub>
                              <m:r>
                                <m:rPr>
                                  <m:brk m:alnAt="7"/>
                                </m:r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,</m:t>
                              </m:r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𝑗</m:t>
                              </m:r>
                            </m:sub>
                            <m:sup/>
                            <m:e>
                              <m:d>
                                <m:dPr>
                                  <m:begChr m:val="{"/>
                                  <m:endChr m:val="}"/>
                                  <m:ctrlPr>
                                    <a:rPr lang="en-US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sSub>
                                    <m:sSubPr>
                                      <m:ctrlPr>
                                        <a:rPr lang="en-US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i="1">
                                          <a:latin typeface="Cambria Math" panose="02040503050406030204" pitchFamily="18" charset="0"/>
                                        </a:rPr>
                                        <m:t>𝐸</m:t>
                                      </m:r>
                                    </m:e>
                                    <m:sub>
                                      <m:r>
                                        <a:rPr lang="en-US" i="1">
                                          <a:latin typeface="Cambria Math" panose="02040503050406030204" pitchFamily="18" charset="0"/>
                                        </a:rPr>
                                        <m:t>𝑠</m:t>
                                      </m:r>
                                    </m:sub>
                                  </m:sSub>
                                  <m:d>
                                    <m:dPr>
                                      <m:ctrlPr>
                                        <a:rPr lang="en-US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dPr>
                                    <m:e>
                                      <m:r>
                                        <a:rPr lang="en-US" i="1">
                                          <a:latin typeface="Cambria Math" panose="02040503050406030204" pitchFamily="18" charset="0"/>
                                        </a:rPr>
                                        <m:t>𝑖</m:t>
                                      </m:r>
                                      <m:r>
                                        <a:rPr lang="en-US" i="1">
                                          <a:latin typeface="Cambria Math" panose="02040503050406030204" pitchFamily="18" charset="0"/>
                                        </a:rPr>
                                        <m:t>,</m:t>
                                      </m:r>
                                      <m:r>
                                        <a:rPr lang="en-US" i="1">
                                          <a:latin typeface="Cambria Math" panose="02040503050406030204" pitchFamily="18" charset="0"/>
                                        </a:rPr>
                                        <m:t>𝑗</m:t>
                                      </m:r>
                                    </m:e>
                                  </m:d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+</m:t>
                                  </m:r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𝜆</m:t>
                                  </m:r>
                                  <m:sSub>
                                    <m:sSubPr>
                                      <m:ctrlPr>
                                        <a:rPr lang="en-US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i="1">
                                          <a:latin typeface="Cambria Math" panose="02040503050406030204" pitchFamily="18" charset="0"/>
                                        </a:rPr>
                                        <m:t>𝐸</m:t>
                                      </m:r>
                                    </m:e>
                                    <m:sub>
                                      <m:r>
                                        <a:rPr lang="en-US" b="0" i="1" smtClean="0">
                                          <a:latin typeface="Cambria Math" panose="02040503050406030204" pitchFamily="18" charset="0"/>
                                        </a:rPr>
                                        <m:t>𝑏</m:t>
                                      </m:r>
                                    </m:sub>
                                  </m:sSub>
                                  <m:d>
                                    <m:dPr>
                                      <m:ctrlPr>
                                        <a:rPr lang="en-US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dPr>
                                    <m:e>
                                      <m:r>
                                        <a:rPr lang="en-US" i="1">
                                          <a:latin typeface="Cambria Math" panose="02040503050406030204" pitchFamily="18" charset="0"/>
                                        </a:rPr>
                                        <m:t>𝑖</m:t>
                                      </m:r>
                                      <m:r>
                                        <a:rPr lang="en-US" i="1">
                                          <a:latin typeface="Cambria Math" panose="02040503050406030204" pitchFamily="18" charset="0"/>
                                        </a:rPr>
                                        <m:t>,</m:t>
                                      </m:r>
                                      <m:r>
                                        <a:rPr lang="en-US" i="1">
                                          <a:latin typeface="Cambria Math" panose="02040503050406030204" pitchFamily="18" charset="0"/>
                                        </a:rPr>
                                        <m:t>𝑗</m:t>
                                      </m:r>
                                    </m:e>
                                  </m:d>
                                </m:e>
                              </m:d>
                            </m:e>
                          </m:nary>
                        </m:e>
                      </m:func>
                    </m:oMath>
                  </m:oMathPara>
                </a14:m>
                <a:endParaRPr lang="en-US" dirty="0"/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4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400" i="1">
                              <a:latin typeface="Cambria Math" panose="02040503050406030204" pitchFamily="18" charset="0"/>
                            </a:rPr>
                            <m:t>𝐸</m:t>
                          </m:r>
                        </m:e>
                        <m:sub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𝑏</m:t>
                          </m:r>
                        </m:sub>
                      </m:sSub>
                      <m:d>
                        <m:dPr>
                          <m:ctrlPr>
                            <a:rPr lang="en-US" sz="24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2400" i="1">
                              <a:latin typeface="Cambria Math" panose="02040503050406030204" pitchFamily="18" charset="0"/>
                            </a:rPr>
                            <m:t>𝑖</m:t>
                          </m:r>
                          <m:r>
                            <a:rPr lang="en-US" sz="2400" i="1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sz="2400" i="1">
                              <a:latin typeface="Cambria Math" panose="02040503050406030204" pitchFamily="18" charset="0"/>
                            </a:rPr>
                            <m:t>𝑗</m:t>
                          </m:r>
                        </m:e>
                      </m:d>
                      <m:r>
                        <a:rPr lang="en-US" sz="2400" i="1">
                          <a:latin typeface="Cambria Math" panose="02040503050406030204" pitchFamily="18" charset="0"/>
                        </a:rPr>
                        <m:t>=</m:t>
                      </m:r>
                      <m:sSup>
                        <m:sSupPr>
                          <m:ctrlPr>
                            <a:rPr lang="en-US" sz="2400" i="1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d>
                            <m:dPr>
                              <m:begChr m:val="["/>
                              <m:endChr m:val="]"/>
                              <m:ctrlPr>
                                <a:rPr lang="en-US" sz="2400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en-US" sz="2400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2400" i="1">
                                      <a:latin typeface="Cambria Math" panose="02040503050406030204" pitchFamily="18" charset="0"/>
                                    </a:rPr>
                                    <m:t>𝐼</m:t>
                                  </m:r>
                                </m:e>
                                <m:sub>
                                  <m:r>
                                    <a:rPr lang="en-US" sz="2400" i="1">
                                      <a:latin typeface="Cambria Math" panose="02040503050406030204" pitchFamily="18" charset="0"/>
                                    </a:rPr>
                                    <m:t>𝑥</m:t>
                                  </m:r>
                                </m:sub>
                              </m:sSub>
                              <m:r>
                                <a:rPr lang="en-US" sz="2400" i="1">
                                  <a:latin typeface="Cambria Math" panose="02040503050406030204" pitchFamily="18" charset="0"/>
                                </a:rPr>
                                <m:t>𝑢</m:t>
                              </m:r>
                              <m:r>
                                <a:rPr lang="en-US" sz="2400" i="1">
                                  <a:latin typeface="Cambria Math" panose="02040503050406030204" pitchFamily="18" charset="0"/>
                                </a:rPr>
                                <m:t>+</m:t>
                              </m:r>
                              <m:sSub>
                                <m:sSubPr>
                                  <m:ctrlPr>
                                    <a:rPr lang="en-US" sz="2400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2400" i="1">
                                      <a:latin typeface="Cambria Math" panose="02040503050406030204" pitchFamily="18" charset="0"/>
                                    </a:rPr>
                                    <m:t>𝐼</m:t>
                                  </m:r>
                                </m:e>
                                <m:sub>
                                  <m:r>
                                    <a:rPr lang="en-US" sz="2400" i="1">
                                      <a:latin typeface="Cambria Math" panose="02040503050406030204" pitchFamily="18" charset="0"/>
                                    </a:rPr>
                                    <m:t>𝑦</m:t>
                                  </m:r>
                                </m:sub>
                              </m:sSub>
                              <m:r>
                                <a:rPr lang="en-US" sz="2400" i="1">
                                  <a:latin typeface="Cambria Math" panose="02040503050406030204" pitchFamily="18" charset="0"/>
                                </a:rPr>
                                <m:t>𝑣</m:t>
                              </m:r>
                              <m:r>
                                <a:rPr lang="en-US" sz="2400" i="1">
                                  <a:latin typeface="Cambria Math" panose="02040503050406030204" pitchFamily="18" charset="0"/>
                                </a:rPr>
                                <m:t>+</m:t>
                              </m:r>
                              <m:sSub>
                                <m:sSubPr>
                                  <m:ctrlPr>
                                    <a:rPr lang="en-US" sz="2400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2400" i="1">
                                      <a:latin typeface="Cambria Math" panose="02040503050406030204" pitchFamily="18" charset="0"/>
                                    </a:rPr>
                                    <m:t>𝐼</m:t>
                                  </m:r>
                                </m:e>
                                <m:sub>
                                  <m:r>
                                    <a:rPr lang="en-US" sz="2400" i="1">
                                      <a:latin typeface="Cambria Math" panose="02040503050406030204" pitchFamily="18" charset="0"/>
                                    </a:rPr>
                                    <m:t>𝑡</m:t>
                                  </m:r>
                                </m:sub>
                              </m:sSub>
                            </m:e>
                          </m:d>
                        </m:e>
                        <m:sup>
                          <m:r>
                            <a:rPr lang="en-US" sz="2400" i="1">
                              <a:latin typeface="Cambria Math" panose="02040503050406030204" pitchFamily="18" charset="0"/>
                            </a:rPr>
                            <m:t>2</m:t>
                          </m:r>
                        </m:sup>
                      </m:sSup>
                    </m:oMath>
                  </m:oMathPara>
                </a14:m>
                <a:endParaRPr lang="en-US" sz="2400" dirty="0"/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4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𝐸</m:t>
                          </m:r>
                        </m:e>
                        <m:sub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𝑠</m:t>
                          </m:r>
                        </m:sub>
                      </m:sSub>
                      <m:d>
                        <m:dPr>
                          <m:ctrlPr>
                            <a:rPr lang="en-US" sz="24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𝑖</m:t>
                          </m:r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𝑗</m:t>
                          </m:r>
                        </m:e>
                      </m:d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n-US" sz="2400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4</m:t>
                          </m:r>
                        </m:den>
                      </m:f>
                      <m:d>
                        <m:dPr>
                          <m:begChr m:val="["/>
                          <m:endChr m:val="]"/>
                          <m:ctrlPr>
                            <a:rPr lang="en-US" sz="24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p>
                            <m:sSupPr>
                              <m:ctrlPr>
                                <a:rPr lang="en-US" sz="2400" b="0" i="1" smtClean="0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d>
                                <m:dPr>
                                  <m:ctrlPr>
                                    <a:rPr lang="en-US" sz="2400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sSub>
                                    <m:sSubPr>
                                      <m:ctrlPr>
                                        <a:rPr lang="en-US" sz="2400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sz="2400" i="1">
                                          <a:latin typeface="Cambria Math" panose="02040503050406030204" pitchFamily="18" charset="0"/>
                                        </a:rPr>
                                        <m:t>𝑢</m:t>
                                      </m:r>
                                    </m:e>
                                    <m:sub>
                                      <m:r>
                                        <a:rPr lang="en-US" sz="2400" i="1">
                                          <a:latin typeface="Cambria Math" panose="02040503050406030204" pitchFamily="18" charset="0"/>
                                        </a:rPr>
                                        <m:t>𝑖</m:t>
                                      </m:r>
                                      <m:r>
                                        <a:rPr lang="en-US" sz="2400" i="1">
                                          <a:latin typeface="Cambria Math" panose="02040503050406030204" pitchFamily="18" charset="0"/>
                                        </a:rPr>
                                        <m:t>,</m:t>
                                      </m:r>
                                      <m:r>
                                        <a:rPr lang="en-US" sz="2400" i="1">
                                          <a:latin typeface="Cambria Math" panose="02040503050406030204" pitchFamily="18" charset="0"/>
                                        </a:rPr>
                                        <m:t>𝑗</m:t>
                                      </m:r>
                                    </m:sub>
                                  </m:sSub>
                                  <m:r>
                                    <a:rPr lang="en-US" sz="2400" i="1">
                                      <a:latin typeface="Cambria Math" panose="02040503050406030204" pitchFamily="18" charset="0"/>
                                    </a:rPr>
                                    <m:t>−</m:t>
                                  </m:r>
                                  <m:sSub>
                                    <m:sSubPr>
                                      <m:ctrlPr>
                                        <a:rPr lang="en-US" sz="2400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sz="2400" i="1">
                                          <a:latin typeface="Cambria Math" panose="02040503050406030204" pitchFamily="18" charset="0"/>
                                        </a:rPr>
                                        <m:t>𝑢</m:t>
                                      </m:r>
                                    </m:e>
                                    <m:sub>
                                      <m:r>
                                        <a:rPr lang="en-US" sz="2400" i="1">
                                          <a:latin typeface="Cambria Math" panose="02040503050406030204" pitchFamily="18" charset="0"/>
                                        </a:rPr>
                                        <m:t>𝑖</m:t>
                                      </m:r>
                                      <m:r>
                                        <a:rPr lang="en-US" sz="2400" i="1">
                                          <a:latin typeface="Cambria Math" panose="02040503050406030204" pitchFamily="18" charset="0"/>
                                        </a:rPr>
                                        <m:t>+1,</m:t>
                                      </m:r>
                                      <m:r>
                                        <a:rPr lang="en-US" sz="2400" i="1">
                                          <a:latin typeface="Cambria Math" panose="02040503050406030204" pitchFamily="18" charset="0"/>
                                        </a:rPr>
                                        <m:t>𝑗</m:t>
                                      </m:r>
                                    </m:sub>
                                  </m:sSub>
                                </m:e>
                              </m:d>
                            </m:e>
                            <m:sup>
                              <m:r>
                                <a:rPr lang="en-US" sz="2400" b="0" i="1" smtClean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p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+</m:t>
                          </m:r>
                          <m:sSup>
                            <m:sSupPr>
                              <m:ctrlPr>
                                <a:rPr lang="en-US" sz="2400" i="1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d>
                                <m:dPr>
                                  <m:ctrlPr>
                                    <a:rPr lang="en-US" sz="2400" i="1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sSub>
                                    <m:sSubPr>
                                      <m:ctrlPr>
                                        <a:rPr lang="en-US" sz="2400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sz="2400" i="1">
                                          <a:latin typeface="Cambria Math" panose="02040503050406030204" pitchFamily="18" charset="0"/>
                                        </a:rPr>
                                        <m:t>𝑢</m:t>
                                      </m:r>
                                    </m:e>
                                    <m:sub>
                                      <m:r>
                                        <a:rPr lang="en-US" sz="2400" i="1">
                                          <a:latin typeface="Cambria Math" panose="02040503050406030204" pitchFamily="18" charset="0"/>
                                        </a:rPr>
                                        <m:t>𝑖</m:t>
                                      </m:r>
                                      <m:r>
                                        <a:rPr lang="en-US" sz="2400" i="1">
                                          <a:latin typeface="Cambria Math" panose="02040503050406030204" pitchFamily="18" charset="0"/>
                                        </a:rPr>
                                        <m:t>,</m:t>
                                      </m:r>
                                      <m:r>
                                        <a:rPr lang="en-US" sz="2400" i="1">
                                          <a:latin typeface="Cambria Math" panose="02040503050406030204" pitchFamily="18" charset="0"/>
                                        </a:rPr>
                                        <m:t>𝑗</m:t>
                                      </m:r>
                                    </m:sub>
                                  </m:sSub>
                                  <m:r>
                                    <a:rPr lang="en-US" sz="2400" i="1">
                                      <a:latin typeface="Cambria Math" panose="02040503050406030204" pitchFamily="18" charset="0"/>
                                    </a:rPr>
                                    <m:t>−</m:t>
                                  </m:r>
                                  <m:sSub>
                                    <m:sSubPr>
                                      <m:ctrlPr>
                                        <a:rPr lang="en-US" sz="2400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sz="2400" i="1">
                                          <a:latin typeface="Cambria Math" panose="02040503050406030204" pitchFamily="18" charset="0"/>
                                        </a:rPr>
                                        <m:t>𝑢</m:t>
                                      </m:r>
                                    </m:e>
                                    <m:sub>
                                      <m:r>
                                        <a:rPr lang="en-US" sz="2400" i="1">
                                          <a:latin typeface="Cambria Math" panose="02040503050406030204" pitchFamily="18" charset="0"/>
                                        </a:rPr>
                                        <m:t>𝑖</m:t>
                                      </m:r>
                                      <m:r>
                                        <a:rPr lang="en-US" sz="2400" i="1">
                                          <a:latin typeface="Cambria Math" panose="02040503050406030204" pitchFamily="18" charset="0"/>
                                        </a:rPr>
                                        <m:t>,</m:t>
                                      </m:r>
                                      <m:r>
                                        <a:rPr lang="en-US" sz="2400" i="1">
                                          <a:latin typeface="Cambria Math" panose="02040503050406030204" pitchFamily="18" charset="0"/>
                                        </a:rPr>
                                        <m:t>𝑗</m:t>
                                      </m:r>
                                      <m:r>
                                        <a:rPr lang="en-US" sz="2400" i="1">
                                          <a:latin typeface="Cambria Math" panose="02040503050406030204" pitchFamily="18" charset="0"/>
                                        </a:rPr>
                                        <m:t>+1</m:t>
                                      </m:r>
                                    </m:sub>
                                  </m:sSub>
                                </m:e>
                              </m:d>
                            </m:e>
                            <m:sup>
                              <m:r>
                                <a:rPr lang="en-US" sz="2400" i="1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p>
                          <m:r>
                            <a:rPr lang="en-US" sz="2400" i="1">
                              <a:latin typeface="Cambria Math" panose="02040503050406030204" pitchFamily="18" charset="0"/>
                            </a:rPr>
                            <m:t>+</m:t>
                          </m:r>
                          <m:sSup>
                            <m:sSupPr>
                              <m:ctrlPr>
                                <a:rPr lang="en-US" sz="2400" i="1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d>
                                <m:dPr>
                                  <m:ctrlPr>
                                    <a:rPr lang="en-US" sz="2400" i="1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sSub>
                                    <m:sSubPr>
                                      <m:ctrlPr>
                                        <a:rPr lang="en-US" sz="2400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sz="2400" i="1">
                                          <a:latin typeface="Cambria Math" panose="02040503050406030204" pitchFamily="18" charset="0"/>
                                        </a:rPr>
                                        <m:t>𝑣</m:t>
                                      </m:r>
                                    </m:e>
                                    <m:sub>
                                      <m:r>
                                        <a:rPr lang="en-US" sz="2400" i="1">
                                          <a:latin typeface="Cambria Math" panose="02040503050406030204" pitchFamily="18" charset="0"/>
                                        </a:rPr>
                                        <m:t>𝑖</m:t>
                                      </m:r>
                                      <m:r>
                                        <a:rPr lang="en-US" sz="2400" i="1">
                                          <a:latin typeface="Cambria Math" panose="02040503050406030204" pitchFamily="18" charset="0"/>
                                        </a:rPr>
                                        <m:t>,</m:t>
                                      </m:r>
                                      <m:r>
                                        <a:rPr lang="en-US" sz="2400" i="1">
                                          <a:latin typeface="Cambria Math" panose="02040503050406030204" pitchFamily="18" charset="0"/>
                                        </a:rPr>
                                        <m:t>𝑗</m:t>
                                      </m:r>
                                    </m:sub>
                                  </m:sSub>
                                  <m:r>
                                    <a:rPr lang="en-US" sz="2400" i="1">
                                      <a:latin typeface="Cambria Math" panose="02040503050406030204" pitchFamily="18" charset="0"/>
                                    </a:rPr>
                                    <m:t>−</m:t>
                                  </m:r>
                                  <m:sSub>
                                    <m:sSubPr>
                                      <m:ctrlPr>
                                        <a:rPr lang="en-US" sz="2400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sz="2400" i="1">
                                          <a:latin typeface="Cambria Math" panose="02040503050406030204" pitchFamily="18" charset="0"/>
                                        </a:rPr>
                                        <m:t>𝑣</m:t>
                                      </m:r>
                                    </m:e>
                                    <m:sub>
                                      <m:r>
                                        <a:rPr lang="en-US" sz="2400" i="1">
                                          <a:latin typeface="Cambria Math" panose="02040503050406030204" pitchFamily="18" charset="0"/>
                                        </a:rPr>
                                        <m:t>𝑖</m:t>
                                      </m:r>
                                      <m:r>
                                        <a:rPr lang="en-US" sz="2400" i="1">
                                          <a:latin typeface="Cambria Math" panose="02040503050406030204" pitchFamily="18" charset="0"/>
                                        </a:rPr>
                                        <m:t>+1,</m:t>
                                      </m:r>
                                      <m:r>
                                        <a:rPr lang="en-US" sz="2400" i="1">
                                          <a:latin typeface="Cambria Math" panose="02040503050406030204" pitchFamily="18" charset="0"/>
                                        </a:rPr>
                                        <m:t>𝑗</m:t>
                                      </m:r>
                                    </m:sub>
                                  </m:sSub>
                                </m:e>
                              </m:d>
                            </m:e>
                            <m:sup>
                              <m:r>
                                <a:rPr lang="en-US" sz="2400" i="1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p>
                          <m:r>
                            <a:rPr lang="en-US" sz="2400" i="1">
                              <a:latin typeface="Cambria Math" panose="02040503050406030204" pitchFamily="18" charset="0"/>
                            </a:rPr>
                            <m:t>+</m:t>
                          </m:r>
                          <m:sSup>
                            <m:sSupPr>
                              <m:ctrlPr>
                                <a:rPr lang="en-US" sz="2400" i="1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d>
                                <m:dPr>
                                  <m:ctrlPr>
                                    <a:rPr lang="en-US" sz="2400" i="1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sSub>
                                    <m:sSubPr>
                                      <m:ctrlPr>
                                        <a:rPr lang="en-US" sz="2400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sz="2400" i="1">
                                          <a:latin typeface="Cambria Math" panose="02040503050406030204" pitchFamily="18" charset="0"/>
                                        </a:rPr>
                                        <m:t>𝑣</m:t>
                                      </m:r>
                                    </m:e>
                                    <m:sub>
                                      <m:r>
                                        <a:rPr lang="en-US" sz="2400" i="1">
                                          <a:latin typeface="Cambria Math" panose="02040503050406030204" pitchFamily="18" charset="0"/>
                                        </a:rPr>
                                        <m:t>𝑖</m:t>
                                      </m:r>
                                      <m:r>
                                        <a:rPr lang="en-US" sz="2400" i="1">
                                          <a:latin typeface="Cambria Math" panose="02040503050406030204" pitchFamily="18" charset="0"/>
                                        </a:rPr>
                                        <m:t>,</m:t>
                                      </m:r>
                                      <m:r>
                                        <a:rPr lang="en-US" sz="2400" i="1">
                                          <a:latin typeface="Cambria Math" panose="02040503050406030204" pitchFamily="18" charset="0"/>
                                        </a:rPr>
                                        <m:t>𝑗</m:t>
                                      </m:r>
                                    </m:sub>
                                  </m:sSub>
                                  <m:r>
                                    <a:rPr lang="en-US" sz="2400" i="1">
                                      <a:latin typeface="Cambria Math" panose="02040503050406030204" pitchFamily="18" charset="0"/>
                                    </a:rPr>
                                    <m:t>−</m:t>
                                  </m:r>
                                  <m:sSub>
                                    <m:sSubPr>
                                      <m:ctrlPr>
                                        <a:rPr lang="en-US" sz="2400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sz="2400" i="1">
                                          <a:latin typeface="Cambria Math" panose="02040503050406030204" pitchFamily="18" charset="0"/>
                                        </a:rPr>
                                        <m:t>𝑣</m:t>
                                      </m:r>
                                    </m:e>
                                    <m:sub>
                                      <m:r>
                                        <a:rPr lang="en-US" sz="2400" i="1">
                                          <a:latin typeface="Cambria Math" panose="02040503050406030204" pitchFamily="18" charset="0"/>
                                        </a:rPr>
                                        <m:t>𝑖</m:t>
                                      </m:r>
                                      <m:r>
                                        <a:rPr lang="en-US" sz="2400" i="1">
                                          <a:latin typeface="Cambria Math" panose="02040503050406030204" pitchFamily="18" charset="0"/>
                                        </a:rPr>
                                        <m:t>,</m:t>
                                      </m:r>
                                      <m:r>
                                        <a:rPr lang="en-US" sz="2400" i="1">
                                          <a:latin typeface="Cambria Math" panose="02040503050406030204" pitchFamily="18" charset="0"/>
                                        </a:rPr>
                                        <m:t>𝑗</m:t>
                                      </m:r>
                                      <m:r>
                                        <a:rPr lang="en-US" sz="2400" i="1">
                                          <a:latin typeface="Cambria Math" panose="02040503050406030204" pitchFamily="18" charset="0"/>
                                        </a:rPr>
                                        <m:t>+1</m:t>
                                      </m:r>
                                    </m:sub>
                                  </m:sSub>
                                </m:e>
                              </m:d>
                            </m:e>
                            <m:sup>
                              <m:r>
                                <a:rPr lang="en-US" sz="2400" i="1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p>
                        </m:e>
                      </m:d>
                    </m:oMath>
                  </m:oMathPara>
                </a14:m>
                <a:endParaRPr lang="en-US" sz="2400" dirty="0"/>
              </a:p>
              <a:p>
                <a:endParaRPr lang="en-US" sz="2400" dirty="0"/>
              </a:p>
              <a:p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𝜆</m:t>
                    </m:r>
                  </m:oMath>
                </a14:m>
                <a:r>
                  <a:rPr lang="en-US" dirty="0"/>
                  <a:t> is tradeoff hyperparameter between smoothness consistency energy and brightness consistency energy   </a:t>
                </a:r>
              </a:p>
              <a:p>
                <a:pPr marL="0" indent="0">
                  <a:buNone/>
                </a:pPr>
                <a:endParaRPr lang="en-US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4DBC6555-A8E7-4F73-8035-156F702D1410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789301" y="1124338"/>
                <a:ext cx="11102662" cy="5338369"/>
              </a:xfrm>
              <a:blipFill>
                <a:blip r:embed="rId3"/>
                <a:stretch>
                  <a:fillRect l="-1098" t="-1826" r="-104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91719647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DFB6AB4-96EB-434D-8BFC-6697DE744D7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89301" y="140193"/>
            <a:ext cx="10515600" cy="872004"/>
          </a:xfrm>
        </p:spPr>
        <p:txBody>
          <a:bodyPr>
            <a:normAutofit/>
          </a:bodyPr>
          <a:lstStyle/>
          <a:p>
            <a:r>
              <a:rPr lang="en-US" sz="4000" dirty="0">
                <a:latin typeface="+mn-lt"/>
              </a:rPr>
              <a:t>The Horn-</a:t>
            </a:r>
            <a:r>
              <a:rPr lang="en-US" sz="4000" dirty="0" err="1">
                <a:latin typeface="+mn-lt"/>
              </a:rPr>
              <a:t>Schunck</a:t>
            </a:r>
            <a:r>
              <a:rPr lang="en-US" sz="4000" dirty="0">
                <a:latin typeface="+mn-lt"/>
              </a:rPr>
              <a:t> Algorithm 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4DBC6555-A8E7-4F73-8035-156F702D1410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789301" y="1124338"/>
                <a:ext cx="11102662" cy="5338369"/>
              </a:xfrm>
            </p:spPr>
            <p:txBody>
              <a:bodyPr>
                <a:normAutofit/>
              </a:bodyPr>
              <a:lstStyle/>
              <a:p>
                <a:pPr marL="0" indent="0">
                  <a:buNone/>
                </a:pPr>
                <a:r>
                  <a:rPr lang="en-US" b="1" dirty="0"/>
                  <a:t>Horn-</a:t>
                </a:r>
                <a:r>
                  <a:rPr lang="en-US" b="1" dirty="0" err="1"/>
                  <a:t>Schunck</a:t>
                </a:r>
                <a:r>
                  <a:rPr lang="en-US" b="1" dirty="0"/>
                  <a:t> algorithm</a:t>
                </a:r>
                <a:r>
                  <a:rPr lang="en-US" dirty="0"/>
                  <a:t> combines brightness consistency and smoothness consistency   </a:t>
                </a:r>
              </a:p>
              <a:p>
                <a:r>
                  <a:rPr lang="en-US" dirty="0"/>
                  <a:t>How can we solve for the minimum energy field?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unc>
                        <m:funcPr>
                          <m:ctrlPr>
                            <a:rPr lang="en-US" i="1" smtClean="0">
                              <a:latin typeface="Cambria Math" panose="02040503050406030204" pitchFamily="18" charset="0"/>
                            </a:rPr>
                          </m:ctrlPr>
                        </m:funcPr>
                        <m:fName>
                          <m:limLow>
                            <m:limLowPr>
                              <m:ctrlPr>
                                <a:rPr lang="en-US" i="1" smtClean="0">
                                  <a:latin typeface="Cambria Math" panose="02040503050406030204" pitchFamily="18" charset="0"/>
                                </a:rPr>
                              </m:ctrlPr>
                            </m:limLowPr>
                            <m:e>
                              <m:r>
                                <m:rPr>
                                  <m:sty m:val="p"/>
                                </m:rPr>
                                <a:rPr lang="en-US" i="0" smtClean="0">
                                  <a:latin typeface="Cambria Math" panose="02040503050406030204" pitchFamily="18" charset="0"/>
                                </a:rPr>
                                <m:t>min</m:t>
                              </m:r>
                            </m:e>
                            <m:lim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𝑢</m:t>
                              </m:r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,</m:t>
                              </m:r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𝑣</m:t>
                              </m:r>
                            </m:lim>
                          </m:limLow>
                        </m:fName>
                        <m:e>
                          <m:nary>
                            <m:naryPr>
                              <m:chr m:val="∑"/>
                              <m:supHide m:val="on"/>
                              <m:ctrlPr>
                                <a:rPr lang="en-US" i="1" smtClean="0">
                                  <a:latin typeface="Cambria Math" panose="02040503050406030204" pitchFamily="18" charset="0"/>
                                </a:rPr>
                              </m:ctrlPr>
                            </m:naryPr>
                            <m:sub>
                              <m:r>
                                <m:rPr>
                                  <m:brk m:alnAt="7"/>
                                </m:r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,</m:t>
                              </m:r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𝑗</m:t>
                              </m:r>
                            </m:sub>
                            <m:sup/>
                            <m:e>
                              <m:d>
                                <m:dPr>
                                  <m:begChr m:val="{"/>
                                  <m:endChr m:val="}"/>
                                  <m:ctrlPr>
                                    <a:rPr lang="en-US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sSub>
                                    <m:sSubPr>
                                      <m:ctrlPr>
                                        <a:rPr lang="en-US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i="1">
                                          <a:latin typeface="Cambria Math" panose="02040503050406030204" pitchFamily="18" charset="0"/>
                                        </a:rPr>
                                        <m:t>𝐸</m:t>
                                      </m:r>
                                    </m:e>
                                    <m:sub>
                                      <m:r>
                                        <a:rPr lang="en-US" i="1">
                                          <a:latin typeface="Cambria Math" panose="02040503050406030204" pitchFamily="18" charset="0"/>
                                        </a:rPr>
                                        <m:t>𝑠</m:t>
                                      </m:r>
                                    </m:sub>
                                  </m:sSub>
                                  <m:d>
                                    <m:dPr>
                                      <m:ctrlPr>
                                        <a:rPr lang="en-US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dPr>
                                    <m:e>
                                      <m:r>
                                        <a:rPr lang="en-US" i="1">
                                          <a:latin typeface="Cambria Math" panose="02040503050406030204" pitchFamily="18" charset="0"/>
                                        </a:rPr>
                                        <m:t>𝑖</m:t>
                                      </m:r>
                                      <m:r>
                                        <a:rPr lang="en-US" i="1">
                                          <a:latin typeface="Cambria Math" panose="02040503050406030204" pitchFamily="18" charset="0"/>
                                        </a:rPr>
                                        <m:t>,</m:t>
                                      </m:r>
                                      <m:r>
                                        <a:rPr lang="en-US" i="1">
                                          <a:latin typeface="Cambria Math" panose="02040503050406030204" pitchFamily="18" charset="0"/>
                                        </a:rPr>
                                        <m:t>𝑗</m:t>
                                      </m:r>
                                    </m:e>
                                  </m:d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+</m:t>
                                  </m:r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𝜆</m:t>
                                  </m:r>
                                  <m:sSub>
                                    <m:sSubPr>
                                      <m:ctrlPr>
                                        <a:rPr lang="en-US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i="1">
                                          <a:latin typeface="Cambria Math" panose="02040503050406030204" pitchFamily="18" charset="0"/>
                                        </a:rPr>
                                        <m:t>𝐸</m:t>
                                      </m:r>
                                    </m:e>
                                    <m:sub>
                                      <m:r>
                                        <a:rPr lang="en-US" b="0" i="1" smtClean="0">
                                          <a:latin typeface="Cambria Math" panose="02040503050406030204" pitchFamily="18" charset="0"/>
                                        </a:rPr>
                                        <m:t>𝑏</m:t>
                                      </m:r>
                                    </m:sub>
                                  </m:sSub>
                                  <m:d>
                                    <m:dPr>
                                      <m:ctrlPr>
                                        <a:rPr lang="en-US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dPr>
                                    <m:e>
                                      <m:r>
                                        <a:rPr lang="en-US" i="1">
                                          <a:latin typeface="Cambria Math" panose="02040503050406030204" pitchFamily="18" charset="0"/>
                                        </a:rPr>
                                        <m:t>𝑖</m:t>
                                      </m:r>
                                      <m:r>
                                        <a:rPr lang="en-US" i="1">
                                          <a:latin typeface="Cambria Math" panose="02040503050406030204" pitchFamily="18" charset="0"/>
                                        </a:rPr>
                                        <m:t>,</m:t>
                                      </m:r>
                                      <m:r>
                                        <a:rPr lang="en-US" i="1">
                                          <a:latin typeface="Cambria Math" panose="02040503050406030204" pitchFamily="18" charset="0"/>
                                        </a:rPr>
                                        <m:t>𝑗</m:t>
                                      </m:r>
                                    </m:e>
                                  </m:d>
                                </m:e>
                              </m:d>
                            </m:e>
                          </m:nary>
                        </m:e>
                      </m:func>
                    </m:oMath>
                  </m:oMathPara>
                </a14:m>
                <a:endParaRPr lang="en-US" dirty="0"/>
              </a:p>
              <a:p>
                <a:r>
                  <a:rPr lang="en-US" dirty="0"/>
                  <a:t>Is a nonlinear </a:t>
                </a:r>
                <a:r>
                  <a:rPr lang="en-US"/>
                  <a:t>optimization problem! </a:t>
                </a:r>
                <a:endParaRPr lang="en-US" dirty="0"/>
              </a:p>
              <a:p>
                <a:r>
                  <a:rPr lang="en-US" dirty="0"/>
                  <a:t>Use gradient descent </a:t>
                </a:r>
              </a:p>
              <a:p>
                <a:r>
                  <a:rPr lang="en-US" dirty="0"/>
                  <a:t>Surprisingly, gradient has closed form solution, so efficient calculation </a:t>
                </a:r>
              </a:p>
              <a:p>
                <a:pPr marL="0" indent="0">
                  <a:buNone/>
                </a:pPr>
                <a:endParaRPr lang="en-US" dirty="0"/>
              </a:p>
            </p:txBody>
          </p:sp>
        </mc:Choice>
        <mc:Fallback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4DBC6555-A8E7-4F73-8035-156F702D1410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789301" y="1124338"/>
                <a:ext cx="11102662" cy="5338369"/>
              </a:xfrm>
              <a:blipFill>
                <a:blip r:embed="rId3"/>
                <a:stretch>
                  <a:fillRect l="-1098" t="-1826" r="-104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73478669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DFB6AB4-96EB-434D-8BFC-6697DE744D7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89301" y="140193"/>
            <a:ext cx="10515600" cy="872004"/>
          </a:xfrm>
        </p:spPr>
        <p:txBody>
          <a:bodyPr>
            <a:normAutofit/>
          </a:bodyPr>
          <a:lstStyle/>
          <a:p>
            <a:r>
              <a:rPr lang="en-US" sz="4000" dirty="0">
                <a:latin typeface="+mn-lt"/>
              </a:rPr>
              <a:t>The Horn-</a:t>
            </a:r>
            <a:r>
              <a:rPr lang="en-US" sz="4000" dirty="0" err="1">
                <a:latin typeface="+mn-lt"/>
              </a:rPr>
              <a:t>Schunck</a:t>
            </a:r>
            <a:r>
              <a:rPr lang="en-US" sz="4000" dirty="0">
                <a:latin typeface="+mn-lt"/>
              </a:rPr>
              <a:t> Algorithm 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4DBC6555-A8E7-4F73-8035-156F702D1410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789301" y="1124338"/>
                <a:ext cx="11102662" cy="5338369"/>
              </a:xfrm>
            </p:spPr>
            <p:txBody>
              <a:bodyPr>
                <a:normAutofit/>
              </a:bodyPr>
              <a:lstStyle/>
              <a:p>
                <a:pPr marL="0" indent="0">
                  <a:buNone/>
                </a:pPr>
                <a:r>
                  <a:rPr lang="en-US" dirty="0"/>
                  <a:t>Properties of the Horn-</a:t>
                </a:r>
                <a:r>
                  <a:rPr lang="en-US" dirty="0" err="1"/>
                  <a:t>Schunck</a:t>
                </a:r>
                <a:r>
                  <a:rPr lang="en-US" dirty="0"/>
                  <a:t> algorithm</a:t>
                </a:r>
              </a:p>
              <a:p>
                <a:r>
                  <a:rPr lang="en-US" dirty="0"/>
                  <a:t>The tradeoff between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𝐸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𝑠</m:t>
                        </m:r>
                      </m:sub>
                    </m:sSub>
                    <m:d>
                      <m:d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𝑖</m:t>
                        </m:r>
                        <m:r>
                          <a:rPr lang="en-US" i="1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en-US" i="1">
                            <a:latin typeface="Cambria Math" panose="02040503050406030204" pitchFamily="18" charset="0"/>
                          </a:rPr>
                          <m:t>𝑗</m:t>
                        </m:r>
                      </m:e>
                    </m:d>
                  </m:oMath>
                </a14:m>
                <a:r>
                  <a:rPr lang="en-US" dirty="0"/>
                  <a:t>  and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𝐸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𝑏</m:t>
                        </m:r>
                      </m:sub>
                    </m:sSub>
                    <m:d>
                      <m:d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𝑖</m:t>
                        </m:r>
                        <m:r>
                          <a:rPr lang="en-US" i="1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en-US" i="1">
                            <a:latin typeface="Cambria Math" panose="02040503050406030204" pitchFamily="18" charset="0"/>
                          </a:rPr>
                          <m:t>𝑗</m:t>
                        </m:r>
                      </m:e>
                    </m:d>
                  </m:oMath>
                </a14:m>
                <a:r>
                  <a:rPr lang="en-US" dirty="0"/>
                  <a:t> is a regularization</a:t>
                </a:r>
              </a:p>
              <a:p>
                <a:r>
                  <a:rPr lang="en-US" dirty="0"/>
                  <a:t>In areas of images with high gradients (large eigenvalues), illumination consistency term,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𝐸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𝑏</m:t>
                        </m:r>
                      </m:sub>
                    </m:sSub>
                    <m:d>
                      <m:d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𝑖</m:t>
                        </m:r>
                        <m:r>
                          <a:rPr lang="en-US" i="1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en-US" i="1">
                            <a:latin typeface="Cambria Math" panose="02040503050406030204" pitchFamily="18" charset="0"/>
                          </a:rPr>
                          <m:t>𝑗</m:t>
                        </m:r>
                      </m:e>
                    </m:d>
                  </m:oMath>
                </a14:m>
                <a:r>
                  <a:rPr lang="en-US" dirty="0"/>
                  <a:t>, dominates   </a:t>
                </a:r>
              </a:p>
              <a:p>
                <a:r>
                  <a:rPr lang="en-US" dirty="0"/>
                  <a:t>In areas of images with low gradients (small eigenvalues), smoothness consistency,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𝐸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𝑠</m:t>
                        </m:r>
                      </m:sub>
                    </m:sSub>
                    <m:d>
                      <m:d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𝑖</m:t>
                        </m:r>
                        <m:r>
                          <a:rPr lang="en-US" i="1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en-US" i="1">
                            <a:latin typeface="Cambria Math" panose="02040503050406030204" pitchFamily="18" charset="0"/>
                          </a:rPr>
                          <m:t>𝑗</m:t>
                        </m:r>
                      </m:e>
                    </m:d>
                  </m:oMath>
                </a14:m>
                <a:r>
                  <a:rPr lang="en-US" dirty="0"/>
                  <a:t>, dominates</a:t>
                </a:r>
              </a:p>
              <a:p>
                <a:r>
                  <a:rPr lang="en-US" dirty="0"/>
                  <a:t>But, for </a:t>
                </a:r>
                <a:r>
                  <a:rPr lang="en-US" b="1" dirty="0"/>
                  <a:t>edges neither constraint binds </a:t>
                </a:r>
              </a:p>
              <a:p>
                <a:r>
                  <a:rPr lang="en-US" dirty="0"/>
                  <a:t>Further, the use of squared terms in energy functional amplifies noise  </a:t>
                </a:r>
              </a:p>
              <a:p>
                <a:pPr marL="0" indent="0">
                  <a:buNone/>
                </a:pPr>
                <a:endParaRPr lang="en-US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4DBC6555-A8E7-4F73-8035-156F702D1410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789301" y="1124338"/>
                <a:ext cx="11102662" cy="5338369"/>
              </a:xfrm>
              <a:blipFill>
                <a:blip r:embed="rId3"/>
                <a:stretch>
                  <a:fillRect l="-1098" t="-182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10969136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46856AD-D906-FEFD-7FD8-7B84DF60675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algn="ctr"/>
            <a:r>
              <a:rPr lang="en-US" sz="4000" dirty="0"/>
              <a:t>The TL-L1 Algorithm</a:t>
            </a:r>
          </a:p>
        </p:txBody>
      </p:sp>
    </p:spTree>
    <p:extLst>
      <p:ext uri="{BB962C8B-B14F-4D97-AF65-F5344CB8AC3E}">
        <p14:creationId xmlns:p14="http://schemas.microsoft.com/office/powerpoint/2010/main" val="2927385628"/>
      </p:ext>
    </p:extLst>
  </p:cSld>
  <p:clrMapOvr>
    <a:masterClrMapping/>
  </p:clrMapOvr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DFB6AB4-96EB-434D-8BFC-6697DE744D7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89301" y="140193"/>
            <a:ext cx="10515600" cy="872004"/>
          </a:xfrm>
        </p:spPr>
        <p:txBody>
          <a:bodyPr>
            <a:normAutofit/>
          </a:bodyPr>
          <a:lstStyle/>
          <a:p>
            <a:r>
              <a:rPr lang="en-US" sz="4000" dirty="0">
                <a:latin typeface="+mn-lt"/>
              </a:rPr>
              <a:t>The TV-L1 Algorithm 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DBC6555-A8E7-4F73-8035-156F702D141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89301" y="1124338"/>
            <a:ext cx="11102662" cy="5338369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dirty="0"/>
              <a:t>The TV-L1 algorithm overcomes some deficiencies of Horn-</a:t>
            </a:r>
            <a:r>
              <a:rPr lang="en-US" dirty="0" err="1"/>
              <a:t>Schunck</a:t>
            </a:r>
            <a:r>
              <a:rPr lang="en-US" dirty="0"/>
              <a:t> </a:t>
            </a:r>
          </a:p>
          <a:p>
            <a:r>
              <a:rPr lang="en-US" dirty="0">
                <a:hlinkClick r:id="rId3"/>
              </a:rPr>
              <a:t>Sánchez, et. al., 2013</a:t>
            </a:r>
            <a:r>
              <a:rPr lang="en-US" dirty="0"/>
              <a:t>, proposed a generalization of the Horn-</a:t>
            </a:r>
            <a:r>
              <a:rPr lang="en-US" dirty="0" err="1"/>
              <a:t>Schunck</a:t>
            </a:r>
            <a:r>
              <a:rPr lang="en-US" dirty="0"/>
              <a:t> algorithm   </a:t>
            </a:r>
          </a:p>
          <a:p>
            <a:r>
              <a:rPr lang="en-US" dirty="0"/>
              <a:t>Horn-</a:t>
            </a:r>
            <a:r>
              <a:rPr lang="en-US" dirty="0" err="1"/>
              <a:t>Schunck</a:t>
            </a:r>
            <a:r>
              <a:rPr lang="en-US" dirty="0"/>
              <a:t> is based on L2 (least squares) norm</a:t>
            </a:r>
          </a:p>
          <a:p>
            <a:pPr lvl="1"/>
            <a:r>
              <a:rPr lang="en-US" dirty="0"/>
              <a:t>Sensitive to noise and poor performance on edges  </a:t>
            </a:r>
          </a:p>
          <a:p>
            <a:r>
              <a:rPr lang="en-US" dirty="0"/>
              <a:t>Sánchez, et. al. noted that other norms can be used, in particular the L1 norm</a:t>
            </a:r>
          </a:p>
          <a:p>
            <a:pPr lvl="1"/>
            <a:r>
              <a:rPr lang="en-US" dirty="0"/>
              <a:t>Less sensitive to noise</a:t>
            </a:r>
          </a:p>
          <a:p>
            <a:pPr lvl="1"/>
            <a:r>
              <a:rPr lang="en-US" dirty="0"/>
              <a:t>Better behavior with edges </a:t>
            </a:r>
          </a:p>
        </p:txBody>
      </p:sp>
    </p:spTree>
    <p:extLst>
      <p:ext uri="{BB962C8B-B14F-4D97-AF65-F5344CB8AC3E}">
        <p14:creationId xmlns:p14="http://schemas.microsoft.com/office/powerpoint/2010/main" val="145759954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DFB6AB4-96EB-434D-8BFC-6697DE744D7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89301" y="140193"/>
            <a:ext cx="10515600" cy="872004"/>
          </a:xfrm>
        </p:spPr>
        <p:txBody>
          <a:bodyPr>
            <a:normAutofit/>
          </a:bodyPr>
          <a:lstStyle/>
          <a:p>
            <a:r>
              <a:rPr lang="en-US" sz="4000" dirty="0">
                <a:latin typeface="+mn-lt"/>
              </a:rPr>
              <a:t>The TV-L1 Algorithm 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4DBC6555-A8E7-4F73-8035-156F702D1410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789301" y="1124338"/>
                <a:ext cx="11102662" cy="5338369"/>
              </a:xfrm>
            </p:spPr>
            <p:txBody>
              <a:bodyPr>
                <a:normAutofit lnSpcReduction="10000"/>
              </a:bodyPr>
              <a:lstStyle/>
              <a:p>
                <a:pPr marL="0" indent="0">
                  <a:buNone/>
                </a:pPr>
                <a:r>
                  <a:rPr lang="en-US" dirty="0"/>
                  <a:t>The TV-L1 algorithm overcomes some deficiencies of Horn-</a:t>
                </a:r>
                <a:r>
                  <a:rPr lang="en-US" dirty="0" err="1"/>
                  <a:t>Schunck</a:t>
                </a:r>
                <a:r>
                  <a:rPr lang="en-US" dirty="0"/>
                  <a:t> </a:t>
                </a:r>
              </a:p>
              <a:p>
                <a:r>
                  <a:rPr lang="en-US" dirty="0"/>
                  <a:t>TV-L1 uses an energy functional employing the L1 norm, denoted </a:t>
                </a:r>
                <a14:m>
                  <m:oMath xmlns:m="http://schemas.openxmlformats.org/officeDocument/2006/math">
                    <m:d>
                      <m:dPr>
                        <m:begChr m:val="|"/>
                        <m:endChr m:val="|"/>
                        <m:ctrlPr>
                          <a:rPr lang="en-US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 </m:t>
                        </m:r>
                      </m:e>
                    </m:d>
                  </m:oMath>
                </a14:m>
                <a:endParaRPr lang="en-US" dirty="0"/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unc>
                        <m:func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funcPr>
                        <m:fName>
                          <m:limLow>
                            <m:limLow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limLowPr>
                            <m:e>
                              <m:r>
                                <m:rPr>
                                  <m:sty m:val="p"/>
                                </m:rPr>
                                <a:rPr lang="en-US">
                                  <a:latin typeface="Cambria Math" panose="02040503050406030204" pitchFamily="18" charset="0"/>
                                </a:rPr>
                                <m:t>min</m:t>
                              </m:r>
                            </m:e>
                            <m:lim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𝑢</m:t>
                              </m:r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,</m:t>
                              </m:r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𝑣</m:t>
                              </m:r>
                            </m:lim>
                          </m:limLow>
                        </m:fName>
                        <m:e>
                          <m:nary>
                            <m:naryPr>
                              <m:chr m:val="∑"/>
                              <m:supHide m:val="on"/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naryPr>
                            <m:sub>
                              <m:r>
                                <m:rPr>
                                  <m:brk m:alnAt="7"/>
                                </m:rPr>
                                <a:rPr lang="en-US" i="1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,</m:t>
                              </m:r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𝑗</m:t>
                              </m:r>
                            </m:sub>
                            <m:sup/>
                            <m:e>
                              <m:d>
                                <m:dPr>
                                  <m:begChr m:val="{"/>
                                  <m:endChr m:val="}"/>
                                  <m:ctrlPr>
                                    <a:rPr lang="en-US" i="1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sSub>
                                    <m:sSubPr>
                                      <m:ctrlPr>
                                        <a:rPr lang="en-US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i="1">
                                          <a:latin typeface="Cambria Math" panose="02040503050406030204" pitchFamily="18" charset="0"/>
                                        </a:rPr>
                                        <m:t>𝐸</m:t>
                                      </m:r>
                                    </m:e>
                                    <m:sub>
                                      <m:r>
                                        <a:rPr lang="en-US" i="1">
                                          <a:latin typeface="Cambria Math" panose="02040503050406030204" pitchFamily="18" charset="0"/>
                                        </a:rPr>
                                        <m:t>𝑠</m:t>
                                      </m:r>
                                    </m:sub>
                                  </m:sSub>
                                  <m:d>
                                    <m:dPr>
                                      <m:ctrlPr>
                                        <a:rPr lang="en-US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dPr>
                                    <m:e>
                                      <m:r>
                                        <a:rPr lang="en-US" i="1">
                                          <a:latin typeface="Cambria Math" panose="02040503050406030204" pitchFamily="18" charset="0"/>
                                        </a:rPr>
                                        <m:t>𝑖</m:t>
                                      </m:r>
                                      <m:r>
                                        <a:rPr lang="en-US" i="1">
                                          <a:latin typeface="Cambria Math" panose="02040503050406030204" pitchFamily="18" charset="0"/>
                                        </a:rPr>
                                        <m:t>,</m:t>
                                      </m:r>
                                      <m:r>
                                        <a:rPr lang="en-US" i="1">
                                          <a:latin typeface="Cambria Math" panose="02040503050406030204" pitchFamily="18" charset="0"/>
                                        </a:rPr>
                                        <m:t>𝑗</m:t>
                                      </m:r>
                                    </m:e>
                                  </m:d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+</m:t>
                                  </m:r>
                                  <m:r>
                                    <a:rPr lang="en-US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𝜆</m:t>
                                  </m:r>
                                  <m:sSub>
                                    <m:sSubPr>
                                      <m:ctrlPr>
                                        <a:rPr lang="en-US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i="1">
                                          <a:latin typeface="Cambria Math" panose="02040503050406030204" pitchFamily="18" charset="0"/>
                                        </a:rPr>
                                        <m:t>𝐸</m:t>
                                      </m:r>
                                    </m:e>
                                    <m:sub>
                                      <m:r>
                                        <a:rPr lang="en-US" b="0" i="1" smtClean="0">
                                          <a:latin typeface="Cambria Math" panose="02040503050406030204" pitchFamily="18" charset="0"/>
                                        </a:rPr>
                                        <m:t>𝑏</m:t>
                                      </m:r>
                                    </m:sub>
                                  </m:sSub>
                                  <m:d>
                                    <m:dPr>
                                      <m:ctrlPr>
                                        <a:rPr lang="en-US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dPr>
                                    <m:e>
                                      <m:r>
                                        <a:rPr lang="en-US" i="1">
                                          <a:latin typeface="Cambria Math" panose="02040503050406030204" pitchFamily="18" charset="0"/>
                                        </a:rPr>
                                        <m:t>𝑖</m:t>
                                      </m:r>
                                      <m:r>
                                        <a:rPr lang="en-US" i="1">
                                          <a:latin typeface="Cambria Math" panose="02040503050406030204" pitchFamily="18" charset="0"/>
                                        </a:rPr>
                                        <m:t>,</m:t>
                                      </m:r>
                                      <m:r>
                                        <a:rPr lang="en-US" i="1">
                                          <a:latin typeface="Cambria Math" panose="02040503050406030204" pitchFamily="18" charset="0"/>
                                        </a:rPr>
                                        <m:t>𝑗</m:t>
                                      </m:r>
                                    </m:e>
                                  </m:d>
                                </m:e>
                              </m:d>
                            </m:e>
                          </m:nary>
                        </m:e>
                      </m:func>
                    </m:oMath>
                  </m:oMathPara>
                </a14:m>
                <a:endParaRPr lang="en-US" dirty="0"/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4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400" i="1">
                              <a:latin typeface="Cambria Math" panose="02040503050406030204" pitchFamily="18" charset="0"/>
                            </a:rPr>
                            <m:t>𝐸</m:t>
                          </m:r>
                        </m:e>
                        <m:sub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𝑏</m:t>
                          </m:r>
                        </m:sub>
                      </m:sSub>
                      <m:d>
                        <m:dPr>
                          <m:ctrlPr>
                            <a:rPr lang="en-US" sz="24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2400" i="1">
                              <a:latin typeface="Cambria Math" panose="02040503050406030204" pitchFamily="18" charset="0"/>
                            </a:rPr>
                            <m:t>𝑖</m:t>
                          </m:r>
                          <m:r>
                            <a:rPr lang="en-US" sz="2400" i="1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sz="2400" i="1">
                              <a:latin typeface="Cambria Math" panose="02040503050406030204" pitchFamily="18" charset="0"/>
                            </a:rPr>
                            <m:t>𝑗</m:t>
                          </m:r>
                        </m:e>
                      </m:d>
                      <m:r>
                        <a:rPr lang="en-US" sz="2400" i="1">
                          <a:latin typeface="Cambria Math" panose="02040503050406030204" pitchFamily="18" charset="0"/>
                        </a:rPr>
                        <m:t>=</m:t>
                      </m:r>
                      <m:d>
                        <m:dPr>
                          <m:begChr m:val="|"/>
                          <m:endChr m:val="|"/>
                          <m:ctrlPr>
                            <a:rPr lang="en-US" sz="240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sz="24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2400" i="1">
                                  <a:latin typeface="Cambria Math" panose="02040503050406030204" pitchFamily="18" charset="0"/>
                                </a:rPr>
                                <m:t>𝐼</m:t>
                              </m:r>
                            </m:e>
                            <m:sub>
                              <m:r>
                                <a:rPr lang="en-US" sz="2400" i="1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sub>
                          </m:sSub>
                          <m:r>
                            <a:rPr lang="en-US" sz="2400" i="1">
                              <a:latin typeface="Cambria Math" panose="02040503050406030204" pitchFamily="18" charset="0"/>
                            </a:rPr>
                            <m:t>𝑢</m:t>
                          </m:r>
                          <m:r>
                            <a:rPr lang="en-US" sz="2400" i="1">
                              <a:latin typeface="Cambria Math" panose="02040503050406030204" pitchFamily="18" charset="0"/>
                            </a:rPr>
                            <m:t>+</m:t>
                          </m:r>
                          <m:sSub>
                            <m:sSubPr>
                              <m:ctrlPr>
                                <a:rPr lang="en-US" sz="24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2400" i="1">
                                  <a:latin typeface="Cambria Math" panose="02040503050406030204" pitchFamily="18" charset="0"/>
                                </a:rPr>
                                <m:t>𝐼</m:t>
                              </m:r>
                            </m:e>
                            <m:sub>
                              <m:r>
                                <a:rPr lang="en-US" sz="2400" i="1">
                                  <a:latin typeface="Cambria Math" panose="02040503050406030204" pitchFamily="18" charset="0"/>
                                </a:rPr>
                                <m:t>𝑦</m:t>
                              </m:r>
                            </m:sub>
                          </m:sSub>
                          <m:r>
                            <a:rPr lang="en-US" sz="2400" i="1">
                              <a:latin typeface="Cambria Math" panose="02040503050406030204" pitchFamily="18" charset="0"/>
                            </a:rPr>
                            <m:t>𝑣</m:t>
                          </m:r>
                          <m:r>
                            <a:rPr lang="en-US" sz="2400" i="1">
                              <a:latin typeface="Cambria Math" panose="02040503050406030204" pitchFamily="18" charset="0"/>
                            </a:rPr>
                            <m:t>+</m:t>
                          </m:r>
                          <m:sSub>
                            <m:sSubPr>
                              <m:ctrlPr>
                                <a:rPr lang="en-US" sz="24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2400" i="1">
                                  <a:latin typeface="Cambria Math" panose="02040503050406030204" pitchFamily="18" charset="0"/>
                                </a:rPr>
                                <m:t>𝐼</m:t>
                              </m:r>
                            </m:e>
                            <m:sub>
                              <m:r>
                                <a:rPr lang="en-US" sz="2400" i="1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</m:sub>
                          </m:sSub>
                        </m:e>
                      </m:d>
                    </m:oMath>
                  </m:oMathPara>
                </a14:m>
                <a:endParaRPr lang="en-US" dirty="0"/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4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400" i="1">
                              <a:latin typeface="Cambria Math" panose="02040503050406030204" pitchFamily="18" charset="0"/>
                            </a:rPr>
                            <m:t>𝐸</m:t>
                          </m:r>
                        </m:e>
                        <m:sub>
                          <m:r>
                            <a:rPr lang="en-US" sz="2400" i="1">
                              <a:latin typeface="Cambria Math" panose="02040503050406030204" pitchFamily="18" charset="0"/>
                            </a:rPr>
                            <m:t>𝑠</m:t>
                          </m:r>
                        </m:sub>
                      </m:sSub>
                      <m:d>
                        <m:dPr>
                          <m:ctrlPr>
                            <a:rPr lang="en-US" sz="24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2400" i="1">
                              <a:latin typeface="Cambria Math" panose="02040503050406030204" pitchFamily="18" charset="0"/>
                            </a:rPr>
                            <m:t>𝑖</m:t>
                          </m:r>
                          <m:r>
                            <a:rPr lang="en-US" sz="2400" i="1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sz="2400" i="1">
                              <a:latin typeface="Cambria Math" panose="02040503050406030204" pitchFamily="18" charset="0"/>
                            </a:rPr>
                            <m:t>𝑗</m:t>
                          </m:r>
                        </m:e>
                      </m:d>
                      <m:r>
                        <a:rPr lang="en-US" sz="2400" i="1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n-US" sz="2400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sz="2400" i="1"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lang="en-US" sz="2400" i="1">
                              <a:latin typeface="Cambria Math" panose="02040503050406030204" pitchFamily="18" charset="0"/>
                            </a:rPr>
                            <m:t>4</m:t>
                          </m:r>
                        </m:den>
                      </m:f>
                      <m:d>
                        <m:dPr>
                          <m:begChr m:val="["/>
                          <m:endChr m:val="]"/>
                          <m:ctrlPr>
                            <a:rPr lang="en-US" sz="240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d>
                            <m:dPr>
                              <m:begChr m:val="|"/>
                              <m:endChr m:val="|"/>
                              <m:ctrlPr>
                                <a:rPr lang="en-US" sz="2400" i="1" smtClean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en-US" sz="2400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2400" i="1">
                                      <a:latin typeface="Cambria Math" panose="02040503050406030204" pitchFamily="18" charset="0"/>
                                    </a:rPr>
                                    <m:t>𝑢</m:t>
                                  </m:r>
                                </m:e>
                                <m:sub>
                                  <m:r>
                                    <a:rPr lang="en-US" sz="2400" i="1">
                                      <a:latin typeface="Cambria Math" panose="02040503050406030204" pitchFamily="18" charset="0"/>
                                    </a:rPr>
                                    <m:t>𝑖</m:t>
                                  </m:r>
                                  <m:r>
                                    <a:rPr lang="en-US" sz="2400" i="1">
                                      <a:latin typeface="Cambria Math" panose="02040503050406030204" pitchFamily="18" charset="0"/>
                                    </a:rPr>
                                    <m:t>,</m:t>
                                  </m:r>
                                  <m:r>
                                    <a:rPr lang="en-US" sz="2400" i="1">
                                      <a:latin typeface="Cambria Math" panose="02040503050406030204" pitchFamily="18" charset="0"/>
                                    </a:rPr>
                                    <m:t>𝑗</m:t>
                                  </m:r>
                                </m:sub>
                              </m:sSub>
                              <m:r>
                                <a:rPr lang="en-US" sz="2400" i="1">
                                  <a:latin typeface="Cambria Math" panose="02040503050406030204" pitchFamily="18" charset="0"/>
                                </a:rPr>
                                <m:t>−</m:t>
                              </m:r>
                              <m:sSub>
                                <m:sSubPr>
                                  <m:ctrlPr>
                                    <a:rPr lang="en-US" sz="2400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2400" i="1">
                                      <a:latin typeface="Cambria Math" panose="02040503050406030204" pitchFamily="18" charset="0"/>
                                    </a:rPr>
                                    <m:t>𝑢</m:t>
                                  </m:r>
                                </m:e>
                                <m:sub>
                                  <m:r>
                                    <a:rPr lang="en-US" sz="2400" i="1">
                                      <a:latin typeface="Cambria Math" panose="02040503050406030204" pitchFamily="18" charset="0"/>
                                    </a:rPr>
                                    <m:t>𝑖</m:t>
                                  </m:r>
                                  <m:r>
                                    <a:rPr lang="en-US" sz="2400" i="1">
                                      <a:latin typeface="Cambria Math" panose="02040503050406030204" pitchFamily="18" charset="0"/>
                                    </a:rPr>
                                    <m:t>+1,</m:t>
                                  </m:r>
                                  <m:r>
                                    <a:rPr lang="en-US" sz="2400" i="1">
                                      <a:latin typeface="Cambria Math" panose="02040503050406030204" pitchFamily="18" charset="0"/>
                                    </a:rPr>
                                    <m:t>𝑗</m:t>
                                  </m:r>
                                </m:sub>
                              </m:sSub>
                            </m:e>
                          </m:d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+</m:t>
                          </m:r>
                          <m:d>
                            <m:dPr>
                              <m:begChr m:val="|"/>
                              <m:endChr m:val="|"/>
                              <m:ctrlPr>
                                <a:rPr lang="en-US" sz="2400" b="0" i="1" smtClean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en-US" sz="2400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2400" i="1">
                                      <a:latin typeface="Cambria Math" panose="02040503050406030204" pitchFamily="18" charset="0"/>
                                    </a:rPr>
                                    <m:t>𝑢</m:t>
                                  </m:r>
                                </m:e>
                                <m:sub>
                                  <m:r>
                                    <a:rPr lang="en-US" sz="2400" i="1">
                                      <a:latin typeface="Cambria Math" panose="02040503050406030204" pitchFamily="18" charset="0"/>
                                    </a:rPr>
                                    <m:t>𝑖</m:t>
                                  </m:r>
                                  <m:r>
                                    <a:rPr lang="en-US" sz="2400" i="1">
                                      <a:latin typeface="Cambria Math" panose="02040503050406030204" pitchFamily="18" charset="0"/>
                                    </a:rPr>
                                    <m:t>,</m:t>
                                  </m:r>
                                  <m:r>
                                    <a:rPr lang="en-US" sz="2400" i="1">
                                      <a:latin typeface="Cambria Math" panose="02040503050406030204" pitchFamily="18" charset="0"/>
                                    </a:rPr>
                                    <m:t>𝑗</m:t>
                                  </m:r>
                                </m:sub>
                              </m:sSub>
                              <m:r>
                                <a:rPr lang="en-US" sz="2400" i="1">
                                  <a:latin typeface="Cambria Math" panose="02040503050406030204" pitchFamily="18" charset="0"/>
                                </a:rPr>
                                <m:t>−</m:t>
                              </m:r>
                              <m:sSub>
                                <m:sSubPr>
                                  <m:ctrlPr>
                                    <a:rPr lang="en-US" sz="2400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2400" i="1">
                                      <a:latin typeface="Cambria Math" panose="02040503050406030204" pitchFamily="18" charset="0"/>
                                    </a:rPr>
                                    <m:t>𝑢</m:t>
                                  </m:r>
                                </m:e>
                                <m:sub>
                                  <m:r>
                                    <a:rPr lang="en-US" sz="2400" i="1">
                                      <a:latin typeface="Cambria Math" panose="02040503050406030204" pitchFamily="18" charset="0"/>
                                    </a:rPr>
                                    <m:t>𝑖</m:t>
                                  </m:r>
                                  <m:r>
                                    <a:rPr lang="en-US" sz="2400" i="1">
                                      <a:latin typeface="Cambria Math" panose="02040503050406030204" pitchFamily="18" charset="0"/>
                                    </a:rPr>
                                    <m:t>,</m:t>
                                  </m:r>
                                  <m:r>
                                    <a:rPr lang="en-US" sz="2400" i="1">
                                      <a:latin typeface="Cambria Math" panose="02040503050406030204" pitchFamily="18" charset="0"/>
                                    </a:rPr>
                                    <m:t>𝑗</m:t>
                                  </m:r>
                                  <m:r>
                                    <a:rPr lang="en-US" sz="2400" i="1">
                                      <a:latin typeface="Cambria Math" panose="02040503050406030204" pitchFamily="18" charset="0"/>
                                    </a:rPr>
                                    <m:t>+1</m:t>
                                  </m:r>
                                </m:sub>
                              </m:sSub>
                            </m:e>
                          </m:d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+</m:t>
                          </m:r>
                          <m:d>
                            <m:dPr>
                              <m:begChr m:val="|"/>
                              <m:endChr m:val="|"/>
                              <m:ctrlPr>
                                <a:rPr lang="en-US" sz="2400" b="0" i="1" smtClean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en-US" sz="2400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2400" i="1">
                                      <a:latin typeface="Cambria Math" panose="02040503050406030204" pitchFamily="18" charset="0"/>
                                    </a:rPr>
                                    <m:t>𝑣</m:t>
                                  </m:r>
                                </m:e>
                                <m:sub>
                                  <m:r>
                                    <a:rPr lang="en-US" sz="2400" i="1">
                                      <a:latin typeface="Cambria Math" panose="02040503050406030204" pitchFamily="18" charset="0"/>
                                    </a:rPr>
                                    <m:t>𝑖</m:t>
                                  </m:r>
                                  <m:r>
                                    <a:rPr lang="en-US" sz="2400" i="1">
                                      <a:latin typeface="Cambria Math" panose="02040503050406030204" pitchFamily="18" charset="0"/>
                                    </a:rPr>
                                    <m:t>,</m:t>
                                  </m:r>
                                  <m:r>
                                    <a:rPr lang="en-US" sz="2400" i="1">
                                      <a:latin typeface="Cambria Math" panose="02040503050406030204" pitchFamily="18" charset="0"/>
                                    </a:rPr>
                                    <m:t>𝑗</m:t>
                                  </m:r>
                                </m:sub>
                              </m:sSub>
                              <m:r>
                                <a:rPr lang="en-US" sz="2400" i="1">
                                  <a:latin typeface="Cambria Math" panose="02040503050406030204" pitchFamily="18" charset="0"/>
                                </a:rPr>
                                <m:t>−</m:t>
                              </m:r>
                              <m:sSub>
                                <m:sSubPr>
                                  <m:ctrlPr>
                                    <a:rPr lang="en-US" sz="2400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2400" i="1">
                                      <a:latin typeface="Cambria Math" panose="02040503050406030204" pitchFamily="18" charset="0"/>
                                    </a:rPr>
                                    <m:t>𝑣</m:t>
                                  </m:r>
                                </m:e>
                                <m:sub>
                                  <m:r>
                                    <a:rPr lang="en-US" sz="2400" i="1">
                                      <a:latin typeface="Cambria Math" panose="02040503050406030204" pitchFamily="18" charset="0"/>
                                    </a:rPr>
                                    <m:t>𝑖</m:t>
                                  </m:r>
                                  <m:r>
                                    <a:rPr lang="en-US" sz="2400" i="1">
                                      <a:latin typeface="Cambria Math" panose="02040503050406030204" pitchFamily="18" charset="0"/>
                                    </a:rPr>
                                    <m:t>+1,</m:t>
                                  </m:r>
                                  <m:r>
                                    <a:rPr lang="en-US" sz="2400" i="1">
                                      <a:latin typeface="Cambria Math" panose="02040503050406030204" pitchFamily="18" charset="0"/>
                                    </a:rPr>
                                    <m:t>𝑗</m:t>
                                  </m:r>
                                </m:sub>
                              </m:sSub>
                            </m:e>
                          </m:d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+</m:t>
                          </m:r>
                          <m:d>
                            <m:dPr>
                              <m:begChr m:val="|"/>
                              <m:endChr m:val="|"/>
                              <m:ctrlPr>
                                <a:rPr lang="en-US" sz="2400" b="0" i="1" smtClean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en-US" sz="2400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2400" i="1">
                                      <a:latin typeface="Cambria Math" panose="02040503050406030204" pitchFamily="18" charset="0"/>
                                    </a:rPr>
                                    <m:t>𝑣</m:t>
                                  </m:r>
                                </m:e>
                                <m:sub>
                                  <m:r>
                                    <a:rPr lang="en-US" sz="2400" i="1">
                                      <a:latin typeface="Cambria Math" panose="02040503050406030204" pitchFamily="18" charset="0"/>
                                    </a:rPr>
                                    <m:t>𝑖</m:t>
                                  </m:r>
                                  <m:r>
                                    <a:rPr lang="en-US" sz="2400" i="1">
                                      <a:latin typeface="Cambria Math" panose="02040503050406030204" pitchFamily="18" charset="0"/>
                                    </a:rPr>
                                    <m:t>,</m:t>
                                  </m:r>
                                  <m:r>
                                    <a:rPr lang="en-US" sz="2400" i="1">
                                      <a:latin typeface="Cambria Math" panose="02040503050406030204" pitchFamily="18" charset="0"/>
                                    </a:rPr>
                                    <m:t>𝑗</m:t>
                                  </m:r>
                                </m:sub>
                              </m:sSub>
                              <m:r>
                                <a:rPr lang="en-US" sz="2400" i="1">
                                  <a:latin typeface="Cambria Math" panose="02040503050406030204" pitchFamily="18" charset="0"/>
                                </a:rPr>
                                <m:t>−</m:t>
                              </m:r>
                              <m:sSub>
                                <m:sSubPr>
                                  <m:ctrlPr>
                                    <a:rPr lang="en-US" sz="2400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2400" i="1">
                                      <a:latin typeface="Cambria Math" panose="02040503050406030204" pitchFamily="18" charset="0"/>
                                    </a:rPr>
                                    <m:t>𝑣</m:t>
                                  </m:r>
                                </m:e>
                                <m:sub>
                                  <m:r>
                                    <a:rPr lang="en-US" sz="2400" i="1">
                                      <a:latin typeface="Cambria Math" panose="02040503050406030204" pitchFamily="18" charset="0"/>
                                    </a:rPr>
                                    <m:t>𝑖</m:t>
                                  </m:r>
                                  <m:r>
                                    <a:rPr lang="en-US" sz="2400" i="1">
                                      <a:latin typeface="Cambria Math" panose="02040503050406030204" pitchFamily="18" charset="0"/>
                                    </a:rPr>
                                    <m:t>,</m:t>
                                  </m:r>
                                  <m:r>
                                    <a:rPr lang="en-US" sz="2400" i="1">
                                      <a:latin typeface="Cambria Math" panose="02040503050406030204" pitchFamily="18" charset="0"/>
                                    </a:rPr>
                                    <m:t>𝑗</m:t>
                                  </m:r>
                                  <m:r>
                                    <a:rPr lang="en-US" sz="2400" i="1">
                                      <a:latin typeface="Cambria Math" panose="02040503050406030204" pitchFamily="18" charset="0"/>
                                    </a:rPr>
                                    <m:t>+1</m:t>
                                  </m:r>
                                </m:sub>
                              </m:sSub>
                            </m:e>
                          </m:d>
                        </m:e>
                      </m:d>
                    </m:oMath>
                  </m:oMathPara>
                </a14:m>
                <a:endParaRPr lang="en-US" sz="2400" dirty="0"/>
              </a:p>
              <a:p>
                <a:r>
                  <a:rPr lang="en-US" dirty="0"/>
                  <a:t>This L1 minimization problem is highly nonlinear</a:t>
                </a:r>
              </a:p>
              <a:p>
                <a:r>
                  <a:rPr lang="en-US" dirty="0"/>
                  <a:t>Solve by </a:t>
                </a:r>
                <a:r>
                  <a:rPr lang="en-US" b="1" dirty="0"/>
                  <a:t>variational methods </a:t>
                </a:r>
                <a:r>
                  <a:rPr lang="en-US" dirty="0"/>
                  <a:t>– we will not investigate further   </a:t>
                </a:r>
              </a:p>
              <a:p>
                <a:r>
                  <a:rPr lang="en-US" dirty="0"/>
                  <a:t>Original Sánchez, et. al. algorithm could not achieve real-time speed</a:t>
                </a:r>
              </a:p>
              <a:p>
                <a:r>
                  <a:rPr lang="en-US" dirty="0"/>
                  <a:t>Improved algorithms achieve real-time performance  - </a:t>
                </a:r>
                <a:r>
                  <a:rPr lang="en-US" dirty="0">
                    <a:hlinkClick r:id="rId3"/>
                  </a:rPr>
                  <a:t>see references for </a:t>
                </a:r>
                <a:r>
                  <a:rPr lang="en-US" dirty="0" err="1">
                    <a:hlinkClick r:id="rId3"/>
                  </a:rPr>
                  <a:t>skimage.registration</a:t>
                </a:r>
                <a:r>
                  <a:rPr lang="en-US" b="1" dirty="0" err="1">
                    <a:hlinkClick r:id="rId3"/>
                  </a:rPr>
                  <a:t>.</a:t>
                </a:r>
                <a:r>
                  <a:rPr lang="en-US" dirty="0" err="1">
                    <a:hlinkClick r:id="rId3"/>
                  </a:rPr>
                  <a:t>optical_flow_ilk</a:t>
                </a:r>
                <a:endParaRPr lang="en-US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4DBC6555-A8E7-4F73-8035-156F702D1410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789301" y="1124338"/>
                <a:ext cx="11102662" cy="5338369"/>
              </a:xfrm>
              <a:blipFill>
                <a:blip r:embed="rId4"/>
                <a:stretch>
                  <a:fillRect l="-1098" t="-251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33433305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46856AD-D906-FEFD-7FD8-7B84DF60675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algn="ctr"/>
            <a:r>
              <a:rPr lang="en-US" sz="4000" dirty="0"/>
              <a:t>Evaluation of Optical Flow Models</a:t>
            </a:r>
          </a:p>
        </p:txBody>
      </p:sp>
    </p:spTree>
    <p:extLst>
      <p:ext uri="{BB962C8B-B14F-4D97-AF65-F5344CB8AC3E}">
        <p14:creationId xmlns:p14="http://schemas.microsoft.com/office/powerpoint/2010/main" val="2791025394"/>
      </p:ext>
    </p:extLst>
  </p:cSld>
  <p:clrMapOvr>
    <a:masterClrMapping/>
  </p:clrMapOvr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5919504-6549-743F-0F1B-835474F45E6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E999928-3B1C-A652-4748-ECF299C06B4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89301" y="140193"/>
            <a:ext cx="10515600" cy="872004"/>
          </a:xfrm>
        </p:spPr>
        <p:txBody>
          <a:bodyPr>
            <a:normAutofit/>
          </a:bodyPr>
          <a:lstStyle/>
          <a:p>
            <a:r>
              <a:rPr lang="en-US" sz="4000" dirty="0">
                <a:latin typeface="+mn-lt"/>
              </a:rPr>
              <a:t>Evaluation of optical flow models 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413B6D9-C993-BDCE-149A-AE84B44CC86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89301" y="1124338"/>
            <a:ext cx="11102662" cy="5338369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dirty="0"/>
              <a:t>How can we evaluate optical flow models? </a:t>
            </a:r>
          </a:p>
          <a:p>
            <a:r>
              <a:rPr lang="en-US" dirty="0"/>
              <a:t>Choice of metric depends on the presence of labels</a:t>
            </a:r>
          </a:p>
          <a:p>
            <a:r>
              <a:rPr lang="en-US" dirty="0"/>
              <a:t>Metrics for labeled data</a:t>
            </a:r>
          </a:p>
          <a:p>
            <a:pPr lvl="1"/>
            <a:r>
              <a:rPr lang="en-US" b="1" dirty="0"/>
              <a:t>Average end point error (AEPE) </a:t>
            </a:r>
            <a:r>
              <a:rPr lang="en-US" dirty="0"/>
              <a:t>distance between the predicted pixel location and ground-truth location</a:t>
            </a:r>
            <a:endParaRPr lang="en-US" b="1" dirty="0"/>
          </a:p>
          <a:p>
            <a:pPr lvl="1"/>
            <a:r>
              <a:rPr lang="en-US" dirty="0"/>
              <a:t>Average angular error (AEP) difference between predicted flow angle and ground truth angle</a:t>
            </a:r>
          </a:p>
          <a:p>
            <a:r>
              <a:rPr lang="en-US" dirty="0"/>
              <a:t>For unlabeled data</a:t>
            </a:r>
          </a:p>
          <a:p>
            <a:pPr lvl="1"/>
            <a:r>
              <a:rPr lang="en-US" b="1" dirty="0"/>
              <a:t>Average interpolation error (AIE) </a:t>
            </a:r>
            <a:r>
              <a:rPr lang="en-US" dirty="0"/>
              <a:t>difference between two time-sequential images after warping</a:t>
            </a:r>
            <a:endParaRPr lang="en-US" b="1" dirty="0"/>
          </a:p>
          <a:p>
            <a:pPr lvl="1"/>
            <a:r>
              <a:rPr lang="en-US" dirty="0"/>
              <a:t>Interpolated flow accuracy (IFA) measures the coherence and smoothness of the flow field </a:t>
            </a:r>
          </a:p>
          <a:p>
            <a:pPr marL="0" indent="0">
              <a:buNone/>
            </a:pP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28654799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DFB6AB4-96EB-434D-8BFC-6697DE744D7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89301" y="140193"/>
            <a:ext cx="10515600" cy="872004"/>
          </a:xfrm>
        </p:spPr>
        <p:txBody>
          <a:bodyPr>
            <a:normAutofit/>
          </a:bodyPr>
          <a:lstStyle/>
          <a:p>
            <a:r>
              <a:rPr lang="en-US" sz="4000" dirty="0">
                <a:latin typeface="+mn-lt"/>
              </a:rPr>
              <a:t>Evaluation of optical flow models 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4DBC6555-A8E7-4F73-8035-156F702D1410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789301" y="1124338"/>
                <a:ext cx="11102662" cy="5338369"/>
              </a:xfrm>
            </p:spPr>
            <p:txBody>
              <a:bodyPr>
                <a:normAutofit/>
              </a:bodyPr>
              <a:lstStyle/>
              <a:p>
                <a:pPr marL="0" indent="0">
                  <a:buNone/>
                </a:pPr>
                <a:r>
                  <a:rPr lang="en-US" dirty="0"/>
                  <a:t>If ground-truth available, use </a:t>
                </a:r>
                <a:r>
                  <a:rPr lang="en-US" b="1" dirty="0"/>
                  <a:t>average endpoint error, </a:t>
                </a:r>
                <a:r>
                  <a:rPr lang="en-US" b="1" dirty="0" err="1"/>
                  <a:t>aEPE</a:t>
                </a:r>
                <a:endParaRPr lang="en-US" dirty="0"/>
              </a:p>
              <a:p>
                <a:r>
                  <a:rPr lang="en-US" dirty="0"/>
                  <a:t>Average endpoint error is the average Euclidian distance between the predicted flow and ground-truth flow   </a:t>
                </a:r>
              </a:p>
              <a:p>
                <a:r>
                  <a:rPr lang="en-US" dirty="0"/>
                  <a:t>For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𝑛𝑥𝑚</m:t>
                    </m:r>
                  </m:oMath>
                </a14:m>
                <a:r>
                  <a:rPr lang="en-US" dirty="0"/>
                  <a:t> flow field with ground truth values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1" i="1" smtClean="0">
                            <a:latin typeface="Cambria Math" panose="02040503050406030204" pitchFamily="18" charset="0"/>
                          </a:rPr>
                          <m:t>𝒗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𝑖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𝑗</m:t>
                        </m:r>
                      </m:sub>
                    </m:sSub>
                    <m:r>
                      <a:rPr lang="en-US" b="0" i="1" smtClean="0">
                        <a:latin typeface="Cambria Math" panose="02040503050406030204" pitchFamily="18" charset="0"/>
                      </a:rPr>
                      <m:t>=[</m:t>
                    </m:r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𝑢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𝑖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𝑗</m:t>
                        </m:r>
                      </m:sub>
                    </m:sSub>
                    <m:r>
                      <a:rPr lang="en-US" b="0" i="1" smtClean="0">
                        <a:latin typeface="Cambria Math" panose="02040503050406030204" pitchFamily="18" charset="0"/>
                      </a:rPr>
                      <m:t>,</m:t>
                    </m:r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𝑣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𝑖</m:t>
                        </m:r>
                        <m:r>
                          <a:rPr lang="en-US" i="1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en-US" i="1">
                            <a:latin typeface="Cambria Math" panose="02040503050406030204" pitchFamily="18" charset="0"/>
                          </a:rPr>
                          <m:t>𝑗</m:t>
                        </m:r>
                      </m:sub>
                    </m:sSub>
                    <m:r>
                      <a:rPr lang="en-US" b="0" i="1" smtClean="0">
                        <a:latin typeface="Cambria Math" panose="02040503050406030204" pitchFamily="18" charset="0"/>
                      </a:rPr>
                      <m:t>]</m:t>
                    </m:r>
                  </m:oMath>
                </a14:m>
                <a:r>
                  <a:rPr lang="en-US" dirty="0"/>
                  <a:t> and estimated field,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acc>
                          <m:accPr>
                            <m:chr m:val="̂"/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en-US" b="1" i="1" smtClean="0">
                                <a:latin typeface="Cambria Math" panose="02040503050406030204" pitchFamily="18" charset="0"/>
                              </a:rPr>
                              <m:t>𝒗</m:t>
                            </m:r>
                          </m:e>
                        </m:acc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𝑖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𝑗</m:t>
                        </m:r>
                      </m:sub>
                    </m:sSub>
                  </m:oMath>
                </a14:m>
                <a:r>
                  <a:rPr lang="en-US" dirty="0"/>
                  <a:t>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</a:rPr>
                      <m:t>=[</m:t>
                    </m:r>
                    <m:sSub>
                      <m:sSubPr>
                        <m:ctrlPr>
                          <a:rPr lang="en-US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acc>
                          <m:accPr>
                            <m:chr m:val="̂"/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𝑢</m:t>
                            </m:r>
                          </m:e>
                        </m:acc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𝑖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𝑗</m:t>
                        </m:r>
                      </m:sub>
                    </m:sSub>
                    <m:r>
                      <a:rPr lang="en-US" i="1">
                        <a:latin typeface="Cambria Math" panose="02040503050406030204" pitchFamily="18" charset="0"/>
                      </a:rPr>
                      <m:t>,</m:t>
                    </m:r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acc>
                          <m:accPr>
                            <m:chr m:val="̂"/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𝑣</m:t>
                            </m:r>
                          </m:e>
                        </m:acc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𝑖</m:t>
                        </m:r>
                        <m:r>
                          <a:rPr lang="en-US" i="1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en-US" i="1">
                            <a:latin typeface="Cambria Math" panose="02040503050406030204" pitchFamily="18" charset="0"/>
                          </a:rPr>
                          <m:t>𝑗</m:t>
                        </m:r>
                      </m:sub>
                    </m:sSub>
                    <m:r>
                      <a:rPr lang="en-US" i="1">
                        <a:latin typeface="Cambria Math" panose="02040503050406030204" pitchFamily="18" charset="0"/>
                      </a:rPr>
                      <m:t>]</m:t>
                    </m:r>
                  </m:oMath>
                </a14:m>
                <a:r>
                  <a:rPr lang="en-US" dirty="0"/>
                  <a:t>:</a:t>
                </a:r>
              </a:p>
              <a:p>
                <a:pPr marL="457200" lvl="1" indent="0">
                  <a:buNone/>
                </a:pPr>
                <a:endParaRPr lang="en-US" dirty="0"/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𝑎𝐸𝑃𝐸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𝑛𝑥𝑚</m:t>
                          </m:r>
                        </m:den>
                      </m:f>
                      <m:d>
                        <m:dPr>
                          <m:begChr m:val="‖"/>
                          <m:endChr m:val="‖"/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acc>
                                <m:accPr>
                                  <m:chr m:val="̂"/>
                                  <m:ctrlPr>
                                    <a:rPr lang="en-US" i="1">
                                      <a:latin typeface="Cambria Math" panose="02040503050406030204" pitchFamily="18" charset="0"/>
                                    </a:rPr>
                                  </m:ctrlPr>
                                </m:accPr>
                                <m:e>
                                  <m:r>
                                    <a:rPr lang="en-US" b="1" i="1">
                                      <a:latin typeface="Cambria Math" panose="02040503050406030204" pitchFamily="18" charset="0"/>
                                    </a:rPr>
                                    <m:t>𝒗</m:t>
                                  </m:r>
                                </m:e>
                              </m:acc>
                            </m:e>
                            <m:sub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,</m:t>
                              </m:r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𝑗</m:t>
                              </m:r>
                            </m:sub>
                          </m:s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−</m:t>
                          </m:r>
                          <m:sSub>
                            <m:sSub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b="1" i="1">
                                  <a:latin typeface="Cambria Math" panose="02040503050406030204" pitchFamily="18" charset="0"/>
                                </a:rPr>
                                <m:t>𝒗</m:t>
                              </m:r>
                            </m:e>
                            <m:sub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,</m:t>
                              </m:r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𝑗</m:t>
                              </m:r>
                            </m:sub>
                          </m:sSub>
                        </m:e>
                      </m:d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 </m:t>
                      </m:r>
                      <m:f>
                        <m:f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𝑛𝑥𝑚</m:t>
                          </m:r>
                        </m:den>
                      </m:f>
                      <m:nary>
                        <m:naryPr>
                          <m:chr m:val="∑"/>
                          <m:supHide m:val="on"/>
                          <m:ctrlPr>
                            <a:rPr lang="en-US" i="1" smtClean="0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m:rPr>
                              <m:brk m:alnAt="7"/>
                            </m:rPr>
                            <a:rPr lang="en-US" b="0" i="1" smtClean="0">
                              <a:latin typeface="Cambria Math" panose="02040503050406030204" pitchFamily="18" charset="0"/>
                            </a:rPr>
                            <m:t>𝑝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∈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𝑖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,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𝑗</m:t>
                          </m:r>
                        </m:sub>
                        <m:sup/>
                        <m:e>
                          <m:sSup>
                            <m:sSupPr>
                              <m:ctrlPr>
                                <a:rPr lang="en-US" i="1" smtClean="0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d>
                                <m:dPr>
                                  <m:begChr m:val="["/>
                                  <m:endChr m:val="]"/>
                                  <m:ctrlPr>
                                    <a:rPr lang="en-US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sSup>
                                    <m:sSupPr>
                                      <m:ctrlPr>
                                        <a:rPr lang="en-US" i="1" smtClean="0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pPr>
                                    <m:e>
                                      <m:d>
                                        <m:dPr>
                                          <m:ctrlPr>
                                            <a:rPr lang="en-US" i="1" smtClean="0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dPr>
                                        <m:e>
                                          <m:sSub>
                                            <m:sSubPr>
                                              <m:ctrlPr>
                                                <a:rPr lang="en-US" i="1">
                                                  <a:latin typeface="Cambria Math" panose="02040503050406030204" pitchFamily="18" charset="0"/>
                                                </a:rPr>
                                              </m:ctrlPr>
                                            </m:sSubPr>
                                            <m:e>
                                              <m:acc>
                                                <m:accPr>
                                                  <m:chr m:val="̂"/>
                                                  <m:ctrlPr>
                                                    <a:rPr lang="en-US" i="1">
                                                      <a:latin typeface="Cambria Math" panose="02040503050406030204" pitchFamily="18" charset="0"/>
                                                    </a:rPr>
                                                  </m:ctrlPr>
                                                </m:accPr>
                                                <m:e>
                                                  <m:r>
                                                    <a:rPr lang="en-US" i="1">
                                                      <a:latin typeface="Cambria Math" panose="02040503050406030204" pitchFamily="18" charset="0"/>
                                                    </a:rPr>
                                                    <m:t>𝑢</m:t>
                                                  </m:r>
                                                </m:e>
                                              </m:acc>
                                            </m:e>
                                            <m:sub>
                                              <m:r>
                                                <a:rPr lang="en-US" i="1">
                                                  <a:latin typeface="Cambria Math" panose="02040503050406030204" pitchFamily="18" charset="0"/>
                                                </a:rPr>
                                                <m:t>𝑖</m:t>
                                              </m:r>
                                              <m:r>
                                                <a:rPr lang="en-US" i="1">
                                                  <a:latin typeface="Cambria Math" panose="02040503050406030204" pitchFamily="18" charset="0"/>
                                                </a:rPr>
                                                <m:t>,</m:t>
                                              </m:r>
                                              <m:r>
                                                <a:rPr lang="en-US" i="1">
                                                  <a:latin typeface="Cambria Math" panose="02040503050406030204" pitchFamily="18" charset="0"/>
                                                </a:rPr>
                                                <m:t>𝑗</m:t>
                                              </m:r>
                                            </m:sub>
                                          </m:sSub>
                                          <m:r>
                                            <a:rPr lang="en-US" b="0" i="1" smtClean="0">
                                              <a:latin typeface="Cambria Math" panose="02040503050406030204" pitchFamily="18" charset="0"/>
                                            </a:rPr>
                                            <m:t>−</m:t>
                                          </m:r>
                                          <m:sSub>
                                            <m:sSubPr>
                                              <m:ctrlPr>
                                                <a:rPr lang="en-US" i="1">
                                                  <a:latin typeface="Cambria Math" panose="02040503050406030204" pitchFamily="18" charset="0"/>
                                                </a:rPr>
                                              </m:ctrlPr>
                                            </m:sSubPr>
                                            <m:e>
                                              <m:r>
                                                <a:rPr lang="en-US" i="1">
                                                  <a:latin typeface="Cambria Math" panose="02040503050406030204" pitchFamily="18" charset="0"/>
                                                </a:rPr>
                                                <m:t>𝑢</m:t>
                                              </m:r>
                                            </m:e>
                                            <m:sub>
                                              <m:r>
                                                <a:rPr lang="en-US" i="1">
                                                  <a:latin typeface="Cambria Math" panose="02040503050406030204" pitchFamily="18" charset="0"/>
                                                </a:rPr>
                                                <m:t>𝑖</m:t>
                                              </m:r>
                                              <m:r>
                                                <a:rPr lang="en-US" i="1">
                                                  <a:latin typeface="Cambria Math" panose="02040503050406030204" pitchFamily="18" charset="0"/>
                                                </a:rPr>
                                                <m:t>,</m:t>
                                              </m:r>
                                              <m:r>
                                                <a:rPr lang="en-US" i="1">
                                                  <a:latin typeface="Cambria Math" panose="02040503050406030204" pitchFamily="18" charset="0"/>
                                                </a:rPr>
                                                <m:t>𝑗</m:t>
                                              </m:r>
                                            </m:sub>
                                          </m:sSub>
                                        </m:e>
                                      </m:d>
                                    </m:e>
                                    <m:sup>
                                      <m:r>
                                        <a:rPr lang="en-US" b="0" i="1" smtClean="0">
                                          <a:latin typeface="Cambria Math" panose="02040503050406030204" pitchFamily="18" charset="0"/>
                                        </a:rPr>
                                        <m:t>2</m:t>
                                      </m:r>
                                    </m:sup>
                                  </m:sSup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+</m:t>
                                  </m:r>
                                  <m:sSup>
                                    <m:sSupPr>
                                      <m:ctrlPr>
                                        <a:rPr lang="en-US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pPr>
                                    <m:e>
                                      <m:d>
                                        <m:dPr>
                                          <m:ctrlPr>
                                            <a:rPr lang="en-US" i="1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dPr>
                                        <m:e>
                                          <m:sSub>
                                            <m:sSubPr>
                                              <m:ctrlPr>
                                                <a:rPr lang="en-US" i="1" smtClean="0">
                                                  <a:latin typeface="Cambria Math" panose="02040503050406030204" pitchFamily="18" charset="0"/>
                                                </a:rPr>
                                              </m:ctrlPr>
                                            </m:sSubPr>
                                            <m:e>
                                              <m:acc>
                                                <m:accPr>
                                                  <m:chr m:val="̂"/>
                                                  <m:ctrlPr>
                                                    <a:rPr lang="en-US" i="1">
                                                      <a:latin typeface="Cambria Math" panose="02040503050406030204" pitchFamily="18" charset="0"/>
                                                    </a:rPr>
                                                  </m:ctrlPr>
                                                </m:accPr>
                                                <m:e>
                                                  <m:r>
                                                    <a:rPr lang="en-US" b="0" i="1" smtClean="0">
                                                      <a:latin typeface="Cambria Math" panose="02040503050406030204" pitchFamily="18" charset="0"/>
                                                    </a:rPr>
                                                    <m:t>𝑣</m:t>
                                                  </m:r>
                                                </m:e>
                                              </m:acc>
                                            </m:e>
                                            <m:sub>
                                              <m:r>
                                                <a:rPr lang="en-US" i="1">
                                                  <a:latin typeface="Cambria Math" panose="02040503050406030204" pitchFamily="18" charset="0"/>
                                                </a:rPr>
                                                <m:t>𝑖</m:t>
                                              </m:r>
                                              <m:r>
                                                <a:rPr lang="en-US" i="1">
                                                  <a:latin typeface="Cambria Math" panose="02040503050406030204" pitchFamily="18" charset="0"/>
                                                </a:rPr>
                                                <m:t>,</m:t>
                                              </m:r>
                                              <m:r>
                                                <a:rPr lang="en-US" i="1">
                                                  <a:latin typeface="Cambria Math" panose="02040503050406030204" pitchFamily="18" charset="0"/>
                                                </a:rPr>
                                                <m:t>𝑗</m:t>
                                              </m:r>
                                            </m:sub>
                                          </m:sSub>
                                          <m:r>
                                            <a:rPr lang="en-US" i="1">
                                              <a:latin typeface="Cambria Math" panose="02040503050406030204" pitchFamily="18" charset="0"/>
                                            </a:rPr>
                                            <m:t>−</m:t>
                                          </m:r>
                                          <m:sSub>
                                            <m:sSubPr>
                                              <m:ctrlPr>
                                                <a:rPr lang="en-US" i="1" smtClean="0">
                                                  <a:latin typeface="Cambria Math" panose="02040503050406030204" pitchFamily="18" charset="0"/>
                                                </a:rPr>
                                              </m:ctrlPr>
                                            </m:sSubPr>
                                            <m:e>
                                              <m:r>
                                                <a:rPr lang="en-US" b="0" i="1" smtClean="0">
                                                  <a:latin typeface="Cambria Math" panose="02040503050406030204" pitchFamily="18" charset="0"/>
                                                </a:rPr>
                                                <m:t>𝑣</m:t>
                                              </m:r>
                                            </m:e>
                                            <m:sub>
                                              <m:r>
                                                <a:rPr lang="en-US" i="1">
                                                  <a:latin typeface="Cambria Math" panose="02040503050406030204" pitchFamily="18" charset="0"/>
                                                </a:rPr>
                                                <m:t>𝑖</m:t>
                                              </m:r>
                                              <m:r>
                                                <a:rPr lang="en-US" i="1">
                                                  <a:latin typeface="Cambria Math" panose="02040503050406030204" pitchFamily="18" charset="0"/>
                                                </a:rPr>
                                                <m:t>,</m:t>
                                              </m:r>
                                              <m:r>
                                                <a:rPr lang="en-US" i="1">
                                                  <a:latin typeface="Cambria Math" panose="02040503050406030204" pitchFamily="18" charset="0"/>
                                                </a:rPr>
                                                <m:t>𝑗</m:t>
                                              </m:r>
                                            </m:sub>
                                          </m:sSub>
                                        </m:e>
                                      </m:d>
                                    </m:e>
                                    <m:sup>
                                      <m:r>
                                        <a:rPr lang="en-US" i="1">
                                          <a:latin typeface="Cambria Math" panose="02040503050406030204" pitchFamily="18" charset="0"/>
                                        </a:rPr>
                                        <m:t>2</m:t>
                                      </m:r>
                                    </m:sup>
                                  </m:sSup>
                                </m:e>
                              </m:d>
                            </m:e>
                            <m:sup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1/2</m:t>
                              </m:r>
                            </m:sup>
                          </m:sSup>
                        </m:e>
                      </m:nary>
                    </m:oMath>
                  </m:oMathPara>
                </a14:m>
                <a:endParaRPr lang="en-US" dirty="0"/>
              </a:p>
              <a:p>
                <a:pPr marL="0" indent="0">
                  <a:buNone/>
                </a:pPr>
                <a:endParaRPr lang="en-US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4DBC6555-A8E7-4F73-8035-156F702D1410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789301" y="1124338"/>
                <a:ext cx="11102662" cy="5338369"/>
              </a:xfrm>
              <a:blipFill>
                <a:blip r:embed="rId3"/>
                <a:stretch>
                  <a:fillRect l="-1098" t="-182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94224816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72A9276-69A2-D8EC-9DF5-12569BF8F23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20487FA-30D5-B36D-49C5-339362FB4BF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89301" y="140193"/>
            <a:ext cx="10515600" cy="872004"/>
          </a:xfrm>
        </p:spPr>
        <p:txBody>
          <a:bodyPr>
            <a:normAutofit/>
          </a:bodyPr>
          <a:lstStyle/>
          <a:p>
            <a:r>
              <a:rPr lang="en-US" sz="4000" dirty="0">
                <a:latin typeface="+mn-lt"/>
              </a:rPr>
              <a:t>Evaluation of optical flow models 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1017F64-7B65-B3A9-F411-81933D12406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89301" y="1124338"/>
            <a:ext cx="11102662" cy="5338369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dirty="0"/>
              <a:t>How do we get labeled cases? </a:t>
            </a:r>
          </a:p>
          <a:p>
            <a:r>
              <a:rPr lang="en-US" dirty="0"/>
              <a:t>Very difficult to hand label real-world images</a:t>
            </a:r>
          </a:p>
          <a:p>
            <a:r>
              <a:rPr lang="en-US" dirty="0"/>
              <a:t>Often train on synthetic datasets</a:t>
            </a:r>
          </a:p>
          <a:p>
            <a:pPr lvl="1"/>
            <a:r>
              <a:rPr lang="en-US" dirty="0">
                <a:hlinkClick r:id="rId3"/>
              </a:rPr>
              <a:t>Flying Chairs</a:t>
            </a:r>
            <a:r>
              <a:rPr lang="en-US" dirty="0"/>
              <a:t>, and </a:t>
            </a:r>
            <a:r>
              <a:rPr lang="en-US" dirty="0">
                <a:hlinkClick r:id="rId4"/>
              </a:rPr>
              <a:t>Flying Chairs 2 </a:t>
            </a:r>
            <a:endParaRPr lang="en-US" dirty="0"/>
          </a:p>
          <a:p>
            <a:pPr lvl="1"/>
            <a:r>
              <a:rPr lang="en-US" dirty="0" err="1">
                <a:hlinkClick r:id="rId5"/>
              </a:rPr>
              <a:t>FlyingThings</a:t>
            </a:r>
            <a:r>
              <a:rPr lang="en-US" dirty="0">
                <a:hlinkClick r:id="rId5"/>
              </a:rPr>
              <a:t> 3D and </a:t>
            </a:r>
            <a:r>
              <a:rPr lang="en-US" dirty="0" err="1">
                <a:hlinkClick r:id="rId5"/>
              </a:rPr>
              <a:t>SceneFlow</a:t>
            </a:r>
            <a:r>
              <a:rPr lang="en-US" dirty="0">
                <a:hlinkClick r:id="rId5"/>
              </a:rPr>
              <a:t> dataset</a:t>
            </a:r>
            <a:r>
              <a:rPr lang="en-US" dirty="0"/>
              <a:t>s</a:t>
            </a:r>
          </a:p>
          <a:p>
            <a:r>
              <a:rPr lang="en-US" dirty="0"/>
              <a:t>Rely on generalization (transfer learning) to real-world cases</a:t>
            </a:r>
          </a:p>
          <a:p>
            <a:pPr marL="0" indent="0">
              <a:buNone/>
            </a:pP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72522014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DFB6AB4-96EB-434D-8BFC-6697DE744D7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89301" y="140193"/>
            <a:ext cx="10515600" cy="872004"/>
          </a:xfrm>
        </p:spPr>
        <p:txBody>
          <a:bodyPr>
            <a:normAutofit/>
          </a:bodyPr>
          <a:lstStyle/>
          <a:p>
            <a:r>
              <a:rPr lang="en-US" sz="4000" dirty="0">
                <a:latin typeface="+mn-lt"/>
              </a:rPr>
              <a:t>Evaluation of optical flow models 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4DBC6555-A8E7-4F73-8035-156F702D1410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789301" y="1124338"/>
                <a:ext cx="11102662" cy="5338369"/>
              </a:xfrm>
            </p:spPr>
            <p:txBody>
              <a:bodyPr>
                <a:normAutofit/>
              </a:bodyPr>
              <a:lstStyle/>
              <a:p>
                <a:pPr marL="0" indent="0">
                  <a:buNone/>
                </a:pPr>
                <a:r>
                  <a:rPr lang="en-US" dirty="0"/>
                  <a:t>Usually there is </a:t>
                </a:r>
                <a:r>
                  <a:rPr lang="en-US" b="1" dirty="0"/>
                  <a:t>no ground truth</a:t>
                </a:r>
              </a:p>
              <a:p>
                <a:r>
                  <a:rPr lang="en-US" b="1" dirty="0"/>
                  <a:t>Average interpolation error (AIE)</a:t>
                </a:r>
                <a:r>
                  <a:rPr lang="en-US" dirty="0"/>
                  <a:t> is average difference between two time-sequential images after warping      </a:t>
                </a:r>
              </a:p>
              <a:p>
                <a:r>
                  <a:rPr lang="en-US" dirty="0"/>
                  <a:t>For a first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𝑛</m:t>
                    </m:r>
                    <m:r>
                      <a:rPr lang="en-US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×</m:t>
                    </m:r>
                    <m:r>
                      <a:rPr lang="en-US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𝑚</m:t>
                    </m:r>
                  </m:oMath>
                </a14:m>
                <a:r>
                  <a:rPr lang="en-US" dirty="0"/>
                  <a:t> image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𝐼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0</m:t>
                        </m:r>
                      </m:sub>
                    </m:sSub>
                  </m:oMath>
                </a14:m>
                <a:r>
                  <a:rPr lang="en-US" dirty="0"/>
                  <a:t> and a second image warped using the estimated flow field, </a:t>
                </a:r>
                <a14:m>
                  <m:oMath xmlns:m="http://schemas.openxmlformats.org/officeDocument/2006/math">
                    <m:sSubSup>
                      <m:sSubSupPr>
                        <m:ctrlPr>
                          <a:rPr lang="en-US" i="1" smtClean="0"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𝐼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  <m:sup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(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𝑊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)</m:t>
                        </m:r>
                      </m:sup>
                    </m:sSubSup>
                  </m:oMath>
                </a14:m>
                <a:r>
                  <a:rPr lang="en-US" dirty="0"/>
                  <a:t>, the interpolation error is the Euclidean distance: 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𝐴𝐼𝐸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𝑛𝑥𝑚</m:t>
                          </m:r>
                        </m:den>
                      </m:f>
                      <m:d>
                        <m:dPr>
                          <m:begChr m:val="‖"/>
                          <m:endChr m:val="‖"/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𝐼</m:t>
                              </m:r>
                            </m:e>
                            <m:sub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0</m:t>
                              </m:r>
                            </m:sub>
                          </m:s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−</m:t>
                          </m:r>
                          <m:sSubSup>
                            <m:sSubSup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sSubSupPr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𝐼</m:t>
                              </m:r>
                            </m:e>
                            <m:sub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  <m:sup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(</m:t>
                              </m:r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𝑊</m:t>
                              </m:r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)</m:t>
                              </m:r>
                            </m:sup>
                          </m:sSubSup>
                        </m:e>
                      </m:d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4DBC6555-A8E7-4F73-8035-156F702D1410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789301" y="1124338"/>
                <a:ext cx="11102662" cy="5338369"/>
              </a:xfrm>
              <a:blipFill>
                <a:blip r:embed="rId3"/>
                <a:stretch>
                  <a:fillRect l="-1098" t="-182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400952216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46856AD-D906-FEFD-7FD8-7B84DF60675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algn="ctr"/>
            <a:r>
              <a:rPr lang="en-US" sz="4000" dirty="0"/>
              <a:t>Deep Optical Flow Algorithms</a:t>
            </a:r>
          </a:p>
        </p:txBody>
      </p:sp>
    </p:spTree>
    <p:extLst>
      <p:ext uri="{BB962C8B-B14F-4D97-AF65-F5344CB8AC3E}">
        <p14:creationId xmlns:p14="http://schemas.microsoft.com/office/powerpoint/2010/main" val="3353241208"/>
      </p:ext>
    </p:extLst>
  </p:cSld>
  <p:clrMapOvr>
    <a:masterClrMapping/>
  </p:clrMapOvr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DFB6AB4-96EB-434D-8BFC-6697DE744D7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89301" y="140193"/>
            <a:ext cx="10515600" cy="872004"/>
          </a:xfrm>
        </p:spPr>
        <p:txBody>
          <a:bodyPr>
            <a:normAutofit/>
          </a:bodyPr>
          <a:lstStyle/>
          <a:p>
            <a:r>
              <a:rPr lang="en-US" sz="4000" dirty="0">
                <a:latin typeface="+mn-lt"/>
              </a:rPr>
              <a:t>Deep Optical Flow Algorithms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DBC6555-A8E7-4F73-8035-156F702D141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89301" y="1124338"/>
            <a:ext cx="11102662" cy="5338369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dirty="0"/>
              <a:t>Deep NN algorithms are having an impact on practical optical flow estimation   </a:t>
            </a:r>
          </a:p>
          <a:p>
            <a:r>
              <a:rPr lang="en-US" dirty="0"/>
              <a:t>A number of deep NN algorithms for optical flow have been proposed in recent years, starting around 2016  </a:t>
            </a:r>
          </a:p>
          <a:p>
            <a:r>
              <a:rPr lang="en-US" dirty="0"/>
              <a:t>Early algorithms used pure NN architectures (mostly CNN) proved impractical: </a:t>
            </a:r>
          </a:p>
          <a:p>
            <a:pPr lvl="1"/>
            <a:r>
              <a:rPr lang="en-US" dirty="0"/>
              <a:t>Lower accuracy when compared to conventional algorithms, e.g. TV-L1 </a:t>
            </a:r>
          </a:p>
          <a:p>
            <a:pPr lvl="1"/>
            <a:r>
              <a:rPr lang="en-US" dirty="0"/>
              <a:t>Too slow for real-time use  </a:t>
            </a:r>
          </a:p>
          <a:p>
            <a:r>
              <a:rPr lang="en-US" dirty="0"/>
              <a:t>The PWC-Net algorithm, </a:t>
            </a:r>
            <a:r>
              <a:rPr lang="en-US" dirty="0">
                <a:hlinkClick r:id="rId3"/>
              </a:rPr>
              <a:t>Sun, et. al., 2018</a:t>
            </a:r>
            <a:r>
              <a:rPr lang="en-US" dirty="0"/>
              <a:t>, combines conventional and deep NN methods </a:t>
            </a:r>
          </a:p>
          <a:p>
            <a:pPr lvl="1"/>
            <a:r>
              <a:rPr lang="en-US" dirty="0"/>
              <a:t>PWC-Net is accuracy completive with conventional methods</a:t>
            </a:r>
          </a:p>
          <a:p>
            <a:pPr lvl="1"/>
            <a:r>
              <a:rPr lang="en-US" dirty="0"/>
              <a:t>Usually faster than TV-L1 at inference time!   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91310826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6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DFB6AB4-96EB-434D-8BFC-6697DE744D7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89301" y="140193"/>
            <a:ext cx="10515600" cy="872004"/>
          </a:xfrm>
        </p:spPr>
        <p:txBody>
          <a:bodyPr>
            <a:normAutofit/>
          </a:bodyPr>
          <a:lstStyle/>
          <a:p>
            <a:r>
              <a:rPr lang="en-US" sz="3600" dirty="0">
                <a:latin typeface="+mn-lt"/>
              </a:rPr>
              <a:t>PWC-Net, an early successful optical flow network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DBC6555-A8E7-4F73-8035-156F702D141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89301" y="1124339"/>
            <a:ext cx="11102662" cy="1461262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dirty="0"/>
              <a:t>Deep NN algorithms are having an impact on practical optical flow estimation   </a:t>
            </a:r>
          </a:p>
          <a:p>
            <a:r>
              <a:rPr lang="en-US" dirty="0"/>
              <a:t>Comparison of NN optical flow algorithms, </a:t>
            </a:r>
            <a:r>
              <a:rPr lang="en-US" dirty="0">
                <a:hlinkClick r:id="rId3"/>
              </a:rPr>
              <a:t>Sun, et. al., 2018</a:t>
            </a:r>
            <a:endParaRPr lang="en-US" dirty="0"/>
          </a:p>
          <a:p>
            <a:endParaRPr lang="en-US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CFEBA88F-8C95-49E5-9801-07CD3096D0C8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111804" y="2453942"/>
            <a:ext cx="7408713" cy="434489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02426572"/>
      </p:ext>
    </p:extLst>
  </p:cSld>
  <p:clrMapOvr>
    <a:masterClrMapping/>
  </p:clrMapOvr>
</p:sld>
</file>

<file path=ppt/slides/slide6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DBC6555-A8E7-4F73-8035-156F702D141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89301" y="1124339"/>
            <a:ext cx="11102662" cy="556824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dirty="0"/>
              <a:t>The PWC-Net Algorithm </a:t>
            </a:r>
          </a:p>
        </p:txBody>
      </p:sp>
      <p:sp>
        <p:nvSpPr>
          <p:cNvPr id="6" name="Content Placeholder 2">
            <a:extLst>
              <a:ext uri="{FF2B5EF4-FFF2-40B4-BE49-F238E27FC236}">
                <a16:creationId xmlns:a16="http://schemas.microsoft.com/office/drawing/2014/main" id="{9A9F8DC6-DF44-460A-9977-179DC52F03DD}"/>
              </a:ext>
            </a:extLst>
          </p:cNvPr>
          <p:cNvSpPr txBox="1">
            <a:spLocks/>
          </p:cNvSpPr>
          <p:nvPr/>
        </p:nvSpPr>
        <p:spPr>
          <a:xfrm>
            <a:off x="789301" y="1752600"/>
            <a:ext cx="5401949" cy="4965207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dirty="0"/>
              <a:t>Start with image pyramids</a:t>
            </a:r>
          </a:p>
          <a:p>
            <a:r>
              <a:rPr lang="en-US" dirty="0"/>
              <a:t>Optimal </a:t>
            </a:r>
            <a:r>
              <a:rPr lang="en-US" b="1" dirty="0"/>
              <a:t>image pyramid</a:t>
            </a:r>
            <a:r>
              <a:rPr lang="en-US" dirty="0"/>
              <a:t> weights are </a:t>
            </a:r>
            <a:r>
              <a:rPr lang="en-US" b="1" dirty="0"/>
              <a:t>learned as CNNs</a:t>
            </a:r>
          </a:p>
          <a:p>
            <a:r>
              <a:rPr lang="en-US" dirty="0"/>
              <a:t>Pyramid reduces pixel dimension by 2x per-layer</a:t>
            </a:r>
          </a:p>
          <a:p>
            <a:r>
              <a:rPr lang="en-US" dirty="0"/>
              <a:t>Pyramid layers have 16, 32, 64, 96, 128, 196 channels </a:t>
            </a:r>
          </a:p>
          <a:p>
            <a:endParaRPr lang="en-US" dirty="0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44760A99-F293-47A0-981E-8DBFB8EC516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78320" y="2109717"/>
            <a:ext cx="5698554" cy="3157608"/>
          </a:xfrm>
          <a:prstGeom prst="rect">
            <a:avLst/>
          </a:prstGeom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637275EB-D7E3-4130-B4A9-BF52CC6F759C}"/>
              </a:ext>
            </a:extLst>
          </p:cNvPr>
          <p:cNvSpPr txBox="1"/>
          <p:nvPr/>
        </p:nvSpPr>
        <p:spPr>
          <a:xfrm>
            <a:off x="8367713" y="5326547"/>
            <a:ext cx="25908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>
              <a:buNone/>
            </a:pPr>
            <a:r>
              <a:rPr lang="en-US" sz="1800" dirty="0"/>
              <a:t>Credit </a:t>
            </a:r>
            <a:r>
              <a:rPr lang="en-US" sz="1800" dirty="0">
                <a:hlinkClick r:id="rId4"/>
              </a:rPr>
              <a:t>Sun, et. al., 2018</a:t>
            </a:r>
            <a:endParaRPr lang="en-US" sz="1800" dirty="0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843B943F-B4B3-40D4-B7CB-EAD2C98EFD84}"/>
              </a:ext>
            </a:extLst>
          </p:cNvPr>
          <p:cNvSpPr/>
          <p:nvPr/>
        </p:nvSpPr>
        <p:spPr>
          <a:xfrm>
            <a:off x="6329363" y="2109717"/>
            <a:ext cx="2038350" cy="2233683"/>
          </a:xfrm>
          <a:prstGeom prst="rect">
            <a:avLst/>
          </a:prstGeom>
          <a:noFill/>
          <a:ln w="38100">
            <a:solidFill>
              <a:srgbClr val="C0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Title 1">
            <a:extLst>
              <a:ext uri="{FF2B5EF4-FFF2-40B4-BE49-F238E27FC236}">
                <a16:creationId xmlns:a16="http://schemas.microsoft.com/office/drawing/2014/main" id="{726C2399-9A41-123D-900C-B397FF8AFA8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89301" y="140193"/>
            <a:ext cx="10515600" cy="872004"/>
          </a:xfrm>
        </p:spPr>
        <p:txBody>
          <a:bodyPr>
            <a:normAutofit/>
          </a:bodyPr>
          <a:lstStyle/>
          <a:p>
            <a:r>
              <a:rPr lang="en-US" sz="3600" dirty="0">
                <a:latin typeface="+mn-lt"/>
              </a:rPr>
              <a:t>PWC-Net, an early successful optical flow network</a:t>
            </a:r>
          </a:p>
        </p:txBody>
      </p:sp>
    </p:spTree>
    <p:extLst>
      <p:ext uri="{BB962C8B-B14F-4D97-AF65-F5344CB8AC3E}">
        <p14:creationId xmlns:p14="http://schemas.microsoft.com/office/powerpoint/2010/main" val="198003495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0" grpId="0" animBg="1"/>
    </p:bldLst>
  </p:timing>
</p:sld>
</file>

<file path=ppt/slides/slide6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DBC6555-A8E7-4F73-8035-156F702D141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89301" y="1124339"/>
            <a:ext cx="11102662" cy="556824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dirty="0"/>
              <a:t>The PWC-Net Algorithm 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6" name="Content Placeholder 2">
                <a:extLst>
                  <a:ext uri="{FF2B5EF4-FFF2-40B4-BE49-F238E27FC236}">
                    <a16:creationId xmlns:a16="http://schemas.microsoft.com/office/drawing/2014/main" id="{9A9F8DC6-DF44-460A-9977-179DC52F03DD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789301" y="1752600"/>
                <a:ext cx="5401949" cy="4965207"/>
              </a:xfrm>
              <a:prstGeom prst="rect">
                <a:avLst/>
              </a:prstGeom>
            </p:spPr>
            <p:txBody>
              <a:bodyPr vert="horz" lIns="91440" tIns="45720" rIns="91440" bIns="45720" rtlCol="0">
                <a:normAutofit/>
              </a:bodyPr>
              <a:lstStyle>
                <a:lvl1pPr marL="228600" indent="-228600" algn="l" defTabSz="914400" rtl="0" eaLnBrk="1" latinLnBrk="0" hangingPunct="1">
                  <a:lnSpc>
                    <a:spcPct val="90000"/>
                  </a:lnSpc>
                  <a:spcBef>
                    <a:spcPts val="1000"/>
                  </a:spcBef>
                  <a:buFont typeface="Arial" panose="020B0604020202020204" pitchFamily="34" charset="0"/>
                  <a:buChar char="•"/>
                  <a:defRPr sz="2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685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2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1143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600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20574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5146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971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429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886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r>
                  <a:rPr lang="en-US" dirty="0"/>
                  <a:t>Image from pyramid 2 is warped with conventional algorithm</a:t>
                </a:r>
              </a:p>
              <a:p>
                <a:pPr lvl="1"/>
                <a:r>
                  <a:rPr lang="en-US" dirty="0"/>
                  <a:t>For warp at </a:t>
                </a:r>
                <a:r>
                  <a:rPr lang="en-US" i="1" dirty="0"/>
                  <a:t>l</a:t>
                </a:r>
                <a:r>
                  <a:rPr lang="en-US" dirty="0"/>
                  <a:t>th layer,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𝑤</m:t>
                        </m:r>
                      </m:e>
                      <m:sup>
                        <m:r>
                          <a:rPr lang="en-US" i="1">
                            <a:latin typeface="Cambria Math" panose="02040503050406030204" pitchFamily="18" charset="0"/>
                          </a:rPr>
                          <m:t>𝑙</m:t>
                        </m:r>
                      </m:sup>
                    </m:sSup>
                  </m:oMath>
                </a14:m>
                <a:r>
                  <a:rPr lang="en-US" dirty="0"/>
                  <a:t>   </a:t>
                </a:r>
              </a:p>
              <a:p>
                <a:pPr marL="457200" lvl="1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en-US" i="1" smtClean="0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𝑐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2,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𝑤</m:t>
                          </m:r>
                        </m:sub>
                        <m:sup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𝑙</m:t>
                          </m:r>
                        </m:sup>
                      </m:sSubSup>
                      <m:d>
                        <m:dPr>
                          <m:ctrlPr>
                            <a:rPr lang="en-US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</m:d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</m:t>
                      </m:r>
                      <m:sSubSup>
                        <m:sSubSup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𝑐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  <m:sup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𝑙</m:t>
                          </m:r>
                        </m:sup>
                      </m:sSubSup>
                      <m:d>
                        <m:d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𝑥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+</m:t>
                          </m:r>
                          <m:sSub>
                            <m:sSub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𝑢𝑝</m:t>
                              </m:r>
                            </m:e>
                            <m:sub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b>
                          </m:sSub>
                          <m:d>
                            <m:d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p>
                                <m:sSupPr>
                                  <m:ctrlP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𝑤</m:t>
                                  </m:r>
                                </m:e>
                                <m:sup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𝑙</m:t>
                                  </m:r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+1</m:t>
                                  </m:r>
                                </m:sup>
                              </m:sSup>
                            </m:e>
                          </m:d>
                          <m:d>
                            <m:d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</m:d>
                        </m:e>
                      </m:d>
                    </m:oMath>
                  </m:oMathPara>
                </a14:m>
                <a:endParaRPr lang="en-US" dirty="0"/>
              </a:p>
              <a:p>
                <a:pPr marL="457200" lvl="1" indent="0">
                  <a:buNone/>
                </a:pPr>
                <a14:m>
                  <m:oMath xmlns:m="http://schemas.openxmlformats.org/officeDocument/2006/math">
                    <m:sSubSup>
                      <m:sSubSup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𝑐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 </m:t>
                        </m:r>
                      </m:sub>
                      <m:sup>
                        <m:r>
                          <a:rPr lang="en-US" i="1">
                            <a:latin typeface="Cambria Math" panose="02040503050406030204" pitchFamily="18" charset="0"/>
                          </a:rPr>
                          <m:t>0</m:t>
                        </m:r>
                      </m:sup>
                    </m:sSubSup>
                    <m:r>
                      <a:rPr lang="en-US" i="1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𝐼</m:t>
                    </m:r>
                  </m:oMath>
                </a14:m>
                <a:r>
                  <a:rPr lang="en-US" dirty="0"/>
                  <a:t>, input image</a:t>
                </a:r>
              </a:p>
              <a:p>
                <a:pPr marL="457200" lvl="1" indent="0">
                  <a:buNone/>
                </a:pPr>
                <a14:m>
                  <m:oMath xmlns:m="http://schemas.openxmlformats.org/officeDocument/2006/math">
                    <m:sSup>
                      <m:sSup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𝑐</m:t>
                        </m:r>
                      </m:e>
                      <m:sup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𝑙</m:t>
                        </m:r>
                      </m:sup>
                    </m:sSup>
                    <m:r>
                      <a:rPr lang="en-US" b="0" i="1" smtClean="0">
                        <a:latin typeface="Cambria Math" panose="02040503050406030204" pitchFamily="18" charset="0"/>
                      </a:rPr>
                      <m:t>=</m:t>
                    </m:r>
                  </m:oMath>
                </a14:m>
                <a:r>
                  <a:rPr lang="en-US" dirty="0"/>
                  <a:t> pixel values at layer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𝑙</m:t>
                    </m:r>
                  </m:oMath>
                </a14:m>
                <a:endParaRPr lang="en-US" b="0" i="1" dirty="0">
                  <a:latin typeface="Cambria Math" panose="02040503050406030204" pitchFamily="18" charset="0"/>
                </a:endParaRPr>
              </a:p>
              <a:p>
                <a:pPr marL="457200" lvl="1" indent="0">
                  <a:buNone/>
                </a:pP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𝑥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=</m:t>
                    </m:r>
                  </m:oMath>
                </a14:m>
                <a:r>
                  <a:rPr lang="en-US" dirty="0"/>
                  <a:t> pixel coordinates </a:t>
                </a:r>
              </a:p>
              <a:p>
                <a:r>
                  <a:rPr lang="en-US" dirty="0"/>
                  <a:t>Warping performed with up-sampled flow,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𝑢𝑝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</m:oMath>
                </a14:m>
                <a:r>
                  <a:rPr lang="en-US" dirty="0"/>
                  <a:t>.</a:t>
                </a:r>
              </a:p>
              <a:p>
                <a:endParaRPr lang="en-US" dirty="0"/>
              </a:p>
              <a:p>
                <a:endParaRPr lang="en-US" dirty="0"/>
              </a:p>
            </p:txBody>
          </p:sp>
        </mc:Choice>
        <mc:Fallback xmlns="">
          <p:sp>
            <p:nvSpPr>
              <p:cNvPr id="6" name="Content Placeholder 2">
                <a:extLst>
                  <a:ext uri="{FF2B5EF4-FFF2-40B4-BE49-F238E27FC236}">
                    <a16:creationId xmlns:a16="http://schemas.microsoft.com/office/drawing/2014/main" id="{9A9F8DC6-DF44-460A-9977-179DC52F03D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89301" y="1752600"/>
                <a:ext cx="5401949" cy="4965207"/>
              </a:xfrm>
              <a:prstGeom prst="rect">
                <a:avLst/>
              </a:prstGeom>
              <a:blipFill>
                <a:blip r:embed="rId3"/>
                <a:stretch>
                  <a:fillRect l="-2029" t="-208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7" name="Picture 6">
            <a:extLst>
              <a:ext uri="{FF2B5EF4-FFF2-40B4-BE49-F238E27FC236}">
                <a16:creationId xmlns:a16="http://schemas.microsoft.com/office/drawing/2014/main" id="{44760A99-F293-47A0-981E-8DBFB8EC5164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378320" y="2109717"/>
            <a:ext cx="5698554" cy="3157608"/>
          </a:xfrm>
          <a:prstGeom prst="rect">
            <a:avLst/>
          </a:prstGeom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637275EB-D7E3-4130-B4A9-BF52CC6F759C}"/>
              </a:ext>
            </a:extLst>
          </p:cNvPr>
          <p:cNvSpPr txBox="1"/>
          <p:nvPr/>
        </p:nvSpPr>
        <p:spPr>
          <a:xfrm>
            <a:off x="8367713" y="5326547"/>
            <a:ext cx="25908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>
              <a:buNone/>
            </a:pPr>
            <a:r>
              <a:rPr lang="en-US" sz="1800" dirty="0"/>
              <a:t>Credit </a:t>
            </a:r>
            <a:r>
              <a:rPr lang="en-US" sz="1800" dirty="0">
                <a:hlinkClick r:id="rId5"/>
              </a:rPr>
              <a:t>Sun, et. al., 2018</a:t>
            </a:r>
            <a:endParaRPr lang="en-US" sz="1800" dirty="0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843B943F-B4B3-40D4-B7CB-EAD2C98EFD84}"/>
              </a:ext>
            </a:extLst>
          </p:cNvPr>
          <p:cNvSpPr/>
          <p:nvPr/>
        </p:nvSpPr>
        <p:spPr>
          <a:xfrm>
            <a:off x="8837926" y="2138433"/>
            <a:ext cx="3158812" cy="1290567"/>
          </a:xfrm>
          <a:prstGeom prst="rect">
            <a:avLst/>
          </a:prstGeom>
          <a:noFill/>
          <a:ln w="38100">
            <a:solidFill>
              <a:srgbClr val="C0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Title 1">
            <a:extLst>
              <a:ext uri="{FF2B5EF4-FFF2-40B4-BE49-F238E27FC236}">
                <a16:creationId xmlns:a16="http://schemas.microsoft.com/office/drawing/2014/main" id="{3C6B562A-CEEA-C66F-B5C8-944EADF930E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89301" y="140193"/>
            <a:ext cx="10515600" cy="872004"/>
          </a:xfrm>
        </p:spPr>
        <p:txBody>
          <a:bodyPr>
            <a:normAutofit/>
          </a:bodyPr>
          <a:lstStyle/>
          <a:p>
            <a:r>
              <a:rPr lang="en-US" sz="3600" dirty="0">
                <a:latin typeface="+mn-lt"/>
              </a:rPr>
              <a:t>PWC-Net, an early successful optical flow network</a:t>
            </a:r>
          </a:p>
        </p:txBody>
      </p:sp>
    </p:spTree>
    <p:extLst>
      <p:ext uri="{BB962C8B-B14F-4D97-AF65-F5344CB8AC3E}">
        <p14:creationId xmlns:p14="http://schemas.microsoft.com/office/powerpoint/2010/main" val="116143000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0" grpId="0" animBg="1"/>
    </p:bldLst>
  </p:timing>
</p:sld>
</file>

<file path=ppt/slides/slide7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DBC6555-A8E7-4F73-8035-156F702D141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89301" y="1124339"/>
            <a:ext cx="11102662" cy="556824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dirty="0"/>
              <a:t>The PWC-Net Algorithm 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6" name="Content Placeholder 2">
                <a:extLst>
                  <a:ext uri="{FF2B5EF4-FFF2-40B4-BE49-F238E27FC236}">
                    <a16:creationId xmlns:a16="http://schemas.microsoft.com/office/drawing/2014/main" id="{9A9F8DC6-DF44-460A-9977-179DC52F03DD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789301" y="1752600"/>
                <a:ext cx="5589019" cy="4965207"/>
              </a:xfrm>
              <a:prstGeom prst="rect">
                <a:avLst/>
              </a:prstGeom>
            </p:spPr>
            <p:txBody>
              <a:bodyPr vert="horz" lIns="91440" tIns="45720" rIns="91440" bIns="45720" rtlCol="0">
                <a:normAutofit lnSpcReduction="10000"/>
              </a:bodyPr>
              <a:lstStyle>
                <a:lvl1pPr marL="228600" indent="-228600" algn="l" defTabSz="914400" rtl="0" eaLnBrk="1" latinLnBrk="0" hangingPunct="1">
                  <a:lnSpc>
                    <a:spcPct val="90000"/>
                  </a:lnSpc>
                  <a:spcBef>
                    <a:spcPts val="1000"/>
                  </a:spcBef>
                  <a:buFont typeface="Arial" panose="020B0604020202020204" pitchFamily="34" charset="0"/>
                  <a:buChar char="•"/>
                  <a:defRPr sz="2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685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2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1143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600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20574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5146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971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429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886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r>
                  <a:rPr lang="en-US" sz="2400" b="1" dirty="0"/>
                  <a:t>Cost volume</a:t>
                </a:r>
                <a:r>
                  <a:rPr lang="en-US" sz="2400" dirty="0"/>
                  <a:t> layer maintains array of feature </a:t>
                </a:r>
                <a:r>
                  <a:rPr lang="en-US" sz="2400" b="1" dirty="0"/>
                  <a:t>matching costs </a:t>
                </a:r>
                <a:r>
                  <a:rPr lang="en-US" sz="2400" dirty="0"/>
                  <a:t>of </a:t>
                </a:r>
                <a14:m>
                  <m:oMath xmlns:m="http://schemas.openxmlformats.org/officeDocument/2006/math"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𝑛</m:t>
                    </m:r>
                    <m:r>
                      <a:rPr lang="en-US" sz="24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×</m:t>
                    </m:r>
                    <m:r>
                      <a:rPr lang="en-US" sz="24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𝑚</m:t>
                    </m:r>
                  </m:oMath>
                </a14:m>
                <a:r>
                  <a:rPr lang="en-US" sz="2400" dirty="0"/>
                  <a:t> values at pyramid level, </a:t>
                </a:r>
                <a:r>
                  <a:rPr lang="en-US" sz="2400" i="1" dirty="0"/>
                  <a:t>l</a:t>
                </a:r>
              </a:p>
              <a:p>
                <a:r>
                  <a:rPr lang="en-US" sz="2400" dirty="0"/>
                  <a:t>Matching cost is the </a:t>
                </a:r>
                <a:r>
                  <a:rPr lang="en-US" sz="2400" b="1" dirty="0"/>
                  <a:t>correlation</a:t>
                </a:r>
                <a:r>
                  <a:rPr lang="en-US" sz="2400" dirty="0"/>
                  <a:t> between the feature (pixel) vector of the first image </a:t>
                </a:r>
                <a14:m>
                  <m:oMath xmlns:m="http://schemas.openxmlformats.org/officeDocument/2006/math">
                    <m:sSubSup>
                      <m:sSubSupPr>
                        <m:ctrlPr>
                          <a:rPr lang="en-US" sz="2400" i="1" smtClean="0"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en-US" sz="2400" b="0" i="1" smtClean="0">
                            <a:latin typeface="Cambria Math" panose="02040503050406030204" pitchFamily="18" charset="0"/>
                          </a:rPr>
                          <m:t>𝑐</m:t>
                        </m:r>
                      </m:e>
                      <m:sub>
                        <m:r>
                          <a:rPr lang="en-US" sz="2400" b="0" i="1" smtClean="0">
                            <a:latin typeface="Cambria Math" panose="02040503050406030204" pitchFamily="18" charset="0"/>
                          </a:rPr>
                          <m:t>1 </m:t>
                        </m:r>
                      </m:sub>
                      <m:sup>
                        <m:r>
                          <a:rPr lang="en-US" sz="2400" b="0" i="1" smtClean="0">
                            <a:latin typeface="Cambria Math" panose="02040503050406030204" pitchFamily="18" charset="0"/>
                          </a:rPr>
                          <m:t>𝑙</m:t>
                        </m:r>
                      </m:sup>
                    </m:sSubSup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(</m:t>
                    </m:r>
                    <m:sSub>
                      <m:sSubPr>
                        <m:ctrlPr>
                          <a:rPr lang="en-US" sz="24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400" b="0" i="1" smtClean="0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en-US" sz="2400" b="0" i="1" smtClean="0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sz="2400" dirty="0"/>
                  <a:t> and the feature vector of the warped second image, </a:t>
                </a:r>
                <a14:m>
                  <m:oMath xmlns:m="http://schemas.openxmlformats.org/officeDocument/2006/math">
                    <m:sSubSup>
                      <m:sSubSupPr>
                        <m:ctrlPr>
                          <a:rPr lang="en-US" sz="2400" i="1"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en-US" sz="2400" i="1">
                            <a:latin typeface="Cambria Math" panose="02040503050406030204" pitchFamily="18" charset="0"/>
                          </a:rPr>
                          <m:t>𝑐</m:t>
                        </m:r>
                      </m:e>
                      <m:sub>
                        <m:r>
                          <a:rPr lang="en-US" sz="2400" b="0" i="1" smtClean="0">
                            <a:latin typeface="Cambria Math" panose="02040503050406030204" pitchFamily="18" charset="0"/>
                          </a:rPr>
                          <m:t> 2,</m:t>
                        </m:r>
                        <m:r>
                          <a:rPr lang="en-US" sz="2400" b="0" i="1" smtClean="0">
                            <a:latin typeface="Cambria Math" panose="02040503050406030204" pitchFamily="18" charset="0"/>
                          </a:rPr>
                          <m:t>𝑤</m:t>
                        </m:r>
                      </m:sub>
                      <m:sup>
                        <m:r>
                          <a:rPr lang="en-US" sz="2400" b="0" i="1" smtClean="0">
                            <a:latin typeface="Cambria Math" panose="02040503050406030204" pitchFamily="18" charset="0"/>
                          </a:rPr>
                          <m:t>𝑙</m:t>
                        </m:r>
                      </m:sup>
                    </m:sSubSup>
                    <m:r>
                      <a:rPr lang="en-US" sz="2400" i="1">
                        <a:latin typeface="Cambria Math" panose="02040503050406030204" pitchFamily="18" charset="0"/>
                      </a:rPr>
                      <m:t>(</m:t>
                    </m:r>
                    <m:sSub>
                      <m:sSubPr>
                        <m:ctrlPr>
                          <a:rPr lang="en-US" sz="24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400" i="1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en-US" sz="2400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  <m:r>
                      <a:rPr lang="en-US" sz="2400" i="1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endParaRPr lang="en-US" sz="2400" dirty="0"/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p>
                        <m:sSupPr>
                          <m:ctrlPr>
                            <a:rPr lang="en-US" sz="2400" b="0" i="1" dirty="0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sz="2400" b="0" i="1" dirty="0" smtClean="0">
                              <a:latin typeface="Cambria Math" panose="02040503050406030204" pitchFamily="18" charset="0"/>
                            </a:rPr>
                            <m:t>𝑐</m:t>
                          </m:r>
                        </m:e>
                        <m:sup>
                          <m:r>
                            <a:rPr lang="en-US" sz="2400" b="0" i="1" dirty="0" smtClean="0">
                              <a:latin typeface="Cambria Math" panose="02040503050406030204" pitchFamily="18" charset="0"/>
                            </a:rPr>
                            <m:t>𝑙</m:t>
                          </m:r>
                        </m:sup>
                      </m:sSup>
                      <m:d>
                        <m:dPr>
                          <m:ctrlPr>
                            <a:rPr lang="en-US" sz="24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sz="2400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2400" b="0" i="1" smtClean="0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en-US" sz="2400" b="0" i="1" smtClean="0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,</m:t>
                          </m:r>
                          <m:sSub>
                            <m:sSubPr>
                              <m:ctrlPr>
                                <a:rPr lang="en-US" sz="2400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2400" b="0" i="1" smtClean="0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en-US" sz="2400" b="0" i="1" smtClean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b>
                          </m:sSub>
                        </m:e>
                      </m:d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n-US" sz="2400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lang="en-US" sz="2400" i="1">
                              <a:latin typeface="Cambria Math" panose="02040503050406030204" pitchFamily="18" charset="0"/>
                            </a:rPr>
                            <m:t>𝑛</m:t>
                          </m:r>
                          <m:r>
                            <a:rPr lang="en-US" sz="24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×</m:t>
                          </m:r>
                          <m:r>
                            <a:rPr lang="en-US" sz="24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𝑚</m:t>
                          </m:r>
                        </m:den>
                      </m:f>
                      <m:sSup>
                        <m:sSupPr>
                          <m:ctrlPr>
                            <a:rPr lang="en-US" sz="2400" b="0" i="1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d>
                            <m:dPr>
                              <m:begChr m:val="["/>
                              <m:endChr m:val="]"/>
                              <m:ctrlPr>
                                <a:rPr lang="en-US" sz="2400" b="0" i="1" smtClean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bSup>
                                <m:sSubSupPr>
                                  <m:ctrlPr>
                                    <a:rPr lang="en-US" sz="2400" i="1">
                                      <a:latin typeface="Cambria Math" panose="02040503050406030204" pitchFamily="18" charset="0"/>
                                    </a:rPr>
                                  </m:ctrlPr>
                                </m:sSubSupPr>
                                <m:e>
                                  <m:r>
                                    <a:rPr lang="en-US" sz="2400" i="1">
                                      <a:latin typeface="Cambria Math" panose="02040503050406030204" pitchFamily="18" charset="0"/>
                                    </a:rPr>
                                    <m:t>𝑐</m:t>
                                  </m:r>
                                </m:e>
                                <m:sub>
                                  <m:r>
                                    <a:rPr lang="en-US" sz="2400" b="0" i="1" smtClean="0">
                                      <a:latin typeface="Cambria Math" panose="02040503050406030204" pitchFamily="18" charset="0"/>
                                    </a:rPr>
                                    <m:t>1</m:t>
                                  </m:r>
                                </m:sub>
                                <m:sup>
                                  <m:r>
                                    <a:rPr lang="en-US" sz="2400" i="1">
                                      <a:latin typeface="Cambria Math" panose="02040503050406030204" pitchFamily="18" charset="0"/>
                                    </a:rPr>
                                    <m:t>𝑙</m:t>
                                  </m:r>
                                </m:sup>
                              </m:sSubSup>
                              <m:r>
                                <a:rPr lang="en-US" sz="2400" i="1">
                                  <a:latin typeface="Cambria Math" panose="02040503050406030204" pitchFamily="18" charset="0"/>
                                </a:rPr>
                                <m:t>(</m:t>
                              </m:r>
                              <m:sSub>
                                <m:sSubPr>
                                  <m:ctrlPr>
                                    <a:rPr lang="en-US" sz="2400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2400" i="1">
                                      <a:latin typeface="Cambria Math" panose="02040503050406030204" pitchFamily="18" charset="0"/>
                                    </a:rPr>
                                    <m:t>𝑥</m:t>
                                  </m:r>
                                </m:e>
                                <m:sub>
                                  <m:r>
                                    <a:rPr lang="en-US" sz="2400" b="0" i="1" smtClean="0">
                                      <a:latin typeface="Cambria Math" panose="02040503050406030204" pitchFamily="18" charset="0"/>
                                    </a:rPr>
                                    <m:t>1</m:t>
                                  </m:r>
                                </m:sub>
                              </m:sSub>
                              <m:r>
                                <a:rPr lang="en-US" sz="2400" i="1">
                                  <a:latin typeface="Cambria Math" panose="02040503050406030204" pitchFamily="18" charset="0"/>
                                </a:rPr>
                                <m:t>)</m:t>
                              </m:r>
                            </m:e>
                          </m:d>
                        </m:e>
                        <m:sup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𝑇</m:t>
                          </m:r>
                        </m:sup>
                      </m:sSup>
                      <m:sSubSup>
                        <m:sSubSupPr>
                          <m:ctrlPr>
                            <a:rPr lang="en-US" sz="2400" i="1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US" sz="2400" i="1">
                              <a:latin typeface="Cambria Math" panose="02040503050406030204" pitchFamily="18" charset="0"/>
                            </a:rPr>
                            <m:t>𝑐</m:t>
                          </m:r>
                        </m:e>
                        <m:sub>
                          <m:r>
                            <a:rPr lang="en-US" sz="2400" i="1">
                              <a:latin typeface="Cambria Math" panose="02040503050406030204" pitchFamily="18" charset="0"/>
                            </a:rPr>
                            <m:t> </m:t>
                          </m:r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2,</m:t>
                          </m:r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𝑤</m:t>
                          </m:r>
                        </m:sub>
                        <m:sup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p>
                      </m:sSubSup>
                      <m:r>
                        <a:rPr lang="en-US" sz="2400" i="1">
                          <a:latin typeface="Cambria Math" panose="02040503050406030204" pitchFamily="18" charset="0"/>
                        </a:rPr>
                        <m:t>(</m:t>
                      </m:r>
                      <m:sSub>
                        <m:sSubPr>
                          <m:ctrlPr>
                            <a:rPr lang="en-US" sz="24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400" i="1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b>
                          <m:r>
                            <a:rPr lang="en-US" sz="2400" i="1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  <m:r>
                        <a:rPr lang="en-US" sz="2400" i="1"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en-US" sz="2400" dirty="0"/>
              </a:p>
              <a:p>
                <a:r>
                  <a:rPr lang="en-US" sz="2400" b="1" dirty="0"/>
                  <a:t>Limiting complexity to compute cost volume </a:t>
                </a:r>
                <a:r>
                  <a:rPr lang="en-US" sz="2400" dirty="0"/>
                  <a:t>is key to performance </a:t>
                </a:r>
              </a:p>
              <a:p>
                <a:r>
                  <a:rPr lang="en-US" sz="2400" dirty="0"/>
                  <a:t>Filter to keep only </a:t>
                </a:r>
                <a:r>
                  <a:rPr lang="en-US" sz="2400" b="1" dirty="0"/>
                  <a:t>near neighbor values </a:t>
                </a:r>
                <a:r>
                  <a:rPr lang="en-US" sz="2400" dirty="0"/>
                  <a:t>with upper bound </a:t>
                </a:r>
                <a:r>
                  <a:rPr lang="en-US" sz="2400" i="1" dirty="0"/>
                  <a:t>d</a:t>
                </a:r>
                <a:r>
                  <a:rPr lang="en-US" sz="2400" dirty="0"/>
                  <a:t> to limit computation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4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d>
                            <m:dPr>
                              <m:begChr m:val="|"/>
                              <m:endChr m:val="|"/>
                              <m:ctrlPr>
                                <a:rPr lang="en-US" sz="2400" i="1" smtClean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en-US" sz="240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2400" b="0" i="1" smtClean="0">
                                      <a:latin typeface="Cambria Math" panose="02040503050406030204" pitchFamily="18" charset="0"/>
                                    </a:rPr>
                                    <m:t>𝑥</m:t>
                                  </m:r>
                                </m:e>
                                <m:sub>
                                  <m:r>
                                    <a:rPr lang="en-US" sz="2400" b="0" i="1" smtClean="0">
                                      <a:latin typeface="Cambria Math" panose="02040503050406030204" pitchFamily="18" charset="0"/>
                                    </a:rPr>
                                    <m:t>1</m:t>
                                  </m:r>
                                </m:sub>
                              </m:sSub>
                              <m:r>
                                <a:rPr lang="en-US" sz="2400" b="0" i="1" smtClean="0">
                                  <a:latin typeface="Cambria Math" panose="02040503050406030204" pitchFamily="18" charset="0"/>
                                </a:rPr>
                                <m:t>−</m:t>
                              </m:r>
                              <m:sSub>
                                <m:sSubPr>
                                  <m:ctrlPr>
                                    <a:rPr lang="en-US" sz="2400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2400" b="0" i="1" smtClean="0">
                                      <a:latin typeface="Cambria Math" panose="02040503050406030204" pitchFamily="18" charset="0"/>
                                    </a:rPr>
                                    <m:t>𝑥</m:t>
                                  </m:r>
                                </m:e>
                                <m:sub>
                                  <m:r>
                                    <a:rPr lang="en-US" sz="2400" b="0" i="1" smtClean="0"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</m:sub>
                              </m:sSub>
                            </m:e>
                          </m:d>
                        </m:e>
                        <m:sub>
                          <m:r>
                            <a:rPr lang="en-US" sz="240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∞</m:t>
                          </m:r>
                        </m:sub>
                      </m:sSub>
                      <m:r>
                        <a:rPr lang="en-US" sz="240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≤</m:t>
                      </m:r>
                      <m:r>
                        <a:rPr lang="en-US" sz="24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𝑑</m:t>
                      </m:r>
                    </m:oMath>
                  </m:oMathPara>
                </a14:m>
                <a:endParaRPr lang="en-US" sz="2400" dirty="0"/>
              </a:p>
              <a:p>
                <a:endParaRPr lang="en-US" dirty="0"/>
              </a:p>
            </p:txBody>
          </p:sp>
        </mc:Choice>
        <mc:Fallback xmlns="">
          <p:sp>
            <p:nvSpPr>
              <p:cNvPr id="6" name="Content Placeholder 2">
                <a:extLst>
                  <a:ext uri="{FF2B5EF4-FFF2-40B4-BE49-F238E27FC236}">
                    <a16:creationId xmlns:a16="http://schemas.microsoft.com/office/drawing/2014/main" id="{9A9F8DC6-DF44-460A-9977-179DC52F03D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89301" y="1752600"/>
                <a:ext cx="5589019" cy="4965207"/>
              </a:xfrm>
              <a:prstGeom prst="rect">
                <a:avLst/>
              </a:prstGeom>
              <a:blipFill>
                <a:blip r:embed="rId3"/>
                <a:stretch>
                  <a:fillRect l="-1418" t="-2334" r="-141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7" name="Picture 6">
            <a:extLst>
              <a:ext uri="{FF2B5EF4-FFF2-40B4-BE49-F238E27FC236}">
                <a16:creationId xmlns:a16="http://schemas.microsoft.com/office/drawing/2014/main" id="{44760A99-F293-47A0-981E-8DBFB8EC5164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378320" y="2109717"/>
            <a:ext cx="5698554" cy="3157608"/>
          </a:xfrm>
          <a:prstGeom prst="rect">
            <a:avLst/>
          </a:prstGeom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637275EB-D7E3-4130-B4A9-BF52CC6F759C}"/>
              </a:ext>
            </a:extLst>
          </p:cNvPr>
          <p:cNvSpPr txBox="1"/>
          <p:nvPr/>
        </p:nvSpPr>
        <p:spPr>
          <a:xfrm>
            <a:off x="8367713" y="5326547"/>
            <a:ext cx="25908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>
              <a:buNone/>
            </a:pPr>
            <a:r>
              <a:rPr lang="en-US" sz="1800" dirty="0"/>
              <a:t>Credit </a:t>
            </a:r>
            <a:r>
              <a:rPr lang="en-US" sz="1800" dirty="0">
                <a:hlinkClick r:id="rId5"/>
              </a:rPr>
              <a:t>Sun, et. al., 2018</a:t>
            </a:r>
            <a:endParaRPr lang="en-US" sz="1800" dirty="0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843B943F-B4B3-40D4-B7CB-EAD2C98EFD84}"/>
              </a:ext>
            </a:extLst>
          </p:cNvPr>
          <p:cNvSpPr/>
          <p:nvPr/>
        </p:nvSpPr>
        <p:spPr>
          <a:xfrm>
            <a:off x="9411975" y="3495675"/>
            <a:ext cx="1941825" cy="523875"/>
          </a:xfrm>
          <a:prstGeom prst="rect">
            <a:avLst/>
          </a:prstGeom>
          <a:noFill/>
          <a:ln w="38100">
            <a:solidFill>
              <a:srgbClr val="C0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Title 1">
            <a:extLst>
              <a:ext uri="{FF2B5EF4-FFF2-40B4-BE49-F238E27FC236}">
                <a16:creationId xmlns:a16="http://schemas.microsoft.com/office/drawing/2014/main" id="{D43F5E03-D875-D607-34DA-8FBB59E52FE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89301" y="140193"/>
            <a:ext cx="10515600" cy="872004"/>
          </a:xfrm>
        </p:spPr>
        <p:txBody>
          <a:bodyPr>
            <a:normAutofit/>
          </a:bodyPr>
          <a:lstStyle/>
          <a:p>
            <a:r>
              <a:rPr lang="en-US" sz="3600" dirty="0">
                <a:latin typeface="+mn-lt"/>
              </a:rPr>
              <a:t>PWC-Net, an early successful optical flow network</a:t>
            </a:r>
          </a:p>
        </p:txBody>
      </p:sp>
    </p:spTree>
    <p:extLst>
      <p:ext uri="{BB962C8B-B14F-4D97-AF65-F5344CB8AC3E}">
        <p14:creationId xmlns:p14="http://schemas.microsoft.com/office/powerpoint/2010/main" val="81580507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0" grpId="0" animBg="1"/>
    </p:bldLst>
  </p:timing>
</p:sld>
</file>

<file path=ppt/slides/slide7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DBC6555-A8E7-4F73-8035-156F702D141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89301" y="1124339"/>
            <a:ext cx="11102662" cy="556824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dirty="0"/>
              <a:t>The PWC-Net Algorithm 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6" name="Content Placeholder 2">
                <a:extLst>
                  <a:ext uri="{FF2B5EF4-FFF2-40B4-BE49-F238E27FC236}">
                    <a16:creationId xmlns:a16="http://schemas.microsoft.com/office/drawing/2014/main" id="{9A9F8DC6-DF44-460A-9977-179DC52F03DD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789301" y="1752600"/>
                <a:ext cx="5589019" cy="4965207"/>
              </a:xfrm>
              <a:prstGeom prst="rect">
                <a:avLst/>
              </a:prstGeom>
            </p:spPr>
            <p:txBody>
              <a:bodyPr vert="horz" lIns="91440" tIns="45720" rIns="91440" bIns="45720" rtlCol="0">
                <a:normAutofit/>
              </a:bodyPr>
              <a:lstStyle>
                <a:lvl1pPr marL="228600" indent="-228600" algn="l" defTabSz="914400" rtl="0" eaLnBrk="1" latinLnBrk="0" hangingPunct="1">
                  <a:lnSpc>
                    <a:spcPct val="90000"/>
                  </a:lnSpc>
                  <a:spcBef>
                    <a:spcPts val="1000"/>
                  </a:spcBef>
                  <a:buFont typeface="Arial" panose="020B0604020202020204" pitchFamily="34" charset="0"/>
                  <a:buChar char="•"/>
                  <a:defRPr sz="2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685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2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1143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600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20574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5146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971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429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886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r>
                  <a:rPr lang="en-US" sz="2400" dirty="0"/>
                  <a:t>CNN used to estimate optical flow</a:t>
                </a:r>
              </a:p>
              <a:p>
                <a:r>
                  <a:rPr lang="en-US" sz="2400" dirty="0"/>
                  <a:t>Training loss is least squares (Euclidian distance) between first image and warped second image, summed over levels of the pyramid  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00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ℒ</m:t>
                      </m:r>
                      <m:d>
                        <m:dPr>
                          <m:ctrlPr>
                            <a:rPr lang="en-US" sz="200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200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𝜃</m:t>
                          </m:r>
                        </m:e>
                      </m:d>
                      <m:r>
                        <a:rPr lang="en-US" sz="20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</m:t>
                      </m:r>
                      <m:nary>
                        <m:naryPr>
                          <m:chr m:val="∑"/>
                          <m:ctrlPr>
                            <a:rPr lang="en-US" sz="20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naryPr>
                        <m:sub>
                          <m:sSub>
                            <m:sSubPr>
                              <m:ctrlPr>
                                <a:rPr lang="en-US" sz="20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20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𝑙</m:t>
                              </m:r>
                            </m:e>
                            <m:sub>
                              <m:r>
                                <a:rPr lang="en-US" sz="20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0</m:t>
                              </m:r>
                            </m:sub>
                          </m:sSub>
                        </m:sub>
                        <m:sup>
                          <m:r>
                            <a:rPr lang="en-US" sz="20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𝐿</m:t>
                          </m:r>
                        </m:sup>
                        <m:e>
                          <m:sSub>
                            <m:sSubPr>
                              <m:ctrlPr>
                                <a:rPr lang="en-US" sz="20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20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𝑎</m:t>
                              </m:r>
                            </m:e>
                            <m:sub>
                              <m:r>
                                <a:rPr lang="en-US" sz="20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𝑙</m:t>
                              </m:r>
                            </m:sub>
                          </m:sSub>
                          <m:nary>
                            <m:naryPr>
                              <m:chr m:val="∑"/>
                              <m:ctrlPr>
                                <a:rPr lang="en-US" sz="20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naryPr>
                            <m:sub>
                              <m:r>
                                <m:rPr>
                                  <m:brk m:alnAt="23"/>
                                </m:rPr>
                                <a:rPr lang="en-US" sz="20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𝑥</m:t>
                              </m:r>
                            </m:sub>
                            <m:sup>
                              <m:r>
                                <a:rPr lang="en-US" sz="20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 </m:t>
                              </m:r>
                            </m:sup>
                            <m:e>
                              <m:sSub>
                                <m:sSubPr>
                                  <m:ctrlPr>
                                    <a:rPr lang="en-US" sz="2000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d>
                                    <m:dPr>
                                      <m:begChr m:val="‖"/>
                                      <m:endChr m:val="‖"/>
                                      <m:ctrlPr>
                                        <a:rPr lang="en-US" sz="2000" b="0" i="1" smtClean="0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</m:ctrlPr>
                                    </m:dPr>
                                    <m:e>
                                      <m:sSubSup>
                                        <m:sSubSupPr>
                                          <m:ctrlPr>
                                            <a:rPr lang="en-US" sz="2000" b="0" i="1" smtClean="0">
                                              <a:latin typeface="Cambria Math" panose="02040503050406030204" pitchFamily="18" charset="0"/>
                                              <a:ea typeface="Cambria Math" panose="02040503050406030204" pitchFamily="18" charset="0"/>
                                            </a:rPr>
                                          </m:ctrlPr>
                                        </m:sSubSupPr>
                                        <m:e>
                                          <m:r>
                                            <a:rPr lang="en-US" sz="2000" b="0" i="1" smtClean="0">
                                              <a:latin typeface="Cambria Math" panose="02040503050406030204" pitchFamily="18" charset="0"/>
                                              <a:ea typeface="Cambria Math" panose="02040503050406030204" pitchFamily="18" charset="0"/>
                                            </a:rPr>
                                            <m:t>𝑤</m:t>
                                          </m:r>
                                        </m:e>
                                        <m:sub>
                                          <m:r>
                                            <a:rPr lang="en-US" sz="2000" b="0" i="1" smtClean="0">
                                              <a:latin typeface="Cambria Math" panose="02040503050406030204" pitchFamily="18" charset="0"/>
                                              <a:ea typeface="Cambria Math" panose="02040503050406030204" pitchFamily="18" charset="0"/>
                                            </a:rPr>
                                            <m:t>𝜃</m:t>
                                          </m:r>
                                        </m:sub>
                                        <m:sup>
                                          <m:r>
                                            <a:rPr lang="en-US" sz="2000" b="0" i="1" smtClean="0">
                                              <a:latin typeface="Cambria Math" panose="02040503050406030204" pitchFamily="18" charset="0"/>
                                              <a:ea typeface="Cambria Math" panose="02040503050406030204" pitchFamily="18" charset="0"/>
                                            </a:rPr>
                                            <m:t>𝑙</m:t>
                                          </m:r>
                                        </m:sup>
                                      </m:sSubSup>
                                      <m:d>
                                        <m:dPr>
                                          <m:ctrlPr>
                                            <a:rPr lang="en-US" sz="2000" b="0" i="1" smtClean="0">
                                              <a:latin typeface="Cambria Math" panose="02040503050406030204" pitchFamily="18" charset="0"/>
                                              <a:ea typeface="Cambria Math" panose="02040503050406030204" pitchFamily="18" charset="0"/>
                                            </a:rPr>
                                          </m:ctrlPr>
                                        </m:dPr>
                                        <m:e>
                                          <m:r>
                                            <a:rPr lang="en-US" sz="2000" b="0" i="1" smtClean="0">
                                              <a:latin typeface="Cambria Math" panose="02040503050406030204" pitchFamily="18" charset="0"/>
                                              <a:ea typeface="Cambria Math" panose="02040503050406030204" pitchFamily="18" charset="0"/>
                                            </a:rPr>
                                            <m:t>𝑥</m:t>
                                          </m:r>
                                        </m:e>
                                      </m:d>
                                      <m:r>
                                        <a:rPr lang="en-US" sz="2000" b="0" i="1" smtClean="0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−</m:t>
                                      </m:r>
                                      <m:sSubSup>
                                        <m:sSubSupPr>
                                          <m:ctrlPr>
                                            <a:rPr lang="en-US" sz="2000" i="1">
                                              <a:latin typeface="Cambria Math" panose="02040503050406030204" pitchFamily="18" charset="0"/>
                                              <a:ea typeface="Cambria Math" panose="02040503050406030204" pitchFamily="18" charset="0"/>
                                            </a:rPr>
                                          </m:ctrlPr>
                                        </m:sSubSupPr>
                                        <m:e>
                                          <m:r>
                                            <a:rPr lang="en-US" sz="2000" i="1">
                                              <a:latin typeface="Cambria Math" panose="02040503050406030204" pitchFamily="18" charset="0"/>
                                              <a:ea typeface="Cambria Math" panose="02040503050406030204" pitchFamily="18" charset="0"/>
                                            </a:rPr>
                                            <m:t>𝑤</m:t>
                                          </m:r>
                                        </m:e>
                                        <m:sub>
                                          <m:r>
                                            <a:rPr lang="en-US" sz="2000" b="0" i="1" smtClean="0">
                                              <a:latin typeface="Cambria Math" panose="02040503050406030204" pitchFamily="18" charset="0"/>
                                              <a:ea typeface="Cambria Math" panose="02040503050406030204" pitchFamily="18" charset="0"/>
                                            </a:rPr>
                                            <m:t>𝐺𝑇</m:t>
                                          </m:r>
                                        </m:sub>
                                        <m:sup>
                                          <m:r>
                                            <a:rPr lang="en-US" sz="2000" i="1">
                                              <a:latin typeface="Cambria Math" panose="02040503050406030204" pitchFamily="18" charset="0"/>
                                              <a:ea typeface="Cambria Math" panose="02040503050406030204" pitchFamily="18" charset="0"/>
                                            </a:rPr>
                                            <m:t>𝑙</m:t>
                                          </m:r>
                                        </m:sup>
                                      </m:sSubSup>
                                      <m:d>
                                        <m:dPr>
                                          <m:ctrlPr>
                                            <a:rPr lang="en-US" sz="2000" i="1">
                                              <a:latin typeface="Cambria Math" panose="02040503050406030204" pitchFamily="18" charset="0"/>
                                              <a:ea typeface="Cambria Math" panose="02040503050406030204" pitchFamily="18" charset="0"/>
                                            </a:rPr>
                                          </m:ctrlPr>
                                        </m:dPr>
                                        <m:e>
                                          <m:r>
                                            <a:rPr lang="en-US" sz="2000" i="1">
                                              <a:latin typeface="Cambria Math" panose="02040503050406030204" pitchFamily="18" charset="0"/>
                                              <a:ea typeface="Cambria Math" panose="02040503050406030204" pitchFamily="18" charset="0"/>
                                            </a:rPr>
                                            <m:t>𝑥</m:t>
                                          </m:r>
                                        </m:e>
                                      </m:d>
                                    </m:e>
                                  </m:d>
                                </m:e>
                                <m:sub>
                                  <m:r>
                                    <a:rPr lang="en-US" sz="2000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2</m:t>
                                  </m:r>
                                </m:sub>
                              </m:sSub>
                              <m:r>
                                <a:rPr lang="en-US" sz="20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+</m:t>
                              </m:r>
                              <m:r>
                                <a:rPr lang="en-US" sz="20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𝛾</m:t>
                              </m:r>
                              <m:sSub>
                                <m:sSubPr>
                                  <m:ctrlPr>
                                    <a:rPr lang="en-US" sz="2000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d>
                                    <m:dPr>
                                      <m:begChr m:val="‖"/>
                                      <m:endChr m:val="‖"/>
                                      <m:ctrlPr>
                                        <a:rPr lang="en-US" sz="2000" b="0" i="1" smtClean="0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</m:ctrlPr>
                                    </m:dPr>
                                    <m:e>
                                      <m:r>
                                        <a:rPr lang="en-US" sz="2000" i="1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𝜃</m:t>
                                      </m:r>
                                    </m:e>
                                  </m:d>
                                </m:e>
                                <m:sub>
                                  <m:r>
                                    <a:rPr lang="en-US" sz="2000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2</m:t>
                                  </m:r>
                                </m:sub>
                              </m:sSub>
                            </m:e>
                          </m:nary>
                        </m:e>
                      </m:nary>
                    </m:oMath>
                  </m:oMathPara>
                </a14:m>
                <a:endParaRPr lang="en-US" sz="2000" dirty="0"/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en-US" sz="20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US" sz="20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𝑤</m:t>
                          </m:r>
                        </m:e>
                        <m:sub>
                          <m:r>
                            <a:rPr lang="en-US" sz="20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𝐺𝑇</m:t>
                          </m:r>
                        </m:sub>
                        <m:sup>
                          <m:r>
                            <a:rPr lang="en-US" sz="20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𝑙</m:t>
                          </m:r>
                        </m:sup>
                      </m:sSubSup>
                      <m:d>
                        <m:dPr>
                          <m:ctrlPr>
                            <a:rPr lang="en-US" sz="20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20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𝑥</m:t>
                          </m:r>
                        </m:e>
                      </m:d>
                      <m:r>
                        <a:rPr lang="en-US" sz="20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</m:t>
                      </m:r>
                      <m:r>
                        <a:rPr lang="en-US" sz="20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𝑔𝑟𝑜𝑢𝑛𝑑</m:t>
                      </m:r>
                      <m:r>
                        <a:rPr lang="en-US" sz="20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 </m:t>
                      </m:r>
                      <m:r>
                        <a:rPr lang="en-US" sz="20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𝑡𝑟𝑢𝑡h</m:t>
                      </m:r>
                    </m:oMath>
                  </m:oMathPara>
                </a14:m>
                <a:endParaRPr lang="en-US" sz="2000" i="1" dirty="0">
                  <a:latin typeface="Cambria Math" panose="02040503050406030204" pitchFamily="18" charset="0"/>
                  <a:ea typeface="Cambria Math" panose="02040503050406030204" pitchFamily="18" charset="0"/>
                </a:endParaRP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00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𝛾</m:t>
                      </m:r>
                      <m:sSub>
                        <m:sSubPr>
                          <m:ctrlPr>
                            <a:rPr lang="en-US" sz="20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d>
                            <m:dPr>
                              <m:begChr m:val="‖"/>
                              <m:endChr m:val="‖"/>
                              <m:ctrlPr>
                                <a:rPr lang="en-US" sz="20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sz="20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𝜃</m:t>
                              </m:r>
                            </m:e>
                          </m:d>
                        </m:e>
                        <m:sub>
                          <m:r>
                            <a:rPr lang="en-US" sz="20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  <m:r>
                        <a:rPr lang="en-US" sz="20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en-US" sz="20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0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𝐿</m:t>
                          </m:r>
                        </m:e>
                        <m:sub>
                          <m:r>
                            <a:rPr lang="en-US" sz="20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  <m:r>
                        <a:rPr lang="en-US" sz="20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 </m:t>
                      </m:r>
                      <m:r>
                        <a:rPr lang="en-US" sz="20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𝑟𝑒𝑔𝑢𝑙𝑎𝑟𝑖𝑧𝑎𝑡𝑖𝑜𝑛</m:t>
                      </m:r>
                      <m:r>
                        <a:rPr lang="en-US" sz="20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 </m:t>
                      </m:r>
                      <m:r>
                        <a:rPr lang="en-US" sz="20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𝑡𝑒𝑟𝑚</m:t>
                      </m:r>
                    </m:oMath>
                  </m:oMathPara>
                </a14:m>
                <a:endParaRPr lang="en-US" sz="2000" dirty="0"/>
              </a:p>
              <a:p>
                <a:r>
                  <a:rPr lang="en-US" sz="2400" dirty="0"/>
                  <a:t>Warp, </a:t>
                </a:r>
                <a14:m>
                  <m:oMath xmlns:m="http://schemas.openxmlformats.org/officeDocument/2006/math">
                    <m:sSubSup>
                      <m:sSubSupPr>
                        <m:ctrlPr>
                          <a:rPr lang="en-US" sz="24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en-US" sz="24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𝑤</m:t>
                        </m:r>
                      </m:e>
                      <m:sub>
                        <m:r>
                          <a:rPr lang="en-US" sz="24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𝜃</m:t>
                        </m:r>
                      </m:sub>
                      <m:sup>
                        <m:r>
                          <a:rPr lang="en-US" sz="24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𝑙</m:t>
                        </m:r>
                      </m:sup>
                    </m:sSubSup>
                  </m:oMath>
                </a14:m>
                <a:r>
                  <a:rPr lang="en-US" sz="2400" dirty="0"/>
                  <a:t>, is learned by minimizing </a:t>
                </a:r>
                <a14:m>
                  <m:oMath xmlns:m="http://schemas.openxmlformats.org/officeDocument/2006/math">
                    <m:r>
                      <a:rPr lang="en-US" sz="24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ℒ</m:t>
                    </m:r>
                    <m:d>
                      <m:dPr>
                        <m:ctrlPr>
                          <a:rPr lang="en-US" sz="24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24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𝜃</m:t>
                        </m:r>
                      </m:e>
                    </m:d>
                  </m:oMath>
                </a14:m>
                <a:r>
                  <a:rPr lang="en-US" sz="2400" dirty="0"/>
                  <a:t>  with CNN</a:t>
                </a:r>
              </a:p>
              <a:p>
                <a:endParaRPr lang="en-US" dirty="0"/>
              </a:p>
            </p:txBody>
          </p:sp>
        </mc:Choice>
        <mc:Fallback xmlns="">
          <p:sp>
            <p:nvSpPr>
              <p:cNvPr id="6" name="Content Placeholder 2">
                <a:extLst>
                  <a:ext uri="{FF2B5EF4-FFF2-40B4-BE49-F238E27FC236}">
                    <a16:creationId xmlns:a16="http://schemas.microsoft.com/office/drawing/2014/main" id="{9A9F8DC6-DF44-460A-9977-179DC52F03D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89301" y="1752600"/>
                <a:ext cx="5589019" cy="4965207"/>
              </a:xfrm>
              <a:prstGeom prst="rect">
                <a:avLst/>
              </a:prstGeom>
              <a:blipFill>
                <a:blip r:embed="rId3"/>
                <a:stretch>
                  <a:fillRect l="-1418" t="-172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7" name="Picture 6">
            <a:extLst>
              <a:ext uri="{FF2B5EF4-FFF2-40B4-BE49-F238E27FC236}">
                <a16:creationId xmlns:a16="http://schemas.microsoft.com/office/drawing/2014/main" id="{44760A99-F293-47A0-981E-8DBFB8EC5164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378320" y="2125393"/>
            <a:ext cx="5698554" cy="3157608"/>
          </a:xfrm>
          <a:prstGeom prst="rect">
            <a:avLst/>
          </a:prstGeom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637275EB-D7E3-4130-B4A9-BF52CC6F759C}"/>
              </a:ext>
            </a:extLst>
          </p:cNvPr>
          <p:cNvSpPr txBox="1"/>
          <p:nvPr/>
        </p:nvSpPr>
        <p:spPr>
          <a:xfrm>
            <a:off x="8367713" y="5326547"/>
            <a:ext cx="25908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>
              <a:buNone/>
            </a:pPr>
            <a:r>
              <a:rPr lang="en-US" sz="1800" dirty="0"/>
              <a:t>Credit </a:t>
            </a:r>
            <a:r>
              <a:rPr lang="en-US" sz="1800" dirty="0">
                <a:hlinkClick r:id="rId5"/>
              </a:rPr>
              <a:t>Sun, et. al., 2018</a:t>
            </a:r>
            <a:endParaRPr lang="en-US" sz="1800" dirty="0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843B943F-B4B3-40D4-B7CB-EAD2C98EFD84}"/>
              </a:ext>
            </a:extLst>
          </p:cNvPr>
          <p:cNvSpPr/>
          <p:nvPr/>
        </p:nvSpPr>
        <p:spPr>
          <a:xfrm>
            <a:off x="9411975" y="4114800"/>
            <a:ext cx="1941825" cy="523875"/>
          </a:xfrm>
          <a:prstGeom prst="rect">
            <a:avLst/>
          </a:prstGeom>
          <a:noFill/>
          <a:ln w="38100">
            <a:solidFill>
              <a:srgbClr val="C0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Title 1">
            <a:extLst>
              <a:ext uri="{FF2B5EF4-FFF2-40B4-BE49-F238E27FC236}">
                <a16:creationId xmlns:a16="http://schemas.microsoft.com/office/drawing/2014/main" id="{9EA74EE9-7A4C-B0D9-3066-64A7D702DA4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89301" y="140193"/>
            <a:ext cx="10515600" cy="872004"/>
          </a:xfrm>
        </p:spPr>
        <p:txBody>
          <a:bodyPr>
            <a:normAutofit/>
          </a:bodyPr>
          <a:lstStyle/>
          <a:p>
            <a:r>
              <a:rPr lang="en-US" sz="3600" dirty="0">
                <a:latin typeface="+mn-lt"/>
              </a:rPr>
              <a:t>PWC-Net, an early successful optical flow network</a:t>
            </a:r>
          </a:p>
        </p:txBody>
      </p:sp>
    </p:spTree>
    <p:extLst>
      <p:ext uri="{BB962C8B-B14F-4D97-AF65-F5344CB8AC3E}">
        <p14:creationId xmlns:p14="http://schemas.microsoft.com/office/powerpoint/2010/main" val="377731520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0" grpId="0" animBg="1"/>
    </p:bldLst>
  </p:timing>
</p:sld>
</file>

<file path=ppt/slides/slide7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DBC6555-A8E7-4F73-8035-156F702D141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89301" y="1124339"/>
            <a:ext cx="11102662" cy="556824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dirty="0"/>
              <a:t>The PWC-Net Algorithm 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6" name="Content Placeholder 2">
                <a:extLst>
                  <a:ext uri="{FF2B5EF4-FFF2-40B4-BE49-F238E27FC236}">
                    <a16:creationId xmlns:a16="http://schemas.microsoft.com/office/drawing/2014/main" id="{9A9F8DC6-DF44-460A-9977-179DC52F03DD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417780" y="1793305"/>
                <a:ext cx="5922852" cy="4965207"/>
              </a:xfrm>
              <a:prstGeom prst="rect">
                <a:avLst/>
              </a:prstGeom>
            </p:spPr>
            <p:txBody>
              <a:bodyPr vert="horz" lIns="91440" tIns="45720" rIns="91440" bIns="45720" rtlCol="0">
                <a:normAutofit/>
              </a:bodyPr>
              <a:lstStyle>
                <a:lvl1pPr marL="228600" indent="-228600" algn="l" defTabSz="914400" rtl="0" eaLnBrk="1" latinLnBrk="0" hangingPunct="1">
                  <a:lnSpc>
                    <a:spcPct val="90000"/>
                  </a:lnSpc>
                  <a:spcBef>
                    <a:spcPts val="1000"/>
                  </a:spcBef>
                  <a:buFont typeface="Arial" panose="020B0604020202020204" pitchFamily="34" charset="0"/>
                  <a:buChar char="•"/>
                  <a:defRPr sz="2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685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2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1143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600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20574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5146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971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429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886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r>
                  <a:rPr lang="en-US" sz="2400" dirty="0"/>
                  <a:t>Conventional filtering used for post processing to improve continuity of flow field </a:t>
                </a:r>
              </a:p>
              <a:p>
                <a:r>
                  <a:rPr lang="en-US" sz="2400" b="1" dirty="0"/>
                  <a:t>Composing</a:t>
                </a:r>
                <a:r>
                  <a:rPr lang="en-US" sz="2400" dirty="0"/>
                  <a:t> is learned by minimizing robust training loss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00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ℒ</m:t>
                      </m:r>
                      <m:d>
                        <m:dPr>
                          <m:ctrlPr>
                            <a:rPr lang="en-US" sz="20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20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𝜃</m:t>
                          </m:r>
                        </m:e>
                      </m:d>
                      <m:r>
                        <a:rPr lang="en-US" sz="200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</m:t>
                      </m:r>
                      <m:nary>
                        <m:naryPr>
                          <m:chr m:val="∑"/>
                          <m:ctrlPr>
                            <a:rPr lang="en-US" sz="20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naryPr>
                        <m:sub>
                          <m:sSub>
                            <m:sSubPr>
                              <m:ctrlPr>
                                <a:rPr lang="en-US" sz="20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20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𝑙</m:t>
                              </m:r>
                            </m:e>
                            <m:sub>
                              <m:r>
                                <a:rPr lang="en-US" sz="20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0</m:t>
                              </m:r>
                            </m:sub>
                          </m:sSub>
                        </m:sub>
                        <m:sup>
                          <m:r>
                            <a:rPr lang="en-US" sz="20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𝐿</m:t>
                          </m:r>
                        </m:sup>
                        <m:e>
                          <m:sSub>
                            <m:sSubPr>
                              <m:ctrlPr>
                                <a:rPr lang="en-US" sz="20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20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𝑎</m:t>
                              </m:r>
                            </m:e>
                            <m:sub>
                              <m:r>
                                <a:rPr lang="en-US" sz="20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𝑙</m:t>
                              </m:r>
                            </m:sub>
                          </m:sSub>
                          <m:nary>
                            <m:naryPr>
                              <m:chr m:val="∑"/>
                              <m:ctrlPr>
                                <a:rPr lang="en-US" sz="20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naryPr>
                            <m:sub>
                              <m:r>
                                <m:rPr>
                                  <m:brk m:alnAt="23"/>
                                </m:rPr>
                                <a:rPr lang="en-US" sz="20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𝑥</m:t>
                              </m:r>
                            </m:sub>
                            <m:sup>
                              <m:r>
                                <a:rPr lang="en-US" sz="20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 </m:t>
                              </m:r>
                            </m:sup>
                            <m:e>
                              <m:sSub>
                                <m:sSubPr>
                                  <m:ctrlPr>
                                    <a:rPr lang="en-US" sz="2000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sSup>
                                    <m:sSupPr>
                                      <m:ctrlPr>
                                        <a:rPr lang="en-US" sz="2000" i="1" smtClean="0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</m:ctrlPr>
                                    </m:sSupPr>
                                    <m:e>
                                      <m:d>
                                        <m:dPr>
                                          <m:begChr m:val="|"/>
                                          <m:endChr m:val="|"/>
                                          <m:ctrlPr>
                                            <a:rPr lang="en-US" sz="2000" i="1" smtClean="0">
                                              <a:latin typeface="Cambria Math" panose="02040503050406030204" pitchFamily="18" charset="0"/>
                                              <a:ea typeface="Cambria Math" panose="02040503050406030204" pitchFamily="18" charset="0"/>
                                            </a:rPr>
                                          </m:ctrlPr>
                                        </m:dPr>
                                        <m:e>
                                          <m:sSubSup>
                                            <m:sSubSupPr>
                                              <m:ctrlPr>
                                                <a:rPr lang="en-US" sz="2000" i="1">
                                                  <a:latin typeface="Cambria Math" panose="02040503050406030204" pitchFamily="18" charset="0"/>
                                                  <a:ea typeface="Cambria Math" panose="02040503050406030204" pitchFamily="18" charset="0"/>
                                                </a:rPr>
                                              </m:ctrlPr>
                                            </m:sSubSupPr>
                                            <m:e>
                                              <m:r>
                                                <a:rPr lang="en-US" sz="2000" i="1">
                                                  <a:latin typeface="Cambria Math" panose="02040503050406030204" pitchFamily="18" charset="0"/>
                                                  <a:ea typeface="Cambria Math" panose="02040503050406030204" pitchFamily="18" charset="0"/>
                                                </a:rPr>
                                                <m:t>𝑤</m:t>
                                              </m:r>
                                            </m:e>
                                            <m:sub>
                                              <m:r>
                                                <a:rPr lang="en-US" sz="2000" i="1">
                                                  <a:latin typeface="Cambria Math" panose="02040503050406030204" pitchFamily="18" charset="0"/>
                                                  <a:ea typeface="Cambria Math" panose="02040503050406030204" pitchFamily="18" charset="0"/>
                                                </a:rPr>
                                                <m:t>𝜃</m:t>
                                              </m:r>
                                            </m:sub>
                                            <m:sup>
                                              <m:r>
                                                <a:rPr lang="en-US" sz="2000" i="1">
                                                  <a:latin typeface="Cambria Math" panose="02040503050406030204" pitchFamily="18" charset="0"/>
                                                  <a:ea typeface="Cambria Math" panose="02040503050406030204" pitchFamily="18" charset="0"/>
                                                </a:rPr>
                                                <m:t>𝑙</m:t>
                                              </m:r>
                                            </m:sup>
                                          </m:sSubSup>
                                          <m:d>
                                            <m:dPr>
                                              <m:ctrlPr>
                                                <a:rPr lang="en-US" sz="2000" i="1">
                                                  <a:latin typeface="Cambria Math" panose="02040503050406030204" pitchFamily="18" charset="0"/>
                                                  <a:ea typeface="Cambria Math" panose="02040503050406030204" pitchFamily="18" charset="0"/>
                                                </a:rPr>
                                              </m:ctrlPr>
                                            </m:dPr>
                                            <m:e>
                                              <m:r>
                                                <a:rPr lang="en-US" sz="2000" i="1">
                                                  <a:latin typeface="Cambria Math" panose="02040503050406030204" pitchFamily="18" charset="0"/>
                                                  <a:ea typeface="Cambria Math" panose="02040503050406030204" pitchFamily="18" charset="0"/>
                                                </a:rPr>
                                                <m:t>𝑥</m:t>
                                              </m:r>
                                            </m:e>
                                          </m:d>
                                          <m:r>
                                            <a:rPr lang="en-US" sz="2000" i="1">
                                              <a:latin typeface="Cambria Math" panose="02040503050406030204" pitchFamily="18" charset="0"/>
                                              <a:ea typeface="Cambria Math" panose="02040503050406030204" pitchFamily="18" charset="0"/>
                                            </a:rPr>
                                            <m:t>−</m:t>
                                          </m:r>
                                          <m:sSubSup>
                                            <m:sSubSupPr>
                                              <m:ctrlPr>
                                                <a:rPr lang="en-US" sz="2000" i="1">
                                                  <a:latin typeface="Cambria Math" panose="02040503050406030204" pitchFamily="18" charset="0"/>
                                                  <a:ea typeface="Cambria Math" panose="02040503050406030204" pitchFamily="18" charset="0"/>
                                                </a:rPr>
                                              </m:ctrlPr>
                                            </m:sSubSupPr>
                                            <m:e>
                                              <m:r>
                                                <a:rPr lang="en-US" sz="2000" i="1">
                                                  <a:latin typeface="Cambria Math" panose="02040503050406030204" pitchFamily="18" charset="0"/>
                                                  <a:ea typeface="Cambria Math" panose="02040503050406030204" pitchFamily="18" charset="0"/>
                                                </a:rPr>
                                                <m:t>𝑤</m:t>
                                              </m:r>
                                            </m:e>
                                            <m:sub>
                                              <m:r>
                                                <a:rPr lang="en-US" sz="2000" i="1">
                                                  <a:latin typeface="Cambria Math" panose="02040503050406030204" pitchFamily="18" charset="0"/>
                                                  <a:ea typeface="Cambria Math" panose="02040503050406030204" pitchFamily="18" charset="0"/>
                                                </a:rPr>
                                                <m:t>𝐺𝑇</m:t>
                                              </m:r>
                                            </m:sub>
                                            <m:sup>
                                              <m:r>
                                                <a:rPr lang="en-US" sz="2000" i="1">
                                                  <a:latin typeface="Cambria Math" panose="02040503050406030204" pitchFamily="18" charset="0"/>
                                                  <a:ea typeface="Cambria Math" panose="02040503050406030204" pitchFamily="18" charset="0"/>
                                                </a:rPr>
                                                <m:t>𝑙</m:t>
                                              </m:r>
                                            </m:sup>
                                          </m:sSubSup>
                                          <m:d>
                                            <m:dPr>
                                              <m:ctrlPr>
                                                <a:rPr lang="en-US" sz="2000" i="1">
                                                  <a:latin typeface="Cambria Math" panose="02040503050406030204" pitchFamily="18" charset="0"/>
                                                  <a:ea typeface="Cambria Math" panose="02040503050406030204" pitchFamily="18" charset="0"/>
                                                </a:rPr>
                                              </m:ctrlPr>
                                            </m:dPr>
                                            <m:e>
                                              <m:r>
                                                <a:rPr lang="en-US" sz="2000" i="1">
                                                  <a:latin typeface="Cambria Math" panose="02040503050406030204" pitchFamily="18" charset="0"/>
                                                  <a:ea typeface="Cambria Math" panose="02040503050406030204" pitchFamily="18" charset="0"/>
                                                </a:rPr>
                                                <m:t>𝑥</m:t>
                                              </m:r>
                                            </m:e>
                                          </m:d>
                                        </m:e>
                                      </m:d>
                                      <m:r>
                                        <a:rPr lang="en-US" sz="2000" b="0" i="1" smtClean="0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+</m:t>
                                      </m:r>
                                      <m:r>
                                        <a:rPr lang="en-US" sz="2000" i="1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𝜀</m:t>
                                      </m:r>
                                    </m:e>
                                    <m:sup>
                                      <m:r>
                                        <a:rPr lang="en-US" sz="2000" b="0" i="1" smtClean="0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 </m:t>
                                      </m:r>
                                    </m:sup>
                                  </m:sSup>
                                </m:e>
                                <m:sub>
                                  <m:r>
                                    <a:rPr lang="en-US" sz="2000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 </m:t>
                                  </m:r>
                                </m:sub>
                              </m:sSub>
                              <m:r>
                                <a:rPr lang="en-US" sz="20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+</m:t>
                              </m:r>
                              <m:r>
                                <a:rPr lang="en-US" sz="20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𝛾</m:t>
                              </m:r>
                              <m:sSub>
                                <m:sSubPr>
                                  <m:ctrlPr>
                                    <a:rPr lang="en-US" sz="2000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d>
                                    <m:dPr>
                                      <m:begChr m:val="‖"/>
                                      <m:endChr m:val="‖"/>
                                      <m:ctrlPr>
                                        <a:rPr lang="en-US" sz="2000" i="1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</m:ctrlPr>
                                    </m:dPr>
                                    <m:e>
                                      <m:r>
                                        <a:rPr lang="en-US" sz="2000" i="1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𝜃</m:t>
                                      </m:r>
                                    </m:e>
                                  </m:d>
                                </m:e>
                                <m:sub>
                                  <m:r>
                                    <a:rPr lang="en-US" sz="2000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2</m:t>
                                  </m:r>
                                </m:sub>
                              </m:sSub>
                            </m:e>
                          </m:nary>
                        </m:e>
                      </m:nary>
                    </m:oMath>
                  </m:oMathPara>
                </a14:m>
                <a:endParaRPr lang="en-US" sz="2000" dirty="0"/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begChr m:val="|"/>
                          <m:endChr m:val="|"/>
                          <m:ctrlPr>
                            <a:rPr lang="en-US" sz="20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sSubSup>
                            <m:sSubSupPr>
                              <m:ctrlPr>
                                <a:rPr lang="en-US" sz="20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SupPr>
                            <m:e>
                              <m:r>
                                <a:rPr lang="en-US" sz="20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𝑤</m:t>
                              </m:r>
                            </m:e>
                            <m:sub>
                              <m:r>
                                <a:rPr lang="en-US" sz="20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𝜃</m:t>
                              </m:r>
                            </m:sub>
                            <m:sup>
                              <m:r>
                                <a:rPr lang="en-US" sz="20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𝑙</m:t>
                              </m:r>
                            </m:sup>
                          </m:sSubSup>
                          <m:d>
                            <m:dPr>
                              <m:ctrlPr>
                                <a:rPr lang="en-US" sz="20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sz="20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𝑥</m:t>
                              </m:r>
                            </m:e>
                          </m:d>
                          <m:r>
                            <a:rPr lang="en-US" sz="20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−</m:t>
                          </m:r>
                          <m:sSubSup>
                            <m:sSubSupPr>
                              <m:ctrlPr>
                                <a:rPr lang="en-US" sz="20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SupPr>
                            <m:e>
                              <m:r>
                                <a:rPr lang="en-US" sz="20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𝑤</m:t>
                              </m:r>
                            </m:e>
                            <m:sub>
                              <m:r>
                                <a:rPr lang="en-US" sz="20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𝐺𝑇</m:t>
                              </m:r>
                            </m:sub>
                            <m:sup>
                              <m:r>
                                <a:rPr lang="en-US" sz="20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𝑙</m:t>
                              </m:r>
                            </m:sup>
                          </m:sSubSup>
                          <m:d>
                            <m:dPr>
                              <m:ctrlPr>
                                <a:rPr lang="en-US" sz="20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sz="20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𝑥</m:t>
                              </m:r>
                            </m:e>
                          </m:d>
                        </m:e>
                      </m:d>
                      <m:r>
                        <a:rPr lang="en-US" sz="20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en-US" sz="20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0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𝐿</m:t>
                          </m:r>
                        </m:e>
                        <m:sub>
                          <m:r>
                            <a:rPr lang="en-US" sz="20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r>
                        <a:rPr lang="en-US" sz="20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 </m:t>
                      </m:r>
                      <m:r>
                        <a:rPr lang="en-US" sz="20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𝑒𝑟𝑟𝑜𝑟</m:t>
                      </m:r>
                    </m:oMath>
                  </m:oMathPara>
                </a14:m>
                <a:endParaRPr lang="en-US" sz="2000" i="1" dirty="0"/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0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0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𝜀</m:t>
                          </m:r>
                        </m:e>
                        <m:sub>
                          <m:r>
                            <a:rPr lang="en-US" sz="20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 </m:t>
                          </m:r>
                        </m:sub>
                      </m:sSub>
                      <m:r>
                        <a:rPr lang="en-US" sz="20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</m:t>
                      </m:r>
                      <m:r>
                        <a:rPr lang="en-US" sz="20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𝑛𝑜𝑖𝑠𝑒</m:t>
                      </m:r>
                      <m:r>
                        <a:rPr lang="en-US" sz="20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 </m:t>
                      </m:r>
                      <m:r>
                        <a:rPr lang="en-US" sz="20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𝑡𝑒𝑟𝑚</m:t>
                      </m:r>
                    </m:oMath>
                  </m:oMathPara>
                </a14:m>
                <a:endParaRPr lang="en-US" sz="2000" i="1" dirty="0"/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0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0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𝑎</m:t>
                          </m:r>
                        </m:e>
                        <m:sub>
                          <m:r>
                            <a:rPr lang="en-US" sz="20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𝑙</m:t>
                          </m:r>
                        </m:sub>
                      </m:sSub>
                      <m:r>
                        <a:rPr lang="en-US" sz="20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</m:t>
                      </m:r>
                      <m:r>
                        <a:rPr lang="en-US" sz="20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𝑙𝑒𝑎𝑟𝑛𝑎𝑏𝑙𝑒</m:t>
                      </m:r>
                      <m:r>
                        <a:rPr lang="en-US" sz="20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 </m:t>
                      </m:r>
                      <m:r>
                        <a:rPr lang="en-US" sz="20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𝑤𝑒𝑖𝑔h𝑡</m:t>
                      </m:r>
                    </m:oMath>
                  </m:oMathPara>
                </a14:m>
                <a:endParaRPr lang="en-US" sz="2000" i="1" dirty="0"/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000" b="0" i="1" smtClean="0">
                          <a:latin typeface="Cambria Math" panose="02040503050406030204" pitchFamily="18" charset="0"/>
                        </a:rPr>
                        <m:t>𝑞</m:t>
                      </m:r>
                      <m:r>
                        <a:rPr lang="en-US" sz="20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≤1, </m:t>
                      </m:r>
                      <m:r>
                        <a:rPr lang="en-US" sz="20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𝑠𝑢𝑝𝑟𝑒𝑠𝑠𝑒𝑠</m:t>
                      </m:r>
                      <m:r>
                        <a:rPr lang="en-US" sz="20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 </m:t>
                      </m:r>
                      <m:r>
                        <a:rPr lang="en-US" sz="20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𝑛𝑜𝑖𝑠𝑒</m:t>
                      </m:r>
                    </m:oMath>
                  </m:oMathPara>
                </a14:m>
                <a:endParaRPr lang="en-US" sz="2000" i="1" dirty="0"/>
              </a:p>
              <a:p>
                <a:pPr marL="0" indent="0">
                  <a:buNone/>
                </a:pPr>
                <a:endParaRPr lang="en-US" sz="2000" i="1" dirty="0"/>
              </a:p>
              <a:p>
                <a:endParaRPr lang="en-US" dirty="0"/>
              </a:p>
            </p:txBody>
          </p:sp>
        </mc:Choice>
        <mc:Fallback xmlns="">
          <p:sp>
            <p:nvSpPr>
              <p:cNvPr id="6" name="Content Placeholder 2">
                <a:extLst>
                  <a:ext uri="{FF2B5EF4-FFF2-40B4-BE49-F238E27FC236}">
                    <a16:creationId xmlns:a16="http://schemas.microsoft.com/office/drawing/2014/main" id="{9A9F8DC6-DF44-460A-9977-179DC52F03D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17780" y="1793305"/>
                <a:ext cx="5922852" cy="4965207"/>
              </a:xfrm>
              <a:prstGeom prst="rect">
                <a:avLst/>
              </a:prstGeom>
              <a:blipFill>
                <a:blip r:embed="rId3"/>
                <a:stretch>
                  <a:fillRect l="-1442" t="-171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7" name="Picture 6">
            <a:extLst>
              <a:ext uri="{FF2B5EF4-FFF2-40B4-BE49-F238E27FC236}">
                <a16:creationId xmlns:a16="http://schemas.microsoft.com/office/drawing/2014/main" id="{44760A99-F293-47A0-981E-8DBFB8EC5164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378320" y="2109717"/>
            <a:ext cx="5698554" cy="3157608"/>
          </a:xfrm>
          <a:prstGeom prst="rect">
            <a:avLst/>
          </a:prstGeom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637275EB-D7E3-4130-B4A9-BF52CC6F759C}"/>
              </a:ext>
            </a:extLst>
          </p:cNvPr>
          <p:cNvSpPr txBox="1"/>
          <p:nvPr/>
        </p:nvSpPr>
        <p:spPr>
          <a:xfrm>
            <a:off x="8367713" y="5326547"/>
            <a:ext cx="25908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>
              <a:buNone/>
            </a:pPr>
            <a:r>
              <a:rPr lang="en-US" sz="1800" dirty="0"/>
              <a:t>Credit </a:t>
            </a:r>
            <a:r>
              <a:rPr lang="en-US" sz="1800" dirty="0">
                <a:hlinkClick r:id="rId5"/>
              </a:rPr>
              <a:t>Sun, et. al., 2018</a:t>
            </a:r>
            <a:endParaRPr lang="en-US" sz="1800" dirty="0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843B943F-B4B3-40D4-B7CB-EAD2C98EFD84}"/>
              </a:ext>
            </a:extLst>
          </p:cNvPr>
          <p:cNvSpPr/>
          <p:nvPr/>
        </p:nvSpPr>
        <p:spPr>
          <a:xfrm>
            <a:off x="7924801" y="4562475"/>
            <a:ext cx="3429000" cy="642937"/>
          </a:xfrm>
          <a:prstGeom prst="rect">
            <a:avLst/>
          </a:prstGeom>
          <a:noFill/>
          <a:ln w="38100">
            <a:solidFill>
              <a:srgbClr val="C0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Title 1">
            <a:extLst>
              <a:ext uri="{FF2B5EF4-FFF2-40B4-BE49-F238E27FC236}">
                <a16:creationId xmlns:a16="http://schemas.microsoft.com/office/drawing/2014/main" id="{E81C72EA-5208-35EC-6664-CB0EED52988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89301" y="140193"/>
            <a:ext cx="10515600" cy="872004"/>
          </a:xfrm>
        </p:spPr>
        <p:txBody>
          <a:bodyPr>
            <a:normAutofit/>
          </a:bodyPr>
          <a:lstStyle/>
          <a:p>
            <a:r>
              <a:rPr lang="en-US" sz="3600" dirty="0">
                <a:latin typeface="+mn-lt"/>
              </a:rPr>
              <a:t>PWC-Net, an early successful optical flow network</a:t>
            </a:r>
          </a:p>
        </p:txBody>
      </p:sp>
    </p:spTree>
    <p:extLst>
      <p:ext uri="{BB962C8B-B14F-4D97-AF65-F5344CB8AC3E}">
        <p14:creationId xmlns:p14="http://schemas.microsoft.com/office/powerpoint/2010/main" val="105873216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0" grpId="0" animBg="1"/>
    </p:bldLst>
  </p:timing>
</p:sld>
</file>

<file path=ppt/slides/slide7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DBC6555-A8E7-4F73-8035-156F702D141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89301" y="1124339"/>
            <a:ext cx="10515600" cy="5593468"/>
          </a:xfrm>
        </p:spPr>
        <p:txBody>
          <a:bodyPr>
            <a:normAutofit lnSpcReduction="10000"/>
          </a:bodyPr>
          <a:lstStyle/>
          <a:p>
            <a:pPr marL="0" indent="0">
              <a:buNone/>
            </a:pPr>
            <a:r>
              <a:rPr lang="en-US" dirty="0"/>
              <a:t>PWC-Net algorithm tracking image-to-image motion  </a:t>
            </a:r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endParaRPr lang="en-US" sz="1800" dirty="0"/>
          </a:p>
          <a:p>
            <a:pPr marL="0" indent="0">
              <a:buNone/>
            </a:pPr>
            <a:endParaRPr lang="en-US" sz="1800" dirty="0"/>
          </a:p>
          <a:p>
            <a:pPr marL="0" indent="0">
              <a:buNone/>
            </a:pPr>
            <a:r>
              <a:rPr lang="en-US" sz="1800" dirty="0"/>
              <a:t>Credit </a:t>
            </a:r>
            <a:r>
              <a:rPr lang="en-US" sz="1800" dirty="0">
                <a:hlinkClick r:id="rId2"/>
              </a:rPr>
              <a:t>Sun, et. al., 2018</a:t>
            </a:r>
            <a:endParaRPr lang="en-US" sz="1800" dirty="0"/>
          </a:p>
          <a:p>
            <a:pPr marL="0" indent="0">
              <a:buNone/>
            </a:pPr>
            <a:r>
              <a:rPr lang="en-US" sz="1800" dirty="0">
                <a:hlinkClick r:id="rId3"/>
              </a:rPr>
              <a:t>TensorFlow implementation  </a:t>
            </a:r>
            <a:endParaRPr lang="en-US" sz="1800" b="1" dirty="0"/>
          </a:p>
          <a:p>
            <a:endParaRPr lang="en-US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521293D0-BB50-465C-AFA6-10824FD07537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93937" y="1545515"/>
            <a:ext cx="10036395" cy="4416013"/>
          </a:xfrm>
          <a:prstGeom prst="rect">
            <a:avLst/>
          </a:prstGeom>
        </p:spPr>
      </p:pic>
      <p:sp>
        <p:nvSpPr>
          <p:cNvPr id="7" name="Title 1">
            <a:extLst>
              <a:ext uri="{FF2B5EF4-FFF2-40B4-BE49-F238E27FC236}">
                <a16:creationId xmlns:a16="http://schemas.microsoft.com/office/drawing/2014/main" id="{31F08955-D9B4-FC0D-DBD7-DED77CAABEB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89301" y="140193"/>
            <a:ext cx="10515600" cy="872004"/>
          </a:xfrm>
        </p:spPr>
        <p:txBody>
          <a:bodyPr>
            <a:normAutofit/>
          </a:bodyPr>
          <a:lstStyle/>
          <a:p>
            <a:r>
              <a:rPr lang="en-US" sz="3600" dirty="0">
                <a:latin typeface="+mn-lt"/>
              </a:rPr>
              <a:t>PWC-Net, an early successful optical flow network</a:t>
            </a:r>
          </a:p>
        </p:txBody>
      </p:sp>
    </p:spTree>
    <p:extLst>
      <p:ext uri="{BB962C8B-B14F-4D97-AF65-F5344CB8AC3E}">
        <p14:creationId xmlns:p14="http://schemas.microsoft.com/office/powerpoint/2010/main" val="3590707748"/>
      </p:ext>
    </p:extLst>
  </p:cSld>
  <p:clrMapOvr>
    <a:masterClrMapping/>
  </p:clrMapOvr>
</p:sld>
</file>

<file path=ppt/slides/slide7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DFB6AB4-96EB-434D-8BFC-6697DE744D7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89301" y="140193"/>
            <a:ext cx="10515600" cy="872004"/>
          </a:xfrm>
        </p:spPr>
        <p:txBody>
          <a:bodyPr>
            <a:normAutofit/>
          </a:bodyPr>
          <a:lstStyle/>
          <a:p>
            <a:r>
              <a:rPr lang="en-US" sz="4000" dirty="0">
                <a:latin typeface="+mn-lt"/>
              </a:rPr>
              <a:t>RAFT, Fully Neural Algorithm 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DBC6555-A8E7-4F73-8035-156F702D141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89301" y="1124339"/>
            <a:ext cx="10515600" cy="5593468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i="0" dirty="0">
                <a:solidFill>
                  <a:srgbClr val="000000"/>
                </a:solidFill>
                <a:effectLst/>
                <a:hlinkClick r:id="rId2"/>
              </a:rPr>
              <a:t>RAFT: Recurrent All-Pairs Field Transforms for Optical Flow, Teed and Dang, 2020</a:t>
            </a:r>
            <a:r>
              <a:rPr lang="en-US" i="0" dirty="0">
                <a:solidFill>
                  <a:srgbClr val="000000"/>
                </a:solidFill>
                <a:effectLst/>
              </a:rPr>
              <a:t>, improves performance </a:t>
            </a:r>
            <a:r>
              <a:rPr lang="en-US" dirty="0">
                <a:solidFill>
                  <a:srgbClr val="000000"/>
                </a:solidFill>
              </a:rPr>
              <a:t>in several ways</a:t>
            </a:r>
            <a:r>
              <a:rPr lang="en-US" i="0" dirty="0">
                <a:solidFill>
                  <a:srgbClr val="000000"/>
                </a:solidFill>
                <a:effectLst/>
              </a:rPr>
              <a:t> </a:t>
            </a:r>
          </a:p>
          <a:p>
            <a:r>
              <a:rPr lang="en-US" dirty="0">
                <a:solidFill>
                  <a:srgbClr val="000000"/>
                </a:solidFill>
              </a:rPr>
              <a:t>A multi-scale correlation volume to measure alignment between images</a:t>
            </a:r>
          </a:p>
          <a:p>
            <a:pPr lvl="1"/>
            <a:r>
              <a:rPr lang="en-US" dirty="0">
                <a:solidFill>
                  <a:srgbClr val="000000"/>
                </a:solidFill>
              </a:rPr>
              <a:t>Account for flow at multiple scales, large slow motions and fast moving objects</a:t>
            </a:r>
          </a:p>
          <a:p>
            <a:r>
              <a:rPr lang="en-US" i="0" dirty="0">
                <a:solidFill>
                  <a:srgbClr val="000000"/>
                </a:solidFill>
                <a:effectLst/>
              </a:rPr>
              <a:t>Recurrent neural network to </a:t>
            </a:r>
            <a:r>
              <a:rPr lang="en-US" dirty="0">
                <a:solidFill>
                  <a:srgbClr val="000000"/>
                </a:solidFill>
              </a:rPr>
              <a:t>optimize warp  </a:t>
            </a:r>
          </a:p>
          <a:p>
            <a:pPr lvl="1"/>
            <a:r>
              <a:rPr lang="en-US" dirty="0">
                <a:solidFill>
                  <a:srgbClr val="000000"/>
                </a:solidFill>
              </a:rPr>
              <a:t>Flow has long and short range dependencies </a:t>
            </a:r>
          </a:p>
          <a:p>
            <a:pPr lvl="1"/>
            <a:r>
              <a:rPr lang="en-US" i="0" dirty="0">
                <a:solidFill>
                  <a:srgbClr val="000000"/>
                </a:solidFill>
                <a:effectLst/>
              </a:rPr>
              <a:t>Recurrent neural network accounts for range of dependencies    </a:t>
            </a:r>
          </a:p>
          <a:p>
            <a:pPr marL="0" indent="0">
              <a:buNone/>
            </a:pP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18744959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E25636F-0AF7-CBD3-0C1F-A189061D7AD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B61D3BE-2744-14F8-1565-C82B53F55D2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89301" y="140193"/>
            <a:ext cx="10515600" cy="872004"/>
          </a:xfrm>
        </p:spPr>
        <p:txBody>
          <a:bodyPr>
            <a:normAutofit/>
          </a:bodyPr>
          <a:lstStyle/>
          <a:p>
            <a:r>
              <a:rPr lang="en-US" sz="4000" dirty="0">
                <a:latin typeface="+mn-lt"/>
              </a:rPr>
              <a:t>RAFT, Fully Neural Algorithm  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BA30F86-3209-530A-961B-2FB1371A005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89301" y="1012197"/>
            <a:ext cx="10515600" cy="917112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i="0" dirty="0">
                <a:solidFill>
                  <a:srgbClr val="000000"/>
                </a:solidFill>
                <a:effectLst/>
                <a:hlinkClick r:id="rId2"/>
              </a:rPr>
              <a:t>RAFT: Recurrent All-Pairs Field Transforms for Optical Flow, Teed and Dang, 2020</a:t>
            </a:r>
            <a:r>
              <a:rPr lang="en-US" i="0" dirty="0">
                <a:solidFill>
                  <a:srgbClr val="000000"/>
                </a:solidFill>
                <a:effectLst/>
              </a:rPr>
              <a:t>, improves performance </a:t>
            </a:r>
            <a:r>
              <a:rPr lang="en-US" dirty="0">
                <a:solidFill>
                  <a:srgbClr val="000000"/>
                </a:solidFill>
              </a:rPr>
              <a:t>in several ways</a:t>
            </a:r>
            <a:r>
              <a:rPr lang="en-US" i="0" dirty="0">
                <a:solidFill>
                  <a:srgbClr val="000000"/>
                </a:solidFill>
                <a:effectLst/>
              </a:rPr>
              <a:t> 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514CFE5D-FB5B-72BE-1ECB-2519F28DBB8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430571" y="3488174"/>
            <a:ext cx="9492332" cy="3193757"/>
          </a:xfrm>
          <a:prstGeom prst="rect">
            <a:avLst/>
          </a:prstGeom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4" name="Content Placeholder 2">
                <a:extLst>
                  <a:ext uri="{FF2B5EF4-FFF2-40B4-BE49-F238E27FC236}">
                    <a16:creationId xmlns:a16="http://schemas.microsoft.com/office/drawing/2014/main" id="{6BC4657A-3690-EA94-A3E6-9BB580981757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1948718" y="2195625"/>
                <a:ext cx="5812107" cy="917112"/>
              </a:xfrm>
              <a:prstGeom prst="rect">
                <a:avLst/>
              </a:prstGeom>
            </p:spPr>
            <p:txBody>
              <a:bodyPr vert="horz" lIns="91440" tIns="45720" rIns="91440" bIns="45720" rtlCol="0">
                <a:normAutofit/>
              </a:bodyPr>
              <a:lstStyle>
                <a:lvl1pPr marL="228600" indent="-228600" algn="l" defTabSz="914400" rtl="0" eaLnBrk="1" latinLnBrk="0" hangingPunct="1">
                  <a:lnSpc>
                    <a:spcPct val="90000"/>
                  </a:lnSpc>
                  <a:spcBef>
                    <a:spcPts val="1000"/>
                  </a:spcBef>
                  <a:buFont typeface="Arial" panose="020B0604020202020204" pitchFamily="34" charset="0"/>
                  <a:buChar char="•"/>
                  <a:defRPr sz="2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685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2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1143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600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20574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5146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971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429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886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indent="0">
                  <a:buNone/>
                </a:pPr>
                <a:r>
                  <a:rPr lang="en-US" dirty="0">
                    <a:solidFill>
                      <a:srgbClr val="000000"/>
                    </a:solidFill>
                  </a:rPr>
                  <a:t>Learned multi-scale feature pyramids for both images,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i="1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  <m:t>𝑔</m:t>
                        </m:r>
                      </m:e>
                      <m:sub>
                        <m:r>
                          <a:rPr lang="en-US" i="1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𝜃</m:t>
                        </m:r>
                      </m:sub>
                    </m:sSub>
                    <m:d>
                      <m:dPr>
                        <m:ctrlPr>
                          <a:rPr lang="en-US" i="1" smtClean="0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i="1" smtClean="0">
                                <a:solidFill>
                                  <a:srgbClr val="000000"/>
                                </a:solidFill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0" i="1" smtClean="0">
                                <a:solidFill>
                                  <a:srgbClr val="000000"/>
                                </a:solidFill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𝐼</m:t>
                            </m:r>
                          </m:e>
                          <m:sub>
                            <m:r>
                              <a:rPr lang="en-US" b="0" i="1" smtClean="0">
                                <a:solidFill>
                                  <a:srgbClr val="000000"/>
                                </a:solidFill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</m:e>
                    </m:d>
                  </m:oMath>
                </a14:m>
                <a:r>
                  <a:rPr lang="en-US" dirty="0">
                    <a:solidFill>
                      <a:srgbClr val="000000"/>
                    </a:solidFill>
                  </a:rPr>
                  <a:t>,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i="1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  <m:t>𝑔</m:t>
                        </m:r>
                      </m:e>
                      <m:sub>
                        <m:r>
                          <a:rPr lang="en-US" i="1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𝜃</m:t>
                        </m:r>
                      </m:sub>
                    </m:sSub>
                    <m:d>
                      <m:dPr>
                        <m:ctrlPr>
                          <a:rPr lang="en-US" i="1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i="1">
                                <a:solidFill>
                                  <a:srgbClr val="000000"/>
                                </a:solidFill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i="1">
                                <a:solidFill>
                                  <a:srgbClr val="000000"/>
                                </a:solidFill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𝐼</m:t>
                            </m:r>
                          </m:e>
                          <m:sub>
                            <m:r>
                              <a:rPr lang="en-US" b="0" i="1" smtClean="0">
                                <a:solidFill>
                                  <a:srgbClr val="000000"/>
                                </a:solidFill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</m:e>
                    </m:d>
                  </m:oMath>
                </a14:m>
                <a:endParaRPr lang="en-US" dirty="0">
                  <a:solidFill>
                    <a:srgbClr val="000000"/>
                  </a:solidFill>
                </a:endParaRPr>
              </a:p>
            </p:txBody>
          </p:sp>
        </mc:Choice>
        <mc:Fallback xmlns="">
          <p:sp>
            <p:nvSpPr>
              <p:cNvPr id="4" name="Content Placeholder 2">
                <a:extLst>
                  <a:ext uri="{FF2B5EF4-FFF2-40B4-BE49-F238E27FC236}">
                    <a16:creationId xmlns:a16="http://schemas.microsoft.com/office/drawing/2014/main" id="{6BC4657A-3690-EA94-A3E6-9BB58098175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948718" y="2195625"/>
                <a:ext cx="5812107" cy="917112"/>
              </a:xfrm>
              <a:prstGeom prst="rect">
                <a:avLst/>
              </a:prstGeom>
              <a:blipFill>
                <a:blip r:embed="rId4"/>
                <a:stretch>
                  <a:fillRect l="-2204" t="-10596" b="-1258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6" name="Content Placeholder 2">
                <a:extLst>
                  <a:ext uri="{FF2B5EF4-FFF2-40B4-BE49-F238E27FC236}">
                    <a16:creationId xmlns:a16="http://schemas.microsoft.com/office/drawing/2014/main" id="{70078703-1296-4E2A-05A6-03F0C0FE360E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20525" y="4129136"/>
                <a:ext cx="2410046" cy="2136353"/>
              </a:xfrm>
              <a:prstGeom prst="rect">
                <a:avLst/>
              </a:prstGeom>
            </p:spPr>
            <p:txBody>
              <a:bodyPr vert="horz" lIns="91440" tIns="45720" rIns="91440" bIns="45720" rtlCol="0">
                <a:normAutofit fontScale="92500"/>
              </a:bodyPr>
              <a:lstStyle>
                <a:lvl1pPr marL="228600" indent="-228600" algn="l" defTabSz="914400" rtl="0" eaLnBrk="1" latinLnBrk="0" hangingPunct="1">
                  <a:lnSpc>
                    <a:spcPct val="90000"/>
                  </a:lnSpc>
                  <a:spcBef>
                    <a:spcPts val="1000"/>
                  </a:spcBef>
                  <a:buFont typeface="Arial" panose="020B0604020202020204" pitchFamily="34" charset="0"/>
                  <a:buChar char="•"/>
                  <a:defRPr sz="2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685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2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1143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600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20574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5146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971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429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886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indent="0">
                  <a:buNone/>
                </a:pPr>
                <a:r>
                  <a:rPr lang="en-US" dirty="0">
                    <a:solidFill>
                      <a:srgbClr val="000000"/>
                    </a:solidFill>
                  </a:rPr>
                  <a:t>Context encoder for first image with different learned weights,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i="1" smtClean="0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  <m:t>h</m:t>
                        </m:r>
                      </m:e>
                      <m:sub>
                        <m:r>
                          <a:rPr lang="en-US" i="1" smtClean="0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𝜑</m:t>
                        </m:r>
                      </m:sub>
                    </m:sSub>
                    <m:d>
                      <m:dPr>
                        <m:ctrlPr>
                          <a:rPr lang="en-US" i="1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i="1">
                                <a:solidFill>
                                  <a:srgbClr val="000000"/>
                                </a:solidFill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i="1">
                                <a:solidFill>
                                  <a:srgbClr val="000000"/>
                                </a:solidFill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𝐼</m:t>
                            </m:r>
                          </m:e>
                          <m:sub>
                            <m:r>
                              <a:rPr lang="en-US" i="1">
                                <a:solidFill>
                                  <a:srgbClr val="000000"/>
                                </a:solidFill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</m:e>
                    </m:d>
                  </m:oMath>
                </a14:m>
                <a:endParaRPr lang="en-US" dirty="0">
                  <a:solidFill>
                    <a:srgbClr val="000000"/>
                  </a:solidFill>
                </a:endParaRPr>
              </a:p>
            </p:txBody>
          </p:sp>
        </mc:Choice>
        <mc:Fallback xmlns="">
          <p:sp>
            <p:nvSpPr>
              <p:cNvPr id="6" name="Content Placeholder 2">
                <a:extLst>
                  <a:ext uri="{FF2B5EF4-FFF2-40B4-BE49-F238E27FC236}">
                    <a16:creationId xmlns:a16="http://schemas.microsoft.com/office/drawing/2014/main" id="{70078703-1296-4E2A-05A6-03F0C0FE360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0525" y="4129136"/>
                <a:ext cx="2410046" cy="2136353"/>
              </a:xfrm>
              <a:prstGeom prst="rect">
                <a:avLst/>
              </a:prstGeom>
              <a:blipFill>
                <a:blip r:embed="rId5"/>
                <a:stretch>
                  <a:fillRect l="-4545" t="-4274" r="-707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8" name="Straight Arrow Connector 7">
            <a:extLst>
              <a:ext uri="{FF2B5EF4-FFF2-40B4-BE49-F238E27FC236}">
                <a16:creationId xmlns:a16="http://schemas.microsoft.com/office/drawing/2014/main" id="{51D664E3-0908-A40F-8BA8-3130F645100B}"/>
              </a:ext>
            </a:extLst>
          </p:cNvPr>
          <p:cNvCxnSpPr>
            <a:cxnSpLocks/>
          </p:cNvCxnSpPr>
          <p:nvPr/>
        </p:nvCxnSpPr>
        <p:spPr>
          <a:xfrm flipH="1">
            <a:off x="4680488" y="3081399"/>
            <a:ext cx="704903" cy="576201"/>
          </a:xfrm>
          <a:prstGeom prst="straightConnector1">
            <a:avLst/>
          </a:prstGeom>
          <a:ln w="38100">
            <a:solidFill>
              <a:srgbClr val="C0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" name="Straight Arrow Connector 9">
            <a:extLst>
              <a:ext uri="{FF2B5EF4-FFF2-40B4-BE49-F238E27FC236}">
                <a16:creationId xmlns:a16="http://schemas.microsoft.com/office/drawing/2014/main" id="{00933F2A-3713-E124-5F81-842385009623}"/>
              </a:ext>
            </a:extLst>
          </p:cNvPr>
          <p:cNvCxnSpPr>
            <a:cxnSpLocks/>
          </p:cNvCxnSpPr>
          <p:nvPr/>
        </p:nvCxnSpPr>
        <p:spPr>
          <a:xfrm flipH="1">
            <a:off x="4933627" y="3081399"/>
            <a:ext cx="451764" cy="1557760"/>
          </a:xfrm>
          <a:prstGeom prst="straightConnector1">
            <a:avLst/>
          </a:prstGeom>
          <a:ln w="38100">
            <a:solidFill>
              <a:srgbClr val="C0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" name="Straight Arrow Connector 13">
            <a:extLst>
              <a:ext uri="{FF2B5EF4-FFF2-40B4-BE49-F238E27FC236}">
                <a16:creationId xmlns:a16="http://schemas.microsoft.com/office/drawing/2014/main" id="{D1D393F7-E7B0-B2C8-DE6F-9460757CFDB9}"/>
              </a:ext>
            </a:extLst>
          </p:cNvPr>
          <p:cNvCxnSpPr>
            <a:cxnSpLocks/>
          </p:cNvCxnSpPr>
          <p:nvPr/>
        </p:nvCxnSpPr>
        <p:spPr>
          <a:xfrm>
            <a:off x="2314414" y="5470902"/>
            <a:ext cx="1756474" cy="196312"/>
          </a:xfrm>
          <a:prstGeom prst="straightConnector1">
            <a:avLst/>
          </a:prstGeom>
          <a:ln w="38100">
            <a:solidFill>
              <a:srgbClr val="C0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18" name="Content Placeholder 2">
                <a:extLst>
                  <a:ext uri="{FF2B5EF4-FFF2-40B4-BE49-F238E27FC236}">
                    <a16:creationId xmlns:a16="http://schemas.microsoft.com/office/drawing/2014/main" id="{BFDE1EA8-9BE0-B1CA-94F4-2D6A34649570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7969170" y="1921613"/>
                <a:ext cx="3677082" cy="1344101"/>
              </a:xfrm>
              <a:prstGeom prst="rect">
                <a:avLst/>
              </a:prstGeom>
            </p:spPr>
            <p:txBody>
              <a:bodyPr vert="horz" lIns="91440" tIns="45720" rIns="91440" bIns="45720" rtlCol="0">
                <a:normAutofit fontScale="92500" lnSpcReduction="20000"/>
              </a:bodyPr>
              <a:lstStyle>
                <a:lvl1pPr marL="228600" indent="-228600" algn="l" defTabSz="914400" rtl="0" eaLnBrk="1" latinLnBrk="0" hangingPunct="1">
                  <a:lnSpc>
                    <a:spcPct val="90000"/>
                  </a:lnSpc>
                  <a:spcBef>
                    <a:spcPts val="1000"/>
                  </a:spcBef>
                  <a:buFont typeface="Arial" panose="020B0604020202020204" pitchFamily="34" charset="0"/>
                  <a:buChar char="•"/>
                  <a:defRPr sz="2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685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2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1143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600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20574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5146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971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429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886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indent="0">
                  <a:buNone/>
                </a:pPr>
                <a:r>
                  <a:rPr lang="en-US" dirty="0">
                    <a:solidFill>
                      <a:srgbClr val="000000"/>
                    </a:solidFill>
                  </a:rPr>
                  <a:t>Recurrent neural network learns an update,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i="1" smtClean="0">
                        <a:solidFill>
                          <a:srgbClr val="000000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∇</m:t>
                    </m:r>
                    <m:r>
                      <a:rPr lang="en-US" b="0" i="1" smtClean="0">
                        <a:solidFill>
                          <a:srgbClr val="000000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𝑓</m:t>
                    </m:r>
                  </m:oMath>
                </a14:m>
                <a:r>
                  <a:rPr lang="en-US" dirty="0">
                    <a:solidFill>
                      <a:srgbClr val="000000"/>
                    </a:solidFill>
                  </a:rPr>
                  <a:t>, to the flow fields,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i="1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  <m:t>𝑓</m:t>
                        </m:r>
                      </m:e>
                      <m:sub>
                        <m:r>
                          <a:rPr lang="en-US" b="0" i="1" smtClean="0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1</m:t>
                        </m:r>
                      </m:sub>
                    </m:sSub>
                  </m:oMath>
                </a14:m>
                <a:r>
                  <a:rPr lang="en-US" dirty="0">
                    <a:solidFill>
                      <a:srgbClr val="000000"/>
                    </a:solidFill>
                  </a:rPr>
                  <a:t>,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i="1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  <m:t>𝑓</m:t>
                        </m:r>
                      </m:e>
                      <m:sub>
                        <m:r>
                          <a:rPr lang="en-US" b="0" i="1" smtClean="0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</m:oMath>
                </a14:m>
                <a:r>
                  <a:rPr lang="en-US" dirty="0">
                    <a:solidFill>
                      <a:srgbClr val="000000"/>
                    </a:solidFill>
                  </a:rPr>
                  <a:t>, at different ranges</a:t>
                </a:r>
              </a:p>
            </p:txBody>
          </p:sp>
        </mc:Choice>
        <mc:Fallback xmlns="">
          <p:sp>
            <p:nvSpPr>
              <p:cNvPr id="18" name="Content Placeholder 2">
                <a:extLst>
                  <a:ext uri="{FF2B5EF4-FFF2-40B4-BE49-F238E27FC236}">
                    <a16:creationId xmlns:a16="http://schemas.microsoft.com/office/drawing/2014/main" id="{BFDE1EA8-9BE0-B1CA-94F4-2D6A3464957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969170" y="1921613"/>
                <a:ext cx="3677082" cy="1344101"/>
              </a:xfrm>
              <a:prstGeom prst="rect">
                <a:avLst/>
              </a:prstGeom>
              <a:blipFill>
                <a:blip r:embed="rId6"/>
                <a:stretch>
                  <a:fillRect l="-2985" t="-11312" r="-3648" b="-2715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9" name="Straight Arrow Connector 18">
            <a:extLst>
              <a:ext uri="{FF2B5EF4-FFF2-40B4-BE49-F238E27FC236}">
                <a16:creationId xmlns:a16="http://schemas.microsoft.com/office/drawing/2014/main" id="{724FBFC6-D4D3-4DFC-5673-CDA36F42148E}"/>
              </a:ext>
            </a:extLst>
          </p:cNvPr>
          <p:cNvCxnSpPr>
            <a:cxnSpLocks/>
          </p:cNvCxnSpPr>
          <p:nvPr/>
        </p:nvCxnSpPr>
        <p:spPr>
          <a:xfrm flipH="1">
            <a:off x="8935656" y="3081399"/>
            <a:ext cx="306315" cy="1127694"/>
          </a:xfrm>
          <a:prstGeom prst="straightConnector1">
            <a:avLst/>
          </a:prstGeom>
          <a:ln w="38100">
            <a:solidFill>
              <a:srgbClr val="C0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3" name="Content Placeholder 2">
            <a:extLst>
              <a:ext uri="{FF2B5EF4-FFF2-40B4-BE49-F238E27FC236}">
                <a16:creationId xmlns:a16="http://schemas.microsoft.com/office/drawing/2014/main" id="{447F845B-6F78-97B9-86B3-A6B9DBB52458}"/>
              </a:ext>
            </a:extLst>
          </p:cNvPr>
          <p:cNvSpPr txBox="1">
            <a:spLocks/>
          </p:cNvSpPr>
          <p:nvPr/>
        </p:nvSpPr>
        <p:spPr>
          <a:xfrm>
            <a:off x="10208457" y="3570515"/>
            <a:ext cx="1883747" cy="94623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dirty="0">
                <a:solidFill>
                  <a:srgbClr val="000000"/>
                </a:solidFill>
              </a:rPr>
              <a:t>Final flow field result</a:t>
            </a:r>
          </a:p>
        </p:txBody>
      </p:sp>
      <p:cxnSp>
        <p:nvCxnSpPr>
          <p:cNvPr id="24" name="Straight Arrow Connector 23">
            <a:extLst>
              <a:ext uri="{FF2B5EF4-FFF2-40B4-BE49-F238E27FC236}">
                <a16:creationId xmlns:a16="http://schemas.microsoft.com/office/drawing/2014/main" id="{D7AA645A-7BFB-D567-E903-C3EBAA704CC2}"/>
              </a:ext>
            </a:extLst>
          </p:cNvPr>
          <p:cNvCxnSpPr>
            <a:cxnSpLocks/>
          </p:cNvCxnSpPr>
          <p:nvPr/>
        </p:nvCxnSpPr>
        <p:spPr>
          <a:xfrm flipH="1">
            <a:off x="11117484" y="4399367"/>
            <a:ext cx="187417" cy="838177"/>
          </a:xfrm>
          <a:prstGeom prst="straightConnector1">
            <a:avLst/>
          </a:prstGeom>
          <a:ln w="38100">
            <a:solidFill>
              <a:srgbClr val="C0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11397075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/>
      <p:bldP spid="6" grpId="0"/>
      <p:bldP spid="18" grpId="0"/>
      <p:bldP spid="23" grpId="0"/>
    </p:bldLst>
  </p:timing>
</p:sld>
</file>

<file path=ppt/slides/slide7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0E04EE6-20B2-F2E7-B43C-A3D74AE6D8A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3177CBA-6AFD-DAB3-463D-8868110659C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89301" y="140193"/>
            <a:ext cx="10515600" cy="872004"/>
          </a:xfrm>
        </p:spPr>
        <p:txBody>
          <a:bodyPr>
            <a:normAutofit/>
          </a:bodyPr>
          <a:lstStyle/>
          <a:p>
            <a:r>
              <a:rPr lang="en-US" sz="4000" dirty="0">
                <a:latin typeface="+mn-lt"/>
              </a:rPr>
              <a:t>RAFT, Fully Neural Algorithm  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54C4680-D1E8-17BB-3A75-C674A2949F1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89301" y="1012197"/>
            <a:ext cx="10515600" cy="917112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i="0" dirty="0">
                <a:solidFill>
                  <a:srgbClr val="000000"/>
                </a:solidFill>
                <a:effectLst/>
                <a:hlinkClick r:id="rId2"/>
              </a:rPr>
              <a:t>RAFT: Recurrent All-Pairs Field Transforms for Optical Flow, Teed and Dang, 2020</a:t>
            </a:r>
            <a:r>
              <a:rPr lang="en-US" i="0" dirty="0">
                <a:solidFill>
                  <a:srgbClr val="000000"/>
                </a:solidFill>
                <a:effectLst/>
              </a:rPr>
              <a:t>, improves performance </a:t>
            </a:r>
            <a:r>
              <a:rPr lang="en-US" dirty="0">
                <a:solidFill>
                  <a:srgbClr val="000000"/>
                </a:solidFill>
              </a:rPr>
              <a:t>in several ways</a:t>
            </a:r>
            <a:r>
              <a:rPr lang="en-US" i="0" dirty="0">
                <a:solidFill>
                  <a:srgbClr val="000000"/>
                </a:solidFill>
                <a:effectLst/>
              </a:rPr>
              <a:t> 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4374EECA-2B02-9817-8010-BA09433754E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184248" y="4099932"/>
            <a:ext cx="8007752" cy="2694260"/>
          </a:xfrm>
          <a:prstGeom prst="rect">
            <a:avLst/>
          </a:prstGeom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4" name="Content Placeholder 2">
                <a:extLst>
                  <a:ext uri="{FF2B5EF4-FFF2-40B4-BE49-F238E27FC236}">
                    <a16:creationId xmlns:a16="http://schemas.microsoft.com/office/drawing/2014/main" id="{73D1E284-09DD-6BED-1A0B-D4A563F84531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7772400" y="2343780"/>
                <a:ext cx="4343401" cy="917112"/>
              </a:xfrm>
              <a:prstGeom prst="rect">
                <a:avLst/>
              </a:prstGeom>
            </p:spPr>
            <p:txBody>
              <a:bodyPr vert="horz" lIns="91440" tIns="45720" rIns="91440" bIns="45720" rtlCol="0">
                <a:normAutofit/>
              </a:bodyPr>
              <a:lstStyle>
                <a:lvl1pPr marL="228600" indent="-228600" algn="l" defTabSz="914400" rtl="0" eaLnBrk="1" latinLnBrk="0" hangingPunct="1">
                  <a:lnSpc>
                    <a:spcPct val="90000"/>
                  </a:lnSpc>
                  <a:spcBef>
                    <a:spcPts val="1000"/>
                  </a:spcBef>
                  <a:buFont typeface="Arial" panose="020B0604020202020204" pitchFamily="34" charset="0"/>
                  <a:buChar char="•"/>
                  <a:defRPr sz="2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685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2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1143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600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20574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5146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971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429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886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indent="0">
                  <a:buFont typeface="Arial" panose="020B0604020202020204" pitchFamily="34" charset="0"/>
                  <a:buNone/>
                </a:pPr>
                <a:r>
                  <a:rPr lang="en-US" dirty="0">
                    <a:solidFill>
                      <a:srgbClr val="000000"/>
                    </a:solidFill>
                  </a:rPr>
                  <a:t>Correlation volume of dimension </a:t>
                </a:r>
                <a14:m>
                  <m:oMath xmlns:m="http://schemas.openxmlformats.org/officeDocument/2006/math">
                    <m:r>
                      <a:rPr lang="en-US" b="0" i="1" smtClean="0">
                        <a:solidFill>
                          <a:srgbClr val="000000"/>
                        </a:solidFill>
                        <a:latin typeface="Cambria Math" panose="02040503050406030204" pitchFamily="18" charset="0"/>
                      </a:rPr>
                      <m:t>𝑊</m:t>
                    </m:r>
                    <m:r>
                      <a:rPr lang="en-US" b="0" i="1" smtClean="0">
                        <a:solidFill>
                          <a:srgbClr val="000000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×</m:t>
                    </m:r>
                    <m:r>
                      <a:rPr lang="en-US" b="0" i="1" smtClean="0">
                        <a:solidFill>
                          <a:srgbClr val="000000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𝐻</m:t>
                    </m:r>
                    <m:r>
                      <a:rPr lang="en-US" b="0" i="1" smtClean="0">
                        <a:solidFill>
                          <a:srgbClr val="000000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×</m:t>
                    </m:r>
                    <m:r>
                      <a:rPr lang="en-US" b="0" i="1" smtClean="0">
                        <a:solidFill>
                          <a:srgbClr val="000000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𝑊</m:t>
                    </m:r>
                    <m:r>
                      <a:rPr lang="en-US" b="0" i="1" smtClean="0">
                        <a:solidFill>
                          <a:srgbClr val="000000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×</m:t>
                    </m:r>
                    <m:r>
                      <a:rPr lang="en-US" b="0" i="1" smtClean="0">
                        <a:solidFill>
                          <a:srgbClr val="000000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𝐻</m:t>
                    </m:r>
                  </m:oMath>
                </a14:m>
                <a:endParaRPr lang="en-US" dirty="0">
                  <a:solidFill>
                    <a:srgbClr val="000000"/>
                  </a:solidFill>
                </a:endParaRPr>
              </a:p>
            </p:txBody>
          </p:sp>
        </mc:Choice>
        <mc:Fallback xmlns="">
          <p:sp>
            <p:nvSpPr>
              <p:cNvPr id="4" name="Content Placeholder 2">
                <a:extLst>
                  <a:ext uri="{FF2B5EF4-FFF2-40B4-BE49-F238E27FC236}">
                    <a16:creationId xmlns:a16="http://schemas.microsoft.com/office/drawing/2014/main" id="{73D1E284-09DD-6BED-1A0B-D4A563F8453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772400" y="2343780"/>
                <a:ext cx="4343401" cy="917112"/>
              </a:xfrm>
              <a:prstGeom prst="rect">
                <a:avLst/>
              </a:prstGeom>
              <a:blipFill>
                <a:blip r:embed="rId4"/>
                <a:stretch>
                  <a:fillRect l="-2805" t="-10596" b="-1258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6" name="Content Placeholder 2">
                <a:extLst>
                  <a:ext uri="{FF2B5EF4-FFF2-40B4-BE49-F238E27FC236}">
                    <a16:creationId xmlns:a16="http://schemas.microsoft.com/office/drawing/2014/main" id="{FF4F879A-C83D-DB62-ED25-15B7ACA1DF65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466059" y="2004237"/>
                <a:ext cx="6758763" cy="2016317"/>
              </a:xfrm>
              <a:prstGeom prst="rect">
                <a:avLst/>
              </a:prstGeom>
            </p:spPr>
            <p:txBody>
              <a:bodyPr vert="horz" lIns="91440" tIns="45720" rIns="91440" bIns="45720" rtlCol="0">
                <a:normAutofit lnSpcReduction="10000"/>
              </a:bodyPr>
              <a:lstStyle>
                <a:lvl1pPr marL="228600" indent="-228600" algn="l" defTabSz="914400" rtl="0" eaLnBrk="1" latinLnBrk="0" hangingPunct="1">
                  <a:lnSpc>
                    <a:spcPct val="90000"/>
                  </a:lnSpc>
                  <a:spcBef>
                    <a:spcPts val="1000"/>
                  </a:spcBef>
                  <a:buFont typeface="Arial" panose="020B0604020202020204" pitchFamily="34" charset="0"/>
                  <a:buChar char="•"/>
                  <a:defRPr sz="2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685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2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1143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600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20574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5146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971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429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886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indent="0">
                  <a:buFont typeface="Arial" panose="020B0604020202020204" pitchFamily="34" charset="0"/>
                  <a:buNone/>
                </a:pPr>
                <a:r>
                  <a:rPr lang="en-US" dirty="0">
                    <a:solidFill>
                      <a:srgbClr val="000000"/>
                    </a:solidFill>
                  </a:rPr>
                  <a:t>For </a:t>
                </a:r>
                <a14:m>
                  <m:oMath xmlns:m="http://schemas.openxmlformats.org/officeDocument/2006/math">
                    <m:r>
                      <a:rPr lang="en-US" b="0" i="1" smtClean="0">
                        <a:solidFill>
                          <a:srgbClr val="000000"/>
                        </a:solidFill>
                        <a:latin typeface="Cambria Math" panose="02040503050406030204" pitchFamily="18" charset="0"/>
                      </a:rPr>
                      <m:t>𝐷</m:t>
                    </m:r>
                  </m:oMath>
                </a14:m>
                <a:r>
                  <a:rPr lang="en-US" dirty="0">
                    <a:solidFill>
                      <a:srgbClr val="000000"/>
                    </a:solidFill>
                  </a:rPr>
                  <a:t> channels similarity is computed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i="1" smtClean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𝐶</m:t>
                          </m:r>
                        </m:e>
                        <m:sub>
                          <m:r>
                            <a:rPr lang="en-US" b="0" i="1" smtClean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𝑖</m:t>
                          </m:r>
                          <m:r>
                            <a:rPr lang="en-US" b="0" i="1" smtClean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b="0" i="1" smtClean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𝑗</m:t>
                          </m:r>
                          <m:r>
                            <a:rPr lang="en-US" b="0" i="1" smtClean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b="0" i="1" smtClean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𝑘</m:t>
                          </m:r>
                          <m:r>
                            <a:rPr lang="en-US" b="0" i="1" smtClean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b="0" i="1" smtClean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𝑙</m:t>
                          </m:r>
                        </m:sub>
                      </m:sSub>
                      <m:r>
                        <a:rPr lang="en-US" b="0" i="1" smtClean="0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nary>
                        <m:naryPr>
                          <m:chr m:val="∑"/>
                          <m:ctrlPr>
                            <a:rPr lang="en-US" b="0" i="1" smtClean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m:rPr>
                              <m:brk m:alnAt="23"/>
                            </m:rPr>
                            <a:rPr lang="en-US" b="0" i="1" smtClean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h</m:t>
                          </m:r>
                          <m:r>
                            <a:rPr lang="en-US" b="0" i="1" smtClean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=1</m:t>
                          </m:r>
                        </m:sub>
                        <m:sup>
                          <m:r>
                            <a:rPr lang="en-US" b="0" i="1" smtClean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𝐷</m:t>
                          </m:r>
                        </m:sup>
                        <m:e>
                          <m:sSub>
                            <m:sSubPr>
                              <m:ctrlPr>
                                <a:rPr lang="en-US" b="0" i="1" smtClean="0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b="0" i="1" smtClean="0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𝑔</m:t>
                              </m:r>
                            </m:e>
                            <m:sub>
                              <m:r>
                                <a:rPr lang="en-US" b="0" i="1" smtClean="0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𝜃</m:t>
                              </m:r>
                            </m:sub>
                          </m:sSub>
                          <m:sSub>
                            <m:sSubPr>
                              <m:ctrlPr>
                                <a:rPr lang="en-US" b="0" i="1" smtClean="0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d>
                                <m:dPr>
                                  <m:ctrlPr>
                                    <a:rPr lang="en-US" b="0" i="1" smtClean="0">
                                      <a:solidFill>
                                        <a:srgbClr val="000000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sSub>
                                    <m:sSubPr>
                                      <m:ctrlPr>
                                        <a:rPr lang="en-US" b="0" i="1" smtClean="0">
                                          <a:solidFill>
                                            <a:srgbClr val="000000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b="0" i="1" smtClean="0">
                                          <a:solidFill>
                                            <a:srgbClr val="000000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𝐼</m:t>
                                      </m:r>
                                    </m:e>
                                    <m:sub>
                                      <m:r>
                                        <a:rPr lang="en-US" b="0" i="1" smtClean="0">
                                          <a:solidFill>
                                            <a:srgbClr val="000000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1</m:t>
                                      </m:r>
                                    </m:sub>
                                  </m:sSub>
                                </m:e>
                              </m:d>
                            </m:e>
                            <m:sub>
                              <m:r>
                                <a:rPr lang="en-US" b="0" i="1" smtClean="0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  <m:r>
                                <a:rPr lang="en-US" b="0" i="1" smtClean="0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,</m:t>
                              </m:r>
                              <m:r>
                                <a:rPr lang="en-US" b="0" i="1" smtClean="0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𝑗</m:t>
                              </m:r>
                              <m:r>
                                <a:rPr lang="en-US" b="0" i="1" smtClean="0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,</m:t>
                              </m:r>
                              <m:r>
                                <a:rPr lang="en-US" b="0" i="1" smtClean="0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h</m:t>
                              </m:r>
                            </m:sub>
                          </m:sSub>
                          <m:r>
                            <a:rPr lang="en-US" b="0" i="1" smtClean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∙</m:t>
                          </m:r>
                        </m:e>
                      </m:nary>
                      <m:sSub>
                        <m:sSubPr>
                          <m:ctrlPr>
                            <a:rPr lang="en-US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𝑔</m:t>
                          </m:r>
                        </m:e>
                        <m:sub>
                          <m:r>
                            <a:rPr lang="en-US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𝜃</m:t>
                          </m:r>
                        </m:sub>
                      </m:sSub>
                      <m:sSub>
                        <m:sSubPr>
                          <m:ctrlPr>
                            <a:rPr lang="en-US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d>
                            <m:dPr>
                              <m:ctrlPr>
                                <a:rPr lang="en-US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en-US" i="1">
                                      <a:solidFill>
                                        <a:srgbClr val="000000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i="1">
                                      <a:solidFill>
                                        <a:srgbClr val="0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𝐼</m:t>
                                  </m:r>
                                </m:e>
                                <m:sub>
                                  <m:r>
                                    <a:rPr lang="en-US" b="0" i="1" smtClean="0">
                                      <a:solidFill>
                                        <a:srgbClr val="0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</m:sub>
                              </m:sSub>
                            </m:e>
                          </m:d>
                        </m:e>
                        <m:sub>
                          <m:r>
                            <a:rPr lang="en-US" b="0" i="1" smtClean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𝑘</m:t>
                          </m:r>
                          <m:r>
                            <a:rPr lang="en-US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b="0" i="1" smtClean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𝑙</m:t>
                          </m:r>
                          <m:r>
                            <a:rPr lang="en-US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h</m:t>
                          </m:r>
                        </m:sub>
                      </m:sSub>
                    </m:oMath>
                  </m:oMathPara>
                </a14:m>
                <a:endParaRPr lang="en-US" dirty="0">
                  <a:solidFill>
                    <a:srgbClr val="000000"/>
                  </a:solidFill>
                </a:endParaRPr>
              </a:p>
              <a:p>
                <a:pPr marL="0" indent="0">
                  <a:buNone/>
                </a:pPr>
                <a:r>
                  <a:rPr lang="en-US" dirty="0">
                    <a:solidFill>
                      <a:srgbClr val="000000"/>
                    </a:solidFill>
                  </a:rPr>
                  <a:t>Over limited range for efficiency, </a:t>
                </a:r>
                <a14:m>
                  <m:oMath xmlns:m="http://schemas.openxmlformats.org/officeDocument/2006/math">
                    <m:d>
                      <m:dPr>
                        <m:begChr m:val="‖"/>
                        <m:endChr m:val="‖"/>
                        <m:ctrlPr>
                          <a:rPr lang="en-US" i="1" smtClean="0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0" i="1" smtClean="0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  <m:t>𝑑𝑥</m:t>
                        </m:r>
                      </m:e>
                    </m:d>
                    <m:r>
                      <a:rPr lang="en-US" i="1" smtClean="0">
                        <a:solidFill>
                          <a:srgbClr val="000000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≤</m:t>
                    </m:r>
                    <m:r>
                      <a:rPr lang="en-US" b="0" i="1" smtClean="0">
                        <a:solidFill>
                          <a:srgbClr val="000000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𝑟</m:t>
                    </m:r>
                  </m:oMath>
                </a14:m>
                <a:endParaRPr lang="en-US" dirty="0">
                  <a:solidFill>
                    <a:srgbClr val="000000"/>
                  </a:solidFill>
                </a:endParaRPr>
              </a:p>
            </p:txBody>
          </p:sp>
        </mc:Choice>
        <mc:Fallback xmlns="">
          <p:sp>
            <p:nvSpPr>
              <p:cNvPr id="6" name="Content Placeholder 2">
                <a:extLst>
                  <a:ext uri="{FF2B5EF4-FFF2-40B4-BE49-F238E27FC236}">
                    <a16:creationId xmlns:a16="http://schemas.microsoft.com/office/drawing/2014/main" id="{FF4F879A-C83D-DB62-ED25-15B7ACA1DF6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66059" y="2004237"/>
                <a:ext cx="6758763" cy="2016317"/>
              </a:xfrm>
              <a:prstGeom prst="rect">
                <a:avLst/>
              </a:prstGeom>
              <a:blipFill>
                <a:blip r:embed="rId5"/>
                <a:stretch>
                  <a:fillRect l="-1803" t="-6949" b="-725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0" name="Straight Arrow Connector 9">
            <a:extLst>
              <a:ext uri="{FF2B5EF4-FFF2-40B4-BE49-F238E27FC236}">
                <a16:creationId xmlns:a16="http://schemas.microsoft.com/office/drawing/2014/main" id="{C482CB9F-E78C-0055-D671-00ED597345C5}"/>
              </a:ext>
            </a:extLst>
          </p:cNvPr>
          <p:cNvCxnSpPr>
            <a:cxnSpLocks/>
          </p:cNvCxnSpPr>
          <p:nvPr/>
        </p:nvCxnSpPr>
        <p:spPr>
          <a:xfrm flipH="1">
            <a:off x="7772400" y="3195084"/>
            <a:ext cx="1866014" cy="738963"/>
          </a:xfrm>
          <a:prstGeom prst="straightConnector1">
            <a:avLst/>
          </a:prstGeom>
          <a:ln w="38100">
            <a:solidFill>
              <a:srgbClr val="C0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" name="Straight Arrow Connector 13">
            <a:extLst>
              <a:ext uri="{FF2B5EF4-FFF2-40B4-BE49-F238E27FC236}">
                <a16:creationId xmlns:a16="http://schemas.microsoft.com/office/drawing/2014/main" id="{BA9EFB59-A010-81C7-D8D8-599E715A21F6}"/>
              </a:ext>
            </a:extLst>
          </p:cNvPr>
          <p:cNvCxnSpPr>
            <a:cxnSpLocks/>
          </p:cNvCxnSpPr>
          <p:nvPr/>
        </p:nvCxnSpPr>
        <p:spPr>
          <a:xfrm>
            <a:off x="6412375" y="4020554"/>
            <a:ext cx="202557" cy="412550"/>
          </a:xfrm>
          <a:prstGeom prst="straightConnector1">
            <a:avLst/>
          </a:prstGeom>
          <a:ln w="38100">
            <a:solidFill>
              <a:srgbClr val="C0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28270910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/>
      <p:bldP spid="6" grpId="0"/>
    </p:bldLst>
  </p:timing>
</p:sld>
</file>

<file path=ppt/slides/slide7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33AAC26-2290-603F-CAD9-D7DBAEEA04C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77890F8-48CE-11C9-8448-8DABAC2ADB0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89301" y="140193"/>
            <a:ext cx="10515600" cy="872004"/>
          </a:xfrm>
        </p:spPr>
        <p:txBody>
          <a:bodyPr>
            <a:normAutofit/>
          </a:bodyPr>
          <a:lstStyle/>
          <a:p>
            <a:r>
              <a:rPr lang="en-US" sz="4000" dirty="0">
                <a:latin typeface="+mn-lt"/>
              </a:rPr>
              <a:t>RAFT, Fully Neural Algorithm  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F414184-A0AD-B71B-E4F2-155735B92AC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89301" y="1012197"/>
            <a:ext cx="10515600" cy="917112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i="0" dirty="0">
                <a:solidFill>
                  <a:srgbClr val="000000"/>
                </a:solidFill>
                <a:effectLst/>
                <a:hlinkClick r:id="rId2"/>
              </a:rPr>
              <a:t>RAFT: Recurrent All-Pairs Field Transforms for Optical Flow, Teed and Dang, 2020</a:t>
            </a:r>
            <a:r>
              <a:rPr lang="en-US" i="0" dirty="0">
                <a:solidFill>
                  <a:srgbClr val="000000"/>
                </a:solidFill>
                <a:effectLst/>
              </a:rPr>
              <a:t>, improves performance </a:t>
            </a:r>
            <a:r>
              <a:rPr lang="en-US" dirty="0">
                <a:solidFill>
                  <a:srgbClr val="000000"/>
                </a:solidFill>
              </a:rPr>
              <a:t>in several ways</a:t>
            </a:r>
            <a:r>
              <a:rPr lang="en-US" i="0" dirty="0">
                <a:solidFill>
                  <a:srgbClr val="000000"/>
                </a:solidFill>
                <a:effectLst/>
              </a:rPr>
              <a:t> 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6" name="Content Placeholder 2">
                <a:extLst>
                  <a:ext uri="{FF2B5EF4-FFF2-40B4-BE49-F238E27FC236}">
                    <a16:creationId xmlns:a16="http://schemas.microsoft.com/office/drawing/2014/main" id="{F0F64968-25F5-EF42-B88D-DE9EDA1176CE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294617" y="2004237"/>
                <a:ext cx="6430274" cy="4622269"/>
              </a:xfrm>
              <a:prstGeom prst="rect">
                <a:avLst/>
              </a:prstGeom>
            </p:spPr>
            <p:txBody>
              <a:bodyPr vert="horz" lIns="91440" tIns="45720" rIns="91440" bIns="45720" rtlCol="0">
                <a:normAutofit/>
              </a:bodyPr>
              <a:lstStyle>
                <a:lvl1pPr marL="228600" indent="-228600" algn="l" defTabSz="914400" rtl="0" eaLnBrk="1" latinLnBrk="0" hangingPunct="1">
                  <a:lnSpc>
                    <a:spcPct val="90000"/>
                  </a:lnSpc>
                  <a:spcBef>
                    <a:spcPts val="1000"/>
                  </a:spcBef>
                  <a:buFont typeface="Arial" panose="020B0604020202020204" pitchFamily="34" charset="0"/>
                  <a:buChar char="•"/>
                  <a:defRPr sz="2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685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2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1143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600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20574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5146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971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429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886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indent="0">
                  <a:buNone/>
                </a:pPr>
                <a:r>
                  <a:rPr lang="en-US" dirty="0">
                    <a:solidFill>
                      <a:srgbClr val="000000"/>
                    </a:solidFill>
                  </a:rPr>
                  <a:t>Recurrent relationship, similar to GRU, computes update to flow </a:t>
                </a:r>
                <a14:m>
                  <m:oMath xmlns:m="http://schemas.openxmlformats.org/officeDocument/2006/math">
                    <m:r>
                      <a:rPr lang="en-US" i="1" smtClean="0">
                        <a:solidFill>
                          <a:srgbClr val="000000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∆</m:t>
                    </m:r>
                    <m:sSub>
                      <m:sSubPr>
                        <m:ctrlPr>
                          <a:rPr lang="en-US" i="1" smtClean="0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𝐹</m:t>
                        </m:r>
                      </m:e>
                      <m:sub>
                        <m:r>
                          <a:rPr lang="en-US" b="0" i="1" smtClean="0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𝑡</m:t>
                        </m:r>
                      </m:sub>
                    </m:sSub>
                  </m:oMath>
                </a14:m>
                <a:endParaRPr lang="en-US" i="1" dirty="0">
                  <a:solidFill>
                    <a:srgbClr val="000000"/>
                  </a:solidFill>
                  <a:latin typeface="Cambria Math" panose="02040503050406030204" pitchFamily="18" charset="0"/>
                </a:endParaRP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i="1" smtClean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𝑧</m:t>
                          </m:r>
                        </m:e>
                        <m:sub>
                          <m:r>
                            <a:rPr lang="en-US" b="0" i="1" smtClean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𝑡</m:t>
                          </m:r>
                        </m:sub>
                      </m:sSub>
                      <m:r>
                        <a:rPr lang="en-US" b="0" i="1" smtClean="0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b="0" i="1" smtClean="0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𝜎</m:t>
                      </m:r>
                      <m:d>
                        <m:dPr>
                          <m:ctrlPr>
                            <a:rPr lang="en-US" b="0" i="1" smtClean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b="0" i="1" smtClean="0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b="0" i="1" smtClean="0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𝐶𝑜𝑛𝑣</m:t>
                              </m:r>
                            </m:e>
                            <m:sub>
                              <m:r>
                                <a:rPr lang="en-US" b="0" i="1" smtClean="0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3×3</m:t>
                              </m:r>
                            </m:sub>
                          </m:sSub>
                          <m:d>
                            <m:dPr>
                              <m:ctrlPr>
                                <a:rPr lang="en-US" b="0" i="1" smtClean="0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dPr>
                            <m:e>
                              <m:d>
                                <m:dPr>
                                  <m:begChr m:val="["/>
                                  <m:endChr m:val="]"/>
                                  <m:ctrlPr>
                                    <a:rPr lang="en-US" b="0" i="1" smtClean="0">
                                      <a:solidFill>
                                        <a:srgbClr val="000000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sSub>
                                    <m:sSubPr>
                                      <m:ctrlPr>
                                        <a:rPr lang="en-US" b="0" i="1" smtClean="0">
                                          <a:solidFill>
                                            <a:srgbClr val="000000"/>
                                          </a:solidFill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b="0" i="1" smtClean="0">
                                          <a:solidFill>
                                            <a:srgbClr val="000000"/>
                                          </a:solidFill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h</m:t>
                                      </m:r>
                                    </m:e>
                                    <m:sub>
                                      <m:r>
                                        <a:rPr lang="en-US" b="0" i="1" smtClean="0">
                                          <a:solidFill>
                                            <a:srgbClr val="000000"/>
                                          </a:solidFill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𝑡</m:t>
                                      </m:r>
                                      <m:r>
                                        <a:rPr lang="en-US" b="0" i="1" smtClean="0">
                                          <a:solidFill>
                                            <a:srgbClr val="000000"/>
                                          </a:solidFill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−1</m:t>
                                      </m:r>
                                    </m:sub>
                                  </m:sSub>
                                  <m:r>
                                    <a:rPr lang="en-US" b="0" i="1" smtClean="0">
                                      <a:solidFill>
                                        <a:srgbClr val="000000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,</m:t>
                                  </m:r>
                                  <m:sSub>
                                    <m:sSubPr>
                                      <m:ctrlPr>
                                        <a:rPr lang="en-US" i="1">
                                          <a:solidFill>
                                            <a:srgbClr val="000000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i="1">
                                          <a:solidFill>
                                            <a:srgbClr val="000000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𝑥</m:t>
                                      </m:r>
                                    </m:e>
                                    <m:sub>
                                      <m:r>
                                        <a:rPr lang="en-US" i="1">
                                          <a:solidFill>
                                            <a:srgbClr val="000000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𝑡</m:t>
                                      </m:r>
                                    </m:sub>
                                  </m:sSub>
                                </m:e>
                              </m:d>
                              <m:r>
                                <a:rPr lang="en-US" b="0" i="1" smtClean="0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,</m:t>
                              </m:r>
                              <m:sSub>
                                <m:sSubPr>
                                  <m:ctrlPr>
                                    <a:rPr lang="en-US" i="1">
                                      <a:solidFill>
                                        <a:srgbClr val="000000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i="1">
                                      <a:solidFill>
                                        <a:srgbClr val="0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𝑊</m:t>
                                  </m:r>
                                </m:e>
                                <m:sub>
                                  <m:r>
                                    <a:rPr lang="en-US" i="1">
                                      <a:solidFill>
                                        <a:srgbClr val="0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𝑧</m:t>
                                  </m:r>
                                </m:sub>
                              </m:sSub>
                            </m:e>
                          </m:d>
                        </m:e>
                      </m:d>
                    </m:oMath>
                  </m:oMathPara>
                </a14:m>
                <a:endParaRPr lang="en-US" i="1" dirty="0">
                  <a:solidFill>
                    <a:srgbClr val="000000"/>
                  </a:solidFill>
                  <a:latin typeface="Cambria Math" panose="02040503050406030204" pitchFamily="18" charset="0"/>
                </a:endParaRP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𝑟</m:t>
                          </m:r>
                        </m:e>
                        <m:sub>
                          <m:r>
                            <a:rPr lang="en-US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𝑡</m:t>
                          </m:r>
                        </m:sub>
                      </m:sSub>
                      <m:r>
                        <a:rPr lang="en-US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𝜎</m:t>
                      </m:r>
                      <m:d>
                        <m:dPr>
                          <m:ctrlPr>
                            <a:rPr lang="en-US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𝐶𝑜𝑛𝑣</m:t>
                              </m:r>
                            </m:e>
                            <m:sub>
                              <m:r>
                                <a:rPr lang="en-US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3×3</m:t>
                              </m:r>
                            </m:sub>
                          </m:sSub>
                          <m:d>
                            <m:dPr>
                              <m:ctrlPr>
                                <a:rPr lang="en-US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dPr>
                            <m:e>
                              <m:d>
                                <m:dPr>
                                  <m:begChr m:val="["/>
                                  <m:endChr m:val="]"/>
                                  <m:ctrlPr>
                                    <a:rPr lang="en-US" i="1">
                                      <a:solidFill>
                                        <a:srgbClr val="000000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sSub>
                                    <m:sSubPr>
                                      <m:ctrlPr>
                                        <a:rPr lang="en-US" i="1">
                                          <a:solidFill>
                                            <a:srgbClr val="000000"/>
                                          </a:solidFill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i="1">
                                          <a:solidFill>
                                            <a:srgbClr val="000000"/>
                                          </a:solidFill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h</m:t>
                                      </m:r>
                                    </m:e>
                                    <m:sub>
                                      <m:r>
                                        <a:rPr lang="en-US" i="1">
                                          <a:solidFill>
                                            <a:srgbClr val="000000"/>
                                          </a:solidFill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𝑡</m:t>
                                      </m:r>
                                      <m:r>
                                        <a:rPr lang="en-US" i="1">
                                          <a:solidFill>
                                            <a:srgbClr val="000000"/>
                                          </a:solidFill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−1</m:t>
                                      </m:r>
                                    </m:sub>
                                  </m:sSub>
                                  <m:r>
                                    <a:rPr lang="en-US" i="1">
                                      <a:solidFill>
                                        <a:srgbClr val="000000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,</m:t>
                                  </m:r>
                                  <m:sSub>
                                    <m:sSubPr>
                                      <m:ctrlPr>
                                        <a:rPr lang="en-US" i="1">
                                          <a:solidFill>
                                            <a:srgbClr val="000000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i="1">
                                          <a:solidFill>
                                            <a:srgbClr val="000000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𝑥</m:t>
                                      </m:r>
                                    </m:e>
                                    <m:sub>
                                      <m:r>
                                        <a:rPr lang="en-US" i="1">
                                          <a:solidFill>
                                            <a:srgbClr val="000000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𝑡</m:t>
                                      </m:r>
                                    </m:sub>
                                  </m:sSub>
                                </m:e>
                              </m:d>
                              <m:r>
                                <a:rPr lang="en-US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,</m:t>
                              </m:r>
                              <m:sSub>
                                <m:sSubPr>
                                  <m:ctrlPr>
                                    <a:rPr lang="en-US" i="1">
                                      <a:solidFill>
                                        <a:srgbClr val="000000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i="1">
                                      <a:solidFill>
                                        <a:srgbClr val="0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𝑊</m:t>
                                  </m:r>
                                </m:e>
                                <m:sub>
                                  <m:r>
                                    <a:rPr lang="en-US" b="0" i="1" smtClean="0">
                                      <a:solidFill>
                                        <a:srgbClr val="0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𝑟</m:t>
                                  </m:r>
                                </m:sub>
                              </m:sSub>
                            </m:e>
                          </m:d>
                        </m:e>
                      </m:d>
                    </m:oMath>
                  </m:oMathPara>
                </a14:m>
                <a:endParaRPr lang="en-US" i="1" dirty="0">
                  <a:solidFill>
                    <a:srgbClr val="000000"/>
                  </a:solidFill>
                  <a:latin typeface="Cambria Math" panose="02040503050406030204" pitchFamily="18" charset="0"/>
                </a:endParaRP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acc>
                            <m:accPr>
                              <m:chr m:val="̃"/>
                              <m:ctrlPr>
                                <a:rPr lang="en-US" i="1" smtClean="0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en-US" b="0" i="1" smtClean="0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h</m:t>
                              </m:r>
                            </m:e>
                          </m:acc>
                        </m:e>
                        <m:sub>
                          <m:r>
                            <a:rPr lang="en-US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𝑡</m:t>
                          </m:r>
                        </m:sub>
                      </m:sSub>
                      <m:r>
                        <a:rPr lang="en-US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b="0" i="1" smtClean="0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𝑡𝑎𝑛h</m:t>
                      </m:r>
                      <m:d>
                        <m:dPr>
                          <m:ctrlPr>
                            <a:rPr lang="en-US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𝐶𝑜𝑛𝑣</m:t>
                              </m:r>
                            </m:e>
                            <m:sub>
                              <m:r>
                                <a:rPr lang="en-US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3×3</m:t>
                              </m:r>
                            </m:sub>
                          </m:sSub>
                          <m:d>
                            <m:dPr>
                              <m:ctrlPr>
                                <a:rPr lang="en-US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dPr>
                            <m:e>
                              <m:d>
                                <m:dPr>
                                  <m:begChr m:val="["/>
                                  <m:endChr m:val="]"/>
                                  <m:ctrlPr>
                                    <a:rPr lang="en-US" i="1">
                                      <a:solidFill>
                                        <a:srgbClr val="000000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sSub>
                                    <m:sSubPr>
                                      <m:ctrlPr>
                                        <a:rPr lang="en-US" i="1">
                                          <a:solidFill>
                                            <a:srgbClr val="000000"/>
                                          </a:solidFill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sSub>
                                        <m:sSubPr>
                                          <m:ctrlPr>
                                            <a:rPr lang="en-US" i="1">
                                              <a:solidFill>
                                                <a:srgbClr val="000000"/>
                                              </a:solidFill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en-US" i="1">
                                              <a:solidFill>
                                                <a:srgbClr val="000000"/>
                                              </a:solidFill>
                                              <a:latin typeface="Cambria Math" panose="02040503050406030204" pitchFamily="18" charset="0"/>
                                            </a:rPr>
                                            <m:t>𝑟</m:t>
                                          </m:r>
                                        </m:e>
                                        <m:sub>
                                          <m:r>
                                            <a:rPr lang="en-US" i="1">
                                              <a:solidFill>
                                                <a:srgbClr val="000000"/>
                                              </a:solidFill>
                                              <a:latin typeface="Cambria Math" panose="02040503050406030204" pitchFamily="18" charset="0"/>
                                            </a:rPr>
                                            <m:t>𝑡</m:t>
                                          </m:r>
                                        </m:sub>
                                      </m:sSub>
                                      <m:r>
                                        <a:rPr lang="en-US" i="1">
                                          <a:solidFill>
                                            <a:srgbClr val="000000"/>
                                          </a:solidFill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⊙</m:t>
                                      </m:r>
                                      <m:r>
                                        <a:rPr lang="en-US" i="1">
                                          <a:solidFill>
                                            <a:srgbClr val="000000"/>
                                          </a:solidFill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h</m:t>
                                      </m:r>
                                    </m:e>
                                    <m:sub>
                                      <m:r>
                                        <a:rPr lang="en-US" i="1">
                                          <a:solidFill>
                                            <a:srgbClr val="000000"/>
                                          </a:solidFill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𝑡</m:t>
                                      </m:r>
                                      <m:r>
                                        <a:rPr lang="en-US" i="1">
                                          <a:solidFill>
                                            <a:srgbClr val="000000"/>
                                          </a:solidFill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−1</m:t>
                                      </m:r>
                                    </m:sub>
                                  </m:sSub>
                                  <m:r>
                                    <a:rPr lang="en-US" i="1">
                                      <a:solidFill>
                                        <a:srgbClr val="000000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,</m:t>
                                  </m:r>
                                  <m:sSub>
                                    <m:sSubPr>
                                      <m:ctrlPr>
                                        <a:rPr lang="en-US" i="1">
                                          <a:solidFill>
                                            <a:srgbClr val="000000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i="1">
                                          <a:solidFill>
                                            <a:srgbClr val="000000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𝑥</m:t>
                                      </m:r>
                                    </m:e>
                                    <m:sub>
                                      <m:r>
                                        <a:rPr lang="en-US" i="1">
                                          <a:solidFill>
                                            <a:srgbClr val="000000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𝑡</m:t>
                                      </m:r>
                                    </m:sub>
                                  </m:sSub>
                                </m:e>
                              </m:d>
                              <m:r>
                                <a:rPr lang="en-US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,</m:t>
                              </m:r>
                              <m:sSub>
                                <m:sSubPr>
                                  <m:ctrlPr>
                                    <a:rPr lang="en-US" i="1">
                                      <a:solidFill>
                                        <a:srgbClr val="000000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i="1">
                                      <a:solidFill>
                                        <a:srgbClr val="0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𝑊</m:t>
                                  </m:r>
                                </m:e>
                                <m:sub>
                                  <m:r>
                                    <a:rPr lang="en-US" b="0" i="1" smtClean="0">
                                      <a:solidFill>
                                        <a:srgbClr val="0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h</m:t>
                                  </m:r>
                                </m:sub>
                              </m:sSub>
                            </m:e>
                          </m:d>
                        </m:e>
                      </m:d>
                    </m:oMath>
                  </m:oMathPara>
                </a14:m>
                <a:endParaRPr lang="en-US" i="1" dirty="0">
                  <a:solidFill>
                    <a:srgbClr val="000000"/>
                  </a:solidFill>
                  <a:latin typeface="Cambria Math" panose="02040503050406030204" pitchFamily="18" charset="0"/>
                </a:endParaRP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h</m:t>
                          </m:r>
                        </m:e>
                        <m:sub>
                          <m:r>
                            <a:rPr lang="en-US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𝑡</m:t>
                          </m:r>
                        </m:sub>
                      </m:sSub>
                      <m:r>
                        <a:rPr lang="en-US" b="0" i="1" smtClean="0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</m:t>
                      </m:r>
                      <m:d>
                        <m:dPr>
                          <m:ctrlPr>
                            <a:rPr lang="en-US" b="0" i="1" smtClean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b="0" i="1" smtClean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1−</m:t>
                          </m:r>
                          <m:sSub>
                            <m:sSubPr>
                              <m:ctrlPr>
                                <a:rPr lang="en-US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𝑧</m:t>
                              </m:r>
                            </m:e>
                            <m:sub>
                              <m:r>
                                <a:rPr lang="en-US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</m:sub>
                          </m:sSub>
                        </m:e>
                      </m:d>
                      <m:r>
                        <a:rPr lang="en-US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⊙</m:t>
                      </m:r>
                      <m:sSub>
                        <m:sSubPr>
                          <m:ctrlPr>
                            <a:rPr lang="en-US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h</m:t>
                          </m:r>
                        </m:e>
                        <m:sub>
                          <m:r>
                            <a:rPr lang="en-US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𝑡</m:t>
                          </m:r>
                          <m:r>
                            <a:rPr lang="en-US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−1</m:t>
                          </m:r>
                        </m:sub>
                      </m:sSub>
                      <m:r>
                        <a:rPr lang="en-US" b="0" i="1" smtClean="0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+</m:t>
                      </m:r>
                      <m:sSub>
                        <m:sSubPr>
                          <m:ctrlPr>
                            <a:rPr lang="en-US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𝑧</m:t>
                          </m:r>
                        </m:e>
                        <m:sub>
                          <m:r>
                            <a:rPr lang="en-US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𝑡</m:t>
                          </m:r>
                        </m:sub>
                      </m:sSub>
                      <m:r>
                        <a:rPr lang="en-US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⊙</m:t>
                      </m:r>
                      <m:sSub>
                        <m:sSubPr>
                          <m:ctrlPr>
                            <a:rPr lang="en-US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acc>
                            <m:accPr>
                              <m:chr m:val="̃"/>
                              <m:ctrlPr>
                                <a:rPr lang="en-US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en-US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h</m:t>
                              </m:r>
                            </m:e>
                          </m:acc>
                        </m:e>
                        <m:sub>
                          <m:r>
                            <a:rPr lang="en-US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𝑡</m:t>
                          </m:r>
                        </m:sub>
                      </m:sSub>
                    </m:oMath>
                  </m:oMathPara>
                </a14:m>
                <a:endParaRPr lang="en-US" i="1" dirty="0">
                  <a:solidFill>
                    <a:srgbClr val="000000"/>
                  </a:solidFill>
                  <a:latin typeface="Cambria Math" panose="02040503050406030204" pitchFamily="18" charset="0"/>
                </a:endParaRPr>
              </a:p>
              <a:p>
                <a:pPr marL="0" indent="0">
                  <a:buNone/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en-US" sz="2400" i="1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400" b="0" i="1" smtClean="0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en-US" sz="2400" b="0" i="1" smtClean="0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  <m:r>
                      <a:rPr lang="en-US" sz="2400" b="0" i="1" smtClean="0">
                        <a:solidFill>
                          <a:srgbClr val="000000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</m:t>
                    </m:r>
                  </m:oMath>
                </a14:m>
                <a:r>
                  <a:rPr lang="en-US" sz="2400" dirty="0">
                    <a:solidFill>
                      <a:srgbClr val="000000"/>
                    </a:solidFill>
                  </a:rPr>
                  <a:t>contamination of flow, context correlation</a:t>
                </a:r>
              </a:p>
              <a:p>
                <a:pPr marL="0" indent="0">
                  <a:buNone/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en-US" sz="2400" i="1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400" b="0" i="1" smtClean="0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  <m:t>h</m:t>
                        </m:r>
                      </m:e>
                      <m:sub>
                        <m:r>
                          <a:rPr lang="en-US" sz="2400" i="1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  <m:r>
                      <a:rPr lang="en-US" sz="2400" b="0" i="1" smtClean="0">
                        <a:solidFill>
                          <a:srgbClr val="000000"/>
                        </a:solidFill>
                        <a:latin typeface="Cambria Math" panose="02040503050406030204" pitchFamily="18" charset="0"/>
                      </a:rPr>
                      <m:t>=</m:t>
                    </m:r>
                  </m:oMath>
                </a14:m>
                <a:r>
                  <a:rPr lang="en-US" sz="2400" dirty="0">
                    <a:solidFill>
                      <a:srgbClr val="000000"/>
                    </a:solidFill>
                  </a:rPr>
                  <a:t> a hidden state of recurrent network </a:t>
                </a:r>
              </a:p>
              <a:p>
                <a:pPr marL="0" indent="0">
                  <a:buNone/>
                </a:pPr>
                <a:r>
                  <a:rPr lang="en-US" sz="2400" dirty="0">
                    <a:solidFill>
                      <a:srgbClr val="000000"/>
                    </a:solidFill>
                  </a:rPr>
                  <a:t>Three </a:t>
                </a:r>
                <a:r>
                  <a:rPr lang="en-US" sz="2400" b="1" dirty="0">
                    <a:solidFill>
                      <a:srgbClr val="000000"/>
                    </a:solidFill>
                  </a:rPr>
                  <a:t>learnable shared weight tensors</a:t>
                </a:r>
                <a:r>
                  <a:rPr lang="en-US" sz="2400" dirty="0">
                    <a:solidFill>
                      <a:srgbClr val="000000"/>
                    </a:solidFill>
                  </a:rPr>
                  <a:t>,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2400" i="1" smtClean="0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400" b="0" i="1" smtClean="0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  <m:t>𝑊</m:t>
                        </m:r>
                      </m:e>
                      <m:sub>
                        <m:r>
                          <a:rPr lang="en-US" sz="2400" b="0" i="1" smtClean="0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  <m:t>𝑧</m:t>
                        </m:r>
                      </m:sub>
                    </m:sSub>
                  </m:oMath>
                </a14:m>
                <a:r>
                  <a:rPr lang="en-US" sz="2400" dirty="0">
                    <a:solidFill>
                      <a:srgbClr val="000000"/>
                    </a:solidFill>
                  </a:rPr>
                  <a:t>,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2400" i="1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400" i="1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  <m:t>𝑊</m:t>
                        </m:r>
                      </m:e>
                      <m:sub>
                        <m:r>
                          <a:rPr lang="en-US" sz="2400" b="0" i="1" smtClean="0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  <m:t>𝑟</m:t>
                        </m:r>
                      </m:sub>
                    </m:sSub>
                  </m:oMath>
                </a14:m>
                <a:r>
                  <a:rPr lang="en-US" sz="2400" dirty="0">
                    <a:solidFill>
                      <a:srgbClr val="000000"/>
                    </a:solidFill>
                  </a:rPr>
                  <a:t>,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2400" i="1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400" i="1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  <m:t>𝑊</m:t>
                        </m:r>
                      </m:e>
                      <m:sub>
                        <m:r>
                          <a:rPr lang="en-US" sz="2400" b="0" i="1" smtClean="0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  <m:t>h</m:t>
                        </m:r>
                      </m:sub>
                    </m:sSub>
                  </m:oMath>
                </a14:m>
                <a:endParaRPr lang="en-US" sz="2400" dirty="0">
                  <a:solidFill>
                    <a:srgbClr val="000000"/>
                  </a:solidFill>
                </a:endParaRPr>
              </a:p>
            </p:txBody>
          </p:sp>
        </mc:Choice>
        <mc:Fallback xmlns="">
          <p:sp>
            <p:nvSpPr>
              <p:cNvPr id="6" name="Content Placeholder 2">
                <a:extLst>
                  <a:ext uri="{FF2B5EF4-FFF2-40B4-BE49-F238E27FC236}">
                    <a16:creationId xmlns:a16="http://schemas.microsoft.com/office/drawing/2014/main" id="{F0F64968-25F5-EF42-B88D-DE9EDA1176C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94617" y="2004237"/>
                <a:ext cx="6430274" cy="4622269"/>
              </a:xfrm>
              <a:prstGeom prst="rect">
                <a:avLst/>
              </a:prstGeom>
              <a:blipFill>
                <a:blip r:embed="rId3"/>
                <a:stretch>
                  <a:fillRect l="-1896" t="-224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8" name="Picture 7">
            <a:extLst>
              <a:ext uri="{FF2B5EF4-FFF2-40B4-BE49-F238E27FC236}">
                <a16:creationId xmlns:a16="http://schemas.microsoft.com/office/drawing/2014/main" id="{9E057A4F-7FA8-962F-6C40-F66D7B072B35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47098" y="2567015"/>
            <a:ext cx="5673433" cy="340771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4967793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/>
    </p:bldLst>
  </p:timing>
</p:sld>
</file>

<file path=ppt/slides/slide7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49D0629-4972-C038-035C-0CC282B8072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E2FC8DB-7CDA-9A36-DC39-B512A409C55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89301" y="140193"/>
            <a:ext cx="10515600" cy="872004"/>
          </a:xfrm>
        </p:spPr>
        <p:txBody>
          <a:bodyPr>
            <a:normAutofit/>
          </a:bodyPr>
          <a:lstStyle/>
          <a:p>
            <a:r>
              <a:rPr lang="en-US" sz="4000" dirty="0">
                <a:latin typeface="+mn-lt"/>
              </a:rPr>
              <a:t>RAFT, Fully Neural Algorithm  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39FFC03-1B49-AB7E-6E22-9809ABE3684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89301" y="1012197"/>
            <a:ext cx="10515600" cy="917112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i="0" dirty="0">
                <a:solidFill>
                  <a:srgbClr val="000000"/>
                </a:solidFill>
                <a:effectLst/>
                <a:hlinkClick r:id="rId2"/>
              </a:rPr>
              <a:t>RAFT: Recurrent All-Pairs Field Transforms for Optical Flow, Teed and Dang, 2020</a:t>
            </a:r>
            <a:r>
              <a:rPr lang="en-US" i="0" dirty="0">
                <a:solidFill>
                  <a:srgbClr val="000000"/>
                </a:solidFill>
                <a:effectLst/>
              </a:rPr>
              <a:t>, improves performance </a:t>
            </a:r>
            <a:r>
              <a:rPr lang="en-US" dirty="0">
                <a:solidFill>
                  <a:srgbClr val="000000"/>
                </a:solidFill>
              </a:rPr>
              <a:t>in several ways</a:t>
            </a:r>
            <a:r>
              <a:rPr lang="en-US" i="0" dirty="0">
                <a:solidFill>
                  <a:srgbClr val="000000"/>
                </a:solidFill>
                <a:effectLst/>
              </a:rPr>
              <a:t> </a:t>
            </a:r>
          </a:p>
        </p:txBody>
      </p:sp>
      <p:sp>
        <p:nvSpPr>
          <p:cNvPr id="6" name="Content Placeholder 2">
            <a:extLst>
              <a:ext uri="{FF2B5EF4-FFF2-40B4-BE49-F238E27FC236}">
                <a16:creationId xmlns:a16="http://schemas.microsoft.com/office/drawing/2014/main" id="{0A720452-D33A-AC1F-1EB7-26E798D9C52D}"/>
              </a:ext>
            </a:extLst>
          </p:cNvPr>
          <p:cNvSpPr txBox="1">
            <a:spLocks/>
          </p:cNvSpPr>
          <p:nvPr/>
        </p:nvSpPr>
        <p:spPr>
          <a:xfrm>
            <a:off x="3804557" y="6060924"/>
            <a:ext cx="4060372" cy="65688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anose="020B0604020202020204" pitchFamily="34" charset="0"/>
              <a:buNone/>
            </a:pPr>
            <a:r>
              <a:rPr lang="en-US" dirty="0">
                <a:solidFill>
                  <a:srgbClr val="000000"/>
                </a:solidFill>
              </a:rPr>
              <a:t>Example of RAFT results</a:t>
            </a:r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C97A19D1-42F1-5661-8CE5-3872B7E800C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4762" y="2383732"/>
            <a:ext cx="10862476" cy="346207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95135818"/>
      </p:ext>
    </p:extLst>
  </p:cSld>
  <p:clrMapOvr>
    <a:masterClrMapping/>
  </p:clrMapOvr>
</p:sld>
</file>

<file path=ppt/slides/slide7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DDE6B7F-5D11-0703-B50E-ED28E59AFDB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264E52D-BE42-7B7C-48EF-D4D8D159D54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89301" y="140193"/>
            <a:ext cx="10515600" cy="872004"/>
          </a:xfrm>
        </p:spPr>
        <p:txBody>
          <a:bodyPr>
            <a:normAutofit/>
          </a:bodyPr>
          <a:lstStyle/>
          <a:p>
            <a:r>
              <a:rPr lang="en-US" sz="4000" dirty="0" err="1">
                <a:latin typeface="+mn-lt"/>
              </a:rPr>
              <a:t>NeuFlow</a:t>
            </a:r>
            <a:r>
              <a:rPr lang="en-US" sz="4000" dirty="0">
                <a:latin typeface="+mn-lt"/>
              </a:rPr>
              <a:t> 2: High Efficiency Optical Flow</a:t>
            </a:r>
          </a:p>
        </p:txBody>
      </p:sp>
      <p:sp>
        <p:nvSpPr>
          <p:cNvPr id="6" name="Content Placeholder 2">
            <a:extLst>
              <a:ext uri="{FF2B5EF4-FFF2-40B4-BE49-F238E27FC236}">
                <a16:creationId xmlns:a16="http://schemas.microsoft.com/office/drawing/2014/main" id="{45C830A8-F887-F859-1EE2-CE5D53F08738}"/>
              </a:ext>
            </a:extLst>
          </p:cNvPr>
          <p:cNvSpPr txBox="1">
            <a:spLocks/>
          </p:cNvSpPr>
          <p:nvPr/>
        </p:nvSpPr>
        <p:spPr>
          <a:xfrm>
            <a:off x="294617" y="1191987"/>
            <a:ext cx="5997326" cy="543452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dirty="0" err="1">
                <a:solidFill>
                  <a:srgbClr val="000000"/>
                </a:solidFill>
                <a:hlinkClick r:id="rId2"/>
              </a:rPr>
              <a:t>NeuFlow</a:t>
            </a:r>
            <a:r>
              <a:rPr lang="en-US" dirty="0">
                <a:solidFill>
                  <a:srgbClr val="000000"/>
                </a:solidFill>
                <a:hlinkClick r:id="rId2"/>
              </a:rPr>
              <a:t> 2, Zhang, et. al., 2024 </a:t>
            </a:r>
            <a:r>
              <a:rPr lang="en-US" dirty="0">
                <a:solidFill>
                  <a:srgbClr val="000000"/>
                </a:solidFill>
              </a:rPr>
              <a:t>is a high-performance optical flow algorithm optimized for edge devices</a:t>
            </a:r>
          </a:p>
          <a:p>
            <a:r>
              <a:rPr lang="en-US" dirty="0" err="1">
                <a:solidFill>
                  <a:srgbClr val="000000"/>
                </a:solidFill>
              </a:rPr>
              <a:t>NeuFlow</a:t>
            </a:r>
            <a:r>
              <a:rPr lang="en-US" dirty="0">
                <a:solidFill>
                  <a:srgbClr val="000000"/>
                </a:solidFill>
              </a:rPr>
              <a:t> 2 has superior speed and accuracy</a:t>
            </a:r>
          </a:p>
          <a:p>
            <a:pPr lvl="1"/>
            <a:r>
              <a:rPr lang="en-US" i="1" dirty="0">
                <a:solidFill>
                  <a:schemeClr val="accent1"/>
                </a:solidFill>
              </a:rPr>
              <a:t>Note the inverted vertical scale </a:t>
            </a:r>
          </a:p>
          <a:p>
            <a:r>
              <a:rPr lang="en-US" dirty="0"/>
              <a:t>Unfortunately, the algorithm is not well described </a:t>
            </a:r>
          </a:p>
          <a:p>
            <a:pPr marL="0" indent="0">
              <a:buNone/>
            </a:pPr>
            <a:r>
              <a:rPr lang="en-US" dirty="0"/>
              <a:t>  </a:t>
            </a:r>
            <a:endParaRPr lang="en-US" i="1" dirty="0">
              <a:latin typeface="Cambria Math" panose="02040503050406030204" pitchFamily="18" charset="0"/>
            </a:endParaRPr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5728D7BA-7F61-BAE2-4B29-B2CEEC9DE56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17129" y="1170378"/>
            <a:ext cx="5712370" cy="547773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1089730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89DF481-EAEA-DEE5-31AF-ECFFA8A889A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8F3ADFB-FE92-7801-21A7-3EA5FB328CD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89301" y="140193"/>
            <a:ext cx="10515600" cy="872004"/>
          </a:xfrm>
        </p:spPr>
        <p:txBody>
          <a:bodyPr>
            <a:normAutofit/>
          </a:bodyPr>
          <a:lstStyle/>
          <a:p>
            <a:r>
              <a:rPr lang="en-US" sz="4000" dirty="0" err="1">
                <a:latin typeface="+mn-lt"/>
              </a:rPr>
              <a:t>NeuFlow</a:t>
            </a:r>
            <a:r>
              <a:rPr lang="en-US" sz="4000" dirty="0">
                <a:latin typeface="+mn-lt"/>
              </a:rPr>
              <a:t> 2: High Efficiency Optical Flow</a:t>
            </a:r>
          </a:p>
        </p:txBody>
      </p:sp>
      <p:sp>
        <p:nvSpPr>
          <p:cNvPr id="6" name="Content Placeholder 2">
            <a:extLst>
              <a:ext uri="{FF2B5EF4-FFF2-40B4-BE49-F238E27FC236}">
                <a16:creationId xmlns:a16="http://schemas.microsoft.com/office/drawing/2014/main" id="{A611D8B7-8D50-0AC4-32D2-E9BFB1E3418B}"/>
              </a:ext>
            </a:extLst>
          </p:cNvPr>
          <p:cNvSpPr txBox="1">
            <a:spLocks/>
          </p:cNvSpPr>
          <p:nvPr/>
        </p:nvSpPr>
        <p:spPr>
          <a:xfrm>
            <a:off x="294616" y="1191987"/>
            <a:ext cx="11370441" cy="543452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dirty="0" err="1">
                <a:solidFill>
                  <a:srgbClr val="000000"/>
                </a:solidFill>
                <a:hlinkClick r:id="rId3"/>
              </a:rPr>
              <a:t>NeuFlow</a:t>
            </a:r>
            <a:r>
              <a:rPr lang="en-US" dirty="0">
                <a:solidFill>
                  <a:srgbClr val="000000"/>
                </a:solidFill>
                <a:hlinkClick r:id="rId3"/>
              </a:rPr>
              <a:t> 2, Zhang, et. al., 2024 </a:t>
            </a:r>
            <a:r>
              <a:rPr lang="en-US" dirty="0">
                <a:solidFill>
                  <a:srgbClr val="000000"/>
                </a:solidFill>
              </a:rPr>
              <a:t>is a high-performance optical flow algorithm optimized for edge devices</a:t>
            </a:r>
          </a:p>
          <a:p>
            <a:r>
              <a:rPr lang="en-US" dirty="0" err="1">
                <a:solidFill>
                  <a:srgbClr val="000000"/>
                </a:solidFill>
              </a:rPr>
              <a:t>NeuFlow</a:t>
            </a:r>
            <a:r>
              <a:rPr lang="en-US" dirty="0">
                <a:solidFill>
                  <a:srgbClr val="000000"/>
                </a:solidFill>
              </a:rPr>
              <a:t> 2 is a lightweight hybrid CNN-transformer-based algorithm    </a:t>
            </a:r>
          </a:p>
          <a:p>
            <a:pPr lvl="1"/>
            <a:r>
              <a:rPr lang="en-US" dirty="0">
                <a:solidFill>
                  <a:srgbClr val="000000"/>
                </a:solidFill>
              </a:rPr>
              <a:t>Feature maps and context created with light-weight CNNs</a:t>
            </a:r>
          </a:p>
          <a:p>
            <a:pPr lvl="1"/>
            <a:r>
              <a:rPr lang="en-US" dirty="0">
                <a:solidFill>
                  <a:srgbClr val="000000"/>
                </a:solidFill>
              </a:rPr>
              <a:t>Cross-attention provides flow at multiple scales</a:t>
            </a:r>
          </a:p>
          <a:p>
            <a:r>
              <a:rPr lang="en-US" dirty="0" err="1">
                <a:solidFill>
                  <a:srgbClr val="000000"/>
                </a:solidFill>
              </a:rPr>
              <a:t>NeuFlow</a:t>
            </a:r>
            <a:r>
              <a:rPr lang="en-US" dirty="0">
                <a:solidFill>
                  <a:srgbClr val="000000"/>
                </a:solidFill>
              </a:rPr>
              <a:t> 2 computes flow field in two stages </a:t>
            </a:r>
          </a:p>
          <a:p>
            <a:pPr marL="914400" lvl="1" indent="-457200">
              <a:buFont typeface="+mj-lt"/>
              <a:buAutoNum type="arabicPeriod"/>
            </a:pPr>
            <a:r>
              <a:rPr lang="en-US" dirty="0">
                <a:solidFill>
                  <a:srgbClr val="000000"/>
                </a:solidFill>
              </a:rPr>
              <a:t>A 1/16 scale global flow to capture large scale motion such as moving camera</a:t>
            </a:r>
          </a:p>
          <a:p>
            <a:pPr marL="914400" lvl="1" indent="-457200">
              <a:buFont typeface="+mj-lt"/>
              <a:buAutoNum type="arabicPeriod"/>
            </a:pPr>
            <a:r>
              <a:rPr lang="en-US" dirty="0">
                <a:solidFill>
                  <a:srgbClr val="000000"/>
                </a:solidFill>
              </a:rPr>
              <a:t>Integrated 1/8 scale flow to capture fine scale motion such as fast moving objects</a:t>
            </a:r>
          </a:p>
          <a:p>
            <a:pPr marL="914400" lvl="1" indent="-457200">
              <a:buFont typeface="+mj-lt"/>
              <a:buAutoNum type="arabicPeriod"/>
            </a:pPr>
            <a:r>
              <a:rPr lang="en-US" dirty="0">
                <a:solidFill>
                  <a:srgbClr val="000000"/>
                </a:solidFill>
              </a:rPr>
              <a:t>1/8 scale flow interpolated to full 1/1 scale </a:t>
            </a:r>
          </a:p>
          <a:p>
            <a:r>
              <a:rPr lang="en-US" dirty="0">
                <a:solidFill>
                  <a:srgbClr val="000000"/>
                </a:solidFill>
              </a:rPr>
              <a:t>Using CNNs and fractional scale flow greatly increases inference speed</a:t>
            </a:r>
          </a:p>
          <a:p>
            <a:pPr marL="0" indent="0">
              <a:buNone/>
            </a:pPr>
            <a:r>
              <a:rPr lang="en-US" dirty="0"/>
              <a:t>  </a:t>
            </a:r>
            <a:endParaRPr lang="en-US" i="1" dirty="0">
              <a:latin typeface="Cambria Math" panose="020405030504060302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58728596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068ED36-C685-9BB3-6108-ED3868E1AA6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Picture 8">
            <a:extLst>
              <a:ext uri="{FF2B5EF4-FFF2-40B4-BE49-F238E27FC236}">
                <a16:creationId xmlns:a16="http://schemas.microsoft.com/office/drawing/2014/main" id="{5F7281E3-460A-78B1-044B-B8B0B6EDB49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8254" y="3937907"/>
            <a:ext cx="10726647" cy="2829320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AA6DC10A-6B26-9720-140F-7BFD5AA142F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89301" y="140193"/>
            <a:ext cx="10515600" cy="872004"/>
          </a:xfrm>
        </p:spPr>
        <p:txBody>
          <a:bodyPr>
            <a:normAutofit/>
          </a:bodyPr>
          <a:lstStyle/>
          <a:p>
            <a:r>
              <a:rPr lang="en-US" sz="4000" dirty="0" err="1">
                <a:latin typeface="+mn-lt"/>
              </a:rPr>
              <a:t>NeuFlow</a:t>
            </a:r>
            <a:r>
              <a:rPr lang="en-US" sz="4000" dirty="0">
                <a:latin typeface="+mn-lt"/>
              </a:rPr>
              <a:t> 2: High Efficiency Optical Flow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1138714-1FEA-23BF-B0C6-E297A0D1E96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89301" y="1012197"/>
            <a:ext cx="10515600" cy="917112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dirty="0" err="1">
                <a:solidFill>
                  <a:srgbClr val="000000"/>
                </a:solidFill>
                <a:hlinkClick r:id="rId3"/>
              </a:rPr>
              <a:t>NeuFlow</a:t>
            </a:r>
            <a:r>
              <a:rPr lang="en-US" dirty="0">
                <a:solidFill>
                  <a:srgbClr val="000000"/>
                </a:solidFill>
                <a:hlinkClick r:id="rId3"/>
              </a:rPr>
              <a:t> 2, Zhang, et. al., 2024 </a:t>
            </a:r>
            <a:r>
              <a:rPr lang="en-US" dirty="0">
                <a:solidFill>
                  <a:srgbClr val="000000"/>
                </a:solidFill>
              </a:rPr>
              <a:t>is a high-performance optical flow algorithm optimized for edge devices</a:t>
            </a:r>
          </a:p>
        </p:txBody>
      </p:sp>
      <p:sp>
        <p:nvSpPr>
          <p:cNvPr id="4" name="Content Placeholder 2">
            <a:extLst>
              <a:ext uri="{FF2B5EF4-FFF2-40B4-BE49-F238E27FC236}">
                <a16:creationId xmlns:a16="http://schemas.microsoft.com/office/drawing/2014/main" id="{A8CD96F8-5E44-34AB-826E-05540373ED1C}"/>
              </a:ext>
            </a:extLst>
          </p:cNvPr>
          <p:cNvSpPr txBox="1">
            <a:spLocks/>
          </p:cNvSpPr>
          <p:nvPr/>
        </p:nvSpPr>
        <p:spPr>
          <a:xfrm>
            <a:off x="4669604" y="3020793"/>
            <a:ext cx="1659345" cy="917113"/>
          </a:xfrm>
          <a:prstGeom prst="rect">
            <a:avLst/>
          </a:prstGeom>
        </p:spPr>
        <p:txBody>
          <a:bodyPr vert="horz" lIns="91440" tIns="45720" rIns="91440" bIns="45720" rtlCol="0">
            <a:normAutofit fontScale="85000" lnSpcReduction="20000"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anose="020B0604020202020204" pitchFamily="34" charset="0"/>
              <a:buNone/>
            </a:pPr>
            <a:r>
              <a:rPr lang="en-US" dirty="0">
                <a:solidFill>
                  <a:srgbClr val="000000"/>
                </a:solidFill>
              </a:rPr>
              <a:t>3. 16</a:t>
            </a:r>
            <a:r>
              <a:rPr lang="en-US" baseline="30000" dirty="0">
                <a:solidFill>
                  <a:srgbClr val="000000"/>
                </a:solidFill>
              </a:rPr>
              <a:t>th</a:t>
            </a:r>
            <a:r>
              <a:rPr lang="en-US" dirty="0">
                <a:solidFill>
                  <a:srgbClr val="000000"/>
                </a:solidFill>
              </a:rPr>
              <a:t> scale cross attention</a:t>
            </a:r>
          </a:p>
        </p:txBody>
      </p:sp>
      <p:sp>
        <p:nvSpPr>
          <p:cNvPr id="6" name="Content Placeholder 2">
            <a:extLst>
              <a:ext uri="{FF2B5EF4-FFF2-40B4-BE49-F238E27FC236}">
                <a16:creationId xmlns:a16="http://schemas.microsoft.com/office/drawing/2014/main" id="{FD33567B-FC63-018C-B5AB-04DF80921C39}"/>
              </a:ext>
            </a:extLst>
          </p:cNvPr>
          <p:cNvSpPr txBox="1">
            <a:spLocks/>
          </p:cNvSpPr>
          <p:nvPr/>
        </p:nvSpPr>
        <p:spPr>
          <a:xfrm>
            <a:off x="507125" y="2801313"/>
            <a:ext cx="2070311" cy="923445"/>
          </a:xfrm>
          <a:prstGeom prst="rect">
            <a:avLst/>
          </a:prstGeom>
        </p:spPr>
        <p:txBody>
          <a:bodyPr vert="horz" lIns="91440" tIns="45720" rIns="91440" bIns="45720" rtlCol="0">
            <a:normAutofit fontScale="85000" lnSpcReduction="20000"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anose="020B0604020202020204" pitchFamily="34" charset="0"/>
              <a:buNone/>
            </a:pPr>
            <a:r>
              <a:rPr lang="en-US" dirty="0">
                <a:solidFill>
                  <a:srgbClr val="000000"/>
                </a:solidFill>
              </a:rPr>
              <a:t>1. </a:t>
            </a:r>
            <a:r>
              <a:rPr lang="en-US">
                <a:solidFill>
                  <a:srgbClr val="000000"/>
                </a:solidFill>
              </a:rPr>
              <a:t>Multi-scale CNN </a:t>
            </a:r>
            <a:r>
              <a:rPr lang="en-US" dirty="0">
                <a:solidFill>
                  <a:srgbClr val="000000"/>
                </a:solidFill>
              </a:rPr>
              <a:t>backbones </a:t>
            </a:r>
          </a:p>
        </p:txBody>
      </p:sp>
      <p:cxnSp>
        <p:nvCxnSpPr>
          <p:cNvPr id="10" name="Straight Arrow Connector 9">
            <a:extLst>
              <a:ext uri="{FF2B5EF4-FFF2-40B4-BE49-F238E27FC236}">
                <a16:creationId xmlns:a16="http://schemas.microsoft.com/office/drawing/2014/main" id="{7B003466-4FF3-AD94-1950-95CA55C88FF5}"/>
              </a:ext>
            </a:extLst>
          </p:cNvPr>
          <p:cNvCxnSpPr>
            <a:cxnSpLocks/>
          </p:cNvCxnSpPr>
          <p:nvPr/>
        </p:nvCxnSpPr>
        <p:spPr>
          <a:xfrm flipH="1">
            <a:off x="4520339" y="3937907"/>
            <a:ext cx="878237" cy="1347015"/>
          </a:xfrm>
          <a:prstGeom prst="straightConnector1">
            <a:avLst/>
          </a:prstGeom>
          <a:ln w="38100">
            <a:solidFill>
              <a:srgbClr val="C0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" name="Straight Arrow Connector 13">
            <a:extLst>
              <a:ext uri="{FF2B5EF4-FFF2-40B4-BE49-F238E27FC236}">
                <a16:creationId xmlns:a16="http://schemas.microsoft.com/office/drawing/2014/main" id="{338DC4E1-790A-381B-3E24-E28AF8FC8AFB}"/>
              </a:ext>
            </a:extLst>
          </p:cNvPr>
          <p:cNvCxnSpPr>
            <a:cxnSpLocks/>
          </p:cNvCxnSpPr>
          <p:nvPr/>
        </p:nvCxnSpPr>
        <p:spPr>
          <a:xfrm>
            <a:off x="1585993" y="3596292"/>
            <a:ext cx="482293" cy="1098408"/>
          </a:xfrm>
          <a:prstGeom prst="straightConnector1">
            <a:avLst/>
          </a:prstGeom>
          <a:ln w="38100">
            <a:solidFill>
              <a:srgbClr val="C0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" name="Straight Arrow Connector 15">
            <a:extLst>
              <a:ext uri="{FF2B5EF4-FFF2-40B4-BE49-F238E27FC236}">
                <a16:creationId xmlns:a16="http://schemas.microsoft.com/office/drawing/2014/main" id="{79FA4189-8171-D7D4-EDB9-4E02299EB247}"/>
              </a:ext>
            </a:extLst>
          </p:cNvPr>
          <p:cNvCxnSpPr>
            <a:cxnSpLocks/>
          </p:cNvCxnSpPr>
          <p:nvPr/>
        </p:nvCxnSpPr>
        <p:spPr>
          <a:xfrm>
            <a:off x="1627322" y="3596292"/>
            <a:ext cx="179706" cy="2069722"/>
          </a:xfrm>
          <a:prstGeom prst="straightConnector1">
            <a:avLst/>
          </a:prstGeom>
          <a:ln w="38100">
            <a:solidFill>
              <a:srgbClr val="C0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9" name="Content Placeholder 2">
            <a:extLst>
              <a:ext uri="{FF2B5EF4-FFF2-40B4-BE49-F238E27FC236}">
                <a16:creationId xmlns:a16="http://schemas.microsoft.com/office/drawing/2014/main" id="{E39D51BC-0A84-5A7C-4F34-E7BBFD61D1A2}"/>
              </a:ext>
            </a:extLst>
          </p:cNvPr>
          <p:cNvSpPr txBox="1">
            <a:spLocks/>
          </p:cNvSpPr>
          <p:nvPr/>
        </p:nvSpPr>
        <p:spPr>
          <a:xfrm>
            <a:off x="2803257" y="1952001"/>
            <a:ext cx="2070311" cy="1182007"/>
          </a:xfrm>
          <a:prstGeom prst="rect">
            <a:avLst/>
          </a:prstGeom>
        </p:spPr>
        <p:txBody>
          <a:bodyPr vert="horz" lIns="91440" tIns="45720" rIns="91440" bIns="45720" rtlCol="0">
            <a:normAutofit fontScale="85000" lnSpcReduction="20000"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anose="020B0604020202020204" pitchFamily="34" charset="0"/>
              <a:buNone/>
            </a:pPr>
            <a:r>
              <a:rPr lang="en-US" dirty="0">
                <a:solidFill>
                  <a:srgbClr val="000000"/>
                </a:solidFill>
              </a:rPr>
              <a:t>2. 1/8 and 1/16 scale feature maps and context </a:t>
            </a:r>
          </a:p>
        </p:txBody>
      </p:sp>
      <p:cxnSp>
        <p:nvCxnSpPr>
          <p:cNvPr id="5" name="Straight Arrow Connector 4">
            <a:extLst>
              <a:ext uri="{FF2B5EF4-FFF2-40B4-BE49-F238E27FC236}">
                <a16:creationId xmlns:a16="http://schemas.microsoft.com/office/drawing/2014/main" id="{D47CBA82-397C-66ED-E1ED-D506E218731F}"/>
              </a:ext>
            </a:extLst>
          </p:cNvPr>
          <p:cNvCxnSpPr>
            <a:cxnSpLocks/>
          </p:cNvCxnSpPr>
          <p:nvPr/>
        </p:nvCxnSpPr>
        <p:spPr>
          <a:xfrm flipH="1">
            <a:off x="3353561" y="3027717"/>
            <a:ext cx="278208" cy="852025"/>
          </a:xfrm>
          <a:prstGeom prst="straightConnector1">
            <a:avLst/>
          </a:prstGeom>
          <a:ln w="38100">
            <a:solidFill>
              <a:srgbClr val="C0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1" name="Content Placeholder 2">
            <a:extLst>
              <a:ext uri="{FF2B5EF4-FFF2-40B4-BE49-F238E27FC236}">
                <a16:creationId xmlns:a16="http://schemas.microsoft.com/office/drawing/2014/main" id="{E9F36190-C50A-EB98-9A69-A9F4F703DBFE}"/>
              </a:ext>
            </a:extLst>
          </p:cNvPr>
          <p:cNvSpPr txBox="1">
            <a:spLocks/>
          </p:cNvSpPr>
          <p:nvPr/>
        </p:nvSpPr>
        <p:spPr>
          <a:xfrm>
            <a:off x="9972608" y="3198884"/>
            <a:ext cx="2070312" cy="872004"/>
          </a:xfrm>
          <a:prstGeom prst="rect">
            <a:avLst/>
          </a:prstGeom>
        </p:spPr>
        <p:txBody>
          <a:bodyPr vert="horz" lIns="91440" tIns="45720" rIns="91440" bIns="45720" rtlCol="0">
            <a:normAutofit fontScale="77500" lnSpcReduction="20000"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anose="020B0604020202020204" pitchFamily="34" charset="0"/>
              <a:buNone/>
            </a:pPr>
            <a:r>
              <a:rPr lang="en-US" dirty="0">
                <a:solidFill>
                  <a:srgbClr val="000000"/>
                </a:solidFill>
              </a:rPr>
              <a:t>6. Up-sampled 1/1 scale flow map</a:t>
            </a:r>
          </a:p>
        </p:txBody>
      </p:sp>
      <p:cxnSp>
        <p:nvCxnSpPr>
          <p:cNvPr id="22" name="Straight Arrow Connector 21">
            <a:extLst>
              <a:ext uri="{FF2B5EF4-FFF2-40B4-BE49-F238E27FC236}">
                <a16:creationId xmlns:a16="http://schemas.microsoft.com/office/drawing/2014/main" id="{3B6D008C-92D1-38B4-31B3-F0AA130E8AFA}"/>
              </a:ext>
            </a:extLst>
          </p:cNvPr>
          <p:cNvCxnSpPr>
            <a:cxnSpLocks/>
          </p:cNvCxnSpPr>
          <p:nvPr/>
        </p:nvCxnSpPr>
        <p:spPr>
          <a:xfrm>
            <a:off x="11050292" y="3776420"/>
            <a:ext cx="47607" cy="1446509"/>
          </a:xfrm>
          <a:prstGeom prst="straightConnector1">
            <a:avLst/>
          </a:prstGeom>
          <a:ln w="38100">
            <a:solidFill>
              <a:srgbClr val="C0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" name="Straight Arrow Connector 7">
            <a:extLst>
              <a:ext uri="{FF2B5EF4-FFF2-40B4-BE49-F238E27FC236}">
                <a16:creationId xmlns:a16="http://schemas.microsoft.com/office/drawing/2014/main" id="{99AA48D3-7A9B-CBA0-20D9-570DF1A9BC19}"/>
              </a:ext>
            </a:extLst>
          </p:cNvPr>
          <p:cNvCxnSpPr>
            <a:cxnSpLocks/>
            <a:stCxn id="27" idx="2"/>
          </p:cNvCxnSpPr>
          <p:nvPr/>
        </p:nvCxnSpPr>
        <p:spPr>
          <a:xfrm>
            <a:off x="7220405" y="3717065"/>
            <a:ext cx="757889" cy="1671188"/>
          </a:xfrm>
          <a:prstGeom prst="straightConnector1">
            <a:avLst/>
          </a:prstGeom>
          <a:ln w="38100">
            <a:solidFill>
              <a:srgbClr val="C0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" name="Straight Arrow Connector 12">
            <a:extLst>
              <a:ext uri="{FF2B5EF4-FFF2-40B4-BE49-F238E27FC236}">
                <a16:creationId xmlns:a16="http://schemas.microsoft.com/office/drawing/2014/main" id="{0DF38C2C-A54D-902A-3605-B1F8908536D7}"/>
              </a:ext>
            </a:extLst>
          </p:cNvPr>
          <p:cNvCxnSpPr>
            <a:cxnSpLocks/>
            <a:stCxn id="27" idx="2"/>
          </p:cNvCxnSpPr>
          <p:nvPr/>
        </p:nvCxnSpPr>
        <p:spPr>
          <a:xfrm flipH="1">
            <a:off x="7108458" y="3717065"/>
            <a:ext cx="111947" cy="1671188"/>
          </a:xfrm>
          <a:prstGeom prst="straightConnector1">
            <a:avLst/>
          </a:prstGeom>
          <a:ln w="38100">
            <a:solidFill>
              <a:srgbClr val="C0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7" name="Content Placeholder 2">
            <a:extLst>
              <a:ext uri="{FF2B5EF4-FFF2-40B4-BE49-F238E27FC236}">
                <a16:creationId xmlns:a16="http://schemas.microsoft.com/office/drawing/2014/main" id="{5CD6EACE-8D3F-CB4B-7434-5C9859F1FA67}"/>
              </a:ext>
            </a:extLst>
          </p:cNvPr>
          <p:cNvSpPr txBox="1">
            <a:spLocks/>
          </p:cNvSpPr>
          <p:nvPr/>
        </p:nvSpPr>
        <p:spPr>
          <a:xfrm>
            <a:off x="6307350" y="1816096"/>
            <a:ext cx="1826110" cy="1900969"/>
          </a:xfrm>
          <a:prstGeom prst="rect">
            <a:avLst/>
          </a:prstGeom>
        </p:spPr>
        <p:txBody>
          <a:bodyPr vert="horz" lIns="91440" tIns="45720" rIns="91440" bIns="45720" rtlCol="0">
            <a:normAutofit fontScale="85000" lnSpcReduction="20000"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anose="020B0604020202020204" pitchFamily="34" charset="0"/>
              <a:buNone/>
            </a:pPr>
            <a:r>
              <a:rPr lang="en-US" dirty="0">
                <a:solidFill>
                  <a:srgbClr val="000000"/>
                </a:solidFill>
              </a:rPr>
              <a:t>4. 1/16 scale flow captures global motion, such as moving camera </a:t>
            </a:r>
          </a:p>
        </p:txBody>
      </p:sp>
      <p:sp>
        <p:nvSpPr>
          <p:cNvPr id="37" name="Content Placeholder 2">
            <a:extLst>
              <a:ext uri="{FF2B5EF4-FFF2-40B4-BE49-F238E27FC236}">
                <a16:creationId xmlns:a16="http://schemas.microsoft.com/office/drawing/2014/main" id="{3661AC55-826C-1BAE-52F7-B7AE3B0EB438}"/>
              </a:ext>
            </a:extLst>
          </p:cNvPr>
          <p:cNvSpPr txBox="1">
            <a:spLocks/>
          </p:cNvSpPr>
          <p:nvPr/>
        </p:nvSpPr>
        <p:spPr>
          <a:xfrm>
            <a:off x="8323263" y="1678984"/>
            <a:ext cx="1826110" cy="1519900"/>
          </a:xfrm>
          <a:prstGeom prst="rect">
            <a:avLst/>
          </a:prstGeom>
        </p:spPr>
        <p:txBody>
          <a:bodyPr vert="horz" lIns="91440" tIns="45720" rIns="91440" bIns="45720" rtlCol="0">
            <a:normAutofit fontScale="85000" lnSpcReduction="20000"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anose="020B0604020202020204" pitchFamily="34" charset="0"/>
              <a:buNone/>
            </a:pPr>
            <a:r>
              <a:rPr lang="en-US" dirty="0">
                <a:solidFill>
                  <a:srgbClr val="000000"/>
                </a:solidFill>
              </a:rPr>
              <a:t>5. Integrated 1/8 scale flow captures fine grain motion</a:t>
            </a:r>
          </a:p>
        </p:txBody>
      </p:sp>
      <p:cxnSp>
        <p:nvCxnSpPr>
          <p:cNvPr id="38" name="Straight Arrow Connector 37">
            <a:extLst>
              <a:ext uri="{FF2B5EF4-FFF2-40B4-BE49-F238E27FC236}">
                <a16:creationId xmlns:a16="http://schemas.microsoft.com/office/drawing/2014/main" id="{30EF02D7-FC1D-25C7-A4F1-D6DAE1B394CB}"/>
              </a:ext>
            </a:extLst>
          </p:cNvPr>
          <p:cNvCxnSpPr>
            <a:cxnSpLocks/>
          </p:cNvCxnSpPr>
          <p:nvPr/>
        </p:nvCxnSpPr>
        <p:spPr>
          <a:xfrm>
            <a:off x="9185329" y="3027717"/>
            <a:ext cx="633902" cy="2257205"/>
          </a:xfrm>
          <a:prstGeom prst="straightConnector1">
            <a:avLst/>
          </a:prstGeom>
          <a:ln w="38100">
            <a:solidFill>
              <a:srgbClr val="C0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25376408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7" fill="hold">
                      <p:stCondLst>
                        <p:cond delay="indefinite"/>
                      </p:stCondLst>
                      <p:childTnLst>
                        <p:par>
                          <p:cTn id="38" fill="hold">
                            <p:stCondLst>
                              <p:cond delay="0"/>
                            </p:stCondLst>
                            <p:childTnLst>
                              <p:par>
                                <p:cTn id="3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/>
      <p:bldP spid="6" grpId="0"/>
      <p:bldP spid="19" grpId="0"/>
      <p:bldP spid="21" grpId="0"/>
      <p:bldP spid="27" grpId="0"/>
      <p:bldP spid="37" grpId="0"/>
    </p:bldLst>
  </p:timing>
</p:sld>
</file>

<file path=ppt/slides/slide8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79B07B3-83F3-7A23-7E76-69ABBF94216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>
            <a:extLst>
              <a:ext uri="{FF2B5EF4-FFF2-40B4-BE49-F238E27FC236}">
                <a16:creationId xmlns:a16="http://schemas.microsoft.com/office/drawing/2014/main" id="{6F105AB8-062F-BCBE-F0B1-994EB9D74FE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936490" y="3879742"/>
            <a:ext cx="8221222" cy="2524477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2C4A5CFE-5EB7-66DF-FD85-19D4DA4C4B2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89301" y="140193"/>
            <a:ext cx="10515600" cy="872004"/>
          </a:xfrm>
        </p:spPr>
        <p:txBody>
          <a:bodyPr>
            <a:normAutofit/>
          </a:bodyPr>
          <a:lstStyle/>
          <a:p>
            <a:r>
              <a:rPr lang="en-US" sz="4000" dirty="0">
                <a:latin typeface="+mn-lt"/>
              </a:rPr>
              <a:t>RAFT, Fully Neural Algorithm  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EF0F715-CB0F-CA81-32B7-B238DA4334D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89301" y="1012196"/>
            <a:ext cx="10515600" cy="1277199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dirty="0" err="1">
                <a:solidFill>
                  <a:srgbClr val="000000"/>
                </a:solidFill>
                <a:hlinkClick r:id="rId3"/>
              </a:rPr>
              <a:t>NeuFlow</a:t>
            </a:r>
            <a:r>
              <a:rPr lang="en-US" dirty="0">
                <a:solidFill>
                  <a:srgbClr val="000000"/>
                </a:solidFill>
                <a:hlinkClick r:id="rId3"/>
              </a:rPr>
              <a:t> 2, Zhang, et. al., 2024 </a:t>
            </a:r>
            <a:r>
              <a:rPr lang="en-US" dirty="0">
                <a:solidFill>
                  <a:srgbClr val="000000"/>
                </a:solidFill>
              </a:rPr>
              <a:t>is a high-performance optical flow algorithm optimized for edge devices</a:t>
            </a:r>
          </a:p>
        </p:txBody>
      </p:sp>
      <p:sp>
        <p:nvSpPr>
          <p:cNvPr id="6" name="Content Placeholder 2">
            <a:extLst>
              <a:ext uri="{FF2B5EF4-FFF2-40B4-BE49-F238E27FC236}">
                <a16:creationId xmlns:a16="http://schemas.microsoft.com/office/drawing/2014/main" id="{CA2145F9-5FB3-43EA-2DCC-00B48ABCE006}"/>
              </a:ext>
            </a:extLst>
          </p:cNvPr>
          <p:cNvSpPr txBox="1">
            <a:spLocks/>
          </p:cNvSpPr>
          <p:nvPr/>
        </p:nvSpPr>
        <p:spPr>
          <a:xfrm>
            <a:off x="1045792" y="2462544"/>
            <a:ext cx="2260513" cy="1000171"/>
          </a:xfrm>
          <a:prstGeom prst="rect">
            <a:avLst/>
          </a:prstGeom>
        </p:spPr>
        <p:txBody>
          <a:bodyPr vert="horz" lIns="91440" tIns="45720" rIns="91440" bIns="45720" rtlCol="0">
            <a:normAutofit fontScale="85000" lnSpcReduction="10000"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anose="020B0604020202020204" pitchFamily="34" charset="0"/>
              <a:buNone/>
            </a:pPr>
            <a:r>
              <a:rPr lang="en-US" dirty="0">
                <a:solidFill>
                  <a:srgbClr val="000000"/>
                </a:solidFill>
              </a:rPr>
              <a:t>1. CNN pyramid with scale range 1/1 to 1/8</a:t>
            </a:r>
          </a:p>
        </p:txBody>
      </p:sp>
      <p:cxnSp>
        <p:nvCxnSpPr>
          <p:cNvPr id="14" name="Straight Arrow Connector 13">
            <a:extLst>
              <a:ext uri="{FF2B5EF4-FFF2-40B4-BE49-F238E27FC236}">
                <a16:creationId xmlns:a16="http://schemas.microsoft.com/office/drawing/2014/main" id="{1F3E34FF-A8DC-91B7-8BEE-0B14AD5D0AE2}"/>
              </a:ext>
            </a:extLst>
          </p:cNvPr>
          <p:cNvCxnSpPr>
            <a:cxnSpLocks/>
          </p:cNvCxnSpPr>
          <p:nvPr/>
        </p:nvCxnSpPr>
        <p:spPr>
          <a:xfrm>
            <a:off x="2034288" y="3533614"/>
            <a:ext cx="522932" cy="899662"/>
          </a:xfrm>
          <a:prstGeom prst="straightConnector1">
            <a:avLst/>
          </a:prstGeom>
          <a:ln w="38100">
            <a:solidFill>
              <a:srgbClr val="C0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" name="Straight Arrow Connector 15">
            <a:extLst>
              <a:ext uri="{FF2B5EF4-FFF2-40B4-BE49-F238E27FC236}">
                <a16:creationId xmlns:a16="http://schemas.microsoft.com/office/drawing/2014/main" id="{262DDA40-39E4-78E9-EB1B-B43A19A81986}"/>
              </a:ext>
            </a:extLst>
          </p:cNvPr>
          <p:cNvCxnSpPr>
            <a:cxnSpLocks/>
          </p:cNvCxnSpPr>
          <p:nvPr/>
        </p:nvCxnSpPr>
        <p:spPr>
          <a:xfrm>
            <a:off x="2034288" y="3533614"/>
            <a:ext cx="130309" cy="2412569"/>
          </a:xfrm>
          <a:prstGeom prst="straightConnector1">
            <a:avLst/>
          </a:prstGeom>
          <a:ln w="38100">
            <a:solidFill>
              <a:srgbClr val="C0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9" name="Content Placeholder 2">
            <a:extLst>
              <a:ext uri="{FF2B5EF4-FFF2-40B4-BE49-F238E27FC236}">
                <a16:creationId xmlns:a16="http://schemas.microsoft.com/office/drawing/2014/main" id="{93B45FDC-2B5C-2098-60A8-7837798C03CC}"/>
              </a:ext>
            </a:extLst>
          </p:cNvPr>
          <p:cNvSpPr txBox="1">
            <a:spLocks/>
          </p:cNvSpPr>
          <p:nvPr/>
        </p:nvSpPr>
        <p:spPr>
          <a:xfrm>
            <a:off x="5155770" y="2185838"/>
            <a:ext cx="3282410" cy="1394272"/>
          </a:xfrm>
          <a:prstGeom prst="rect">
            <a:avLst/>
          </a:prstGeom>
        </p:spPr>
        <p:txBody>
          <a:bodyPr vert="horz" lIns="91440" tIns="45720" rIns="91440" bIns="45720" rtlCol="0">
            <a:normAutofit fontScale="85000" lnSpcReduction="20000"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anose="020B0604020202020204" pitchFamily="34" charset="0"/>
              <a:buNone/>
            </a:pPr>
            <a:r>
              <a:rPr lang="en-US" dirty="0">
                <a:solidFill>
                  <a:srgbClr val="000000"/>
                </a:solidFill>
              </a:rPr>
              <a:t>2. Light-weight convolutional blocks down-sample and integrate multi-scale features </a:t>
            </a:r>
          </a:p>
        </p:txBody>
      </p:sp>
      <p:cxnSp>
        <p:nvCxnSpPr>
          <p:cNvPr id="5" name="Straight Arrow Connector 4">
            <a:extLst>
              <a:ext uri="{FF2B5EF4-FFF2-40B4-BE49-F238E27FC236}">
                <a16:creationId xmlns:a16="http://schemas.microsoft.com/office/drawing/2014/main" id="{B4E69638-65D6-65C0-7D22-7C3F3FE400B8}"/>
              </a:ext>
            </a:extLst>
          </p:cNvPr>
          <p:cNvCxnSpPr>
            <a:cxnSpLocks/>
          </p:cNvCxnSpPr>
          <p:nvPr/>
        </p:nvCxnSpPr>
        <p:spPr>
          <a:xfrm flipH="1">
            <a:off x="5553559" y="3533614"/>
            <a:ext cx="289302" cy="463523"/>
          </a:xfrm>
          <a:prstGeom prst="straightConnector1">
            <a:avLst/>
          </a:prstGeom>
          <a:ln w="38100">
            <a:solidFill>
              <a:srgbClr val="C0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1" name="Content Placeholder 2">
            <a:extLst>
              <a:ext uri="{FF2B5EF4-FFF2-40B4-BE49-F238E27FC236}">
                <a16:creationId xmlns:a16="http://schemas.microsoft.com/office/drawing/2014/main" id="{9F8D9A3B-A733-DA96-FA7E-A366B9D5FD7A}"/>
              </a:ext>
            </a:extLst>
          </p:cNvPr>
          <p:cNvSpPr txBox="1">
            <a:spLocks/>
          </p:cNvSpPr>
          <p:nvPr/>
        </p:nvSpPr>
        <p:spPr>
          <a:xfrm>
            <a:off x="9216325" y="2185837"/>
            <a:ext cx="2826595" cy="1495541"/>
          </a:xfrm>
          <a:prstGeom prst="rect">
            <a:avLst/>
          </a:prstGeom>
        </p:spPr>
        <p:txBody>
          <a:bodyPr vert="horz" lIns="91440" tIns="45720" rIns="91440" bIns="45720" rtlCol="0">
            <a:normAutofit fontScale="85000" lnSpcReduction="20000"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anose="020B0604020202020204" pitchFamily="34" charset="0"/>
              <a:buNone/>
            </a:pPr>
            <a:r>
              <a:rPr lang="en-US" dirty="0">
                <a:solidFill>
                  <a:srgbClr val="000000"/>
                </a:solidFill>
              </a:rPr>
              <a:t>3. Fully convolutional network creates 1/8 and 1/16 scale feature and context maps</a:t>
            </a:r>
          </a:p>
        </p:txBody>
      </p:sp>
      <p:cxnSp>
        <p:nvCxnSpPr>
          <p:cNvPr id="22" name="Straight Arrow Connector 21">
            <a:extLst>
              <a:ext uri="{FF2B5EF4-FFF2-40B4-BE49-F238E27FC236}">
                <a16:creationId xmlns:a16="http://schemas.microsoft.com/office/drawing/2014/main" id="{61D5B4E4-6E77-B048-16FA-92CD99A9D1AA}"/>
              </a:ext>
            </a:extLst>
          </p:cNvPr>
          <p:cNvCxnSpPr>
            <a:cxnSpLocks/>
          </p:cNvCxnSpPr>
          <p:nvPr/>
        </p:nvCxnSpPr>
        <p:spPr>
          <a:xfrm flipH="1">
            <a:off x="10157712" y="3580110"/>
            <a:ext cx="443129" cy="988496"/>
          </a:xfrm>
          <a:prstGeom prst="straightConnector1">
            <a:avLst/>
          </a:prstGeom>
          <a:ln w="38100">
            <a:solidFill>
              <a:srgbClr val="C0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" name="Straight Arrow Connector 17">
            <a:extLst>
              <a:ext uri="{FF2B5EF4-FFF2-40B4-BE49-F238E27FC236}">
                <a16:creationId xmlns:a16="http://schemas.microsoft.com/office/drawing/2014/main" id="{BBE41EC0-A436-DE59-FF1F-E98A50052F85}"/>
              </a:ext>
            </a:extLst>
          </p:cNvPr>
          <p:cNvCxnSpPr>
            <a:cxnSpLocks/>
          </p:cNvCxnSpPr>
          <p:nvPr/>
        </p:nvCxnSpPr>
        <p:spPr>
          <a:xfrm>
            <a:off x="6442129" y="3533614"/>
            <a:ext cx="666427" cy="847240"/>
          </a:xfrm>
          <a:prstGeom prst="straightConnector1">
            <a:avLst/>
          </a:prstGeom>
          <a:ln w="38100">
            <a:solidFill>
              <a:srgbClr val="C0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4" name="Straight Arrow Connector 23">
            <a:extLst>
              <a:ext uri="{FF2B5EF4-FFF2-40B4-BE49-F238E27FC236}">
                <a16:creationId xmlns:a16="http://schemas.microsoft.com/office/drawing/2014/main" id="{D04D1331-709F-80C2-6B34-934C4B8ADE27}"/>
              </a:ext>
            </a:extLst>
          </p:cNvPr>
          <p:cNvCxnSpPr>
            <a:cxnSpLocks/>
          </p:cNvCxnSpPr>
          <p:nvPr/>
        </p:nvCxnSpPr>
        <p:spPr>
          <a:xfrm>
            <a:off x="7268705" y="3533614"/>
            <a:ext cx="1219200" cy="614766"/>
          </a:xfrm>
          <a:prstGeom prst="straightConnector1">
            <a:avLst/>
          </a:prstGeom>
          <a:ln w="38100">
            <a:solidFill>
              <a:srgbClr val="C0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83401049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/>
      <p:bldP spid="19" grpId="0"/>
      <p:bldP spid="21" grpId="0"/>
    </p:bldLst>
  </p:timing>
</p:sld>
</file>

<file path=ppt/slides/slide8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4992E96-3F83-EC4A-8D39-650A26500F1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8" name="Picture 17">
            <a:extLst>
              <a:ext uri="{FF2B5EF4-FFF2-40B4-BE49-F238E27FC236}">
                <a16:creationId xmlns:a16="http://schemas.microsoft.com/office/drawing/2014/main" id="{1A20BF09-10CA-F7A0-3BF8-00D3C517266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80977" y="2958087"/>
            <a:ext cx="3962953" cy="809738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EC769FED-FC7D-8218-AF56-609E3739999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200759" y="2331265"/>
            <a:ext cx="4640345" cy="2156120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2FF0474B-9AE8-B8F6-2F7A-BF7A5E06F976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410346" y="4633334"/>
            <a:ext cx="8090115" cy="2133893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9BA25AB9-144F-F2AE-8EEC-31404234D87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89301" y="140193"/>
            <a:ext cx="10515600" cy="872004"/>
          </a:xfrm>
        </p:spPr>
        <p:txBody>
          <a:bodyPr>
            <a:normAutofit/>
          </a:bodyPr>
          <a:lstStyle/>
          <a:p>
            <a:r>
              <a:rPr lang="en-US" sz="4000" dirty="0" err="1">
                <a:latin typeface="+mn-lt"/>
              </a:rPr>
              <a:t>NeuFlow</a:t>
            </a:r>
            <a:r>
              <a:rPr lang="en-US" sz="4000" dirty="0">
                <a:latin typeface="+mn-lt"/>
              </a:rPr>
              <a:t> 2: High Efficiency Optical Flow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3F53698-AF4C-A483-56CE-1EC6680AA6E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89301" y="1012197"/>
            <a:ext cx="10515600" cy="917112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dirty="0" err="1">
                <a:solidFill>
                  <a:srgbClr val="000000"/>
                </a:solidFill>
                <a:hlinkClick r:id="rId5"/>
              </a:rPr>
              <a:t>NeuFlow</a:t>
            </a:r>
            <a:r>
              <a:rPr lang="en-US" dirty="0">
                <a:solidFill>
                  <a:srgbClr val="000000"/>
                </a:solidFill>
                <a:hlinkClick r:id="rId5"/>
              </a:rPr>
              <a:t> 2, Zhang, et. al., 2024 </a:t>
            </a:r>
            <a:r>
              <a:rPr lang="en-US" dirty="0">
                <a:solidFill>
                  <a:srgbClr val="000000"/>
                </a:solidFill>
              </a:rPr>
              <a:t>is a high-performance optical flow algorithm optimized for edge devices</a:t>
            </a:r>
          </a:p>
        </p:txBody>
      </p:sp>
      <p:sp>
        <p:nvSpPr>
          <p:cNvPr id="6" name="Content Placeholder 2">
            <a:extLst>
              <a:ext uri="{FF2B5EF4-FFF2-40B4-BE49-F238E27FC236}">
                <a16:creationId xmlns:a16="http://schemas.microsoft.com/office/drawing/2014/main" id="{D5D3EE31-FF62-52F8-703E-10F9446BD921}"/>
              </a:ext>
            </a:extLst>
          </p:cNvPr>
          <p:cNvSpPr txBox="1">
            <a:spLocks/>
          </p:cNvSpPr>
          <p:nvPr/>
        </p:nvSpPr>
        <p:spPr>
          <a:xfrm>
            <a:off x="284048" y="3256800"/>
            <a:ext cx="2070311" cy="923445"/>
          </a:xfrm>
          <a:prstGeom prst="rect">
            <a:avLst/>
          </a:prstGeom>
        </p:spPr>
        <p:txBody>
          <a:bodyPr vert="horz" lIns="91440" tIns="45720" rIns="91440" bIns="45720" rtlCol="0">
            <a:normAutofit fontScale="85000" lnSpcReduction="20000"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anose="020B0604020202020204" pitchFamily="34" charset="0"/>
              <a:buNone/>
            </a:pPr>
            <a:r>
              <a:rPr lang="en-US" dirty="0">
                <a:solidFill>
                  <a:srgbClr val="000000"/>
                </a:solidFill>
              </a:rPr>
              <a:t>Notice recurrent loops</a:t>
            </a:r>
          </a:p>
        </p:txBody>
      </p:sp>
      <p:cxnSp>
        <p:nvCxnSpPr>
          <p:cNvPr id="14" name="Straight Arrow Connector 13">
            <a:extLst>
              <a:ext uri="{FF2B5EF4-FFF2-40B4-BE49-F238E27FC236}">
                <a16:creationId xmlns:a16="http://schemas.microsoft.com/office/drawing/2014/main" id="{90A2A8B3-363A-979A-9EB0-3EBF3984D844}"/>
              </a:ext>
            </a:extLst>
          </p:cNvPr>
          <p:cNvCxnSpPr>
            <a:cxnSpLocks/>
          </p:cNvCxnSpPr>
          <p:nvPr/>
        </p:nvCxnSpPr>
        <p:spPr>
          <a:xfrm>
            <a:off x="1611825" y="3569945"/>
            <a:ext cx="630264" cy="642496"/>
          </a:xfrm>
          <a:prstGeom prst="straightConnector1">
            <a:avLst/>
          </a:prstGeom>
          <a:ln w="38100">
            <a:solidFill>
              <a:srgbClr val="C0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" name="Straight Arrow Connector 15">
            <a:extLst>
              <a:ext uri="{FF2B5EF4-FFF2-40B4-BE49-F238E27FC236}">
                <a16:creationId xmlns:a16="http://schemas.microsoft.com/office/drawing/2014/main" id="{A9C74EE5-6F0F-E8A5-5F90-95D1A611C3B2}"/>
              </a:ext>
            </a:extLst>
          </p:cNvPr>
          <p:cNvCxnSpPr>
            <a:cxnSpLocks/>
            <a:endCxn id="7" idx="1"/>
          </p:cNvCxnSpPr>
          <p:nvPr/>
        </p:nvCxnSpPr>
        <p:spPr>
          <a:xfrm flipV="1">
            <a:off x="1570495" y="3409325"/>
            <a:ext cx="630264" cy="160620"/>
          </a:xfrm>
          <a:prstGeom prst="straightConnector1">
            <a:avLst/>
          </a:prstGeom>
          <a:ln w="38100">
            <a:solidFill>
              <a:srgbClr val="C0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9" name="Content Placeholder 2">
            <a:extLst>
              <a:ext uri="{FF2B5EF4-FFF2-40B4-BE49-F238E27FC236}">
                <a16:creationId xmlns:a16="http://schemas.microsoft.com/office/drawing/2014/main" id="{4805E34F-98BC-7B0D-3722-4B30DBDC7AAC}"/>
              </a:ext>
            </a:extLst>
          </p:cNvPr>
          <p:cNvSpPr txBox="1">
            <a:spLocks/>
          </p:cNvSpPr>
          <p:nvPr/>
        </p:nvSpPr>
        <p:spPr>
          <a:xfrm>
            <a:off x="628793" y="2018469"/>
            <a:ext cx="6259649" cy="510106"/>
          </a:xfrm>
          <a:prstGeom prst="rect">
            <a:avLst/>
          </a:prstGeom>
        </p:spPr>
        <p:txBody>
          <a:bodyPr vert="horz" lIns="91440" tIns="45720" rIns="91440" bIns="45720" rtlCol="0">
            <a:normAutofit fontScale="85000" lnSpcReduction="10000"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anose="020B0604020202020204" pitchFamily="34" charset="0"/>
              <a:buNone/>
            </a:pPr>
            <a:r>
              <a:rPr lang="en-US" dirty="0">
                <a:solidFill>
                  <a:srgbClr val="000000"/>
                </a:solidFill>
              </a:rPr>
              <a:t>Recurrent network iteratively refines flow map</a:t>
            </a:r>
          </a:p>
        </p:txBody>
      </p:sp>
      <p:cxnSp>
        <p:nvCxnSpPr>
          <p:cNvPr id="5" name="Straight Arrow Connector 4">
            <a:extLst>
              <a:ext uri="{FF2B5EF4-FFF2-40B4-BE49-F238E27FC236}">
                <a16:creationId xmlns:a16="http://schemas.microsoft.com/office/drawing/2014/main" id="{053B02CF-EC0E-6C00-40E1-038A86FF5140}"/>
              </a:ext>
            </a:extLst>
          </p:cNvPr>
          <p:cNvCxnSpPr>
            <a:cxnSpLocks/>
          </p:cNvCxnSpPr>
          <p:nvPr/>
        </p:nvCxnSpPr>
        <p:spPr>
          <a:xfrm flipH="1">
            <a:off x="8606725" y="3565479"/>
            <a:ext cx="1058622" cy="2096568"/>
          </a:xfrm>
          <a:prstGeom prst="straightConnector1">
            <a:avLst/>
          </a:prstGeom>
          <a:ln w="38100">
            <a:solidFill>
              <a:srgbClr val="C0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0" name="Content Placeholder 2">
            <a:extLst>
              <a:ext uri="{FF2B5EF4-FFF2-40B4-BE49-F238E27FC236}">
                <a16:creationId xmlns:a16="http://schemas.microsoft.com/office/drawing/2014/main" id="{6D7C4118-C83B-242F-718F-34E35B3E93C7}"/>
              </a:ext>
            </a:extLst>
          </p:cNvPr>
          <p:cNvSpPr txBox="1">
            <a:spLocks/>
          </p:cNvSpPr>
          <p:nvPr/>
        </p:nvSpPr>
        <p:spPr>
          <a:xfrm>
            <a:off x="7289369" y="2331265"/>
            <a:ext cx="4688572" cy="623216"/>
          </a:xfrm>
          <a:prstGeom prst="rect">
            <a:avLst/>
          </a:prstGeom>
        </p:spPr>
        <p:txBody>
          <a:bodyPr vert="horz" lIns="91440" tIns="45720" rIns="91440" bIns="45720" rtlCol="0">
            <a:normAutofit fontScale="85000" lnSpcReduction="20000"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anose="020B0604020202020204" pitchFamily="34" charset="0"/>
              <a:buNone/>
            </a:pPr>
            <a:r>
              <a:rPr lang="en-US" dirty="0">
                <a:solidFill>
                  <a:srgbClr val="000000"/>
                </a:solidFill>
              </a:rPr>
              <a:t>Convolutional network integrates 1/8 and 1/16 scale flow</a:t>
            </a:r>
          </a:p>
        </p:txBody>
      </p:sp>
      <p:cxnSp>
        <p:nvCxnSpPr>
          <p:cNvPr id="31" name="Straight Arrow Connector 30">
            <a:extLst>
              <a:ext uri="{FF2B5EF4-FFF2-40B4-BE49-F238E27FC236}">
                <a16:creationId xmlns:a16="http://schemas.microsoft.com/office/drawing/2014/main" id="{6AF01B8D-BE8F-3DAE-9D6D-235A4299AE2C}"/>
              </a:ext>
            </a:extLst>
          </p:cNvPr>
          <p:cNvCxnSpPr>
            <a:cxnSpLocks/>
          </p:cNvCxnSpPr>
          <p:nvPr/>
        </p:nvCxnSpPr>
        <p:spPr>
          <a:xfrm>
            <a:off x="5858359" y="4417017"/>
            <a:ext cx="1115878" cy="1203702"/>
          </a:xfrm>
          <a:prstGeom prst="straightConnector1">
            <a:avLst/>
          </a:prstGeom>
          <a:ln w="38100">
            <a:solidFill>
              <a:srgbClr val="C0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82839618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/>
      <p:bldP spid="19" grpId="0"/>
      <p:bldP spid="20" grpId="0"/>
    </p:bldLst>
  </p:timing>
</p:sld>
</file>

<file path=ppt/slides/slide8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7F07AED-C512-B70A-A0A7-9C525F33BEF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2702654-EA03-3654-15F0-476EA7BA270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89301" y="140193"/>
            <a:ext cx="10515600" cy="872004"/>
          </a:xfrm>
        </p:spPr>
        <p:txBody>
          <a:bodyPr>
            <a:normAutofit/>
          </a:bodyPr>
          <a:lstStyle/>
          <a:p>
            <a:r>
              <a:rPr lang="en-US" sz="4000" dirty="0">
                <a:latin typeface="+mn-lt"/>
              </a:rPr>
              <a:t>RAFT, Fully Neural Algorithm  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319794B-EC5A-D13C-5C75-D0368DD6182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89301" y="1012196"/>
            <a:ext cx="10515600" cy="1277199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dirty="0" err="1">
                <a:solidFill>
                  <a:srgbClr val="000000"/>
                </a:solidFill>
                <a:hlinkClick r:id="rId2"/>
              </a:rPr>
              <a:t>NeuFlow</a:t>
            </a:r>
            <a:r>
              <a:rPr lang="en-US" dirty="0">
                <a:solidFill>
                  <a:srgbClr val="000000"/>
                </a:solidFill>
                <a:hlinkClick r:id="rId2"/>
              </a:rPr>
              <a:t> 2, Zhang, et. al., 2024 </a:t>
            </a:r>
            <a:r>
              <a:rPr lang="en-US" dirty="0">
                <a:solidFill>
                  <a:srgbClr val="000000"/>
                </a:solidFill>
              </a:rPr>
              <a:t>is a high-performance optical flow algorithm optimized for edge devices</a:t>
            </a:r>
          </a:p>
        </p:txBody>
      </p:sp>
      <p:sp>
        <p:nvSpPr>
          <p:cNvPr id="6" name="Content Placeholder 2">
            <a:extLst>
              <a:ext uri="{FF2B5EF4-FFF2-40B4-BE49-F238E27FC236}">
                <a16:creationId xmlns:a16="http://schemas.microsoft.com/office/drawing/2014/main" id="{E38CDD32-6A29-8B27-07F8-F06B3485758C}"/>
              </a:ext>
            </a:extLst>
          </p:cNvPr>
          <p:cNvSpPr txBox="1">
            <a:spLocks/>
          </p:cNvSpPr>
          <p:nvPr/>
        </p:nvSpPr>
        <p:spPr>
          <a:xfrm>
            <a:off x="2321819" y="6047818"/>
            <a:ext cx="7726249" cy="631951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anose="020B0604020202020204" pitchFamily="34" charset="0"/>
              <a:buNone/>
            </a:pPr>
            <a:r>
              <a:rPr lang="en-US" dirty="0">
                <a:solidFill>
                  <a:srgbClr val="000000"/>
                </a:solidFill>
              </a:rPr>
              <a:t>Example of </a:t>
            </a:r>
            <a:r>
              <a:rPr lang="en-US" dirty="0" err="1">
                <a:solidFill>
                  <a:srgbClr val="000000"/>
                </a:solidFill>
              </a:rPr>
              <a:t>NeuFlow</a:t>
            </a:r>
            <a:r>
              <a:rPr lang="en-US" dirty="0">
                <a:solidFill>
                  <a:srgbClr val="000000"/>
                </a:solidFill>
              </a:rPr>
              <a:t> 2 state-of-the-art performance</a:t>
            </a: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ACFBC122-530E-D2C9-8C4F-DA408F059DC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4369" y="2052445"/>
            <a:ext cx="11367848" cy="379365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75936948"/>
      </p:ext>
    </p:extLst>
  </p:cSld>
  <p:clrMapOvr>
    <a:masterClrMapping/>
  </p:clrMapOvr>
</p:sld>
</file>

<file path=ppt/slides/slide8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E8018BE-4278-F25F-0DD8-72172AB4CCF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44D2511-72F1-B672-7589-D80B3FF1103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89301" y="140193"/>
            <a:ext cx="10515600" cy="872004"/>
          </a:xfrm>
        </p:spPr>
        <p:txBody>
          <a:bodyPr>
            <a:normAutofit/>
          </a:bodyPr>
          <a:lstStyle/>
          <a:p>
            <a:r>
              <a:rPr lang="en-US" sz="4000" dirty="0">
                <a:latin typeface="+mn-lt"/>
              </a:rPr>
              <a:t>Short Bibliography For Further Reading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59A0AAC-6E86-1BB1-1D3F-2A0FFB95421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89301" y="1124339"/>
            <a:ext cx="10515600" cy="5593468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dirty="0">
                <a:hlinkClick r:id="rId2"/>
              </a:rPr>
              <a:t>RIEF - Real-Time Intermediate Flow Estimation for Video Frame Interpolation, Haung, et. al, 202</a:t>
            </a:r>
            <a:r>
              <a:rPr lang="en-US" dirty="0"/>
              <a:t>0 </a:t>
            </a:r>
          </a:p>
          <a:p>
            <a:pPr marL="0" indent="0">
              <a:buNone/>
            </a:pPr>
            <a:r>
              <a:rPr lang="en-US" i="0" dirty="0" err="1">
                <a:solidFill>
                  <a:srgbClr val="000000"/>
                </a:solidFill>
                <a:effectLst/>
                <a:hlinkClick r:id="rId3"/>
              </a:rPr>
              <a:t>GMFlow</a:t>
            </a:r>
            <a:r>
              <a:rPr lang="en-US" i="0" dirty="0">
                <a:solidFill>
                  <a:srgbClr val="000000"/>
                </a:solidFill>
                <a:effectLst/>
                <a:hlinkClick r:id="rId3"/>
              </a:rPr>
              <a:t>: Learning Optical Flow via Global Matching, Xu, et. al., 2021</a:t>
            </a:r>
            <a:endParaRPr lang="en-US" dirty="0"/>
          </a:p>
          <a:p>
            <a:pPr marL="0" indent="0">
              <a:buNone/>
            </a:pPr>
            <a:r>
              <a:rPr lang="en-US" i="0" dirty="0" err="1">
                <a:solidFill>
                  <a:srgbClr val="000000"/>
                </a:solidFill>
                <a:effectLst/>
                <a:hlinkClick r:id="rId4"/>
              </a:rPr>
              <a:t>FlowFormer</a:t>
            </a:r>
            <a:r>
              <a:rPr lang="en-US" i="0" dirty="0">
                <a:solidFill>
                  <a:srgbClr val="000000"/>
                </a:solidFill>
                <a:effectLst/>
                <a:hlinkClick r:id="rId4"/>
              </a:rPr>
              <a:t>: A Transformer Architecture for Optical Flow, Haung, et. al., 2022</a:t>
            </a:r>
            <a:endParaRPr lang="en-US" dirty="0"/>
          </a:p>
          <a:p>
            <a:pPr marL="0" indent="0">
              <a:buNone/>
            </a:pPr>
            <a:r>
              <a:rPr lang="en-US" dirty="0" err="1">
                <a:hlinkClick r:id="rId5"/>
              </a:rPr>
              <a:t>NeuFlow</a:t>
            </a:r>
            <a:r>
              <a:rPr lang="en-US" dirty="0">
                <a:hlinkClick r:id="rId5"/>
              </a:rPr>
              <a:t>: Real-time, High-accuracy Optical Flow Estimation on Robots Using Edge Devices, Zhang, et. al., 2024</a:t>
            </a:r>
            <a:r>
              <a:rPr lang="en-US" dirty="0"/>
              <a:t>  </a:t>
            </a:r>
          </a:p>
          <a:p>
            <a:pPr marL="0" indent="0">
              <a:buNone/>
            </a:pPr>
            <a:r>
              <a:rPr lang="en-US" i="0" dirty="0" err="1">
                <a:effectLst/>
                <a:hlinkClick r:id="rId6"/>
              </a:rPr>
              <a:t>RPKNet</a:t>
            </a:r>
            <a:r>
              <a:rPr lang="en-US" dirty="0">
                <a:hlinkClick r:id="rId6"/>
              </a:rPr>
              <a:t>: </a:t>
            </a:r>
            <a:r>
              <a:rPr lang="en-US" i="0" dirty="0">
                <a:effectLst/>
                <a:hlinkClick r:id="rId6"/>
              </a:rPr>
              <a:t>Recurrent Partial Kernel Network for Efficient Optical Flow Estimation, Morimitsu, et. al., 2024</a:t>
            </a:r>
            <a:endParaRPr lang="en-US" dirty="0"/>
          </a:p>
          <a:p>
            <a:pPr marL="0" indent="0">
              <a:buNone/>
            </a:pPr>
            <a:r>
              <a:rPr lang="en-US" b="0" i="0" dirty="0">
                <a:solidFill>
                  <a:srgbClr val="1F1F1F"/>
                </a:solidFill>
                <a:effectLst/>
                <a:latin typeface="ElsevierGulliver"/>
                <a:hlinkClick r:id="rId7"/>
              </a:rPr>
              <a:t>Estimating optical flow: A comprehensive review of the state of the art, </a:t>
            </a:r>
            <a:r>
              <a:rPr lang="en-US" b="0" i="0" dirty="0" err="1">
                <a:solidFill>
                  <a:srgbClr val="1F1F1F"/>
                </a:solidFill>
                <a:effectLst/>
                <a:latin typeface="ElsevierGulliver"/>
                <a:hlinkClick r:id="rId7"/>
              </a:rPr>
              <a:t>Alfarano</a:t>
            </a:r>
            <a:r>
              <a:rPr lang="en-US" b="0" i="0" dirty="0">
                <a:solidFill>
                  <a:srgbClr val="1F1F1F"/>
                </a:solidFill>
                <a:effectLst/>
                <a:latin typeface="ElsevierGulliver"/>
                <a:hlinkClick r:id="rId7"/>
              </a:rPr>
              <a:t>, et. al., 2024 </a:t>
            </a:r>
            <a:endParaRPr lang="en-US" dirty="0"/>
          </a:p>
          <a:p>
            <a:pPr marL="0" indent="0">
              <a:buNone/>
            </a:pPr>
            <a:r>
              <a:rPr lang="en-US" dirty="0"/>
              <a:t>Other papers and benchmark datasets in </a:t>
            </a:r>
            <a:r>
              <a:rPr lang="en-US" dirty="0">
                <a:hlinkClick r:id="rId8"/>
              </a:rPr>
              <a:t>Papers with Code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554345699"/>
      </p:ext>
    </p:extLst>
  </p:cSld>
  <p:clrMapOvr>
    <a:masterClrMapping/>
  </p:clrMapOvr>
</p:sld>
</file>

<file path=ppt/slides/slide8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DFB6AB4-96EB-434D-8BFC-6697DE744D7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89301" y="140193"/>
            <a:ext cx="10515600" cy="872004"/>
          </a:xfrm>
        </p:spPr>
        <p:txBody>
          <a:bodyPr>
            <a:normAutofit/>
          </a:bodyPr>
          <a:lstStyle/>
          <a:p>
            <a:r>
              <a:rPr lang="en-US" sz="4000" dirty="0">
                <a:latin typeface="+mn-lt"/>
              </a:rPr>
              <a:t>Summary Optical Flow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DBC6555-A8E7-4F73-8035-156F702D141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89301" y="1124339"/>
            <a:ext cx="10515600" cy="5593468"/>
          </a:xfrm>
        </p:spPr>
        <p:txBody>
          <a:bodyPr>
            <a:normAutofit lnSpcReduction="10000"/>
          </a:bodyPr>
          <a:lstStyle/>
          <a:p>
            <a:pPr marL="0" indent="0">
              <a:buNone/>
            </a:pPr>
            <a:r>
              <a:rPr lang="en-US" dirty="0"/>
              <a:t>Key points:</a:t>
            </a:r>
          </a:p>
          <a:p>
            <a:r>
              <a:rPr lang="en-US" dirty="0"/>
              <a:t>Relationship between optical flow and projective transforms</a:t>
            </a:r>
          </a:p>
          <a:p>
            <a:r>
              <a:rPr lang="en-US" dirty="0"/>
              <a:t>Small movement and consistency assumptions and the iterative Lucas-</a:t>
            </a:r>
            <a:r>
              <a:rPr lang="en-US" dirty="0" err="1"/>
              <a:t>Kanade</a:t>
            </a:r>
            <a:r>
              <a:rPr lang="en-US" dirty="0"/>
              <a:t> (</a:t>
            </a:r>
            <a:r>
              <a:rPr lang="en-US" dirty="0" err="1"/>
              <a:t>iLK</a:t>
            </a:r>
            <a:r>
              <a:rPr lang="en-US" dirty="0"/>
              <a:t>) algorithm</a:t>
            </a:r>
          </a:p>
          <a:p>
            <a:r>
              <a:rPr lang="en-US" dirty="0"/>
              <a:t>Image pyramids for multiple scales</a:t>
            </a:r>
          </a:p>
          <a:p>
            <a:r>
              <a:rPr lang="en-US" dirty="0"/>
              <a:t>Relationship between camera pose and optical flow in 3D</a:t>
            </a:r>
          </a:p>
          <a:p>
            <a:r>
              <a:rPr lang="en-US" dirty="0"/>
              <a:t>Regularization with the</a:t>
            </a:r>
            <a:r>
              <a:rPr lang="en-US" b="1" dirty="0"/>
              <a:t> </a:t>
            </a:r>
            <a:r>
              <a:rPr lang="en-US" dirty="0"/>
              <a:t>Horn-</a:t>
            </a:r>
            <a:r>
              <a:rPr lang="en-US" dirty="0" err="1"/>
              <a:t>Schunck</a:t>
            </a:r>
            <a:r>
              <a:rPr lang="en-US" dirty="0"/>
              <a:t> algorithm </a:t>
            </a:r>
          </a:p>
          <a:p>
            <a:r>
              <a:rPr lang="en-US" dirty="0"/>
              <a:t>Improving performance with the LV-L1 algorithm smoothing constraint  </a:t>
            </a:r>
          </a:p>
          <a:p>
            <a:r>
              <a:rPr lang="en-US" dirty="0"/>
              <a:t>Evaluation of optical flow algorithms </a:t>
            </a:r>
          </a:p>
          <a:p>
            <a:r>
              <a:rPr lang="en-US" dirty="0"/>
              <a:t>Hybrid deep NN and classical algorithms for optical flow to improve performance 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387100155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20249</TotalTime>
  <Words>5277</Words>
  <Application>Microsoft Office PowerPoint</Application>
  <PresentationFormat>Widescreen</PresentationFormat>
  <Paragraphs>872</Paragraphs>
  <Slides>86</Slides>
  <Notes>44</Notes>
  <HiddenSlides>1</HiddenSlides>
  <MMClips>0</MMClips>
  <ScaleCrop>false</ScaleCrop>
  <HeadingPairs>
    <vt:vector size="6" baseType="variant">
      <vt:variant>
        <vt:lpstr>Fonts Used</vt:lpstr>
      </vt:variant>
      <vt:variant>
        <vt:i4>8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86</vt:i4>
      </vt:variant>
    </vt:vector>
  </HeadingPairs>
  <TitlesOfParts>
    <vt:vector size="95" baseType="lpstr">
      <vt:lpstr>Arial</vt:lpstr>
      <vt:lpstr>Calibri</vt:lpstr>
      <vt:lpstr>Calibri Light</vt:lpstr>
      <vt:lpstr>Cambria Math</vt:lpstr>
      <vt:lpstr>Courier New</vt:lpstr>
      <vt:lpstr>ElsevierGulliver</vt:lpstr>
      <vt:lpstr>Script MT Bold</vt:lpstr>
      <vt:lpstr>Times New Roman</vt:lpstr>
      <vt:lpstr>Office Theme</vt:lpstr>
      <vt:lpstr>CSCI E-25 Computer Vision</vt:lpstr>
      <vt:lpstr>Optical Flow</vt:lpstr>
      <vt:lpstr>Optical Flow</vt:lpstr>
      <vt:lpstr>Optical Flow</vt:lpstr>
      <vt:lpstr>Optical Flow</vt:lpstr>
      <vt:lpstr>Optical Flow</vt:lpstr>
      <vt:lpstr>Measuring Optical Flow is a Difficult Task</vt:lpstr>
      <vt:lpstr>Measuring Optical Flow is a Difficult Task</vt:lpstr>
      <vt:lpstr>Measuring Optical Flow is a Difficult Task</vt:lpstr>
      <vt:lpstr>Measuring Optical Flow is a Difficult Task</vt:lpstr>
      <vt:lpstr>Optical Flow vs. Image Stitching</vt:lpstr>
      <vt:lpstr>The Small Motion Consistency Assumptions</vt:lpstr>
      <vt:lpstr>Small Motion and Consistency Assumptions </vt:lpstr>
      <vt:lpstr>Small Motion and Consistency Assumptions </vt:lpstr>
      <vt:lpstr>Small Motion and Consistency Assumptions </vt:lpstr>
      <vt:lpstr>Small Motion and Consistency Assumptions </vt:lpstr>
      <vt:lpstr>The Lucas-Kanade Algorithm</vt:lpstr>
      <vt:lpstr>The Lucas-Kanade Algorithm  </vt:lpstr>
      <vt:lpstr>The Lucas-Kanade Algorithm  </vt:lpstr>
      <vt:lpstr>The Lucas-Kanade Algorithm  </vt:lpstr>
      <vt:lpstr>Finding spatial gradients</vt:lpstr>
      <vt:lpstr>The Lucas-Kanade Algorithm  </vt:lpstr>
      <vt:lpstr>The Lucas-Kanade Algorithm  </vt:lpstr>
      <vt:lpstr>Gradients and the Lucas-Kanade Algorithm</vt:lpstr>
      <vt:lpstr>Pitfalls of Gradient Based Lucas-Kanade Algorithm</vt:lpstr>
      <vt:lpstr>Pitfalls of gradient-based Lucas-Kanade algorithm</vt:lpstr>
      <vt:lpstr>Properties of spatial gradients </vt:lpstr>
      <vt:lpstr>Properties of spatial gradients</vt:lpstr>
      <vt:lpstr>Properties of spatial gradients</vt:lpstr>
      <vt:lpstr>Properties of spatial gradients </vt:lpstr>
      <vt:lpstr>Properties of spatial gradients</vt:lpstr>
      <vt:lpstr>Dealing with Scale</vt:lpstr>
      <vt:lpstr>Problem with scale</vt:lpstr>
      <vt:lpstr>Multi-Scale Feature Identification</vt:lpstr>
      <vt:lpstr>Depth and Motion in 3D</vt:lpstr>
      <vt:lpstr>Depth and Motion In 3D</vt:lpstr>
      <vt:lpstr>Depth and Motion In 3D</vt:lpstr>
      <vt:lpstr>Depth and Motion in 3D</vt:lpstr>
      <vt:lpstr>Depth and Motion In 3D</vt:lpstr>
      <vt:lpstr>Depth and Motion In 3D</vt:lpstr>
      <vt:lpstr>Depth and Motion In 3D</vt:lpstr>
      <vt:lpstr>Depth and Motion In 3D</vt:lpstr>
      <vt:lpstr>Depth and Motion In 3D</vt:lpstr>
      <vt:lpstr>Iterative Lucas-Kanade Algorithm </vt:lpstr>
      <vt:lpstr>The Lucas-Kanade Algorithm  </vt:lpstr>
      <vt:lpstr>The Lucas-Kanade Algorithm  </vt:lpstr>
      <vt:lpstr>Iterative Lucas-Kanade algorithm </vt:lpstr>
      <vt:lpstr>Iterative Lucas-Kanade algorithm </vt:lpstr>
      <vt:lpstr>The Horn-Shunck Algorithm</vt:lpstr>
      <vt:lpstr>The Horn-Schunck Algorithm </vt:lpstr>
      <vt:lpstr>The Horn-Schunck Algorithm </vt:lpstr>
      <vt:lpstr>The Horn-Schunck Algorithm </vt:lpstr>
      <vt:lpstr>The Horn-Schunck Algorithm </vt:lpstr>
      <vt:lpstr>The Horn-Schunck Algorithm </vt:lpstr>
      <vt:lpstr>The Horn-Schunck Algorithm </vt:lpstr>
      <vt:lpstr>The Horn-Schunck Algorithm </vt:lpstr>
      <vt:lpstr>The TL-L1 Algorithm</vt:lpstr>
      <vt:lpstr>The TV-L1 Algorithm </vt:lpstr>
      <vt:lpstr>The TV-L1 Algorithm </vt:lpstr>
      <vt:lpstr>Evaluation of Optical Flow Models</vt:lpstr>
      <vt:lpstr>Evaluation of optical flow models </vt:lpstr>
      <vt:lpstr>Evaluation of optical flow models </vt:lpstr>
      <vt:lpstr>Evaluation of optical flow models </vt:lpstr>
      <vt:lpstr>Evaluation of optical flow models </vt:lpstr>
      <vt:lpstr>Deep Optical Flow Algorithms</vt:lpstr>
      <vt:lpstr>Deep Optical Flow Algorithms</vt:lpstr>
      <vt:lpstr>PWC-Net, an early successful optical flow network</vt:lpstr>
      <vt:lpstr>PWC-Net, an early successful optical flow network</vt:lpstr>
      <vt:lpstr>PWC-Net, an early successful optical flow network</vt:lpstr>
      <vt:lpstr>PWC-Net, an early successful optical flow network</vt:lpstr>
      <vt:lpstr>PWC-Net, an early successful optical flow network</vt:lpstr>
      <vt:lpstr>PWC-Net, an early successful optical flow network</vt:lpstr>
      <vt:lpstr>PWC-Net, an early successful optical flow network</vt:lpstr>
      <vt:lpstr>RAFT, Fully Neural Algorithm </vt:lpstr>
      <vt:lpstr>RAFT, Fully Neural Algorithm  </vt:lpstr>
      <vt:lpstr>RAFT, Fully Neural Algorithm  </vt:lpstr>
      <vt:lpstr>RAFT, Fully Neural Algorithm  </vt:lpstr>
      <vt:lpstr>RAFT, Fully Neural Algorithm  </vt:lpstr>
      <vt:lpstr>NeuFlow 2: High Efficiency Optical Flow</vt:lpstr>
      <vt:lpstr>NeuFlow 2: High Efficiency Optical Flow</vt:lpstr>
      <vt:lpstr>NeuFlow 2: High Efficiency Optical Flow</vt:lpstr>
      <vt:lpstr>RAFT, Fully Neural Algorithm  </vt:lpstr>
      <vt:lpstr>NeuFlow 2: High Efficiency Optical Flow</vt:lpstr>
      <vt:lpstr>RAFT, Fully Neural Algorithm  </vt:lpstr>
      <vt:lpstr>Short Bibliography For Further Reading</vt:lpstr>
      <vt:lpstr>Summary Optical Flow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CSCI E-25 Computer Vision</dc:title>
  <dc:creator>Stephe Elston</dc:creator>
  <cp:lastModifiedBy>Stephen Elston</cp:lastModifiedBy>
  <cp:revision>613</cp:revision>
  <dcterms:created xsi:type="dcterms:W3CDTF">2022-01-24T17:07:03Z</dcterms:created>
  <dcterms:modified xsi:type="dcterms:W3CDTF">2026-04-29T02:10:20Z</dcterms:modified>
</cp:coreProperties>
</file>