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8"/>
  </p:notesMasterIdLst>
  <p:sldIdLst>
    <p:sldId id="375" r:id="rId2"/>
    <p:sldId id="260" r:id="rId3"/>
    <p:sldId id="376" r:id="rId4"/>
    <p:sldId id="379" r:id="rId5"/>
    <p:sldId id="380" r:id="rId6"/>
    <p:sldId id="377" r:id="rId7"/>
    <p:sldId id="378" r:id="rId8"/>
    <p:sldId id="446" r:id="rId9"/>
    <p:sldId id="445" r:id="rId10"/>
    <p:sldId id="528" r:id="rId11"/>
    <p:sldId id="428" r:id="rId12"/>
    <p:sldId id="418" r:id="rId13"/>
    <p:sldId id="381" r:id="rId14"/>
    <p:sldId id="382" r:id="rId15"/>
    <p:sldId id="386" r:id="rId16"/>
    <p:sldId id="383" r:id="rId17"/>
    <p:sldId id="419" r:id="rId18"/>
    <p:sldId id="384" r:id="rId19"/>
    <p:sldId id="387" r:id="rId20"/>
    <p:sldId id="388" r:id="rId21"/>
    <p:sldId id="264" r:id="rId22"/>
    <p:sldId id="393" r:id="rId23"/>
    <p:sldId id="394" r:id="rId24"/>
    <p:sldId id="420" r:id="rId25"/>
    <p:sldId id="396" r:id="rId26"/>
    <p:sldId id="392" r:id="rId27"/>
    <p:sldId id="279" r:id="rId28"/>
    <p:sldId id="280" r:id="rId29"/>
    <p:sldId id="273" r:id="rId30"/>
    <p:sldId id="270" r:id="rId31"/>
    <p:sldId id="281" r:id="rId32"/>
    <p:sldId id="421" r:id="rId33"/>
    <p:sldId id="389" r:id="rId34"/>
    <p:sldId id="298" r:id="rId35"/>
    <p:sldId id="422" r:id="rId36"/>
    <p:sldId id="390" r:id="rId37"/>
    <p:sldId id="532" r:id="rId38"/>
    <p:sldId id="531" r:id="rId39"/>
    <p:sldId id="533" r:id="rId40"/>
    <p:sldId id="534" r:id="rId41"/>
    <p:sldId id="538" r:id="rId42"/>
    <p:sldId id="535" r:id="rId43"/>
    <p:sldId id="537" r:id="rId44"/>
    <p:sldId id="529" r:id="rId45"/>
    <p:sldId id="540" r:id="rId46"/>
    <p:sldId id="539" r:id="rId47"/>
    <p:sldId id="397" r:id="rId48"/>
    <p:sldId id="402" r:id="rId49"/>
    <p:sldId id="423" r:id="rId50"/>
    <p:sldId id="530" r:id="rId51"/>
    <p:sldId id="398" r:id="rId52"/>
    <p:sldId id="399" r:id="rId53"/>
    <p:sldId id="400" r:id="rId54"/>
    <p:sldId id="401" r:id="rId55"/>
    <p:sldId id="403" r:id="rId56"/>
    <p:sldId id="404" r:id="rId57"/>
    <p:sldId id="424" r:id="rId58"/>
    <p:sldId id="405" r:id="rId59"/>
    <p:sldId id="406" r:id="rId60"/>
    <p:sldId id="425" r:id="rId61"/>
    <p:sldId id="429" r:id="rId62"/>
    <p:sldId id="407" r:id="rId63"/>
    <p:sldId id="444" r:id="rId64"/>
    <p:sldId id="408" r:id="rId65"/>
    <p:sldId id="426" r:id="rId66"/>
    <p:sldId id="409" r:id="rId67"/>
    <p:sldId id="410" r:id="rId68"/>
    <p:sldId id="411" r:id="rId69"/>
    <p:sldId id="412" r:id="rId70"/>
    <p:sldId id="413" r:id="rId71"/>
    <p:sldId id="414" r:id="rId72"/>
    <p:sldId id="415" r:id="rId73"/>
    <p:sldId id="416" r:id="rId74"/>
    <p:sldId id="427" r:id="rId75"/>
    <p:sldId id="431" r:id="rId76"/>
    <p:sldId id="432" r:id="rId77"/>
    <p:sldId id="434" r:id="rId78"/>
    <p:sldId id="435" r:id="rId79"/>
    <p:sldId id="436" r:id="rId80"/>
    <p:sldId id="439" r:id="rId81"/>
    <p:sldId id="438" r:id="rId82"/>
    <p:sldId id="441" r:id="rId83"/>
    <p:sldId id="442" r:id="rId84"/>
    <p:sldId id="443" r:id="rId85"/>
    <p:sldId id="430" r:id="rId86"/>
    <p:sldId id="417" r:id="rId8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83" autoAdjust="0"/>
    <p:restoredTop sz="94660"/>
  </p:normalViewPr>
  <p:slideViewPr>
    <p:cSldViewPr snapToGrid="0">
      <p:cViewPr varScale="1">
        <p:scale>
          <a:sx n="73" d="100"/>
          <a:sy n="73" d="100"/>
        </p:scale>
        <p:origin x="557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49550-A506-4F63-B107-47360B8C37A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B730B6-965F-4F9E-8ED1-1D018A85F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23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75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E411E-54D9-AFB1-8132-559B62CD4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0D6939-F7A1-1F80-8E46-E45C7BD1A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F4A0E3-6039-9EBE-CD19-D261F95FC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907DE-5BBE-A9ED-EAC4-20169AD5B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54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8A960-A678-C792-BEA4-ACA220CCC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C3BA1-B87D-B8C1-0E85-4E29ED2AE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AC10E-9A4C-6CC0-662E-E7A010DA8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C19C8-D06A-5D29-C27A-F3329CD543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151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418F4-D5AA-08FC-7327-45EF6D165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8F997-34C5-610F-0139-93B37C3424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0856FE-7188-BD29-3B17-C831AAB34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1F74B-F27E-321E-CEC8-415CED4DC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984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00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209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40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55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16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1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587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337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5474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685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698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BF29F-7850-875E-5531-2800C2CDD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8EC66A-542A-4132-E24C-CAD019292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1F7691-FEB1-A93B-D5DB-56DC440B3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5DB07-9628-99FC-1CE8-C50E0D9B2F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8787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81E3E-DA88-999F-BFFB-E4C9D9455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E7E726-19FF-76C1-822B-20D825916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7A1F1-9C29-8247-112A-266540B27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46A1B-06B0-F3DA-A754-2E196ED4A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483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487D6-DD2B-1E10-4E30-74B5ED175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91441-52A8-7B8E-0F66-6A42F14CF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7181FA-2479-F335-F945-67BACEEBF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0B747-3313-C97F-900F-CA48106B6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6672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1963B-761C-24B1-67CF-E29861C98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6DEA47-3317-41F1-3769-E4019E637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94F34-4AC0-9BF8-3FA8-E8F35BBBE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7355-B75D-B376-DC27-7319420A77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702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5326F-3E0C-44C1-C80C-BFAB96656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D0657-2BF7-FFD4-02DC-3F67DC2FD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778C58-9EDC-B291-8841-9F69EF03C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C9F30-E0F5-B57F-C12E-2FFF20561B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644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586E2-516A-2962-6D04-F3FBF8E47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9A6713-5092-9584-B05B-E522C8A10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F7F03A-ECBC-3045-B83A-308283B1F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0DFDF-E8E2-D11D-642B-261035E07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9860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AC342-6F28-8C3F-FE88-64805D146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6B1756-4C3F-5144-F332-F7442E32D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6DEF7-BD47-2706-FE6E-89EB03D93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07DBA-3398-A61D-23A6-3948B264EE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397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22E56-AA2A-939C-D977-83D7B9D2B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1C5E8-3839-1AD8-2F78-2CE2D71AC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227E8-407A-25DD-C56F-48B196D7A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9E8B3-3B03-22B7-53A9-209D75E03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368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7B315-1466-71D0-E2CA-7239637BC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971C77-F6D9-0DC0-0B93-4EE4451B3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67301-94E6-3E69-F823-B587A6AC8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79C06-33BC-0F43-90A8-30310A80F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144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409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709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951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8576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428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15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844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444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4552D-959F-6D5F-0E26-0132092E7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5F9374-47A7-199A-9D02-EA3A5328E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5FB487-ECCA-1CD5-E1A1-10B76D783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70791-EC9D-B8D2-6C69-AAF3010AD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020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757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2CDA5-99ED-5054-D172-8FF3D469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F64755-D677-0642-4136-FBF50ED40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667FC-403B-F401-0FF4-6F97A0D87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FB023-4F45-F1FF-580E-6AD43F3320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640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9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1265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043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899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048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915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231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92911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92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D0A5-98B8-47C2-BC21-375887FB1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68318-E12E-4EA0-9BD6-C20460FEB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BE19B-BF66-49E0-8127-A8A836F6B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60B3F-A4A2-44B7-B52D-29D732D6783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5AD8C-142B-4667-A04D-243860D04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43FC3-ACBA-4ECC-B2AB-7E35B9BDE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B68-4B74-4B19-B125-9E4E9F21B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11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7A779-426F-4BD1-B4DA-D03F85BB9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7C017-E4E0-4484-A4A3-384ED1E75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B1444-75EA-4C5A-AB30-547877307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60B3F-A4A2-44B7-B52D-29D732D6783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941A6-F2D5-400F-9ACE-5278A7519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84184-3224-4D4F-A1D2-C3CD0A483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B68-4B74-4B19-B125-9E4E9F21B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9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896CC-0E3B-41AE-A2D7-5BC8367EA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80C98-AD5F-46DA-995C-93BFC6D3D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F21E1-CBBC-45EF-A608-50B8DA983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60B3F-A4A2-44B7-B52D-29D732D6783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651EF-6071-45EC-84D9-B0EB14761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9C2C5-0AE5-41D7-9672-339999691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B68-4B74-4B19-B125-9E4E9F21B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29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DA71B-375F-4A01-9570-60D0AB17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7F3DB-AC30-45B9-ACD4-8B7EC99F8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FA436-877F-49B1-A60D-1502D5908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02763-8A67-4D69-B932-8703878F6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60B3F-A4A2-44B7-B52D-29D732D6783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D13C1-1142-453A-8A48-ACC5A899C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98DB0-3982-4EB2-AE49-E1A11192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B68-4B74-4B19-B125-9E4E9F21B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09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74354-6C71-40E2-9676-51DB6ACE6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238A5-B132-4563-8834-6F0750076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390698-229D-4E27-9E2A-05DD4E09B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DD06D4-F105-4557-A8E6-7372AAFF9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70F30C-8156-4EA4-97F9-EF3318603D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D5F8E-29DC-48CE-880D-BE8D7465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60B3F-A4A2-44B7-B52D-29D732D6783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6EFE6E-843A-4509-976A-2D2D2C3DD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FC145-B7F1-4B26-893C-186436E3F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B68-4B74-4B19-B125-9E4E9F21B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90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46EF6-141B-403D-8833-6C017FC64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888223-F102-4D6C-9F68-63C092069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60B3F-A4A2-44B7-B52D-29D732D6783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44B086-B464-4BC1-A7A1-989FB96A4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7EB0B-1845-4365-9B1D-9B817F80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B68-4B74-4B19-B125-9E4E9F21B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68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6C126B-E93F-482D-915E-6BBF8E54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60B3F-A4A2-44B7-B52D-29D732D6783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D8C6D5-4910-4EA1-97CA-373BEF958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80A3B-E5A2-489E-BE9C-8C5FAF44D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B68-4B74-4B19-B125-9E4E9F21B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11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3390F-1D05-44CB-8463-DC864FA59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CA9D3-351F-49A8-A8A0-9A5930A37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91CE4-C446-4E44-86BE-0F5ED4553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9FEB5-9700-4CD0-B475-B7FDCA20F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60B3F-A4A2-44B7-B52D-29D732D6783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DB61E-87CC-464E-9EBE-8DF1549B3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971AA-BF46-4371-A867-C122CDD87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B68-4B74-4B19-B125-9E4E9F21B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112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767B2-C600-4563-A1A9-52AEA293C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C0A711-0676-45A9-AD86-F4FA8617F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B09A3-BBD0-4A34-9E5A-DA8CDA9F5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48863-F949-4C9F-8025-273B0A19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60B3F-A4A2-44B7-B52D-29D732D6783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8E425-3124-4016-B06F-5A62C6475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7E2EC-B7EE-4760-8EEC-C47377B42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B68-4B74-4B19-B125-9E4E9F21B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75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56ECA-3810-4F77-B526-C19DD7E09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D47FA-00A6-4F99-90A8-18188326D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9E929-8365-46E0-93E2-36E2E0E05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60B3F-A4A2-44B7-B52D-29D732D6783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020A9-80B5-49B8-886D-96F7B707D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D2D8E-0AA2-4746-B9FD-7678F634D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B68-4B74-4B19-B125-9E4E9F21B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B433B9-A4FC-4262-99CA-3BF17AE53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0D390E-6C51-45F8-B00C-30C0BD946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15926-ACBA-4B9A-A5CA-EEC805E4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60B3F-A4A2-44B7-B52D-29D732D6783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2C466-0A41-4E10-BACE-D671E7C3A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6A03F-DA7B-44FC-A47A-435A87717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B68-4B74-4B19-B125-9E4E9F21B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8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3D503-39F4-40E6-B94D-704565DF8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8FD51-82FD-4DAA-B27C-F5366344F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4FC4D-9D02-4C33-ACAB-163AEBDD5D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E60B3F-A4A2-44B7-B52D-29D732D6783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10C34-DC40-4BA1-83AD-4FAE3716FE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231FE-B217-4970-8FA3-7223B5DCEC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01B68-4B74-4B19-B125-9E4E9F21B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02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hilferriere/tfoptflow" TargetMode="External"/><Relationship Id="rId2" Type="http://schemas.openxmlformats.org/officeDocument/2006/relationships/hyperlink" Target="https://arxiv.org/abs/1709.0237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NUL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NUL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NULL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akeo_Kanad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hyperlink" Target="https://youtu.be/79Ty2Kkivvc?t=221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41.png"/><Relationship Id="rId3" Type="http://schemas.openxmlformats.org/officeDocument/2006/relationships/image" Target="NUL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6.png"/><Relationship Id="rId2" Type="http://schemas.openxmlformats.org/officeDocument/2006/relationships/image" Target="NUL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232.png"/><Relationship Id="rId15" Type="http://schemas.openxmlformats.org/officeDocument/2006/relationships/image" Target="../media/image14.png"/><Relationship Id="rId10" Type="http://schemas.openxmlformats.org/officeDocument/2006/relationships/image" Target="../media/image101.png"/><Relationship Id="rId4" Type="http://schemas.openxmlformats.org/officeDocument/2006/relationships/image" Target="NULL"/><Relationship Id="rId9" Type="http://schemas.openxmlformats.org/officeDocument/2006/relationships/image" Target="../media/image9.png"/><Relationship Id="rId1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9.02371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20.png"/><Relationship Id="rId7" Type="http://schemas.openxmlformats.org/officeDocument/2006/relationships/image" Target="../media/image26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10" Type="http://schemas.openxmlformats.org/officeDocument/2006/relationships/image" Target="../media/image290.png"/><Relationship Id="rId4" Type="http://schemas.openxmlformats.org/officeDocument/2006/relationships/image" Target="../media/image230.png"/><Relationship Id="rId9" Type="http://schemas.openxmlformats.org/officeDocument/2006/relationships/image" Target="../media/image28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60.png"/><Relationship Id="rId7" Type="http://schemas.openxmlformats.org/officeDocument/2006/relationships/image" Target="../media/image3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11" Type="http://schemas.openxmlformats.org/officeDocument/2006/relationships/image" Target="../media/image37.png"/><Relationship Id="rId5" Type="http://schemas.openxmlformats.org/officeDocument/2006/relationships/image" Target="../media/image310.png"/><Relationship Id="rId10" Type="http://schemas.openxmlformats.org/officeDocument/2006/relationships/image" Target="../media/image36.png"/><Relationship Id="rId4" Type="http://schemas.openxmlformats.org/officeDocument/2006/relationships/image" Target="../media/image300.png"/><Relationship Id="rId9" Type="http://schemas.openxmlformats.org/officeDocument/2006/relationships/image" Target="../media/image3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pol.im/pub/art/2013/26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image.org/docs/stable/api/skimage.registration.html#skimage.registration.optical_flow_tvl1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lmb.informatik.uni-freiburg.de/resources/datasets/FlyingChairs.en.html#flyingchairs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mb.informatik.uni-freiburg.de/resources/datasets/SceneFlowDatasets.en.html" TargetMode="External"/><Relationship Id="rId4" Type="http://schemas.openxmlformats.org/officeDocument/2006/relationships/hyperlink" Target="https://lmb.informatik.uni-freiburg.de/resources/datasets/FlyingChairs.en.html#flyingchairs2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9.02371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9.02371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1709.02371" TargetMode="Externa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1709.02371" TargetMode="External"/><Relationship Id="rId4" Type="http://schemas.openxmlformats.org/officeDocument/2006/relationships/image" Target="../media/image4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1709.02371" TargetMode="External"/><Relationship Id="rId4" Type="http://schemas.openxmlformats.org/officeDocument/2006/relationships/image" Target="../media/image4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1709.02371" TargetMode="External"/><Relationship Id="rId4" Type="http://schemas.openxmlformats.org/officeDocument/2006/relationships/image" Target="../media/image4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1709.02371" TargetMode="External"/><Relationship Id="rId4" Type="http://schemas.openxmlformats.org/officeDocument/2006/relationships/image" Target="../media/image4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hilferriere/tfoptflow" TargetMode="External"/><Relationship Id="rId2" Type="http://schemas.openxmlformats.org/officeDocument/2006/relationships/hyperlink" Target="https://arxiv.org/abs/1709.0237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03.12039" TargetMode="Externa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arxiv.org/abs/2003.12039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arxiv.org/abs/2003.12039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s://arxiv.org/abs/2003.12039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https://arxiv.org/abs/2003.12039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hyperlink" Target="https://arxiv.org/abs/2408.10161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8.10161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8.10161" TargetMode="Externa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8.10161" TargetMode="Externa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2408.10161" TargetMode="External"/><Relationship Id="rId4" Type="http://schemas.openxmlformats.org/officeDocument/2006/relationships/image" Target="../media/image59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hyperlink" Target="https://arxiv.org/abs/2408.10161" TargetMode="Externa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hyperlink" Target="https://paperswithcode.com/task/optical-flow-estimation" TargetMode="External"/><Relationship Id="rId3" Type="http://schemas.openxmlformats.org/officeDocument/2006/relationships/hyperlink" Target="https://arxiv.org/abs/2111.13680" TargetMode="External"/><Relationship Id="rId7" Type="http://schemas.openxmlformats.org/officeDocument/2006/relationships/hyperlink" Target="https://www.sciencedirect.com/science/article/pii/S1077314224002418" TargetMode="External"/><Relationship Id="rId2" Type="http://schemas.openxmlformats.org/officeDocument/2006/relationships/hyperlink" Target="https://arxiv.org/abs/2011.0629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js.aaai.org/index.php/AAAI/article/view/28224" TargetMode="External"/><Relationship Id="rId5" Type="http://schemas.openxmlformats.org/officeDocument/2006/relationships/hyperlink" Target="https://arxiv.org/abs/2403.10425" TargetMode="External"/><Relationship Id="rId4" Type="http://schemas.openxmlformats.org/officeDocument/2006/relationships/hyperlink" Target="https://arxiv.org/abs/2203.16194" TargetMode="Externa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955" y="273713"/>
            <a:ext cx="9601200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CSCI E-25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Computer 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7555" y="3946867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093" y="4750441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169F207C-EF37-41D2-8510-622FD323B072}"/>
              </a:ext>
            </a:extLst>
          </p:cNvPr>
          <p:cNvSpPr txBox="1">
            <a:spLocks/>
          </p:cNvSpPr>
          <p:nvPr/>
        </p:nvSpPr>
        <p:spPr>
          <a:xfrm>
            <a:off x="1382693" y="6306671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2022, 2023, 2024, 2025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2026, Stephen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 Elston. All rights reserved.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C37018-A4F9-4B1C-806D-0E7F64A950E8}"/>
              </a:ext>
            </a:extLst>
          </p:cNvPr>
          <p:cNvSpPr txBox="1"/>
          <p:nvPr/>
        </p:nvSpPr>
        <p:spPr>
          <a:xfrm>
            <a:off x="788724" y="2851645"/>
            <a:ext cx="11036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Optical Flow</a:t>
            </a:r>
          </a:p>
        </p:txBody>
      </p:sp>
    </p:spTree>
    <p:extLst>
      <p:ext uri="{BB962C8B-B14F-4D97-AF65-F5344CB8AC3E}">
        <p14:creationId xmlns:p14="http://schemas.microsoft.com/office/powerpoint/2010/main" val="2261068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Optical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55934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Optical flow algorithms track image-to-image motion   </a:t>
            </a:r>
          </a:p>
          <a:p>
            <a:r>
              <a:rPr lang="en-US" dirty="0"/>
              <a:t>Optical flow fields provide </a:t>
            </a:r>
            <a:r>
              <a:rPr lang="en-US" b="1" dirty="0"/>
              <a:t>pixel-by-pixel (dense) motion </a:t>
            </a:r>
            <a:r>
              <a:rPr lang="en-US" dirty="0"/>
              <a:t>from video  </a:t>
            </a:r>
          </a:p>
          <a:p>
            <a:r>
              <a:rPr lang="en-US" dirty="0"/>
              <a:t>Optical flow algorithms have many applications: </a:t>
            </a:r>
          </a:p>
          <a:p>
            <a:pPr lvl="1"/>
            <a:r>
              <a:rPr lang="en-US" dirty="0"/>
              <a:t>Autonomous vehicles</a:t>
            </a:r>
          </a:p>
          <a:p>
            <a:pPr lvl="1"/>
            <a:r>
              <a:rPr lang="en-US" dirty="0"/>
              <a:t>Robotics</a:t>
            </a:r>
          </a:p>
          <a:p>
            <a:pPr lvl="1"/>
            <a:r>
              <a:rPr lang="en-US" dirty="0"/>
              <a:t>Action recognition  </a:t>
            </a:r>
          </a:p>
          <a:p>
            <a:pPr lvl="1"/>
            <a:r>
              <a:rPr lang="en-US" dirty="0"/>
              <a:t>Augmented reality </a:t>
            </a:r>
          </a:p>
          <a:p>
            <a:pPr lvl="1"/>
            <a:r>
              <a:rPr lang="en-US" dirty="0"/>
              <a:t>Compressing and deblurring video </a:t>
            </a:r>
          </a:p>
          <a:p>
            <a:pPr lvl="1"/>
            <a:r>
              <a:rPr lang="en-US" dirty="0"/>
              <a:t>Object tracking</a:t>
            </a:r>
          </a:p>
          <a:p>
            <a:pPr lvl="1"/>
            <a:r>
              <a:rPr lang="en-US" dirty="0"/>
              <a:t>Science – e.g. measuring flow fields</a:t>
            </a:r>
          </a:p>
          <a:p>
            <a:pPr lvl="1"/>
            <a:r>
              <a:rPr lang="en-US" dirty="0"/>
              <a:t>Military sensors</a:t>
            </a:r>
          </a:p>
          <a:p>
            <a:pPr lvl="1"/>
            <a:r>
              <a:rPr lang="en-US" dirty="0"/>
              <a:t>….</a:t>
            </a:r>
          </a:p>
          <a:p>
            <a:r>
              <a:rPr lang="en-US" dirty="0"/>
              <a:t>Like many areas of CV, optical flow is being revolutionized by deep NN algorithms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10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Optical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55934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Optical flow algorithms track pixel-level image-to-image motion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Credit </a:t>
            </a:r>
            <a:r>
              <a:rPr lang="en-US" sz="1800" dirty="0">
                <a:hlinkClick r:id="rId2"/>
              </a:rPr>
              <a:t>Sun, et. al., 2018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hlinkClick r:id="rId3"/>
              </a:rPr>
              <a:t>TensorFlow implementation  </a:t>
            </a:r>
            <a:endParaRPr lang="en-US" sz="1800" b="1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1293D0-BB50-465C-AFA6-10824FD07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937" y="1545515"/>
            <a:ext cx="10036395" cy="441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389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Optical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55934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Pixel-level optical flow field estimation for autonomous vehicles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400" dirty="0"/>
              <a:t>Credit, Kris </a:t>
            </a:r>
            <a:r>
              <a:rPr lang="en-US" sz="1400" dirty="0" err="1"/>
              <a:t>Kitani</a:t>
            </a:r>
            <a:r>
              <a:rPr lang="en-US" sz="1400" dirty="0"/>
              <a:t> - CMU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60B01F-65C4-4A35-9248-B0766560F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797" y="1557696"/>
            <a:ext cx="8822636" cy="470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629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Optical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55934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Optical flow algorithms for mobile robot scene estimation using moving camera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Credit, Kris Kitani - CMU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C9B768-6E61-4E0B-8A01-B89ED6F69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693" y="1626296"/>
            <a:ext cx="7642645" cy="453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297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Optical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55934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Overview of lesson </a:t>
            </a:r>
          </a:p>
          <a:p>
            <a:r>
              <a:rPr lang="en-US" dirty="0"/>
              <a:t>What is the relationship between optical flow and projective transforms?</a:t>
            </a:r>
          </a:p>
          <a:p>
            <a:r>
              <a:rPr lang="en-US" dirty="0"/>
              <a:t>Small movement, consistency assumptions, and the iterative Lucas-Kanade (</a:t>
            </a:r>
            <a:r>
              <a:rPr lang="en-US" dirty="0" err="1"/>
              <a:t>iLK</a:t>
            </a:r>
            <a:r>
              <a:rPr lang="en-US" dirty="0"/>
              <a:t>) algorithm</a:t>
            </a:r>
          </a:p>
          <a:p>
            <a:r>
              <a:rPr lang="en-US" dirty="0"/>
              <a:t>Relationship between depth, camera pose and optical flow</a:t>
            </a:r>
          </a:p>
          <a:p>
            <a:r>
              <a:rPr lang="en-US" dirty="0"/>
              <a:t>Regularization with the</a:t>
            </a:r>
            <a:r>
              <a:rPr lang="en-US" b="1" dirty="0"/>
              <a:t> </a:t>
            </a:r>
            <a:r>
              <a:rPr lang="en-US" dirty="0"/>
              <a:t>Horn-</a:t>
            </a:r>
            <a:r>
              <a:rPr lang="en-US" dirty="0" err="1"/>
              <a:t>Schunck</a:t>
            </a:r>
            <a:r>
              <a:rPr lang="en-US" dirty="0"/>
              <a:t> algorithm </a:t>
            </a:r>
          </a:p>
          <a:p>
            <a:r>
              <a:rPr lang="en-US" dirty="0"/>
              <a:t>Improving performance with the LV-L1 algorithm   </a:t>
            </a:r>
          </a:p>
          <a:p>
            <a:r>
              <a:rPr lang="en-US" dirty="0"/>
              <a:t>Evaluation of optical flow algorithms </a:t>
            </a:r>
          </a:p>
          <a:p>
            <a:r>
              <a:rPr lang="en-US" dirty="0"/>
              <a:t>Deep NN algorithms for optical flow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987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26D457DF-C899-F7D4-5248-F030ADC28D1B}"/>
              </a:ext>
            </a:extLst>
          </p:cNvPr>
          <p:cNvSpPr/>
          <p:nvPr/>
        </p:nvSpPr>
        <p:spPr>
          <a:xfrm>
            <a:off x="8172250" y="4187098"/>
            <a:ext cx="2498651" cy="237937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762BDD1-DA1C-95A9-B2DD-D8D58607BA85}"/>
              </a:ext>
            </a:extLst>
          </p:cNvPr>
          <p:cNvSpPr/>
          <p:nvPr/>
        </p:nvSpPr>
        <p:spPr>
          <a:xfrm>
            <a:off x="8491226" y="4477175"/>
            <a:ext cx="1855381" cy="174446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Measuring Optical Flow is a Difficult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58428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Several factors make optical flow a difficult task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58AC0E-FF4C-EC33-A030-BA965D03DCDD}"/>
              </a:ext>
            </a:extLst>
          </p:cNvPr>
          <p:cNvSpPr txBox="1">
            <a:spLocks/>
          </p:cNvSpPr>
          <p:nvPr/>
        </p:nvSpPr>
        <p:spPr>
          <a:xfrm>
            <a:off x="780557" y="1964858"/>
            <a:ext cx="5522672" cy="4897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/>
              <a:t>Flow cannot be measured in regions of low or no gradient </a:t>
            </a:r>
          </a:p>
          <a:p>
            <a:pPr lvl="1"/>
            <a:r>
              <a:rPr lang="en-US" dirty="0"/>
              <a:t>Example: road surface in front of autonomous vehicle looks uniform</a:t>
            </a:r>
          </a:p>
          <a:p>
            <a:pPr lvl="1"/>
            <a:r>
              <a:rPr lang="en-US" dirty="0"/>
              <a:t>Example: The central pixels uniform area on and image have low contrast differences</a:t>
            </a:r>
          </a:p>
          <a:p>
            <a:pPr lvl="1"/>
            <a:r>
              <a:rPr lang="en-US" dirty="0"/>
              <a:t>Example: Motion is not visible in rotating low contrast disks</a:t>
            </a:r>
          </a:p>
          <a:p>
            <a:pPr lvl="1"/>
            <a:r>
              <a:rPr lang="en-US" dirty="0"/>
              <a:t>Example: Motion is difficult to detect in (semi) transparent objects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8748B4-A971-5CC4-8A94-198DB87C1FC7}"/>
              </a:ext>
            </a:extLst>
          </p:cNvPr>
          <p:cNvSpPr/>
          <p:nvPr/>
        </p:nvSpPr>
        <p:spPr>
          <a:xfrm>
            <a:off x="7774527" y="1642730"/>
            <a:ext cx="3391118" cy="2303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06F8AE5-05F1-B543-6896-B3352231002A}"/>
              </a:ext>
            </a:extLst>
          </p:cNvPr>
          <p:cNvSpPr/>
          <p:nvPr/>
        </p:nvSpPr>
        <p:spPr>
          <a:xfrm>
            <a:off x="8767673" y="4758938"/>
            <a:ext cx="1297172" cy="11988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9490E746-601F-6D5A-317E-7AAAF7A5719C}"/>
              </a:ext>
            </a:extLst>
          </p:cNvPr>
          <p:cNvSpPr/>
          <p:nvPr/>
        </p:nvSpPr>
        <p:spPr>
          <a:xfrm>
            <a:off x="8923683" y="5041209"/>
            <a:ext cx="430619" cy="584283"/>
          </a:xfrm>
          <a:prstGeom prst="curv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812B52-D7E2-62FC-FE83-14975A17C7A0}"/>
              </a:ext>
            </a:extLst>
          </p:cNvPr>
          <p:cNvSpPr txBox="1"/>
          <p:nvPr/>
        </p:nvSpPr>
        <p:spPr>
          <a:xfrm>
            <a:off x="9101004" y="5040717"/>
            <a:ext cx="630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?</a:t>
            </a:r>
          </a:p>
        </p:txBody>
      </p:sp>
      <p:sp>
        <p:nvSpPr>
          <p:cNvPr id="9" name="Arrow: Curved Left 8">
            <a:extLst>
              <a:ext uri="{FF2B5EF4-FFF2-40B4-BE49-F238E27FC236}">
                <a16:creationId xmlns:a16="http://schemas.microsoft.com/office/drawing/2014/main" id="{2F755861-09E5-6F5B-7E07-81C5FBB85E0E}"/>
              </a:ext>
            </a:extLst>
          </p:cNvPr>
          <p:cNvSpPr/>
          <p:nvPr/>
        </p:nvSpPr>
        <p:spPr>
          <a:xfrm>
            <a:off x="9475513" y="5041209"/>
            <a:ext cx="430619" cy="584283"/>
          </a:xfrm>
          <a:prstGeom prst="curvedLef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Curved Left 11">
            <a:extLst>
              <a:ext uri="{FF2B5EF4-FFF2-40B4-BE49-F238E27FC236}">
                <a16:creationId xmlns:a16="http://schemas.microsoft.com/office/drawing/2014/main" id="{2B3D2824-DCD0-8B65-4002-F8756C476ABD}"/>
              </a:ext>
            </a:extLst>
          </p:cNvPr>
          <p:cNvSpPr/>
          <p:nvPr/>
        </p:nvSpPr>
        <p:spPr>
          <a:xfrm>
            <a:off x="9970746" y="4413381"/>
            <a:ext cx="553182" cy="1982972"/>
          </a:xfrm>
          <a:prstGeom prst="curvedLef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Arrow: Curved Right 13">
            <a:extLst>
              <a:ext uri="{FF2B5EF4-FFF2-40B4-BE49-F238E27FC236}">
                <a16:creationId xmlns:a16="http://schemas.microsoft.com/office/drawing/2014/main" id="{EE183A7F-6821-8478-2002-A90B09277733}"/>
              </a:ext>
            </a:extLst>
          </p:cNvPr>
          <p:cNvSpPr/>
          <p:nvPr/>
        </p:nvSpPr>
        <p:spPr>
          <a:xfrm>
            <a:off x="8313906" y="4413380"/>
            <a:ext cx="609778" cy="1982973"/>
          </a:xfrm>
          <a:prstGeom prst="curv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853759-D634-574A-C5C8-A2A6971051B1}"/>
              </a:ext>
            </a:extLst>
          </p:cNvPr>
          <p:cNvSpPr txBox="1"/>
          <p:nvPr/>
        </p:nvSpPr>
        <p:spPr>
          <a:xfrm>
            <a:off x="9185775" y="6095417"/>
            <a:ext cx="630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4DCAB5-F002-FA43-55D1-77E476A2C0FB}"/>
              </a:ext>
            </a:extLst>
          </p:cNvPr>
          <p:cNvSpPr txBox="1"/>
          <p:nvPr/>
        </p:nvSpPr>
        <p:spPr>
          <a:xfrm>
            <a:off x="9170601" y="4060444"/>
            <a:ext cx="630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295508-E215-D78A-4C79-F5A405D955C2}"/>
              </a:ext>
            </a:extLst>
          </p:cNvPr>
          <p:cNvSpPr txBox="1"/>
          <p:nvPr/>
        </p:nvSpPr>
        <p:spPr>
          <a:xfrm>
            <a:off x="9232782" y="2505468"/>
            <a:ext cx="630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?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AF6A6AE-3B22-56AA-87D8-E0A2E1F07564}"/>
              </a:ext>
            </a:extLst>
          </p:cNvPr>
          <p:cNvSpPr/>
          <p:nvPr/>
        </p:nvSpPr>
        <p:spPr>
          <a:xfrm>
            <a:off x="9863292" y="2708888"/>
            <a:ext cx="419789" cy="25376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9F589CEB-3EA8-6E7B-7D3B-B1589434EC5D}"/>
              </a:ext>
            </a:extLst>
          </p:cNvPr>
          <p:cNvSpPr/>
          <p:nvPr/>
        </p:nvSpPr>
        <p:spPr>
          <a:xfrm rot="10800000">
            <a:off x="8877517" y="2664823"/>
            <a:ext cx="393252" cy="25445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FCA3F7D5-CCB1-EBA1-EFF3-35531464D314}"/>
              </a:ext>
            </a:extLst>
          </p:cNvPr>
          <p:cNvSpPr/>
          <p:nvPr/>
        </p:nvSpPr>
        <p:spPr>
          <a:xfrm rot="5400000">
            <a:off x="9382956" y="3119318"/>
            <a:ext cx="369567" cy="2498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57C9E70-8806-B456-13AB-4AE061EBF9DB}"/>
              </a:ext>
            </a:extLst>
          </p:cNvPr>
          <p:cNvSpPr/>
          <p:nvPr/>
        </p:nvSpPr>
        <p:spPr>
          <a:xfrm rot="16200000">
            <a:off x="9399203" y="2270649"/>
            <a:ext cx="337075" cy="24979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A00598-4586-E676-51FC-13717CCA160A}"/>
              </a:ext>
            </a:extLst>
          </p:cNvPr>
          <p:cNvCxnSpPr>
            <a:cxnSpLocks/>
          </p:cNvCxnSpPr>
          <p:nvPr/>
        </p:nvCxnSpPr>
        <p:spPr>
          <a:xfrm flipV="1">
            <a:off x="6173861" y="2962656"/>
            <a:ext cx="1551943" cy="757646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C6D20D9-CEAF-2D40-01F9-29BB44670214}"/>
              </a:ext>
            </a:extLst>
          </p:cNvPr>
          <p:cNvCxnSpPr>
            <a:cxnSpLocks/>
          </p:cNvCxnSpPr>
          <p:nvPr/>
        </p:nvCxnSpPr>
        <p:spPr>
          <a:xfrm>
            <a:off x="5725633" y="4837814"/>
            <a:ext cx="2206583" cy="377456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24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5" grpId="0" animBg="1"/>
      <p:bldP spid="6" grpId="0" animBg="1"/>
      <p:bldP spid="7" grpId="0" animBg="1"/>
      <p:bldP spid="8" grpId="0"/>
      <p:bldP spid="9" grpId="0" animBg="1"/>
      <p:bldP spid="12" grpId="0" animBg="1"/>
      <p:bldP spid="14" grpId="0" animBg="1"/>
      <p:bldP spid="15" grpId="0"/>
      <p:bldP spid="16" grpId="0"/>
      <p:bldP spid="17" grpId="0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8D3FA-3488-BAB4-8D56-7740DB549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44076-0BCF-26BA-122C-7A731E3B9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Measuring Optical Flow is a Difficult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5175-D741-CCC9-D7CA-E62B53B05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58428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Several factors make optical flow a difficult task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710C39-7707-3E87-AA7A-A19434B0D17C}"/>
              </a:ext>
            </a:extLst>
          </p:cNvPr>
          <p:cNvSpPr txBox="1">
            <a:spLocks/>
          </p:cNvSpPr>
          <p:nvPr/>
        </p:nvSpPr>
        <p:spPr>
          <a:xfrm>
            <a:off x="789301" y="1820763"/>
            <a:ext cx="5219613" cy="3597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2"/>
            </a:pPr>
            <a:r>
              <a:rPr lang="en-US" dirty="0"/>
              <a:t>Limits of aperture obscure motion </a:t>
            </a:r>
          </a:p>
          <a:p>
            <a:pPr lvl="1"/>
            <a:r>
              <a:rPr lang="en-US" dirty="0"/>
              <a:t>Two objects in scene</a:t>
            </a:r>
          </a:p>
          <a:p>
            <a:pPr lvl="1"/>
            <a:r>
              <a:rPr lang="en-US" dirty="0"/>
              <a:t>Image plane of camera may not contain entire object</a:t>
            </a:r>
          </a:p>
          <a:p>
            <a:pPr lvl="1"/>
            <a:r>
              <a:rPr lang="en-US" dirty="0"/>
              <a:t>Motion perpendicular to visible edges is apparent</a:t>
            </a:r>
          </a:p>
          <a:p>
            <a:pPr lvl="1"/>
            <a:r>
              <a:rPr lang="en-US" dirty="0"/>
              <a:t>Motion parallel to edges is obscured! </a:t>
            </a:r>
          </a:p>
          <a:p>
            <a:pPr lvl="1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A84581-CB61-0EC9-322B-589F2C502057}"/>
              </a:ext>
            </a:extLst>
          </p:cNvPr>
          <p:cNvSpPr/>
          <p:nvPr/>
        </p:nvSpPr>
        <p:spPr>
          <a:xfrm rot="19246312">
            <a:off x="8674485" y="1351203"/>
            <a:ext cx="445787" cy="56114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2E7982-97AA-F2D0-DD7E-3CDD59619769}"/>
              </a:ext>
            </a:extLst>
          </p:cNvPr>
          <p:cNvSpPr/>
          <p:nvPr/>
        </p:nvSpPr>
        <p:spPr>
          <a:xfrm rot="19246312">
            <a:off x="9889790" y="1297381"/>
            <a:ext cx="390518" cy="51937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EC16C6-92F2-D799-E4E7-CF7418BD5FD1}"/>
              </a:ext>
            </a:extLst>
          </p:cNvPr>
          <p:cNvSpPr txBox="1"/>
          <p:nvPr/>
        </p:nvSpPr>
        <p:spPr>
          <a:xfrm>
            <a:off x="8919122" y="2590528"/>
            <a:ext cx="630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?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4BD4DA3-8BF2-D19D-7359-FA082832EF6F}"/>
              </a:ext>
            </a:extLst>
          </p:cNvPr>
          <p:cNvSpPr/>
          <p:nvPr/>
        </p:nvSpPr>
        <p:spPr>
          <a:xfrm rot="13890328">
            <a:off x="8863181" y="2388043"/>
            <a:ext cx="337075" cy="24979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8DF74D5-0B93-0386-689E-AD4551AFCCD4}"/>
              </a:ext>
            </a:extLst>
          </p:cNvPr>
          <p:cNvSpPr/>
          <p:nvPr/>
        </p:nvSpPr>
        <p:spPr>
          <a:xfrm rot="3198878">
            <a:off x="9318610" y="2984249"/>
            <a:ext cx="337075" cy="24979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59E115-B14F-B95B-A210-BB8CC2493920}"/>
              </a:ext>
            </a:extLst>
          </p:cNvPr>
          <p:cNvSpPr txBox="1"/>
          <p:nvPr/>
        </p:nvSpPr>
        <p:spPr>
          <a:xfrm>
            <a:off x="7798187" y="3011323"/>
            <a:ext cx="630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?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534B15C-E1AF-8463-CCCB-071592923697}"/>
              </a:ext>
            </a:extLst>
          </p:cNvPr>
          <p:cNvSpPr/>
          <p:nvPr/>
        </p:nvSpPr>
        <p:spPr>
          <a:xfrm rot="13890328">
            <a:off x="7742246" y="2808838"/>
            <a:ext cx="337075" cy="24979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A42A261-8E4E-DB89-14FC-CFBE717EA1D1}"/>
              </a:ext>
            </a:extLst>
          </p:cNvPr>
          <p:cNvSpPr/>
          <p:nvPr/>
        </p:nvSpPr>
        <p:spPr>
          <a:xfrm rot="3198878">
            <a:off x="8197675" y="3405044"/>
            <a:ext cx="337075" cy="24979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F3AA8B3-ADD2-4DB5-B2D2-4E3D780CBD83}"/>
              </a:ext>
            </a:extLst>
          </p:cNvPr>
          <p:cNvSpPr/>
          <p:nvPr/>
        </p:nvSpPr>
        <p:spPr>
          <a:xfrm rot="8349760">
            <a:off x="8260159" y="4236389"/>
            <a:ext cx="337075" cy="24979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5CA495B-2B5C-2467-FAC7-81E428FB36AB}"/>
              </a:ext>
            </a:extLst>
          </p:cNvPr>
          <p:cNvSpPr/>
          <p:nvPr/>
        </p:nvSpPr>
        <p:spPr>
          <a:xfrm rot="8349760">
            <a:off x="9649092" y="4089539"/>
            <a:ext cx="337075" cy="24979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1998754-9520-866C-28A5-D5F4B702AB53}"/>
              </a:ext>
            </a:extLst>
          </p:cNvPr>
          <p:cNvSpPr/>
          <p:nvPr/>
        </p:nvSpPr>
        <p:spPr>
          <a:xfrm rot="19164491">
            <a:off x="10388625" y="3564868"/>
            <a:ext cx="337075" cy="24979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5918FC9-7EF8-9616-6877-FABCAD9C9E5F}"/>
              </a:ext>
            </a:extLst>
          </p:cNvPr>
          <p:cNvSpPr/>
          <p:nvPr/>
        </p:nvSpPr>
        <p:spPr>
          <a:xfrm rot="19164491">
            <a:off x="9061843" y="3690359"/>
            <a:ext cx="337075" cy="24979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94A878-0EA5-1C33-E94E-AE89B417A4C1}"/>
              </a:ext>
            </a:extLst>
          </p:cNvPr>
          <p:cNvSpPr/>
          <p:nvPr/>
        </p:nvSpPr>
        <p:spPr>
          <a:xfrm>
            <a:off x="7107865" y="2259420"/>
            <a:ext cx="4508205" cy="3115338"/>
          </a:xfrm>
          <a:prstGeom prst="rect">
            <a:avLst/>
          </a:prstGeom>
          <a:solidFill>
            <a:schemeClr val="bg2">
              <a:lumMod val="75000"/>
              <a:alpha val="3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3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  <p:bldP spid="10" grpId="0" animBg="1"/>
      <p:bldP spid="11" grpId="0" animBg="1"/>
      <p:bldP spid="12" grpId="0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1363E-33BE-AAF7-1A1E-9D9331640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BD295-D847-B29C-EE4E-CEF43BC0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Measuring Optical Flow is a Difficult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AE4A0-E875-D30B-5968-825763298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55934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Several factors make optical flow a difficult task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Flow occurs at many independent scales  </a:t>
            </a:r>
          </a:p>
          <a:p>
            <a:pPr lvl="1"/>
            <a:r>
              <a:rPr lang="en-US" dirty="0"/>
              <a:t>Example; camera moving in one direction objects moving in other directions</a:t>
            </a:r>
          </a:p>
          <a:p>
            <a:pPr lvl="1"/>
            <a:r>
              <a:rPr lang="en-US" dirty="0"/>
              <a:t>Example; small fast-moving ball and large slow-moving objects in scene</a:t>
            </a:r>
          </a:p>
          <a:p>
            <a:pPr lvl="1"/>
            <a:r>
              <a:rPr lang="en-US" dirty="0"/>
              <a:t>Example; flock of flying birds at different distances from the camera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Occlusions disrupt continuity of flow fields  </a:t>
            </a:r>
          </a:p>
          <a:p>
            <a:pPr lvl="1"/>
            <a:r>
              <a:rPr lang="en-US" dirty="0"/>
              <a:t>Example: fast-moving object goes behind larger slow-moving object</a:t>
            </a:r>
          </a:p>
          <a:p>
            <a:pPr lvl="1"/>
            <a:r>
              <a:rPr lang="en-US" dirty="0"/>
              <a:t>Example: a car emerges from a tunnel</a:t>
            </a:r>
          </a:p>
        </p:txBody>
      </p:sp>
    </p:spTree>
    <p:extLst>
      <p:ext uri="{BB962C8B-B14F-4D97-AF65-F5344CB8AC3E}">
        <p14:creationId xmlns:p14="http://schemas.microsoft.com/office/powerpoint/2010/main" val="1198392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C884C-706E-12A8-7C77-EB4A2C1FC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7996585F-D30C-34FF-12EC-825FFFD48200}"/>
              </a:ext>
            </a:extLst>
          </p:cNvPr>
          <p:cNvSpPr/>
          <p:nvPr/>
        </p:nvSpPr>
        <p:spPr>
          <a:xfrm rot="9954247">
            <a:off x="1757285" y="3005278"/>
            <a:ext cx="3624332" cy="2830316"/>
          </a:xfrm>
          <a:prstGeom prst="parallelogram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944F321-EC99-EDF9-D993-78020F6B4B0D}"/>
              </a:ext>
            </a:extLst>
          </p:cNvPr>
          <p:cNvCxnSpPr>
            <a:cxnSpLocks/>
          </p:cNvCxnSpPr>
          <p:nvPr/>
        </p:nvCxnSpPr>
        <p:spPr>
          <a:xfrm flipV="1">
            <a:off x="3149295" y="4450626"/>
            <a:ext cx="325425" cy="458491"/>
          </a:xfrm>
          <a:prstGeom prst="straightConnector1">
            <a:avLst/>
          </a:prstGeom>
          <a:ln w="539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45105269-ED0C-818C-6D4B-82A2686EB7AC}"/>
              </a:ext>
            </a:extLst>
          </p:cNvPr>
          <p:cNvSpPr/>
          <p:nvPr/>
        </p:nvSpPr>
        <p:spPr>
          <a:xfrm>
            <a:off x="505471" y="4657871"/>
            <a:ext cx="226243" cy="2309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6C00B95-F94D-36DD-09AD-2A2B55F073E3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731714" y="4773350"/>
            <a:ext cx="825126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C69660-71EF-85C8-AE4F-E8505030A2AF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594973" y="3582833"/>
            <a:ext cx="23620" cy="1075038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C829D5A-9860-1580-4DFC-52CFAC38DC3D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698581" y="4127205"/>
            <a:ext cx="367403" cy="56448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018F551-CEBB-1DD8-850E-5BCA68298281}"/>
              </a:ext>
            </a:extLst>
          </p:cNvPr>
          <p:cNvSpPr txBox="1"/>
          <p:nvPr/>
        </p:nvSpPr>
        <p:spPr>
          <a:xfrm>
            <a:off x="290681" y="4887984"/>
            <a:ext cx="567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/>
              <a:t>O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686B6D3-1E72-4D44-E387-79267D6BC30F}"/>
              </a:ext>
            </a:extLst>
          </p:cNvPr>
          <p:cNvCxnSpPr>
            <a:cxnSpLocks/>
            <a:stCxn id="5" idx="2"/>
            <a:endCxn id="71" idx="2"/>
          </p:cNvCxnSpPr>
          <p:nvPr/>
        </p:nvCxnSpPr>
        <p:spPr>
          <a:xfrm>
            <a:off x="505471" y="4773350"/>
            <a:ext cx="6979013" cy="233879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80B66D1-A5C6-5305-2937-A65FBFFBFF23}"/>
                  </a:ext>
                </a:extLst>
              </p:cNvPr>
              <p:cNvSpPr txBox="1"/>
              <p:nvPr/>
            </p:nvSpPr>
            <p:spPr>
              <a:xfrm>
                <a:off x="1283834" y="4657573"/>
                <a:ext cx="4481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800" dirty="0">
                  <a:latin typeface="Script MT Bold" panose="03040602040607080904" pitchFamily="66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80B66D1-A5C6-5305-2937-A65FBFFBF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834" y="4657573"/>
                <a:ext cx="44811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A14907B-AAD6-ED85-E0B4-46528C4A504A}"/>
                  </a:ext>
                </a:extLst>
              </p:cNvPr>
              <p:cNvSpPr txBox="1"/>
              <p:nvPr/>
            </p:nvSpPr>
            <p:spPr>
              <a:xfrm>
                <a:off x="1022140" y="3790231"/>
                <a:ext cx="4481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>
                  <a:latin typeface="Script MT Bold" panose="03040602040607080904" pitchFamily="66" charset="0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A14907B-AAD6-ED85-E0B4-46528C4A5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140" y="3790231"/>
                <a:ext cx="44811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BDEDDF6-CAA0-BFEE-DB20-2ECF28FC566D}"/>
                  </a:ext>
                </a:extLst>
              </p:cNvPr>
              <p:cNvSpPr txBox="1"/>
              <p:nvPr/>
            </p:nvSpPr>
            <p:spPr>
              <a:xfrm>
                <a:off x="368637" y="3088457"/>
                <a:ext cx="4481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>
                  <a:latin typeface="Script MT Bold" panose="03040602040607080904" pitchFamily="66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BDEDDF6-CAA0-BFEE-DB20-2ECF28FC5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37" y="3088457"/>
                <a:ext cx="44811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296D596-5D90-6930-D7E8-77B53303558E}"/>
                  </a:ext>
                </a:extLst>
              </p:cNvPr>
              <p:cNvSpPr txBox="1"/>
              <p:nvPr/>
            </p:nvSpPr>
            <p:spPr>
              <a:xfrm rot="20732708">
                <a:off x="2024085" y="2518594"/>
                <a:ext cx="2719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Image plane,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296D596-5D90-6930-D7E8-77B533035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732708">
                <a:off x="2024085" y="2518594"/>
                <a:ext cx="2719859" cy="461665"/>
              </a:xfrm>
              <a:prstGeom prst="rect">
                <a:avLst/>
              </a:prstGeom>
              <a:blipFill>
                <a:blip r:embed="rId5"/>
                <a:stretch>
                  <a:fillRect l="-3540" b="-13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D0FDB95-AA3A-3397-9A48-F86146CE4679}"/>
              </a:ext>
            </a:extLst>
          </p:cNvPr>
          <p:cNvCxnSpPr>
            <a:cxnSpLocks/>
            <a:stCxn id="5" idx="2"/>
          </p:cNvCxnSpPr>
          <p:nvPr/>
        </p:nvCxnSpPr>
        <p:spPr>
          <a:xfrm flipV="1">
            <a:off x="505471" y="3967900"/>
            <a:ext cx="8506089" cy="80545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3BB2F443-030C-A2FA-3D0C-82255B0E0427}"/>
              </a:ext>
            </a:extLst>
          </p:cNvPr>
          <p:cNvSpPr/>
          <p:nvPr/>
        </p:nvSpPr>
        <p:spPr>
          <a:xfrm>
            <a:off x="3061321" y="4765720"/>
            <a:ext cx="226243" cy="230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9754F637-E535-DFC3-1F1B-CDC05101C796}"/>
              </a:ext>
            </a:extLst>
          </p:cNvPr>
          <p:cNvSpPr/>
          <p:nvPr/>
        </p:nvSpPr>
        <p:spPr>
          <a:xfrm>
            <a:off x="7484484" y="4891750"/>
            <a:ext cx="226243" cy="230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4EAF8C0-26CE-4E86-FAD8-59DC0A6883A9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7466574" y="3990372"/>
            <a:ext cx="1608602" cy="1114603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6002C35D-2152-305D-8E87-908B56AADCF8}"/>
              </a:ext>
            </a:extLst>
          </p:cNvPr>
          <p:cNvSpPr/>
          <p:nvPr/>
        </p:nvSpPr>
        <p:spPr>
          <a:xfrm>
            <a:off x="8929431" y="3861699"/>
            <a:ext cx="226243" cy="230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12AF653-AFE6-F2B0-584C-D139F28270E9}"/>
                  </a:ext>
                </a:extLst>
              </p:cNvPr>
              <p:cNvSpPr txBox="1"/>
              <p:nvPr/>
            </p:nvSpPr>
            <p:spPr>
              <a:xfrm>
                <a:off x="7305098" y="5184771"/>
                <a:ext cx="8112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12AF653-AFE6-F2B0-584C-D139F2827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5098" y="5184771"/>
                <a:ext cx="811257" cy="461665"/>
              </a:xfrm>
              <a:prstGeom prst="rect">
                <a:avLst/>
              </a:prstGeom>
              <a:blipFill>
                <a:blip r:embed="rId6"/>
                <a:stretch>
                  <a:fillRect l="-5263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3CA8C88-1208-04D9-BD47-BA7322BCF849}"/>
                  </a:ext>
                </a:extLst>
              </p:cNvPr>
              <p:cNvSpPr txBox="1"/>
              <p:nvPr/>
            </p:nvSpPr>
            <p:spPr>
              <a:xfrm>
                <a:off x="8795124" y="4120352"/>
                <a:ext cx="8112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3CA8C88-1208-04D9-BD47-BA7322BCF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5124" y="4120352"/>
                <a:ext cx="811257" cy="461665"/>
              </a:xfrm>
              <a:prstGeom prst="rect">
                <a:avLst/>
              </a:prstGeom>
              <a:blipFill>
                <a:blip r:embed="rId7"/>
                <a:stretch>
                  <a:fillRect l="-5263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Oval 58">
            <a:extLst>
              <a:ext uri="{FF2B5EF4-FFF2-40B4-BE49-F238E27FC236}">
                <a16:creationId xmlns:a16="http://schemas.microsoft.com/office/drawing/2014/main" id="{2DAC674E-2D5D-2ADC-987D-39FBF84E1AAF}"/>
              </a:ext>
            </a:extLst>
          </p:cNvPr>
          <p:cNvSpPr/>
          <p:nvPr/>
        </p:nvSpPr>
        <p:spPr>
          <a:xfrm>
            <a:off x="3317281" y="4374147"/>
            <a:ext cx="226243" cy="230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6E9E50F-DD81-2075-BD2A-7BEFE374B67C}"/>
                  </a:ext>
                </a:extLst>
              </p:cNvPr>
              <p:cNvSpPr txBox="1"/>
              <p:nvPr/>
            </p:nvSpPr>
            <p:spPr>
              <a:xfrm>
                <a:off x="3149295" y="4824884"/>
                <a:ext cx="6273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6E9E50F-DD81-2075-BD2A-7BEFE374B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295" y="4824884"/>
                <a:ext cx="627331" cy="461665"/>
              </a:xfrm>
              <a:prstGeom prst="rect">
                <a:avLst/>
              </a:prstGeom>
              <a:blipFill>
                <a:blip r:embed="rId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D0AEAD0-DDDD-D6EF-760E-921E8E8F2590}"/>
                  </a:ext>
                </a:extLst>
              </p:cNvPr>
              <p:cNvSpPr txBox="1"/>
              <p:nvPr/>
            </p:nvSpPr>
            <p:spPr>
              <a:xfrm>
                <a:off x="3523349" y="4375817"/>
                <a:ext cx="6273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D0AEAD0-DDDD-D6EF-760E-921E8E8F2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349" y="4375817"/>
                <a:ext cx="627331" cy="461665"/>
              </a:xfrm>
              <a:prstGeom prst="rect">
                <a:avLst/>
              </a:prstGeom>
              <a:blipFill>
                <a:blip r:embed="rId9"/>
                <a:stretch>
                  <a:fillRect l="-1262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040EA7-5E83-0A1E-AAB4-97D979709303}"/>
                  </a:ext>
                </a:extLst>
              </p:cNvPr>
              <p:cNvSpPr txBox="1"/>
              <p:nvPr/>
            </p:nvSpPr>
            <p:spPr>
              <a:xfrm>
                <a:off x="9044693" y="2523623"/>
                <a:ext cx="3053353" cy="1652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2. Point</a:t>
                </a:r>
                <a:r>
                  <a:rPr lang="en-US" sz="2400" b="1" dirty="0"/>
                  <a:t> </a:t>
                </a:r>
                <a:r>
                  <a:rPr lang="en-US" sz="2400" b="1" i="1" dirty="0"/>
                  <a:t>X</a:t>
                </a:r>
                <a:r>
                  <a:rPr lang="en-US" sz="2400" b="1" dirty="0"/>
                  <a:t> </a:t>
                </a:r>
                <a:r>
                  <a:rPr lang="en-US" sz="2400" dirty="0"/>
                  <a:t>moves in 3-D space for time step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040EA7-5E83-0A1E-AAB4-97D979709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4693" y="2523623"/>
                <a:ext cx="3053353" cy="1652888"/>
              </a:xfrm>
              <a:prstGeom prst="rect">
                <a:avLst/>
              </a:prstGeom>
              <a:blipFill>
                <a:blip r:embed="rId10"/>
                <a:stretch>
                  <a:fillRect l="-3194" t="-2952" r="-4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8D8C7AE4-61C6-111D-C555-70A5164EF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13" y="285063"/>
            <a:ext cx="11517816" cy="749889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Measuring Optical Flow is a Difficult Task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A3849B-2A85-4355-7CEF-BBDCF6EBFCFA}"/>
              </a:ext>
            </a:extLst>
          </p:cNvPr>
          <p:cNvSpPr/>
          <p:nvPr/>
        </p:nvSpPr>
        <p:spPr>
          <a:xfrm>
            <a:off x="7433441" y="4907841"/>
            <a:ext cx="226243" cy="2309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7BC8C90-D704-D22D-5AB6-46FB15934A26}"/>
              </a:ext>
            </a:extLst>
          </p:cNvPr>
          <p:cNvCxnSpPr>
            <a:cxnSpLocks/>
            <a:stCxn id="15" idx="6"/>
          </p:cNvCxnSpPr>
          <p:nvPr/>
        </p:nvCxnSpPr>
        <p:spPr>
          <a:xfrm>
            <a:off x="7659684" y="5023320"/>
            <a:ext cx="825126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F146D0B-D233-61B8-4C09-B8189D053949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7522943" y="3832803"/>
            <a:ext cx="23620" cy="1075038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4FF3FF5-6D9F-4B66-B175-173281F28613}"/>
              </a:ext>
            </a:extLst>
          </p:cNvPr>
          <p:cNvCxnSpPr>
            <a:cxnSpLocks/>
            <a:stCxn id="15" idx="7"/>
          </p:cNvCxnSpPr>
          <p:nvPr/>
        </p:nvCxnSpPr>
        <p:spPr>
          <a:xfrm flipV="1">
            <a:off x="7626551" y="4377175"/>
            <a:ext cx="367403" cy="56448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09EE0F-66D3-F5AB-CC38-63B6105709DE}"/>
                  </a:ext>
                </a:extLst>
              </p:cNvPr>
              <p:cNvSpPr txBox="1"/>
              <p:nvPr/>
            </p:nvSpPr>
            <p:spPr>
              <a:xfrm>
                <a:off x="7950110" y="4040201"/>
                <a:ext cx="4481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800" dirty="0">
                  <a:latin typeface="Script MT Bold" panose="03040602040607080904" pitchFamily="66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09EE0F-66D3-F5AB-CC38-63B610570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110" y="4040201"/>
                <a:ext cx="44811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9CE0D41-805F-AF8F-62DD-9035F7C0E21B}"/>
              </a:ext>
            </a:extLst>
          </p:cNvPr>
          <p:cNvSpPr txBox="1"/>
          <p:nvPr/>
        </p:nvSpPr>
        <p:spPr>
          <a:xfrm>
            <a:off x="7296607" y="3338427"/>
            <a:ext cx="448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Script MT Bold" panose="03040602040607080904" pitchFamily="66" charset="0"/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24D6F53-276D-CED8-23BD-7C9E0BFA6ABA}"/>
                  </a:ext>
                </a:extLst>
              </p:cNvPr>
              <p:cNvSpPr txBox="1"/>
              <p:nvPr/>
            </p:nvSpPr>
            <p:spPr>
              <a:xfrm>
                <a:off x="8484810" y="4773334"/>
                <a:ext cx="4481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2800" dirty="0">
                  <a:latin typeface="Script MT Bold" panose="03040602040607080904" pitchFamily="66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24D6F53-276D-CED8-23BD-7C9E0BFA6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810" y="4773334"/>
                <a:ext cx="448116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F699E69C-35A3-0D33-F9DD-B9CDAFD34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99377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5. 2-D image plane can only capture projection of 3-D motion parallel to image plane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B972BE7-D2AE-5484-FE3E-FEDB572545A1}"/>
                  </a:ext>
                </a:extLst>
              </p:cNvPr>
              <p:cNvSpPr txBox="1"/>
              <p:nvPr/>
            </p:nvSpPr>
            <p:spPr>
              <a:xfrm>
                <a:off x="9194952" y="5187344"/>
                <a:ext cx="2615116" cy="1652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1. Point</a:t>
                </a:r>
                <a:r>
                  <a:rPr lang="en-US" sz="2400" b="1" dirty="0"/>
                  <a:t> </a:t>
                </a:r>
                <a:r>
                  <a:rPr lang="en-US" sz="2400" b="1" i="1" dirty="0"/>
                  <a:t>X</a:t>
                </a:r>
                <a:r>
                  <a:rPr lang="en-US" sz="2400" b="1" dirty="0"/>
                  <a:t> </a:t>
                </a:r>
                <a:r>
                  <a:rPr lang="en-US" sz="2400" dirty="0"/>
                  <a:t>with</a:t>
                </a:r>
                <a:r>
                  <a:rPr lang="en-US" sz="2400" b="1" dirty="0"/>
                  <a:t> velocity vector </a:t>
                </a:r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B972BE7-D2AE-5484-FE3E-FEDB57254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4952" y="5187344"/>
                <a:ext cx="2615116" cy="1652888"/>
              </a:xfrm>
              <a:prstGeom prst="rect">
                <a:avLst/>
              </a:prstGeom>
              <a:blipFill>
                <a:blip r:embed="rId13"/>
                <a:stretch>
                  <a:fillRect l="-3497" t="-2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5E0B333-AC0B-8813-B7EC-BF7E8B8C6FE2}"/>
                  </a:ext>
                </a:extLst>
              </p:cNvPr>
              <p:cNvSpPr txBox="1"/>
              <p:nvPr/>
            </p:nvSpPr>
            <p:spPr>
              <a:xfrm>
                <a:off x="5199904" y="2101679"/>
                <a:ext cx="358364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3. Projection matrix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for points on image plane</a:t>
                </a:r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5E0B333-AC0B-8813-B7EC-BF7E8B8C6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904" y="2101679"/>
                <a:ext cx="3583641" cy="1569660"/>
              </a:xfrm>
              <a:prstGeom prst="rect">
                <a:avLst/>
              </a:prstGeom>
              <a:blipFill>
                <a:blip r:embed="rId14"/>
                <a:stretch>
                  <a:fillRect l="-2551" t="-3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29CBD46-74AF-79EB-753B-BA7448FA9A18}"/>
                  </a:ext>
                </a:extLst>
              </p:cNvPr>
              <p:cNvSpPr txBox="1"/>
              <p:nvPr/>
            </p:nvSpPr>
            <p:spPr>
              <a:xfrm>
                <a:off x="3776626" y="5759554"/>
                <a:ext cx="45259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4</a:t>
                </a:r>
                <a:r>
                  <a:rPr lang="en-US" sz="2400" b="1" dirty="0"/>
                  <a:t>. Projected velocity vector </a:t>
                </a:r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29CBD46-74AF-79EB-753B-BA7448FA9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626" y="5759554"/>
                <a:ext cx="4525934" cy="830997"/>
              </a:xfrm>
              <a:prstGeom prst="rect">
                <a:avLst/>
              </a:prstGeom>
              <a:blipFill>
                <a:blip r:embed="rId15"/>
                <a:stretch>
                  <a:fillRect l="-2156" t="-5882" b="-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57F3DD2-FB22-F352-6476-C755769833A1}"/>
                  </a:ext>
                </a:extLst>
              </p:cNvPr>
              <p:cNvSpPr txBox="1"/>
              <p:nvPr/>
            </p:nvSpPr>
            <p:spPr>
              <a:xfrm>
                <a:off x="2902393" y="4375816"/>
                <a:ext cx="4481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57F3DD2-FB22-F352-6476-C75576983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393" y="4375816"/>
                <a:ext cx="448116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310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24" grpId="0" animBg="1"/>
      <p:bldP spid="25" grpId="0"/>
      <p:bldP spid="26" grpId="0"/>
      <p:bldP spid="59" grpId="0" animBg="1"/>
      <p:bldP spid="66" grpId="0"/>
      <p:bldP spid="68" grpId="0"/>
      <p:bldP spid="6" grpId="0"/>
      <p:bldP spid="15" grpId="0" animBg="1"/>
      <p:bldP spid="22" grpId="0"/>
      <p:bldP spid="23" grpId="0"/>
      <p:bldP spid="30" grpId="0"/>
      <p:bldP spid="39" grpId="0"/>
      <p:bldP spid="44" grpId="0"/>
      <p:bldP spid="45" grpId="0"/>
      <p:bldP spid="4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0CC5C4E-4EB8-65D2-C907-2E2FC7C0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D5AF-AE50-CAEC-7427-8C7B086C4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Optical Flow vs. Image Stitching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7D614-55F1-DA83-2C67-BB311464F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55934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Compare optical flow models to projective transform models</a:t>
            </a:r>
          </a:p>
          <a:p>
            <a:r>
              <a:rPr lang="en-US" dirty="0"/>
              <a:t>Both booth tasks use image matching and warping </a:t>
            </a:r>
          </a:p>
          <a:p>
            <a:r>
              <a:rPr lang="en-US" dirty="0"/>
              <a:t>Parameters for projective transformation models are estimated for large areas</a:t>
            </a:r>
          </a:p>
          <a:p>
            <a:pPr lvl="1"/>
            <a:r>
              <a:rPr lang="en-US" dirty="0"/>
              <a:t>A single transform is applied to the entire image or patches of image   </a:t>
            </a:r>
          </a:p>
          <a:p>
            <a:pPr lvl="1"/>
            <a:r>
              <a:rPr lang="en-US" dirty="0"/>
              <a:t>Cannot localize motion  </a:t>
            </a:r>
          </a:p>
          <a:p>
            <a:r>
              <a:rPr lang="en-US" dirty="0"/>
              <a:t>Parameters for optical flow models are estimated pixel-by-pixel </a:t>
            </a:r>
          </a:p>
          <a:p>
            <a:pPr lvl="1"/>
            <a:r>
              <a:rPr lang="en-US" dirty="0"/>
              <a:t>Is a </a:t>
            </a:r>
            <a:r>
              <a:rPr lang="en-US" b="1" dirty="0"/>
              <a:t>dense learning task  </a:t>
            </a:r>
          </a:p>
          <a:p>
            <a:pPr lvl="1"/>
            <a:r>
              <a:rPr lang="en-US" dirty="0"/>
              <a:t>Warping on a pixel-by-pixel basis   </a:t>
            </a:r>
          </a:p>
          <a:p>
            <a:pPr lvl="1"/>
            <a:r>
              <a:rPr lang="en-US" dirty="0"/>
              <a:t>Localizes motion  </a:t>
            </a:r>
          </a:p>
          <a:p>
            <a:r>
              <a:rPr lang="en-US" dirty="0"/>
              <a:t>Some optical flow algorithms use a projective transform to model global flow</a:t>
            </a:r>
          </a:p>
        </p:txBody>
      </p:sp>
    </p:spTree>
    <p:extLst>
      <p:ext uri="{BB962C8B-B14F-4D97-AF65-F5344CB8AC3E}">
        <p14:creationId xmlns:p14="http://schemas.microsoft.com/office/powerpoint/2010/main" val="3185749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56AD-D906-FEFD-7FD8-7B84DF60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The Small Motion Consistency Assumptions</a:t>
            </a:r>
          </a:p>
        </p:txBody>
      </p:sp>
    </p:spTree>
    <p:extLst>
      <p:ext uri="{BB962C8B-B14F-4D97-AF65-F5344CB8AC3E}">
        <p14:creationId xmlns:p14="http://schemas.microsoft.com/office/powerpoint/2010/main" val="941259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Small Motion and Consistency Assumptions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173833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Assumptions about motion</a:t>
            </a:r>
            <a:r>
              <a:rPr lang="en-US" dirty="0"/>
              <a:t> in video simplify a </a:t>
            </a:r>
            <a:r>
              <a:rPr lang="en-US"/>
              <a:t>flow model </a:t>
            </a:r>
            <a:endParaRPr lang="en-US" b="1" dirty="0"/>
          </a:p>
          <a:p>
            <a:r>
              <a:rPr lang="en-US" dirty="0"/>
              <a:t>Frame to frame </a:t>
            </a:r>
            <a:r>
              <a:rPr lang="en-US" b="1" dirty="0"/>
              <a:t>motion is small</a:t>
            </a:r>
            <a:r>
              <a:rPr lang="en-US" dirty="0"/>
              <a:t>  </a:t>
            </a:r>
          </a:p>
          <a:p>
            <a:r>
              <a:rPr lang="en-US" dirty="0"/>
              <a:t>Frame to frame </a:t>
            </a:r>
            <a:r>
              <a:rPr lang="en-US" b="1" dirty="0"/>
              <a:t>illumination and color are constant</a:t>
            </a:r>
            <a:r>
              <a:rPr lang="en-US" dirty="0"/>
              <a:t>   </a:t>
            </a: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638F6B61-2D07-4611-870D-A65EFF45C248}"/>
              </a:ext>
            </a:extLst>
          </p:cNvPr>
          <p:cNvSpPr/>
          <p:nvPr/>
        </p:nvSpPr>
        <p:spPr>
          <a:xfrm rot="15403545">
            <a:off x="1792747" y="4535473"/>
            <a:ext cx="2116450" cy="1644513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26B3109F-DFB9-43B1-89B6-1D0425C358F5}"/>
              </a:ext>
            </a:extLst>
          </p:cNvPr>
          <p:cNvSpPr/>
          <p:nvPr/>
        </p:nvSpPr>
        <p:spPr>
          <a:xfrm rot="15403545">
            <a:off x="2411081" y="5468967"/>
            <a:ext cx="255506" cy="238068"/>
          </a:xfrm>
          <a:prstGeom prst="parallelogram">
            <a:avLst/>
          </a:prstGeom>
          <a:gradFill>
            <a:gsLst>
              <a:gs pos="0">
                <a:schemeClr val="bg2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334E72DB-7B03-495D-94D6-645998C9A2E9}"/>
              </a:ext>
            </a:extLst>
          </p:cNvPr>
          <p:cNvSpPr/>
          <p:nvPr/>
        </p:nvSpPr>
        <p:spPr>
          <a:xfrm rot="15403545">
            <a:off x="3994506" y="3755094"/>
            <a:ext cx="2116450" cy="1644513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BBD71EBA-A9FB-4389-8546-48779E0D5F7B}"/>
              </a:ext>
            </a:extLst>
          </p:cNvPr>
          <p:cNvSpPr/>
          <p:nvPr/>
        </p:nvSpPr>
        <p:spPr>
          <a:xfrm rot="15403545">
            <a:off x="4815019" y="4495599"/>
            <a:ext cx="255506" cy="238068"/>
          </a:xfrm>
          <a:prstGeom prst="parallelogram">
            <a:avLst/>
          </a:prstGeom>
          <a:gradFill>
            <a:gsLst>
              <a:gs pos="0">
                <a:schemeClr val="bg2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7E2D2584-A6E3-4E7A-856F-C5E1255418F4}"/>
              </a:ext>
            </a:extLst>
          </p:cNvPr>
          <p:cNvSpPr/>
          <p:nvPr/>
        </p:nvSpPr>
        <p:spPr>
          <a:xfrm rot="15403545">
            <a:off x="6191766" y="2929178"/>
            <a:ext cx="2116450" cy="1644513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06ED4CE8-DE40-48BE-BEA2-2638F973EB24}"/>
              </a:ext>
            </a:extLst>
          </p:cNvPr>
          <p:cNvSpPr/>
          <p:nvPr/>
        </p:nvSpPr>
        <p:spPr>
          <a:xfrm rot="15403545">
            <a:off x="7232196" y="3480729"/>
            <a:ext cx="255506" cy="238068"/>
          </a:xfrm>
          <a:prstGeom prst="parallelogram">
            <a:avLst/>
          </a:prstGeom>
          <a:gradFill>
            <a:gsLst>
              <a:gs pos="0">
                <a:schemeClr val="bg2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2CDA76-B27D-446D-A41A-49B2621A592B}"/>
              </a:ext>
            </a:extLst>
          </p:cNvPr>
          <p:cNvSpPr txBox="1"/>
          <p:nvPr/>
        </p:nvSpPr>
        <p:spPr>
          <a:xfrm>
            <a:off x="4942772" y="5436329"/>
            <a:ext cx="767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9892B7-25CE-4B93-B50C-335D790C5FB0}"/>
              </a:ext>
            </a:extLst>
          </p:cNvPr>
          <p:cNvSpPr txBox="1"/>
          <p:nvPr/>
        </p:nvSpPr>
        <p:spPr>
          <a:xfrm>
            <a:off x="2599098" y="6222315"/>
            <a:ext cx="767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DD9AA9-BDDF-41D1-BE10-D769C3BDC78A}"/>
              </a:ext>
            </a:extLst>
          </p:cNvPr>
          <p:cNvSpPr txBox="1"/>
          <p:nvPr/>
        </p:nvSpPr>
        <p:spPr>
          <a:xfrm>
            <a:off x="7121456" y="4586430"/>
            <a:ext cx="767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2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BEA19E-332C-45F3-9EDC-E51FBA99AE3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2654688" y="5560669"/>
            <a:ext cx="406124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9CDD699-09E8-47B8-99D1-B249BB14487B}"/>
              </a:ext>
            </a:extLst>
          </p:cNvPr>
          <p:cNvSpPr txBox="1"/>
          <p:nvPr/>
        </p:nvSpPr>
        <p:spPr>
          <a:xfrm>
            <a:off x="2680801" y="5436328"/>
            <a:ext cx="419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DBD5BA4-F145-48A2-8141-DB5845F31BE1}"/>
              </a:ext>
            </a:extLst>
          </p:cNvPr>
          <p:cNvCxnSpPr>
            <a:cxnSpLocks/>
            <a:stCxn id="5" idx="2"/>
          </p:cNvCxnSpPr>
          <p:nvPr/>
        </p:nvCxnSpPr>
        <p:spPr>
          <a:xfrm flipH="1" flipV="1">
            <a:off x="2511464" y="5150967"/>
            <a:ext cx="4869" cy="34165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C8626E1-0465-4260-84FA-34B44AA45CCB}"/>
              </a:ext>
            </a:extLst>
          </p:cNvPr>
          <p:cNvSpPr txBox="1"/>
          <p:nvPr/>
        </p:nvSpPr>
        <p:spPr>
          <a:xfrm>
            <a:off x="2171332" y="4992647"/>
            <a:ext cx="39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</a:t>
            </a:r>
            <a:endParaRPr lang="en-US" sz="2400" baseline="-250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6B68B25-F72E-4206-B69F-B3C45D13FD96}"/>
              </a:ext>
            </a:extLst>
          </p:cNvPr>
          <p:cNvCxnSpPr>
            <a:cxnSpLocks/>
          </p:cNvCxnSpPr>
          <p:nvPr/>
        </p:nvCxnSpPr>
        <p:spPr>
          <a:xfrm flipV="1">
            <a:off x="4942529" y="4226635"/>
            <a:ext cx="0" cy="30883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C97BD20-1E16-4374-A706-087080D296D5}"/>
              </a:ext>
            </a:extLst>
          </p:cNvPr>
          <p:cNvSpPr txBox="1"/>
          <p:nvPr/>
        </p:nvSpPr>
        <p:spPr>
          <a:xfrm>
            <a:off x="4625371" y="4066101"/>
            <a:ext cx="317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</a:t>
            </a:r>
            <a:endParaRPr lang="en-US" sz="2400" baseline="-250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BCE623A-EEB8-4C08-A677-E60FDCE1B0D4}"/>
              </a:ext>
            </a:extLst>
          </p:cNvPr>
          <p:cNvCxnSpPr>
            <a:cxnSpLocks/>
          </p:cNvCxnSpPr>
          <p:nvPr/>
        </p:nvCxnSpPr>
        <p:spPr>
          <a:xfrm flipV="1">
            <a:off x="7331424" y="3183422"/>
            <a:ext cx="0" cy="30883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3381ABE-0564-4D1D-A4A0-609B7B4C74CC}"/>
              </a:ext>
            </a:extLst>
          </p:cNvPr>
          <p:cNvSpPr txBox="1"/>
          <p:nvPr/>
        </p:nvSpPr>
        <p:spPr>
          <a:xfrm>
            <a:off x="6998970" y="3022888"/>
            <a:ext cx="332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</a:t>
            </a:r>
            <a:endParaRPr lang="en-US" sz="2400" baseline="-250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3D0ED85-4915-4BFD-99CA-269156EBFC51}"/>
              </a:ext>
            </a:extLst>
          </p:cNvPr>
          <p:cNvCxnSpPr>
            <a:cxnSpLocks/>
          </p:cNvCxnSpPr>
          <p:nvPr/>
        </p:nvCxnSpPr>
        <p:spPr>
          <a:xfrm>
            <a:off x="5054101" y="4622506"/>
            <a:ext cx="406124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D95D013-A5C9-4FEA-85FC-5B0AACD8E712}"/>
              </a:ext>
            </a:extLst>
          </p:cNvPr>
          <p:cNvSpPr txBox="1"/>
          <p:nvPr/>
        </p:nvSpPr>
        <p:spPr>
          <a:xfrm>
            <a:off x="5080214" y="4498165"/>
            <a:ext cx="419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</a:t>
            </a:r>
            <a:endParaRPr lang="en-US" sz="2400" baseline="-250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7715EFE-C22C-4175-AB12-285DE341EDDE}"/>
              </a:ext>
            </a:extLst>
          </p:cNvPr>
          <p:cNvCxnSpPr>
            <a:cxnSpLocks/>
          </p:cNvCxnSpPr>
          <p:nvPr/>
        </p:nvCxnSpPr>
        <p:spPr>
          <a:xfrm>
            <a:off x="7479024" y="3603064"/>
            <a:ext cx="406124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C8F0A07-9855-474D-85DF-41172B28D02C}"/>
              </a:ext>
            </a:extLst>
          </p:cNvPr>
          <p:cNvSpPr txBox="1"/>
          <p:nvPr/>
        </p:nvSpPr>
        <p:spPr>
          <a:xfrm>
            <a:off x="7505137" y="3478723"/>
            <a:ext cx="419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</a:t>
            </a:r>
            <a:endParaRPr lang="en-US" sz="2400" baseline="-25000" dirty="0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05B58354-4BD8-41FA-963B-BA3D75F9C147}"/>
              </a:ext>
            </a:extLst>
          </p:cNvPr>
          <p:cNvSpPr/>
          <p:nvPr/>
        </p:nvSpPr>
        <p:spPr>
          <a:xfrm rot="15600942">
            <a:off x="4402495" y="2782533"/>
            <a:ext cx="1044591" cy="4661402"/>
          </a:xfrm>
          <a:prstGeom prst="arc">
            <a:avLst/>
          </a:prstGeom>
          <a:ln w="15875">
            <a:solidFill>
              <a:srgbClr val="C0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AE5BC864-3FCA-4D5B-91CE-506A2B59E373}"/>
              </a:ext>
            </a:extLst>
          </p:cNvPr>
          <p:cNvSpPr/>
          <p:nvPr/>
        </p:nvSpPr>
        <p:spPr>
          <a:xfrm rot="15600942">
            <a:off x="6818692" y="1799728"/>
            <a:ext cx="1044591" cy="4661402"/>
          </a:xfrm>
          <a:prstGeom prst="arc">
            <a:avLst/>
          </a:prstGeom>
          <a:ln w="15875">
            <a:solidFill>
              <a:srgbClr val="C0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796DEE-671F-4328-B138-E1AC31AC3BC7}"/>
              </a:ext>
            </a:extLst>
          </p:cNvPr>
          <p:cNvSpPr txBox="1"/>
          <p:nvPr/>
        </p:nvSpPr>
        <p:spPr>
          <a:xfrm>
            <a:off x="1557873" y="3227907"/>
            <a:ext cx="2440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Track patch from time step to time step</a:t>
            </a:r>
          </a:p>
        </p:txBody>
      </p:sp>
    </p:spTree>
    <p:extLst>
      <p:ext uri="{BB962C8B-B14F-4D97-AF65-F5344CB8AC3E}">
        <p14:creationId xmlns:p14="http://schemas.microsoft.com/office/powerpoint/2010/main" val="3474093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5" grpId="0"/>
      <p:bldP spid="27" grpId="0"/>
      <p:bldP spid="31" grpId="0"/>
      <p:bldP spid="35" grpId="0"/>
      <p:bldP spid="40" grpId="0"/>
      <p:bldP spid="42" grpId="0"/>
      <p:bldP spid="43" grpId="0" animBg="1"/>
      <p:bldP spid="44" grpId="0" animBg="1"/>
      <p:bldP spid="4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Small Motion and Consistency Assumptions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8"/>
                <a:ext cx="7568958" cy="545566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Assumptions about motion in video simplify flow model  </a:t>
                </a:r>
              </a:p>
              <a:p>
                <a:r>
                  <a:rPr lang="en-US" dirty="0"/>
                  <a:t>Velocity in the x and y directions </a:t>
                </a:r>
              </a:p>
              <a:p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Estimate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the </a:t>
                </a:r>
                <a:r>
                  <a:rPr lang="en-US" b="1" dirty="0"/>
                  <a:t>optical flow parameters</a:t>
                </a:r>
              </a:p>
              <a:p>
                <a:r>
                  <a:rPr lang="en-US" dirty="0"/>
                  <a:t>Goal of models is to estimate optical flow field for time sequenced images, e.g. video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8"/>
                <a:ext cx="7568958" cy="5455665"/>
              </a:xfrm>
              <a:blipFill>
                <a:blip r:embed="rId3"/>
                <a:stretch>
                  <a:fillRect l="-1610" t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Parallelogram 15">
            <a:extLst>
              <a:ext uri="{FF2B5EF4-FFF2-40B4-BE49-F238E27FC236}">
                <a16:creationId xmlns:a16="http://schemas.microsoft.com/office/drawing/2014/main" id="{7E2D2584-A6E3-4E7A-856F-C5E1255418F4}"/>
              </a:ext>
            </a:extLst>
          </p:cNvPr>
          <p:cNvSpPr/>
          <p:nvPr/>
        </p:nvSpPr>
        <p:spPr>
          <a:xfrm rot="15403545">
            <a:off x="8833439" y="2797512"/>
            <a:ext cx="2677475" cy="2191879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06ED4CE8-DE40-48BE-BEA2-2638F973EB24}"/>
              </a:ext>
            </a:extLst>
          </p:cNvPr>
          <p:cNvSpPr/>
          <p:nvPr/>
        </p:nvSpPr>
        <p:spPr>
          <a:xfrm rot="15403545">
            <a:off x="9952421" y="3958606"/>
            <a:ext cx="255506" cy="238068"/>
          </a:xfrm>
          <a:prstGeom prst="parallelogram">
            <a:avLst/>
          </a:prstGeom>
          <a:gradFill>
            <a:gsLst>
              <a:gs pos="0">
                <a:schemeClr val="bg2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BCE623A-EEB8-4C08-A677-E60FDCE1B0D4}"/>
              </a:ext>
            </a:extLst>
          </p:cNvPr>
          <p:cNvCxnSpPr>
            <a:cxnSpLocks/>
          </p:cNvCxnSpPr>
          <p:nvPr/>
        </p:nvCxnSpPr>
        <p:spPr>
          <a:xfrm flipH="1" flipV="1">
            <a:off x="10012450" y="3221077"/>
            <a:ext cx="39199" cy="74905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3381ABE-0564-4D1D-A4A0-609B7B4C74CC}"/>
              </a:ext>
            </a:extLst>
          </p:cNvPr>
          <p:cNvSpPr txBox="1"/>
          <p:nvPr/>
        </p:nvSpPr>
        <p:spPr>
          <a:xfrm>
            <a:off x="9662160" y="3351958"/>
            <a:ext cx="418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</a:t>
            </a:r>
            <a:endParaRPr lang="en-US" sz="2400" baseline="-250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7715EFE-C22C-4175-AB12-285DE341EDDE}"/>
              </a:ext>
            </a:extLst>
          </p:cNvPr>
          <p:cNvCxnSpPr>
            <a:cxnSpLocks/>
          </p:cNvCxnSpPr>
          <p:nvPr/>
        </p:nvCxnSpPr>
        <p:spPr>
          <a:xfrm>
            <a:off x="10199249" y="4080941"/>
            <a:ext cx="879235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C8F0A07-9855-474D-85DF-41172B28D02C}"/>
              </a:ext>
            </a:extLst>
          </p:cNvPr>
          <p:cNvSpPr txBox="1"/>
          <p:nvPr/>
        </p:nvSpPr>
        <p:spPr>
          <a:xfrm>
            <a:off x="10386186" y="3998479"/>
            <a:ext cx="419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</a:t>
            </a:r>
            <a:endParaRPr 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291815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35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Small Motion and Consistency Assumptions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8"/>
                <a:ext cx="7568958" cy="545566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Assumptions about motion in video simplify flow model  </a:t>
                </a:r>
              </a:p>
              <a:p>
                <a:r>
                  <a:rPr lang="en-US" dirty="0"/>
                  <a:t>Small time step,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dirty="0"/>
                  <a:t> small motion from frame-to-frame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8"/>
                <a:ext cx="7568958" cy="5455665"/>
              </a:xfrm>
              <a:blipFill>
                <a:blip r:embed="rId3"/>
                <a:stretch>
                  <a:fillRect l="-1610" t="-1788" r="-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arallelogram 9">
            <a:extLst>
              <a:ext uri="{FF2B5EF4-FFF2-40B4-BE49-F238E27FC236}">
                <a16:creationId xmlns:a16="http://schemas.microsoft.com/office/drawing/2014/main" id="{32AEDB7B-02B4-453F-B18E-333704D904E7}"/>
              </a:ext>
            </a:extLst>
          </p:cNvPr>
          <p:cNvSpPr/>
          <p:nvPr/>
        </p:nvSpPr>
        <p:spPr>
          <a:xfrm rot="15403545">
            <a:off x="8252197" y="3837942"/>
            <a:ext cx="2116450" cy="1644513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84646409-0B3D-416B-B5AA-59B693DD4106}"/>
              </a:ext>
            </a:extLst>
          </p:cNvPr>
          <p:cNvSpPr/>
          <p:nvPr/>
        </p:nvSpPr>
        <p:spPr>
          <a:xfrm rot="15403545">
            <a:off x="8870531" y="4771436"/>
            <a:ext cx="255506" cy="238068"/>
          </a:xfrm>
          <a:prstGeom prst="parallelogram">
            <a:avLst/>
          </a:prstGeom>
          <a:gradFill>
            <a:gsLst>
              <a:gs pos="0">
                <a:schemeClr val="bg2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F0C81A2D-9802-4641-B3BB-F49636FA0F99}"/>
              </a:ext>
            </a:extLst>
          </p:cNvPr>
          <p:cNvSpPr/>
          <p:nvPr/>
        </p:nvSpPr>
        <p:spPr>
          <a:xfrm rot="15403545">
            <a:off x="9935808" y="3212887"/>
            <a:ext cx="2116450" cy="1644513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D2632167-5A8E-45E8-AC42-AAD2588D93A6}"/>
              </a:ext>
            </a:extLst>
          </p:cNvPr>
          <p:cNvSpPr/>
          <p:nvPr/>
        </p:nvSpPr>
        <p:spPr>
          <a:xfrm rot="15403545">
            <a:off x="10756321" y="3953392"/>
            <a:ext cx="255506" cy="238068"/>
          </a:xfrm>
          <a:prstGeom prst="parallelogram">
            <a:avLst/>
          </a:prstGeom>
          <a:gradFill>
            <a:gsLst>
              <a:gs pos="0">
                <a:schemeClr val="bg2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257C04-8BAB-4BA4-9A25-5D4FAE471139}"/>
              </a:ext>
            </a:extLst>
          </p:cNvPr>
          <p:cNvSpPr txBox="1"/>
          <p:nvPr/>
        </p:nvSpPr>
        <p:spPr>
          <a:xfrm>
            <a:off x="10884074" y="4894122"/>
            <a:ext cx="767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C4E316-E7FF-4780-A058-BD89B3A65E97}"/>
              </a:ext>
            </a:extLst>
          </p:cNvPr>
          <p:cNvSpPr txBox="1"/>
          <p:nvPr/>
        </p:nvSpPr>
        <p:spPr>
          <a:xfrm>
            <a:off x="9058548" y="5524784"/>
            <a:ext cx="767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0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2EB0175-8203-4A0F-800D-B3141D7332E4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9114138" y="4863138"/>
            <a:ext cx="406124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E2B7F5D-BC44-4FA0-B0FC-F66029BED495}"/>
              </a:ext>
            </a:extLst>
          </p:cNvPr>
          <p:cNvSpPr txBox="1"/>
          <p:nvPr/>
        </p:nvSpPr>
        <p:spPr>
          <a:xfrm>
            <a:off x="9140251" y="4738797"/>
            <a:ext cx="419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</a:t>
            </a:r>
            <a:endParaRPr lang="en-US" sz="2400" baseline="-250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C705CD-A0E9-42FC-BCE6-A2AE9ABB2C14}"/>
              </a:ext>
            </a:extLst>
          </p:cNvPr>
          <p:cNvCxnSpPr>
            <a:cxnSpLocks/>
            <a:stCxn id="11" idx="2"/>
          </p:cNvCxnSpPr>
          <p:nvPr/>
        </p:nvCxnSpPr>
        <p:spPr>
          <a:xfrm flipH="1" flipV="1">
            <a:off x="8970914" y="4453436"/>
            <a:ext cx="4869" cy="34165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5B4931F-7B96-465F-8462-3E70913FDA91}"/>
              </a:ext>
            </a:extLst>
          </p:cNvPr>
          <p:cNvSpPr txBox="1"/>
          <p:nvPr/>
        </p:nvSpPr>
        <p:spPr>
          <a:xfrm>
            <a:off x="8648426" y="4295116"/>
            <a:ext cx="376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</a:t>
            </a:r>
            <a:endParaRPr lang="en-US" sz="2400" baseline="-25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2491B5-BE76-4EBF-8446-890347136973}"/>
              </a:ext>
            </a:extLst>
          </p:cNvPr>
          <p:cNvCxnSpPr>
            <a:cxnSpLocks/>
          </p:cNvCxnSpPr>
          <p:nvPr/>
        </p:nvCxnSpPr>
        <p:spPr>
          <a:xfrm flipV="1">
            <a:off x="10883831" y="3684428"/>
            <a:ext cx="0" cy="30883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758D8B6-B471-48E0-93A9-7897BA6FF8F7}"/>
              </a:ext>
            </a:extLst>
          </p:cNvPr>
          <p:cNvSpPr txBox="1"/>
          <p:nvPr/>
        </p:nvSpPr>
        <p:spPr>
          <a:xfrm>
            <a:off x="10491375" y="3523894"/>
            <a:ext cx="392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</a:t>
            </a:r>
            <a:endParaRPr lang="en-US" sz="2400" baseline="-250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1F94273-C0A8-4822-840F-F02A8CA6A954}"/>
              </a:ext>
            </a:extLst>
          </p:cNvPr>
          <p:cNvCxnSpPr>
            <a:cxnSpLocks/>
          </p:cNvCxnSpPr>
          <p:nvPr/>
        </p:nvCxnSpPr>
        <p:spPr>
          <a:xfrm>
            <a:off x="10995403" y="4080299"/>
            <a:ext cx="406124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4404231-81A9-49BC-9412-D4B074F7F13D}"/>
              </a:ext>
            </a:extLst>
          </p:cNvPr>
          <p:cNvSpPr txBox="1"/>
          <p:nvPr/>
        </p:nvSpPr>
        <p:spPr>
          <a:xfrm>
            <a:off x="11021516" y="3955958"/>
            <a:ext cx="419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</a:t>
            </a:r>
            <a:endParaRPr lang="en-US" sz="2400" baseline="-25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DADA5A-6D11-43CC-9EFB-D11762500D3F}"/>
              </a:ext>
            </a:extLst>
          </p:cNvPr>
          <p:cNvSpPr txBox="1"/>
          <p:nvPr/>
        </p:nvSpPr>
        <p:spPr>
          <a:xfrm>
            <a:off x="8506884" y="2216226"/>
            <a:ext cx="2440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Illumination in patch remains constant</a:t>
            </a:r>
          </a:p>
        </p:txBody>
      </p:sp>
    </p:spTree>
    <p:extLst>
      <p:ext uri="{BB962C8B-B14F-4D97-AF65-F5344CB8AC3E}">
        <p14:creationId xmlns:p14="http://schemas.microsoft.com/office/powerpoint/2010/main" val="2177361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Small Motion and Consistency Assumptions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0865" y="1124338"/>
                <a:ext cx="7458603" cy="49764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Assumptions about motion in video simplify flow model  </a:t>
                </a:r>
              </a:p>
              <a:p>
                <a:r>
                  <a:rPr lang="en-US" dirty="0"/>
                  <a:t>Illumination, </a:t>
                </a:r>
                <a:r>
                  <a:rPr lang="en-US" i="1" dirty="0"/>
                  <a:t>I(</a:t>
                </a:r>
                <a:r>
                  <a:rPr lang="en-US" i="1" dirty="0" err="1"/>
                  <a:t>x,y</a:t>
                </a:r>
                <a:r>
                  <a:rPr lang="en-US" i="1" dirty="0"/>
                  <a:t>)</a:t>
                </a:r>
                <a:r>
                  <a:rPr lang="en-US" dirty="0"/>
                  <a:t>, is constant for a small time step,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sz="1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𝐶𝑜𝑛𝑠𝑡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</a:t>
                </a:r>
                <a:endParaRPr lang="en-US" sz="1500" dirty="0"/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Or,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call this </a:t>
                </a:r>
                <a:r>
                  <a:rPr lang="en-US" b="1" dirty="0"/>
                  <a:t>brightness consistency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0865" y="1124338"/>
                <a:ext cx="7458603" cy="4976425"/>
              </a:xfrm>
              <a:blipFill>
                <a:blip r:embed="rId3"/>
                <a:stretch>
                  <a:fillRect l="-1634" t="-1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arallelogram 3">
            <a:extLst>
              <a:ext uri="{FF2B5EF4-FFF2-40B4-BE49-F238E27FC236}">
                <a16:creationId xmlns:a16="http://schemas.microsoft.com/office/drawing/2014/main" id="{638F6B61-2D07-4611-870D-A65EFF45C248}"/>
              </a:ext>
            </a:extLst>
          </p:cNvPr>
          <p:cNvSpPr/>
          <p:nvPr/>
        </p:nvSpPr>
        <p:spPr>
          <a:xfrm rot="15403545">
            <a:off x="8252197" y="3837942"/>
            <a:ext cx="2116450" cy="1644513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26B3109F-DFB9-43B1-89B6-1D0425C358F5}"/>
              </a:ext>
            </a:extLst>
          </p:cNvPr>
          <p:cNvSpPr/>
          <p:nvPr/>
        </p:nvSpPr>
        <p:spPr>
          <a:xfrm rot="15403545">
            <a:off x="8870531" y="4771436"/>
            <a:ext cx="255506" cy="238068"/>
          </a:xfrm>
          <a:prstGeom prst="parallelogram">
            <a:avLst/>
          </a:prstGeom>
          <a:gradFill>
            <a:gsLst>
              <a:gs pos="0">
                <a:schemeClr val="bg2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334E72DB-7B03-495D-94D6-645998C9A2E9}"/>
              </a:ext>
            </a:extLst>
          </p:cNvPr>
          <p:cNvSpPr/>
          <p:nvPr/>
        </p:nvSpPr>
        <p:spPr>
          <a:xfrm rot="15403545">
            <a:off x="9935808" y="3212887"/>
            <a:ext cx="2116450" cy="1644513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BBD71EBA-A9FB-4389-8546-48779E0D5F7B}"/>
              </a:ext>
            </a:extLst>
          </p:cNvPr>
          <p:cNvSpPr/>
          <p:nvPr/>
        </p:nvSpPr>
        <p:spPr>
          <a:xfrm rot="15403545">
            <a:off x="10756321" y="3953392"/>
            <a:ext cx="255506" cy="238068"/>
          </a:xfrm>
          <a:prstGeom prst="parallelogram">
            <a:avLst/>
          </a:prstGeom>
          <a:gradFill>
            <a:gsLst>
              <a:gs pos="0">
                <a:schemeClr val="bg2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2CDA76-B27D-446D-A41A-49B2621A592B}"/>
              </a:ext>
            </a:extLst>
          </p:cNvPr>
          <p:cNvSpPr txBox="1"/>
          <p:nvPr/>
        </p:nvSpPr>
        <p:spPr>
          <a:xfrm>
            <a:off x="10884074" y="4894122"/>
            <a:ext cx="767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9892B7-25CE-4B93-B50C-335D790C5FB0}"/>
              </a:ext>
            </a:extLst>
          </p:cNvPr>
          <p:cNvSpPr txBox="1"/>
          <p:nvPr/>
        </p:nvSpPr>
        <p:spPr>
          <a:xfrm>
            <a:off x="9058548" y="5524784"/>
            <a:ext cx="767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0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BEA19E-332C-45F3-9EDC-E51FBA99AE3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9114138" y="4863138"/>
            <a:ext cx="406124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9CDD699-09E8-47B8-99D1-B249BB14487B}"/>
              </a:ext>
            </a:extLst>
          </p:cNvPr>
          <p:cNvSpPr txBox="1"/>
          <p:nvPr/>
        </p:nvSpPr>
        <p:spPr>
          <a:xfrm>
            <a:off x="9140251" y="4738797"/>
            <a:ext cx="419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</a:t>
            </a:r>
            <a:endParaRPr lang="en-US" sz="2400" baseline="-250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DBD5BA4-F145-48A2-8141-DB5845F31BE1}"/>
              </a:ext>
            </a:extLst>
          </p:cNvPr>
          <p:cNvCxnSpPr>
            <a:cxnSpLocks/>
            <a:stCxn id="5" idx="2"/>
          </p:cNvCxnSpPr>
          <p:nvPr/>
        </p:nvCxnSpPr>
        <p:spPr>
          <a:xfrm flipH="1" flipV="1">
            <a:off x="8970914" y="4453436"/>
            <a:ext cx="4869" cy="34165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C8626E1-0465-4260-84FA-34B44AA45CCB}"/>
              </a:ext>
            </a:extLst>
          </p:cNvPr>
          <p:cNvSpPr txBox="1"/>
          <p:nvPr/>
        </p:nvSpPr>
        <p:spPr>
          <a:xfrm>
            <a:off x="8648426" y="4295116"/>
            <a:ext cx="376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</a:t>
            </a:r>
            <a:endParaRPr lang="en-US" sz="2400" baseline="-250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6B68B25-F72E-4206-B69F-B3C45D13FD96}"/>
              </a:ext>
            </a:extLst>
          </p:cNvPr>
          <p:cNvCxnSpPr>
            <a:cxnSpLocks/>
          </p:cNvCxnSpPr>
          <p:nvPr/>
        </p:nvCxnSpPr>
        <p:spPr>
          <a:xfrm flipV="1">
            <a:off x="10883831" y="3684428"/>
            <a:ext cx="0" cy="30883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C97BD20-1E16-4374-A706-087080D296D5}"/>
              </a:ext>
            </a:extLst>
          </p:cNvPr>
          <p:cNvSpPr txBox="1"/>
          <p:nvPr/>
        </p:nvSpPr>
        <p:spPr>
          <a:xfrm>
            <a:off x="10491375" y="3523894"/>
            <a:ext cx="392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</a:t>
            </a:r>
            <a:endParaRPr lang="en-US" sz="2400" baseline="-250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3D0ED85-4915-4BFD-99CA-269156EBFC51}"/>
              </a:ext>
            </a:extLst>
          </p:cNvPr>
          <p:cNvCxnSpPr>
            <a:cxnSpLocks/>
          </p:cNvCxnSpPr>
          <p:nvPr/>
        </p:nvCxnSpPr>
        <p:spPr>
          <a:xfrm>
            <a:off x="10995403" y="4080299"/>
            <a:ext cx="406124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D95D013-A5C9-4FEA-85FC-5B0AACD8E712}"/>
              </a:ext>
            </a:extLst>
          </p:cNvPr>
          <p:cNvSpPr txBox="1"/>
          <p:nvPr/>
        </p:nvSpPr>
        <p:spPr>
          <a:xfrm>
            <a:off x="11021516" y="3955958"/>
            <a:ext cx="419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</a:t>
            </a:r>
            <a:endParaRPr lang="en-US" sz="2400" baseline="-25000" dirty="0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05B58354-4BD8-41FA-963B-BA3D75F9C147}"/>
              </a:ext>
            </a:extLst>
          </p:cNvPr>
          <p:cNvSpPr/>
          <p:nvPr/>
        </p:nvSpPr>
        <p:spPr>
          <a:xfrm rot="15600942">
            <a:off x="10408645" y="2727236"/>
            <a:ext cx="891921" cy="3558022"/>
          </a:xfrm>
          <a:prstGeom prst="arc">
            <a:avLst/>
          </a:prstGeom>
          <a:ln w="15875">
            <a:solidFill>
              <a:srgbClr val="C0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796DEE-671F-4328-B138-E1AC31AC3BC7}"/>
              </a:ext>
            </a:extLst>
          </p:cNvPr>
          <p:cNvSpPr txBox="1"/>
          <p:nvPr/>
        </p:nvSpPr>
        <p:spPr>
          <a:xfrm>
            <a:off x="8506884" y="2216226"/>
            <a:ext cx="2440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Illumination in patch remains constant</a:t>
            </a:r>
          </a:p>
        </p:txBody>
      </p:sp>
    </p:spTree>
    <p:extLst>
      <p:ext uri="{BB962C8B-B14F-4D97-AF65-F5344CB8AC3E}">
        <p14:creationId xmlns:p14="http://schemas.microsoft.com/office/powerpoint/2010/main" val="735662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4" grpId="0" animBg="1"/>
      <p:bldP spid="15" grpId="0" animBg="1"/>
      <p:bldP spid="18" grpId="0"/>
      <p:bldP spid="19" grpId="0"/>
      <p:bldP spid="25" grpId="0"/>
      <p:bldP spid="27" grpId="0"/>
      <p:bldP spid="31" grpId="0"/>
      <p:bldP spid="40" grpId="0"/>
      <p:bldP spid="43" grpId="0" animBg="1"/>
      <p:bldP spid="4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56AD-D906-FEFD-7FD8-7B84DF60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The Lucas-</a:t>
            </a:r>
            <a:r>
              <a:rPr lang="en-US" sz="4000" dirty="0" err="1"/>
              <a:t>Kanade</a:t>
            </a:r>
            <a:r>
              <a:rPr lang="en-US" sz="4000" dirty="0"/>
              <a:t> Algorithm</a:t>
            </a:r>
          </a:p>
        </p:txBody>
      </p:sp>
    </p:spTree>
    <p:extLst>
      <p:ext uri="{BB962C8B-B14F-4D97-AF65-F5344CB8AC3E}">
        <p14:creationId xmlns:p14="http://schemas.microsoft.com/office/powerpoint/2010/main" val="3669579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The Lucas-</a:t>
            </a:r>
            <a:r>
              <a:rPr lang="en-US" sz="4000" dirty="0" err="1">
                <a:latin typeface="+mn-lt"/>
              </a:rPr>
              <a:t>Kanade</a:t>
            </a:r>
            <a:r>
              <a:rPr lang="en-US" sz="4000" dirty="0">
                <a:latin typeface="+mn-lt"/>
              </a:rPr>
              <a:t> Algorithm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For small change in position over small time step,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we can write the intensity relationship: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Need this relationship in a </a:t>
                </a:r>
                <a:r>
                  <a:rPr lang="en-US" b="1" dirty="0"/>
                  <a:t>linear form</a:t>
                </a:r>
                <a:r>
                  <a:rPr lang="en-US" dirty="0"/>
                  <a:t> we can work with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b="1" dirty="0"/>
                  <a:t>First order Tylor expansion</a:t>
                </a:r>
                <a:r>
                  <a:rPr lang="en-US" dirty="0"/>
                  <a:t>, about current position 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𝑠𝑚𝑎𝑙𝑙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𝑐h𝑎𝑛𝑔𝑒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𝑝𝑜𝑠𝑖𝑡𝑖𝑜𝑛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Taylor expansion for the intensity relationship: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>
                    <a:solidFill>
                      <a:schemeClr val="accent2">
                        <a:lumMod val="50000"/>
                      </a:schemeClr>
                    </a:solidFill>
                  </a:rPr>
                  <a:t>You can see an entertaining video of </a:t>
                </a:r>
                <a:r>
                  <a:rPr lang="en-US" dirty="0">
                    <a:solidFill>
                      <a:schemeClr val="accent2">
                        <a:lumMod val="50000"/>
                      </a:schemeClr>
                    </a:solidFill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Takeo Kanade </a:t>
                </a:r>
                <a:r>
                  <a:rPr lang="en-US" dirty="0">
                    <a:solidFill>
                      <a:schemeClr val="accent2">
                        <a:lumMod val="50000"/>
                      </a:schemeClr>
                    </a:solidFill>
                  </a:rPr>
                  <a:t>discussing the gestation of this algorithm and the paper that </a:t>
                </a:r>
                <a:r>
                  <a:rPr lang="en-US">
                    <a:solidFill>
                      <a:schemeClr val="accent2">
                        <a:lumMod val="50000"/>
                      </a:schemeClr>
                    </a:solidFill>
                  </a:rPr>
                  <a:t>was almost never completed </a:t>
                </a:r>
                <a:r>
                  <a:rPr lang="en-US" dirty="0">
                    <a:solidFill>
                      <a:schemeClr val="accent2">
                        <a:lumMod val="50000"/>
                      </a:schemeClr>
                    </a:solidFill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here</a:t>
                </a:r>
                <a:endParaRPr lang="en-US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  <a:blipFill>
                <a:blip r:embed="rId5"/>
                <a:stretch>
                  <a:fillRect l="-1159" t="-2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8303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The Lucas-</a:t>
            </a:r>
            <a:r>
              <a:rPr lang="en-US" sz="4000" dirty="0" err="1">
                <a:latin typeface="+mn-lt"/>
              </a:rPr>
              <a:t>Kanade</a:t>
            </a:r>
            <a:r>
              <a:rPr lang="en-US" sz="4000" dirty="0">
                <a:latin typeface="+mn-lt"/>
              </a:rPr>
              <a:t> Algorithm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For small change in position over small time step,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we can write the intensity: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Taylor expansion for the intensity relationship: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Subtracting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terms from both sides: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Finally dividing both sides by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and letting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⟶0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  <a:blipFill>
                <a:blip r:embed="rId3"/>
                <a:stretch>
                  <a:fillRect l="-1159" t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185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The Lucas-</a:t>
            </a:r>
            <a:r>
              <a:rPr lang="en-US" sz="4000" dirty="0" err="1">
                <a:latin typeface="+mn-lt"/>
              </a:rPr>
              <a:t>Kanade</a:t>
            </a:r>
            <a:r>
              <a:rPr lang="en-US" sz="4000" dirty="0">
                <a:latin typeface="+mn-lt"/>
              </a:rPr>
              <a:t> Algorithm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062426"/>
                <a:ext cx="10515600" cy="579557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For small change in position over small time step,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we can write the intensity relationship: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Does this look familiar? – recall the </a:t>
                </a:r>
                <a:r>
                  <a:rPr lang="en-US" b="1" dirty="0"/>
                  <a:t>chain rule of calculus!   </a:t>
                </a:r>
              </a:p>
              <a:p>
                <a:r>
                  <a:rPr lang="en-US" dirty="0"/>
                  <a:t>In matrix-vector notation we can write this relation: 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the </a:t>
                </a:r>
                <a:r>
                  <a:rPr lang="en-US" b="1" dirty="0"/>
                  <a:t>gradient of image intensity, </a:t>
                </a:r>
                <a:r>
                  <a:rPr lang="en-US" dirty="0"/>
                  <a:t>and </a:t>
                </a:r>
                <a:r>
                  <a:rPr lang="en-US" b="1" dirty="0"/>
                  <a:t>velocity</a:t>
                </a:r>
                <a:r>
                  <a:rPr lang="en-US" dirty="0"/>
                  <a:t> vectors: 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𝑑𝐼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𝑑𝑥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𝑑𝐼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𝑑𝑦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𝑑𝑥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𝑑𝑦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062426"/>
                <a:ext cx="10515600" cy="5795573"/>
              </a:xfrm>
              <a:blipFill>
                <a:blip r:embed="rId3"/>
                <a:stretch>
                  <a:fillRect l="-1159" t="-2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D40DF487-AD76-451C-98EF-241F1A757D3E}"/>
              </a:ext>
            </a:extLst>
          </p:cNvPr>
          <p:cNvSpPr/>
          <p:nvPr/>
        </p:nvSpPr>
        <p:spPr>
          <a:xfrm rot="10800000">
            <a:off x="4921419" y="3741905"/>
            <a:ext cx="344467" cy="317281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9FB5D6A6-BD5E-41E4-8884-1EA5CA8363BC}"/>
              </a:ext>
            </a:extLst>
          </p:cNvPr>
          <p:cNvSpPr/>
          <p:nvPr/>
        </p:nvSpPr>
        <p:spPr>
          <a:xfrm rot="10800000">
            <a:off x="3637112" y="5579782"/>
            <a:ext cx="344467" cy="317281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159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Finding spatial gradients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Recall we can find a spatial gradient with a Laplacian convolutional operator </a:t>
                </a:r>
                <a:r>
                  <a:rPr lang="en-US" dirty="0">
                    <a:ea typeface="Cambria Math" panose="02040503050406030204" pitchFamily="18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Simple Laplacian kernel: </a:t>
                </a:r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200" dirty="0"/>
              </a:p>
              <a:p>
                <a:r>
                  <a:rPr lang="en-US" dirty="0"/>
                  <a:t>Laplacian kernel with less directional bias: </a:t>
                </a:r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  <a:blipFill>
                <a:blip r:embed="rId2"/>
                <a:stretch>
                  <a:fillRect l="-1159" t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1174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The Lucas-</a:t>
            </a:r>
            <a:r>
              <a:rPr lang="en-US" sz="4000" dirty="0" err="1">
                <a:latin typeface="+mn-lt"/>
              </a:rPr>
              <a:t>Kanade</a:t>
            </a:r>
            <a:r>
              <a:rPr lang="en-US" sz="4000" dirty="0">
                <a:latin typeface="+mn-lt"/>
              </a:rPr>
              <a:t> Algorithm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need to solve the linearized equations for the optical flow,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There are </a:t>
                </a:r>
                <a:r>
                  <a:rPr lang="en-US" b="1" dirty="0"/>
                  <a:t>2 unknowns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but only </a:t>
                </a:r>
                <a:r>
                  <a:rPr lang="en-US" b="1" dirty="0"/>
                  <a:t>1 equation</a:t>
                </a:r>
                <a:r>
                  <a:rPr lang="en-US" dirty="0"/>
                  <a:t>! </a:t>
                </a:r>
              </a:p>
              <a:p>
                <a:r>
                  <a:rPr lang="en-US" dirty="0"/>
                  <a:t>Can solve by using more cases </a:t>
                </a:r>
              </a:p>
              <a:p>
                <a:pPr lvl="1"/>
                <a:r>
                  <a:rPr lang="en-US" dirty="0"/>
                  <a:t>Use </a:t>
                </a:r>
                <a:r>
                  <a:rPr lang="en-US" i="1" dirty="0"/>
                  <a:t>x</a:t>
                </a:r>
                <a:r>
                  <a:rPr lang="en-US" dirty="0"/>
                  <a:t>, </a:t>
                </a:r>
                <a:r>
                  <a:rPr lang="en-US" i="1" dirty="0"/>
                  <a:t>y</a:t>
                </a:r>
                <a:r>
                  <a:rPr lang="en-US" dirty="0"/>
                  <a:t> locations from say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×5</m:t>
                    </m:r>
                  </m:oMath>
                </a14:m>
                <a:r>
                  <a:rPr lang="en-US" dirty="0"/>
                  <a:t> patch </a:t>
                </a:r>
              </a:p>
              <a:p>
                <a:pPr lvl="1"/>
                <a:r>
                  <a:rPr lang="en-US" dirty="0"/>
                  <a:t>Now 25 equations</a:t>
                </a:r>
              </a:p>
              <a:p>
                <a:pPr lvl="1"/>
                <a:r>
                  <a:rPr lang="en-US" dirty="0"/>
                  <a:t>Find  by </a:t>
                </a:r>
                <a:r>
                  <a:rPr lang="en-US" b="1" dirty="0"/>
                  <a:t>least squares solution</a:t>
                </a:r>
              </a:p>
              <a:p>
                <a:r>
                  <a:rPr lang="en-US" dirty="0"/>
                  <a:t>This approach enforces a </a:t>
                </a:r>
                <a:r>
                  <a:rPr lang="en-US" b="1" dirty="0"/>
                  <a:t>constant motion constraint </a:t>
                </a:r>
                <a:r>
                  <a:rPr lang="en-US" dirty="0"/>
                  <a:t>on the solution</a:t>
                </a:r>
              </a:p>
              <a:p>
                <a:pPr lvl="1"/>
                <a:r>
                  <a:rPr lang="en-US" dirty="0"/>
                  <a:t>We assume all 25 pixels move with the same flow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  <a:blipFill>
                <a:blip r:embed="rId3"/>
                <a:stretch>
                  <a:fillRect l="-1159" t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9539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The Lucas-</a:t>
            </a:r>
            <a:r>
              <a:rPr lang="en-US" sz="4000" dirty="0" err="1">
                <a:latin typeface="+mn-lt"/>
              </a:rPr>
              <a:t>Kanade</a:t>
            </a:r>
            <a:r>
              <a:rPr lang="en-US" sz="4000" dirty="0">
                <a:latin typeface="+mn-lt"/>
              </a:rPr>
              <a:t> Algorithm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need to solve the linearized equations for the optical flow,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Using the more compact notation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for the spatial and temporal derivatives of the image intensity we can write a linear system of 25 equations: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 find </a:t>
                </a:r>
                <a:r>
                  <a:rPr lang="en-US" b="1" dirty="0"/>
                  <a:t>least squares estimates </a:t>
                </a:r>
                <a:r>
                  <a:rPr lang="en-US" dirty="0"/>
                  <a:t>for the optical flow,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, at center of patch,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  <a:blipFill>
                <a:blip r:embed="rId3"/>
                <a:stretch>
                  <a:fillRect l="-1159" t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1491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56AD-D906-FEFD-7FD8-7B84DF60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Gradients and the Lucas-</a:t>
            </a:r>
            <a:r>
              <a:rPr lang="en-US" sz="4000" dirty="0" err="1"/>
              <a:t>Kanade</a:t>
            </a:r>
            <a:r>
              <a:rPr lang="en-US" sz="4000" dirty="0"/>
              <a:t> Algorithm</a:t>
            </a:r>
          </a:p>
        </p:txBody>
      </p:sp>
    </p:spTree>
    <p:extLst>
      <p:ext uri="{BB962C8B-B14F-4D97-AF65-F5344CB8AC3E}">
        <p14:creationId xmlns:p14="http://schemas.microsoft.com/office/powerpoint/2010/main" val="4183932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Pitfalls of Gradient Based Lucas-</a:t>
            </a:r>
            <a:r>
              <a:rPr lang="en-US" sz="4000" dirty="0" err="1">
                <a:latin typeface="+mn-lt"/>
              </a:rPr>
              <a:t>Kanade</a:t>
            </a:r>
            <a:r>
              <a:rPr lang="en-US" sz="4000" dirty="0">
                <a:latin typeface="+mn-lt"/>
              </a:rPr>
              <a:t>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048138"/>
                <a:ext cx="10515600" cy="577176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We need to solve the linearized equations for the optical flow,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can solve the least squares problem for pixels in a patch,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using the normal form: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mr>
                            <m:mr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mr>
                            <m:mr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Solve for flow parameters: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048138"/>
                <a:ext cx="10515600" cy="5771761"/>
              </a:xfrm>
              <a:blipFill>
                <a:blip r:embed="rId3"/>
                <a:stretch>
                  <a:fillRect l="-1159" t="-2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658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Pitfalls of gradient-based Lucas-</a:t>
            </a:r>
            <a:r>
              <a:rPr lang="en-US" sz="4000" dirty="0" err="1">
                <a:latin typeface="+mn-lt"/>
              </a:rPr>
              <a:t>Kanade</a:t>
            </a:r>
            <a:r>
              <a:rPr lang="en-US" sz="4000" dirty="0">
                <a:latin typeface="+mn-lt"/>
              </a:rPr>
              <a:t>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Properties of gradient estimator limit performance of the Lucas-</a:t>
                </a:r>
                <a:r>
                  <a:rPr lang="en-US" dirty="0" err="1"/>
                  <a:t>Kanade</a:t>
                </a:r>
                <a:r>
                  <a:rPr lang="en-US" dirty="0"/>
                  <a:t> algorithm </a:t>
                </a:r>
              </a:p>
              <a:p>
                <a:r>
                  <a:rPr lang="en-US" dirty="0"/>
                  <a:t>Can only track patches if both eigenvalues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</m:oMath>
                </a14:m>
                <a:r>
                  <a:rPr lang="en-US" dirty="0"/>
                  <a:t> covariance are large </a:t>
                </a:r>
              </a:p>
              <a:p>
                <a:pPr lvl="1"/>
                <a:r>
                  <a:rPr lang="en-US" dirty="0"/>
                  <a:t>Otherwise, the problem is </a:t>
                </a:r>
                <a:r>
                  <a:rPr lang="en-US" b="1" dirty="0"/>
                  <a:t>ill-posed</a:t>
                </a:r>
                <a:endParaRPr lang="en-US" dirty="0"/>
              </a:p>
              <a:p>
                <a:pPr lvl="1"/>
                <a:r>
                  <a:rPr lang="en-US" dirty="0"/>
                  <a:t>Inverse covariance,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, may not exist! </a:t>
                </a:r>
              </a:p>
              <a:p>
                <a:r>
                  <a:rPr lang="en-US" dirty="0"/>
                  <a:t>Only one scale from gradient estimation with fixed operator </a:t>
                </a:r>
              </a:p>
              <a:p>
                <a:pPr lvl="1"/>
                <a:r>
                  <a:rPr lang="en-US" dirty="0"/>
                  <a:t>Moving objects can occur at multiple scales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  <a:blipFill>
                <a:blip r:embed="rId2"/>
                <a:stretch>
                  <a:fillRect l="-1159" t="-1743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937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Properties of spatial gradients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085850"/>
                <a:ext cx="10828958" cy="563195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Recall we can understand the properties of the spatial gradient from decompositions of the </a:t>
                </a:r>
                <a:r>
                  <a:rPr lang="en-US" b="1" dirty="0"/>
                  <a:t>Hessian Matrix  </a:t>
                </a:r>
              </a:p>
              <a:p>
                <a:r>
                  <a:rPr lang="en-US" dirty="0"/>
                  <a:t>Define the weighted Hessian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</a:t>
                </a:r>
              </a:p>
              <a:p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𝑥𝑦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By applying a rotation,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, we can diagonalize the Hessian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are the </a:t>
                </a:r>
                <a:r>
                  <a:rPr lang="en-US" b="1" dirty="0"/>
                  <a:t>eigenvalues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085850"/>
                <a:ext cx="10828958" cy="5631957"/>
              </a:xfrm>
              <a:blipFill>
                <a:blip r:embed="rId2"/>
                <a:stretch>
                  <a:fillRect l="-1125" t="-1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524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Properties of spatial gradients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855722"/>
                <a:ext cx="10828958" cy="31430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Recall we can understand the properties of the spatial gradient from decompositions of the </a:t>
                </a:r>
                <a:r>
                  <a:rPr lang="en-US" b="1" dirty="0"/>
                  <a:t>Hessian Matrix  </a:t>
                </a:r>
              </a:p>
              <a:p>
                <a:r>
                  <a:rPr lang="en-US" dirty="0"/>
                  <a:t>By applying a rotation,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, we can diagonalize the Hessian matrix with eigenvalues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</a:t>
                </a:r>
              </a:p>
              <a:p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𝑥𝑦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855722"/>
                <a:ext cx="10828958" cy="3143033"/>
              </a:xfrm>
              <a:blipFill>
                <a:blip r:embed="rId2"/>
                <a:stretch>
                  <a:fillRect l="-1125" t="-3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21">
            <a:extLst>
              <a:ext uri="{FF2B5EF4-FFF2-40B4-BE49-F238E27FC236}">
                <a16:creationId xmlns:a16="http://schemas.microsoft.com/office/drawing/2014/main" id="{1AC8A553-E16B-4063-ADED-720788A38393}"/>
              </a:ext>
            </a:extLst>
          </p:cNvPr>
          <p:cNvGrpSpPr>
            <a:grpSpLocks/>
          </p:cNvGrpSpPr>
          <p:nvPr/>
        </p:nvGrpSpPr>
        <p:grpSpPr bwMode="auto">
          <a:xfrm>
            <a:off x="6510362" y="3839670"/>
            <a:ext cx="5413375" cy="2878137"/>
            <a:chOff x="2254" y="2352"/>
            <a:chExt cx="3410" cy="1813"/>
          </a:xfrm>
        </p:grpSpPr>
        <p:sp>
          <p:nvSpPr>
            <p:cNvPr id="5" name="Text Box 8">
              <a:extLst>
                <a:ext uri="{FF2B5EF4-FFF2-40B4-BE49-F238E27FC236}">
                  <a16:creationId xmlns:a16="http://schemas.microsoft.com/office/drawing/2014/main" id="{3AED73B4-A376-4D20-9D91-898A095B5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2736"/>
              <a:ext cx="100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1600">
                  <a:solidFill>
                    <a:srgbClr val="FF3300"/>
                  </a:solidFill>
                  <a:cs typeface="Times New Roman" panose="02020603050405020304" pitchFamily="18" charset="0"/>
                </a:rPr>
                <a:t>direction of the slowest change</a:t>
              </a:r>
              <a:endParaRPr lang="ru-RU" altLang="en-US" sz="1600">
                <a:solidFill>
                  <a:srgbClr val="FF33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D3673538-644D-40B4-948A-A383120B54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352"/>
              <a:ext cx="105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1600" dirty="0">
                  <a:solidFill>
                    <a:srgbClr val="0033CC"/>
                  </a:solidFill>
                  <a:cs typeface="Times New Roman" panose="02020603050405020304" pitchFamily="18" charset="0"/>
                </a:rPr>
                <a:t>direction of the fastest change</a:t>
              </a:r>
              <a:endParaRPr lang="ru-RU" altLang="en-US" sz="1600" dirty="0">
                <a:solidFill>
                  <a:srgbClr val="0033CC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" name="Oval 11">
              <a:extLst>
                <a:ext uri="{FF2B5EF4-FFF2-40B4-BE49-F238E27FC236}">
                  <a16:creationId xmlns:a16="http://schemas.microsoft.com/office/drawing/2014/main" id="{CACE6821-1ABD-4252-8076-40C75207F5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106879">
              <a:off x="2254" y="2771"/>
              <a:ext cx="2448" cy="1217"/>
            </a:xfrm>
            <a:prstGeom prst="ellipse">
              <a:avLst/>
            </a:prstGeom>
            <a:solidFill>
              <a:srgbClr val="7CF6D3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0"/>
                </a:spcBef>
              </a:pPr>
              <a:endParaRPr lang="en-US" altLang="en-US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" name="Line 12">
              <a:extLst>
                <a:ext uri="{FF2B5EF4-FFF2-40B4-BE49-F238E27FC236}">
                  <a16:creationId xmlns:a16="http://schemas.microsoft.com/office/drawing/2014/main" id="{C53A2EEB-E05D-4F8D-AE2C-151E4A182B4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280297" flipV="1">
              <a:off x="2555" y="2597"/>
              <a:ext cx="1875" cy="156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Line 13">
              <a:extLst>
                <a:ext uri="{FF2B5EF4-FFF2-40B4-BE49-F238E27FC236}">
                  <a16:creationId xmlns:a16="http://schemas.microsoft.com/office/drawing/2014/main" id="{3ADADAA6-1F98-4194-98EF-2B0A7D20FA3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280297" flipH="1" flipV="1">
              <a:off x="3094" y="2904"/>
              <a:ext cx="798" cy="9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AutoShape 14">
              <a:extLst>
                <a:ext uri="{FF2B5EF4-FFF2-40B4-BE49-F238E27FC236}">
                  <a16:creationId xmlns:a16="http://schemas.microsoft.com/office/drawing/2014/main" id="{66F5677B-AC4C-439C-998F-4354319A2A8F}"/>
                </a:ext>
              </a:extLst>
            </p:cNvPr>
            <p:cNvSpPr>
              <a:spLocks/>
            </p:cNvSpPr>
            <p:nvPr/>
          </p:nvSpPr>
          <p:spPr bwMode="auto">
            <a:xfrm rot="-6496486">
              <a:off x="4037" y="2756"/>
              <a:ext cx="116" cy="1095"/>
            </a:xfrm>
            <a:prstGeom prst="leftBrace">
              <a:avLst>
                <a:gd name="adj1" fmla="val 78664"/>
                <a:gd name="adj2" fmla="val 49065"/>
              </a:avLst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0"/>
                </a:spcBef>
              </a:pPr>
              <a:endParaRPr lang="en-US" altLang="en-US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" name="AutoShape 15">
              <a:extLst>
                <a:ext uri="{FF2B5EF4-FFF2-40B4-BE49-F238E27FC236}">
                  <a16:creationId xmlns:a16="http://schemas.microsoft.com/office/drawing/2014/main" id="{A9525F09-B752-4043-802D-13F788A05CAF}"/>
                </a:ext>
              </a:extLst>
            </p:cNvPr>
            <p:cNvSpPr>
              <a:spLocks/>
            </p:cNvSpPr>
            <p:nvPr/>
          </p:nvSpPr>
          <p:spPr bwMode="auto">
            <a:xfrm rot="-1178674">
              <a:off x="3212" y="2864"/>
              <a:ext cx="140" cy="513"/>
            </a:xfrm>
            <a:prstGeom prst="leftBrace">
              <a:avLst>
                <a:gd name="adj1" fmla="val 30536"/>
                <a:gd name="adj2" fmla="val 49065"/>
              </a:avLst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0"/>
                </a:spcBef>
              </a:pPr>
              <a:endParaRPr lang="en-US" altLang="en-US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Rectangle 16">
              <a:extLst>
                <a:ext uri="{FF2B5EF4-FFF2-40B4-BE49-F238E27FC236}">
                  <a16:creationId xmlns:a16="http://schemas.microsoft.com/office/drawing/2014/main" id="{D6D2D228-1860-47D6-89F2-8A3EB6CC8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168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24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ru-RU" altLang="en-US" sz="24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en-US" sz="2400" baseline="-250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max</a:t>
              </a:r>
              <a:r>
                <a:rPr lang="en-US" altLang="en-US" sz="24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en-US" sz="2400" baseline="300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-1/2</a:t>
              </a:r>
              <a:endParaRPr lang="ru-RU" altLang="en-US" sz="2400" baseline="3000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3" name="Rectangle 17">
              <a:extLst>
                <a:ext uri="{FF2B5EF4-FFF2-40B4-BE49-F238E27FC236}">
                  <a16:creationId xmlns:a16="http://schemas.microsoft.com/office/drawing/2014/main" id="{CEF17053-BC6B-4A5F-BF12-EDCEF3DC6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360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24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ru-RU" altLang="en-US" sz="24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en-US" sz="2400" baseline="-250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min</a:t>
              </a:r>
              <a:r>
                <a:rPr lang="en-US" altLang="en-US" sz="24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en-US" sz="2400" baseline="300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-1/2</a:t>
              </a:r>
              <a:endParaRPr lang="ru-RU" altLang="en-US" sz="2400" baseline="30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D48939E-EA7F-4C37-B58A-20C1F00EB03D}"/>
              </a:ext>
            </a:extLst>
          </p:cNvPr>
          <p:cNvSpPr txBox="1"/>
          <p:nvPr/>
        </p:nvSpPr>
        <p:spPr>
          <a:xfrm>
            <a:off x="879221" y="3943440"/>
            <a:ext cx="54187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Eigenvalues characterize the curvature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Eigenvalues parameterize curvature in the maximum and minimum directions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FFCC727-1E56-4B97-8594-313DCDB50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7492" y="6481343"/>
            <a:ext cx="3860800" cy="365125"/>
          </a:xfrm>
        </p:spPr>
        <p:txBody>
          <a:bodyPr/>
          <a:lstStyle/>
          <a:p>
            <a:pPr>
              <a:defRPr/>
            </a:pPr>
            <a:r>
              <a:rPr lang="de-DE" dirty="0"/>
              <a:t>Credit, K. Grauman, B. Leibe</a:t>
            </a:r>
          </a:p>
        </p:txBody>
      </p:sp>
    </p:spTree>
    <p:extLst>
      <p:ext uri="{BB962C8B-B14F-4D97-AF65-F5344CB8AC3E}">
        <p14:creationId xmlns:p14="http://schemas.microsoft.com/office/powerpoint/2010/main" val="4121628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5494143" cy="872004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</a:rPr>
              <a:t>Properties of spatial 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101" y="1447799"/>
            <a:ext cx="5945337" cy="52842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Gradients are better determined at interest points like corners    </a:t>
            </a:r>
          </a:p>
          <a:p>
            <a:r>
              <a:rPr lang="en-US" dirty="0"/>
              <a:t>Areas of similar intensity have small eigenvalues, poorly determined optical flow  </a:t>
            </a:r>
          </a:p>
          <a:p>
            <a:r>
              <a:rPr lang="en-US" dirty="0"/>
              <a:t>Edges have simple gradients perpendicular to the edges, ambiguous optical flow estimation</a:t>
            </a:r>
          </a:p>
          <a:p>
            <a:r>
              <a:rPr lang="en-US" dirty="0"/>
              <a:t>Other interest points have rapidly changing gradients in several directions, well-defined optical flow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07CB2E-A816-4429-AB83-D5595540019A}"/>
              </a:ext>
            </a:extLst>
          </p:cNvPr>
          <p:cNvSpPr/>
          <p:nvPr/>
        </p:nvSpPr>
        <p:spPr>
          <a:xfrm>
            <a:off x="7068943" y="485675"/>
            <a:ext cx="2177742" cy="184922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7637C6-2DEC-4123-9E69-575D4B8924C4}"/>
              </a:ext>
            </a:extLst>
          </p:cNvPr>
          <p:cNvSpPr/>
          <p:nvPr/>
        </p:nvSpPr>
        <p:spPr>
          <a:xfrm>
            <a:off x="7068944" y="2600068"/>
            <a:ext cx="2177742" cy="190836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B8A8A6-23F1-4031-9480-CBD25F6DC13D}"/>
              </a:ext>
            </a:extLst>
          </p:cNvPr>
          <p:cNvSpPr/>
          <p:nvPr/>
        </p:nvSpPr>
        <p:spPr>
          <a:xfrm>
            <a:off x="7068943" y="4752924"/>
            <a:ext cx="2177743" cy="184922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10E81B95-9FCF-4294-A6BB-F4A16E4D961B}"/>
              </a:ext>
            </a:extLst>
          </p:cNvPr>
          <p:cNvSpPr/>
          <p:nvPr/>
        </p:nvSpPr>
        <p:spPr>
          <a:xfrm rot="18263155" flipH="1">
            <a:off x="7809469" y="5456757"/>
            <a:ext cx="288943" cy="310432"/>
          </a:xfrm>
          <a:prstGeom prst="arc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87A745-0E5C-4ECE-9067-F8DB44B07458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872348" y="5731198"/>
            <a:ext cx="960780" cy="864862"/>
          </a:xfrm>
          <a:prstGeom prst="lin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907952-9B80-435D-8DA7-5034F2B80281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7825848" y="4752924"/>
            <a:ext cx="766521" cy="771388"/>
          </a:xfrm>
          <a:prstGeom prst="lin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EEAD18E-D309-4A2A-B93E-2F7E28F5B957}"/>
              </a:ext>
            </a:extLst>
          </p:cNvPr>
          <p:cNvCxnSpPr>
            <a:cxnSpLocks/>
          </p:cNvCxnSpPr>
          <p:nvPr/>
        </p:nvCxnSpPr>
        <p:spPr>
          <a:xfrm>
            <a:off x="8592369" y="4755576"/>
            <a:ext cx="651410" cy="8248"/>
          </a:xfrm>
          <a:prstGeom prst="lin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D1D9D22-48DD-4D3F-995E-EB20A5D288D8}"/>
              </a:ext>
            </a:extLst>
          </p:cNvPr>
          <p:cNvCxnSpPr>
            <a:cxnSpLocks/>
          </p:cNvCxnSpPr>
          <p:nvPr/>
        </p:nvCxnSpPr>
        <p:spPr>
          <a:xfrm>
            <a:off x="9243779" y="4763824"/>
            <a:ext cx="2906" cy="1836488"/>
          </a:xfrm>
          <a:prstGeom prst="lin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B2B4316-4E30-4C4E-A4D0-E479F3F3B453}"/>
              </a:ext>
            </a:extLst>
          </p:cNvPr>
          <p:cNvCxnSpPr>
            <a:cxnSpLocks/>
          </p:cNvCxnSpPr>
          <p:nvPr/>
        </p:nvCxnSpPr>
        <p:spPr>
          <a:xfrm>
            <a:off x="8833128" y="6596060"/>
            <a:ext cx="410651" cy="0"/>
          </a:xfrm>
          <a:prstGeom prst="lin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9AB0E25-DEAC-48E5-8ADE-50399ABED899}"/>
              </a:ext>
            </a:extLst>
          </p:cNvPr>
          <p:cNvCxnSpPr>
            <a:stCxn id="5" idx="0"/>
            <a:endCxn id="5" idx="2"/>
          </p:cNvCxnSpPr>
          <p:nvPr/>
        </p:nvCxnSpPr>
        <p:spPr>
          <a:xfrm>
            <a:off x="8157815" y="2600068"/>
            <a:ext cx="0" cy="1908364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35F757A-306E-4712-8482-598A61E15FCA}"/>
              </a:ext>
            </a:extLst>
          </p:cNvPr>
          <p:cNvSpPr/>
          <p:nvPr/>
        </p:nvSpPr>
        <p:spPr>
          <a:xfrm>
            <a:off x="7942661" y="1113645"/>
            <a:ext cx="430306" cy="440086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97CB0D0-4215-4161-B6C4-0A7550E2814B}"/>
              </a:ext>
            </a:extLst>
          </p:cNvPr>
          <p:cNvCxnSpPr>
            <a:stCxn id="56" idx="3"/>
          </p:cNvCxnSpPr>
          <p:nvPr/>
        </p:nvCxnSpPr>
        <p:spPr>
          <a:xfrm>
            <a:off x="8372967" y="1333688"/>
            <a:ext cx="15980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ECE98C4-8FB8-42DA-89BF-DF9ED20C18EF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8157814" y="1553731"/>
            <a:ext cx="0" cy="1723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2BF1054-83AC-4A81-BE96-F0A355875C85}"/>
              </a:ext>
            </a:extLst>
          </p:cNvPr>
          <p:cNvCxnSpPr>
            <a:cxnSpLocks/>
            <a:stCxn id="56" idx="1"/>
          </p:cNvCxnSpPr>
          <p:nvPr/>
        </p:nvCxnSpPr>
        <p:spPr>
          <a:xfrm flipH="1">
            <a:off x="7744255" y="1333688"/>
            <a:ext cx="1984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6BAD0F3-270D-4312-9F17-E101E66FE521}"/>
              </a:ext>
            </a:extLst>
          </p:cNvPr>
          <p:cNvCxnSpPr>
            <a:cxnSpLocks/>
            <a:stCxn id="56" idx="0"/>
          </p:cNvCxnSpPr>
          <p:nvPr/>
        </p:nvCxnSpPr>
        <p:spPr>
          <a:xfrm flipV="1">
            <a:off x="8157814" y="938849"/>
            <a:ext cx="0" cy="1747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85890F41-3CF2-4F4F-9A9D-1935B907865E}"/>
              </a:ext>
            </a:extLst>
          </p:cNvPr>
          <p:cNvSpPr/>
          <p:nvPr/>
        </p:nvSpPr>
        <p:spPr>
          <a:xfrm>
            <a:off x="7942661" y="3297959"/>
            <a:ext cx="430306" cy="440086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4592FA2-E443-4ADA-AE77-7DCB1C326C5E}"/>
              </a:ext>
            </a:extLst>
          </p:cNvPr>
          <p:cNvCxnSpPr>
            <a:cxnSpLocks/>
            <a:stCxn id="69" idx="3"/>
          </p:cNvCxnSpPr>
          <p:nvPr/>
        </p:nvCxnSpPr>
        <p:spPr>
          <a:xfrm>
            <a:off x="8372967" y="3518002"/>
            <a:ext cx="46016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FD1320F-A6CE-480A-97FF-51CA52519E08}"/>
              </a:ext>
            </a:extLst>
          </p:cNvPr>
          <p:cNvCxnSpPr>
            <a:cxnSpLocks/>
            <a:stCxn id="69" idx="1"/>
          </p:cNvCxnSpPr>
          <p:nvPr/>
        </p:nvCxnSpPr>
        <p:spPr>
          <a:xfrm flipH="1">
            <a:off x="7447226" y="3518002"/>
            <a:ext cx="49543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2796BC3B-99AC-482B-8A75-E476F9ADA59B}"/>
              </a:ext>
            </a:extLst>
          </p:cNvPr>
          <p:cNvSpPr/>
          <p:nvPr/>
        </p:nvSpPr>
        <p:spPr>
          <a:xfrm>
            <a:off x="7620035" y="5388909"/>
            <a:ext cx="430306" cy="440086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75D3AD5-111F-4571-9BD9-446198FFD908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8050341" y="5608952"/>
            <a:ext cx="48242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6CFCFA7-484F-4CA5-B36B-072F8DED24C9}"/>
              </a:ext>
            </a:extLst>
          </p:cNvPr>
          <p:cNvCxnSpPr>
            <a:cxnSpLocks/>
            <a:stCxn id="74" idx="2"/>
          </p:cNvCxnSpPr>
          <p:nvPr/>
        </p:nvCxnSpPr>
        <p:spPr>
          <a:xfrm>
            <a:off x="7835188" y="5828995"/>
            <a:ext cx="0" cy="4202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8FB112E-6AF0-4CB8-801C-1CB9C9A77D6A}"/>
              </a:ext>
            </a:extLst>
          </p:cNvPr>
          <p:cNvCxnSpPr>
            <a:cxnSpLocks/>
            <a:stCxn id="74" idx="1"/>
          </p:cNvCxnSpPr>
          <p:nvPr/>
        </p:nvCxnSpPr>
        <p:spPr>
          <a:xfrm flipH="1">
            <a:off x="7173395" y="5608952"/>
            <a:ext cx="4466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03D3FD5-6208-4AE1-B528-7B65D6B73E81}"/>
              </a:ext>
            </a:extLst>
          </p:cNvPr>
          <p:cNvCxnSpPr>
            <a:cxnSpLocks/>
            <a:stCxn id="74" idx="0"/>
          </p:cNvCxnSpPr>
          <p:nvPr/>
        </p:nvCxnSpPr>
        <p:spPr>
          <a:xfrm flipH="1" flipV="1">
            <a:off x="7825848" y="4958297"/>
            <a:ext cx="9340" cy="4306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BF3C1177-DE2E-447B-8A6A-0363274C00E6}"/>
              </a:ext>
            </a:extLst>
          </p:cNvPr>
          <p:cNvSpPr txBox="1"/>
          <p:nvPr/>
        </p:nvSpPr>
        <p:spPr>
          <a:xfrm>
            <a:off x="9344485" y="733523"/>
            <a:ext cx="24498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Similar intensity:</a:t>
            </a:r>
            <a:r>
              <a:rPr lang="en-US" sz="2400" dirty="0"/>
              <a:t> Small gradient in all directions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987F6E4-E1E6-47ED-AF74-1B8D37E8939E}"/>
              </a:ext>
            </a:extLst>
          </p:cNvPr>
          <p:cNvSpPr txBox="1"/>
          <p:nvPr/>
        </p:nvSpPr>
        <p:spPr>
          <a:xfrm>
            <a:off x="9417829" y="2917837"/>
            <a:ext cx="24498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Edge:</a:t>
            </a:r>
            <a:r>
              <a:rPr lang="en-US" sz="2400" dirty="0"/>
              <a:t> Large perpendicular gradient, low parallel gradient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84797BF-D051-46AD-BB3F-CF855184F0EA}"/>
              </a:ext>
            </a:extLst>
          </p:cNvPr>
          <p:cNvSpPr txBox="1"/>
          <p:nvPr/>
        </p:nvSpPr>
        <p:spPr>
          <a:xfrm>
            <a:off x="9395774" y="5008787"/>
            <a:ext cx="24498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Interest point:</a:t>
            </a:r>
            <a:r>
              <a:rPr lang="en-US" sz="2400" dirty="0"/>
              <a:t> Large gradients in all directions</a:t>
            </a:r>
          </a:p>
        </p:txBody>
      </p:sp>
    </p:spTree>
    <p:extLst>
      <p:ext uri="{BB962C8B-B14F-4D97-AF65-F5344CB8AC3E}">
        <p14:creationId xmlns:p14="http://schemas.microsoft.com/office/powerpoint/2010/main" val="211954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56" grpId="0" animBg="1"/>
      <p:bldP spid="69" grpId="0" animBg="1"/>
      <p:bldP spid="74" grpId="0" animBg="1"/>
      <p:bldP spid="89" grpId="0"/>
      <p:bldP spid="90" grpId="0"/>
      <p:bldP spid="9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Properties of spatial gradients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9"/>
                <a:ext cx="6232569" cy="55934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Why gradients can fail for optical flow</a:t>
                </a:r>
              </a:p>
              <a:p>
                <a:r>
                  <a:rPr lang="en-US" dirty="0"/>
                  <a:t>Consider the example of a diagonal edge</a:t>
                </a:r>
              </a:p>
              <a:p>
                <a:r>
                  <a:rPr lang="en-US" dirty="0"/>
                  <a:t>Diagonal edge has strong perpendicular gradient </a:t>
                </a:r>
              </a:p>
              <a:p>
                <a:r>
                  <a:rPr lang="en-US" dirty="0"/>
                  <a:t>But, gradient is same anywhere parallel to the edge</a:t>
                </a:r>
              </a:p>
              <a:p>
                <a:r>
                  <a:rPr lang="en-US" dirty="0"/>
                  <a:t>Inverse covariance,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, does not exist!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9"/>
                <a:ext cx="6232569" cy="5593468"/>
              </a:xfrm>
              <a:blipFill>
                <a:blip r:embed="rId2"/>
                <a:stretch>
                  <a:fillRect l="-1955" t="-1743" r="-1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66C318F-B5BE-43CD-867C-5EF3E6581911}"/>
              </a:ext>
            </a:extLst>
          </p:cNvPr>
          <p:cNvSpPr/>
          <p:nvPr/>
        </p:nvSpPr>
        <p:spPr>
          <a:xfrm>
            <a:off x="7682845" y="1644977"/>
            <a:ext cx="3530339" cy="39922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11275D73-18CB-4C0E-95B7-C80BBFAC9C68}"/>
              </a:ext>
            </a:extLst>
          </p:cNvPr>
          <p:cNvSpPr/>
          <p:nvPr/>
        </p:nvSpPr>
        <p:spPr>
          <a:xfrm>
            <a:off x="7682844" y="1644977"/>
            <a:ext cx="3530339" cy="3992252"/>
          </a:xfrm>
          <a:prstGeom prst="rtTriangle">
            <a:avLst/>
          </a:prstGeom>
          <a:solidFill>
            <a:schemeClr val="bg2">
              <a:lumMod val="9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B7D4F9-A5D3-4807-8D13-3403B4BDF49D}"/>
              </a:ext>
            </a:extLst>
          </p:cNvPr>
          <p:cNvCxnSpPr>
            <a:cxnSpLocks/>
          </p:cNvCxnSpPr>
          <p:nvPr/>
        </p:nvCxnSpPr>
        <p:spPr>
          <a:xfrm flipV="1">
            <a:off x="8689245" y="2826946"/>
            <a:ext cx="1673925" cy="1520121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79B5D4-ED37-4D9D-A7AC-908EAC71AC6E}"/>
              </a:ext>
            </a:extLst>
          </p:cNvPr>
          <p:cNvCxnSpPr>
            <a:cxnSpLocks/>
          </p:cNvCxnSpPr>
          <p:nvPr/>
        </p:nvCxnSpPr>
        <p:spPr>
          <a:xfrm flipV="1">
            <a:off x="9444725" y="3630706"/>
            <a:ext cx="918446" cy="10397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52B8D92-9FF7-4BD8-A298-C0696B3EB922}"/>
              </a:ext>
            </a:extLst>
          </p:cNvPr>
          <p:cNvCxnSpPr>
            <a:cxnSpLocks/>
            <a:stCxn id="5" idx="5"/>
          </p:cNvCxnSpPr>
          <p:nvPr/>
        </p:nvCxnSpPr>
        <p:spPr>
          <a:xfrm flipV="1">
            <a:off x="9448014" y="2796988"/>
            <a:ext cx="0" cy="844115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319A857-6BE1-4ECC-BC98-62AED16FF131}"/>
              </a:ext>
            </a:extLst>
          </p:cNvPr>
          <p:cNvSpPr/>
          <p:nvPr/>
        </p:nvSpPr>
        <p:spPr>
          <a:xfrm flipH="1">
            <a:off x="9456104" y="2826946"/>
            <a:ext cx="907065" cy="82607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7B54216-2844-4D60-9991-70FE0E0E60DE}"/>
                  </a:ext>
                </a:extLst>
              </p:cNvPr>
              <p:cNvSpPr txBox="1"/>
              <p:nvPr/>
            </p:nvSpPr>
            <p:spPr>
              <a:xfrm>
                <a:off x="8577155" y="2138973"/>
                <a:ext cx="1012197" cy="858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7B54216-2844-4D60-9991-70FE0E0E6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7155" y="2138973"/>
                <a:ext cx="1012197" cy="858953"/>
              </a:xfrm>
              <a:prstGeom prst="rect">
                <a:avLst/>
              </a:prstGeom>
              <a:blipFill>
                <a:blip r:embed="rId3"/>
                <a:stretch>
                  <a:fillRect r="-9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AD712A0-D165-476B-BA13-99A175FBF49E}"/>
                  </a:ext>
                </a:extLst>
              </p:cNvPr>
              <p:cNvSpPr txBox="1"/>
              <p:nvPr/>
            </p:nvSpPr>
            <p:spPr>
              <a:xfrm>
                <a:off x="10011946" y="3641103"/>
                <a:ext cx="1012197" cy="795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AD712A0-D165-476B-BA13-99A175FBF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946" y="3641103"/>
                <a:ext cx="1012197" cy="795859"/>
              </a:xfrm>
              <a:prstGeom prst="rect">
                <a:avLst/>
              </a:prstGeom>
              <a:blipFill>
                <a:blip r:embed="rId4"/>
                <a:stretch>
                  <a:fillRect r="-9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092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0" grpId="0" animBg="1"/>
      <p:bldP spid="23" grpId="0"/>
      <p:bldP spid="2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Properties of spatial gradients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595438"/>
                <a:ext cx="5726002" cy="512236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Eigenvalues of the Hessian,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, characterize the curvature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Values of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are indicators of:</a:t>
                </a:r>
              </a:p>
              <a:p>
                <a:pPr marL="742950" lvl="1" indent="-285750"/>
                <a:r>
                  <a:rPr lang="en-US" b="1" dirty="0"/>
                  <a:t>Flat region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small</a:t>
                </a:r>
                <a:endParaRPr lang="en-US" sz="2800" dirty="0"/>
              </a:p>
              <a:p>
                <a:pPr marL="742950" lvl="1" indent="-285750"/>
                <a:r>
                  <a:rPr lang="en-US" b="1" dirty="0"/>
                  <a:t>Edge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large</a:t>
                </a:r>
              </a:p>
              <a:p>
                <a:pPr marL="742950" lvl="1" indent="-285750"/>
                <a:r>
                  <a:rPr lang="en-US" b="1" dirty="0"/>
                  <a:t>Corner or other interest point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large</a:t>
                </a:r>
              </a:p>
              <a:p>
                <a:pPr marL="742950" lvl="1" indent="-285750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595438"/>
                <a:ext cx="5726002" cy="5122369"/>
              </a:xfrm>
              <a:blipFill>
                <a:blip r:embed="rId2"/>
                <a:stretch>
                  <a:fillRect l="-2128" t="-2024" r="-2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DFF048D4-E9D9-4B6B-883E-B6DBA764B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703" y="4960318"/>
            <a:ext cx="3124200" cy="1219200"/>
          </a:xfrm>
          <a:prstGeom prst="rightArrowCallout">
            <a:avLst>
              <a:gd name="adj1" fmla="val 25000"/>
              <a:gd name="adj2" fmla="val 24093"/>
              <a:gd name="adj3" fmla="val 41581"/>
              <a:gd name="adj4" fmla="val 75662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0"/>
              </a:spcBef>
            </a:pPr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48440E-163E-42B2-AFC2-067378FBC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2103" y="1912318"/>
            <a:ext cx="4343400" cy="4343400"/>
          </a:xfrm>
          <a:prstGeom prst="rect">
            <a:avLst/>
          </a:prstGeom>
          <a:solidFill>
            <a:srgbClr val="F38F6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0"/>
              </a:spcBef>
            </a:pPr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0FD3FA-D7DE-4D0E-8E51-33A3D80C0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5903" y="6255718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ru-RU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en-US" sz="24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ru-RU" altLang="en-US" sz="2400" baseline="-25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A80EFA-E20B-4B19-BAC7-B59449060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703" y="1988518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ru-RU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en-US" sz="24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ru-RU" altLang="en-US" sz="2400" baseline="-25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D546064-3EDB-4C85-8D4E-49E42AF707FA}"/>
              </a:ext>
            </a:extLst>
          </p:cNvPr>
          <p:cNvSpPr>
            <a:spLocks/>
          </p:cNvSpPr>
          <p:nvPr/>
        </p:nvSpPr>
        <p:spPr bwMode="auto">
          <a:xfrm>
            <a:off x="8039303" y="1912318"/>
            <a:ext cx="3886200" cy="3937000"/>
          </a:xfrm>
          <a:custGeom>
            <a:avLst/>
            <a:gdLst>
              <a:gd name="T0" fmla="*/ 0 w 2448"/>
              <a:gd name="T1" fmla="*/ 2147483646 h 2480"/>
              <a:gd name="T2" fmla="*/ 2147483646 w 2448"/>
              <a:gd name="T3" fmla="*/ 0 h 2480"/>
              <a:gd name="T4" fmla="*/ 2147483646 w 2448"/>
              <a:gd name="T5" fmla="*/ 0 h 2480"/>
              <a:gd name="T6" fmla="*/ 2147483646 w 2448"/>
              <a:gd name="T7" fmla="*/ 2147483646 h 2480"/>
              <a:gd name="T8" fmla="*/ 2147483646 w 2448"/>
              <a:gd name="T9" fmla="*/ 2147483646 h 2480"/>
              <a:gd name="T10" fmla="*/ 0 w 2448"/>
              <a:gd name="T11" fmla="*/ 2147483646 h 248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448"/>
              <a:gd name="T19" fmla="*/ 0 h 2480"/>
              <a:gd name="T20" fmla="*/ 2448 w 2448"/>
              <a:gd name="T21" fmla="*/ 2480 h 248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448" h="2480">
                <a:moveTo>
                  <a:pt x="0" y="1920"/>
                </a:moveTo>
                <a:lnTo>
                  <a:pt x="672" y="0"/>
                </a:lnTo>
                <a:lnTo>
                  <a:pt x="2448" y="0"/>
                </a:lnTo>
                <a:lnTo>
                  <a:pt x="2448" y="1872"/>
                </a:lnTo>
                <a:lnTo>
                  <a:pt x="555" y="2480"/>
                </a:lnTo>
                <a:lnTo>
                  <a:pt x="0" y="192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 sz="28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749AD3E2-D10F-4C35-B58F-2712E687C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2104" y="4503118"/>
            <a:ext cx="1749425" cy="1752600"/>
          </a:xfrm>
          <a:prstGeom prst="rtTriangle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0"/>
              </a:spcBef>
            </a:pPr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2D7B86-87E7-44A3-9AB9-817D3BE57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6103" y="2521919"/>
            <a:ext cx="2667000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“Corner”</a:t>
            </a:r>
            <a:b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ru-RU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en-US" sz="24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and </a:t>
            </a:r>
            <a:r>
              <a:rPr lang="ru-RU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en-US" sz="24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are large,</a:t>
            </a:r>
            <a:b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en-US" sz="24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~ </a:t>
            </a:r>
            <a:r>
              <a:rPr lang="ru-RU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en-US" sz="24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;</a:t>
            </a:r>
            <a:b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increases in all directions</a:t>
            </a:r>
            <a:endParaRPr lang="ru-RU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ACF3CE-A081-41A5-B30C-19FCE54AD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903" y="4960319"/>
            <a:ext cx="2362200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en-US" sz="24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and </a:t>
            </a:r>
            <a:r>
              <a:rPr lang="ru-RU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en-US" sz="24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are small;</a:t>
            </a:r>
            <a:b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is almost constant in all directions</a:t>
            </a:r>
            <a:endParaRPr lang="ru-RU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ABD41D-0111-4DA7-9FF1-E73E426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06303" y="5265119"/>
            <a:ext cx="1295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“Edge” </a:t>
            </a:r>
            <a:b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ru-RU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en-US" sz="24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&gt;&gt; </a:t>
            </a:r>
            <a:r>
              <a:rPr lang="ru-RU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en-US" sz="24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ru-RU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FB0571-BF89-47CC-8CA4-0B5D637DC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8303" y="2064719"/>
            <a:ext cx="1295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“Edge” </a:t>
            </a:r>
            <a:b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ru-RU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en-US" sz="24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&gt;&gt; </a:t>
            </a:r>
            <a:r>
              <a:rPr lang="ru-RU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en-US" sz="24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ru-RU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FCBAFD-393F-4E84-BA21-BA2ED4711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5903" y="5341319"/>
            <a:ext cx="1219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24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“Flat” region</a:t>
            </a:r>
            <a:endParaRPr lang="ru-RU" altLang="en-US" sz="2400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45500BC7-8E30-43EF-8C9D-4900A4226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703" y="2293319"/>
            <a:ext cx="609600" cy="638175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0"/>
              </a:spcBef>
            </a:pPr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id="{510B106E-47C0-4C95-9857-D9C027F92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8153" y="1988519"/>
            <a:ext cx="927100" cy="125413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0"/>
              </a:spcBef>
            </a:pPr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7" name="Oval 17">
            <a:extLst>
              <a:ext uri="{FF2B5EF4-FFF2-40B4-BE49-F238E27FC236}">
                <a16:creationId xmlns:a16="http://schemas.microsoft.com/office/drawing/2014/main" id="{017F2858-082D-4EEA-BD76-E76719A29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703" y="5112718"/>
            <a:ext cx="152400" cy="152400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0"/>
              </a:spcBef>
            </a:pPr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8" name="Oval 18">
            <a:extLst>
              <a:ext uri="{FF2B5EF4-FFF2-40B4-BE49-F238E27FC236}">
                <a16:creationId xmlns:a16="http://schemas.microsoft.com/office/drawing/2014/main" id="{8430FEC0-4DF0-461D-B6FC-0E8FCABF2394}"/>
              </a:ext>
            </a:extLst>
          </p:cNvPr>
          <p:cNvSpPr>
            <a:spLocks noChangeArrowheads="1"/>
          </p:cNvSpPr>
          <p:nvPr/>
        </p:nvSpPr>
        <p:spPr bwMode="auto">
          <a:xfrm rot="5542000">
            <a:off x="10194335" y="5716762"/>
            <a:ext cx="927100" cy="125413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0"/>
              </a:spcBef>
            </a:pPr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18585DD4-06D0-4988-A918-163F911D9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56503" y="6431930"/>
            <a:ext cx="3860800" cy="365125"/>
          </a:xfrm>
        </p:spPr>
        <p:txBody>
          <a:bodyPr/>
          <a:lstStyle/>
          <a:p>
            <a:pPr>
              <a:defRPr/>
            </a:pPr>
            <a:r>
              <a:rPr lang="de-DE" dirty="0"/>
              <a:t>Credit, K. Grauman, B. Leibe</a:t>
            </a:r>
          </a:p>
        </p:txBody>
      </p:sp>
    </p:spTree>
    <p:extLst>
      <p:ext uri="{BB962C8B-B14F-4D97-AF65-F5344CB8AC3E}">
        <p14:creationId xmlns:p14="http://schemas.microsoft.com/office/powerpoint/2010/main" val="370581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/>
      <p:bldP spid="11" grpId="0"/>
      <p:bldP spid="12" grpId="0"/>
      <p:bldP spid="13" grpId="0"/>
      <p:bldP spid="14" grpId="0"/>
      <p:bldP spid="15" grpId="0" animBg="1"/>
      <p:bldP spid="16" grpId="0" animBg="1"/>
      <p:bldP spid="17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56AD-D906-FEFD-7FD8-7B84DF60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Dealing with Scale</a:t>
            </a:r>
          </a:p>
        </p:txBody>
      </p:sp>
    </p:spTree>
    <p:extLst>
      <p:ext uri="{BB962C8B-B14F-4D97-AF65-F5344CB8AC3E}">
        <p14:creationId xmlns:p14="http://schemas.microsoft.com/office/powerpoint/2010/main" val="14341186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Problem with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012197"/>
            <a:ext cx="10828958" cy="12502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does the gradient change with feature scale </a:t>
            </a:r>
          </a:p>
          <a:p>
            <a:r>
              <a:rPr lang="en-US" dirty="0"/>
              <a:t>Gradient is not scale independent  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42E8F8-16E0-4064-AE83-94B42D13D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130" y="3453152"/>
            <a:ext cx="590601" cy="5220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FBAF75-7568-4D9C-8B97-95F22239E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636" y="3561730"/>
            <a:ext cx="2362405" cy="18670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33CDC8-50D2-49D3-990B-403525B16E1D}"/>
              </a:ext>
            </a:extLst>
          </p:cNvPr>
          <p:cNvSpPr txBox="1"/>
          <p:nvPr/>
        </p:nvSpPr>
        <p:spPr>
          <a:xfrm>
            <a:off x="7450661" y="4547600"/>
            <a:ext cx="34690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2. Hessian is </a:t>
            </a:r>
            <a:r>
              <a:rPr lang="en-US" sz="2800" b="1" dirty="0"/>
              <a:t>not translation invariant, only one large eigenvalue, no inverse!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D12E6D-CA7E-4FBE-A550-2D94A8B0651C}"/>
              </a:ext>
            </a:extLst>
          </p:cNvPr>
          <p:cNvSpPr txBox="1"/>
          <p:nvPr/>
        </p:nvSpPr>
        <p:spPr>
          <a:xfrm>
            <a:off x="1236482" y="4604995"/>
            <a:ext cx="34690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1. Hessian has two large eigenvalues 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D8AB2A0-9F44-4BDB-B569-6F077ED1709F}"/>
              </a:ext>
            </a:extLst>
          </p:cNvPr>
          <p:cNvSpPr/>
          <p:nvPr/>
        </p:nvSpPr>
        <p:spPr>
          <a:xfrm>
            <a:off x="4128940" y="3429000"/>
            <a:ext cx="2422690" cy="546167"/>
          </a:xfrm>
          <a:prstGeom prst="rightArrow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1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Multi-Scale Feature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012197"/>
            <a:ext cx="5894303" cy="57056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dirty="0"/>
              <a:t>Pyramid structure enables extraction of interest points at several scales  </a:t>
            </a:r>
          </a:p>
          <a:p>
            <a:r>
              <a:rPr lang="en-US" dirty="0"/>
              <a:t>Pyramid scales from fine to coarse in octaves </a:t>
            </a:r>
          </a:p>
          <a:p>
            <a:r>
              <a:rPr lang="en-US" dirty="0"/>
              <a:t>Features at each scale extracted</a:t>
            </a:r>
          </a:p>
          <a:p>
            <a:r>
              <a:rPr lang="en-US" dirty="0"/>
              <a:t>Allow flow to be computed at several scales </a:t>
            </a:r>
          </a:p>
          <a:p>
            <a:r>
              <a:rPr lang="en-US" dirty="0"/>
              <a:t>Small motion is scale dependent, so get wider range of velocities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E6667-5C9B-4274-9D2A-0AD26F2F4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144" y="2598271"/>
            <a:ext cx="4801752" cy="2269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CC3EDD-2DD5-465A-AC42-2E2562C6DD59}"/>
              </a:ext>
            </a:extLst>
          </p:cNvPr>
          <p:cNvSpPr txBox="1"/>
          <p:nvPr/>
        </p:nvSpPr>
        <p:spPr>
          <a:xfrm>
            <a:off x="10850252" y="3733014"/>
            <a:ext cx="362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2989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56AD-D906-FEFD-7FD8-7B84DF60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Depth and Motion in 3D</a:t>
            </a:r>
          </a:p>
        </p:txBody>
      </p:sp>
    </p:spTree>
    <p:extLst>
      <p:ext uri="{BB962C8B-B14F-4D97-AF65-F5344CB8AC3E}">
        <p14:creationId xmlns:p14="http://schemas.microsoft.com/office/powerpoint/2010/main" val="3108386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Depth and Motion In 3D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55934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Disparity can be computed using images from multiple camera poses    </a:t>
            </a:r>
          </a:p>
          <a:p>
            <a:r>
              <a:rPr lang="en-US" dirty="0"/>
              <a:t>We have investigated disparity estimation using a fixed stereo camera array</a:t>
            </a:r>
          </a:p>
          <a:p>
            <a:r>
              <a:rPr lang="en-US" dirty="0"/>
              <a:t>But, can we estimate disparity by changing the pose of a single camera?    </a:t>
            </a:r>
          </a:p>
          <a:p>
            <a:r>
              <a:rPr lang="en-US" dirty="0"/>
              <a:t>Yes! </a:t>
            </a:r>
          </a:p>
          <a:p>
            <a:r>
              <a:rPr lang="en-US" dirty="0"/>
              <a:t>We can estimate depth from changing camera poses </a:t>
            </a:r>
          </a:p>
          <a:p>
            <a:r>
              <a:rPr lang="en-US" dirty="0">
                <a:solidFill>
                  <a:schemeClr val="accent2"/>
                </a:solidFill>
              </a:rPr>
              <a:t>For additional details see Chapter 47 of Torralba, Isola and Freeman</a:t>
            </a:r>
          </a:p>
        </p:txBody>
      </p:sp>
    </p:spTree>
    <p:extLst>
      <p:ext uri="{BB962C8B-B14F-4D97-AF65-F5344CB8AC3E}">
        <p14:creationId xmlns:p14="http://schemas.microsoft.com/office/powerpoint/2010/main" val="2789169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0E42A-D68E-2C41-C376-25BECDF7F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A6EF6-9C8A-D4F4-17BD-CF1F5A2C2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Depth and Motion In 3D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F4266-328D-1436-ED8C-9FDF9D4328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Let’s start by defining some notation to simplify the problem   </a:t>
                </a:r>
              </a:p>
              <a:p>
                <a:r>
                  <a:rPr lang="en-US" dirty="0"/>
                  <a:t>The velocity vector in the 3-D space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velocity on the image plane, the optical flow</a:t>
                </a:r>
              </a:p>
              <a:p>
                <a:pPr marL="0" indent="0">
                  <a:buNone/>
                </a:pPr>
                <a:endParaRPr lang="en-US" sz="1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𝑑𝑥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𝑑𝑦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F4266-328D-1436-ED8C-9FDF9D4328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  <a:blipFill>
                <a:blip r:embed="rId3"/>
                <a:stretch>
                  <a:fillRect l="-1159" t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638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0370E-7422-5691-D8CE-1B3996580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C0A5700E-9D45-0A8D-D2A0-EB7076706357}"/>
              </a:ext>
            </a:extLst>
          </p:cNvPr>
          <p:cNvSpPr/>
          <p:nvPr/>
        </p:nvSpPr>
        <p:spPr>
          <a:xfrm rot="9954247">
            <a:off x="1757285" y="3005278"/>
            <a:ext cx="3624332" cy="2830316"/>
          </a:xfrm>
          <a:prstGeom prst="parallelogram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CA38E16-EFE5-849F-BA24-81D1BB6778CD}"/>
              </a:ext>
            </a:extLst>
          </p:cNvPr>
          <p:cNvCxnSpPr>
            <a:cxnSpLocks/>
          </p:cNvCxnSpPr>
          <p:nvPr/>
        </p:nvCxnSpPr>
        <p:spPr>
          <a:xfrm flipV="1">
            <a:off x="3149295" y="4450626"/>
            <a:ext cx="325425" cy="458491"/>
          </a:xfrm>
          <a:prstGeom prst="straightConnector1">
            <a:avLst/>
          </a:prstGeom>
          <a:ln w="539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93F7BA90-E1D5-872D-276F-2D9BF8D68C9F}"/>
              </a:ext>
            </a:extLst>
          </p:cNvPr>
          <p:cNvSpPr/>
          <p:nvPr/>
        </p:nvSpPr>
        <p:spPr>
          <a:xfrm>
            <a:off x="505471" y="4657871"/>
            <a:ext cx="226243" cy="2309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9D5ED9-5E7A-B29C-2162-FCEDB91AF26D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731714" y="4773350"/>
            <a:ext cx="825126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640F4DF-D89A-899E-A1D1-4984D30EF594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594973" y="3582833"/>
            <a:ext cx="23620" cy="1075038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D88AE4C-2261-1F4B-A814-871EC1A3CAF5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698581" y="4127205"/>
            <a:ext cx="367403" cy="56448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AB0CCC3-AAFA-6F10-2B18-8FE2D4267552}"/>
              </a:ext>
            </a:extLst>
          </p:cNvPr>
          <p:cNvSpPr txBox="1"/>
          <p:nvPr/>
        </p:nvSpPr>
        <p:spPr>
          <a:xfrm>
            <a:off x="290681" y="4887984"/>
            <a:ext cx="567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/>
              <a:t>O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A93C100-5346-AF0D-5732-6CCC71BC723E}"/>
              </a:ext>
            </a:extLst>
          </p:cNvPr>
          <p:cNvCxnSpPr>
            <a:cxnSpLocks/>
            <a:stCxn id="5" idx="2"/>
            <a:endCxn id="71" idx="2"/>
          </p:cNvCxnSpPr>
          <p:nvPr/>
        </p:nvCxnSpPr>
        <p:spPr>
          <a:xfrm>
            <a:off x="505471" y="4773350"/>
            <a:ext cx="6979013" cy="233879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57659F6-6672-37FF-9CC0-EF1210DA747A}"/>
                  </a:ext>
                </a:extLst>
              </p:cNvPr>
              <p:cNvSpPr txBox="1"/>
              <p:nvPr/>
            </p:nvSpPr>
            <p:spPr>
              <a:xfrm>
                <a:off x="1283834" y="4657573"/>
                <a:ext cx="4481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800" dirty="0">
                  <a:latin typeface="Script MT Bold" panose="03040602040607080904" pitchFamily="66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80B66D1-A5C6-5305-2937-A65FBFFBF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834" y="4657573"/>
                <a:ext cx="44811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E0EDEB0-86DD-814A-6E10-F3D5C63AEF85}"/>
                  </a:ext>
                </a:extLst>
              </p:cNvPr>
              <p:cNvSpPr txBox="1"/>
              <p:nvPr/>
            </p:nvSpPr>
            <p:spPr>
              <a:xfrm>
                <a:off x="1022140" y="3790231"/>
                <a:ext cx="4481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>
                  <a:latin typeface="Script MT Bold" panose="03040602040607080904" pitchFamily="66" charset="0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A14907B-AAD6-ED85-E0B4-46528C4A5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140" y="3790231"/>
                <a:ext cx="44811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7235D50-8D9D-1BE6-A40D-69C0801FF651}"/>
                  </a:ext>
                </a:extLst>
              </p:cNvPr>
              <p:cNvSpPr txBox="1"/>
              <p:nvPr/>
            </p:nvSpPr>
            <p:spPr>
              <a:xfrm>
                <a:off x="368637" y="3088457"/>
                <a:ext cx="4481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>
                  <a:latin typeface="Script MT Bold" panose="03040602040607080904" pitchFamily="66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BDEDDF6-CAA0-BFEE-DB20-2ECF28FC5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37" y="3088457"/>
                <a:ext cx="44811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93AE97F-D5CD-DB80-1F35-F8897C9EB85E}"/>
                  </a:ext>
                </a:extLst>
              </p:cNvPr>
              <p:cNvSpPr txBox="1"/>
              <p:nvPr/>
            </p:nvSpPr>
            <p:spPr>
              <a:xfrm rot="20732708">
                <a:off x="2024085" y="2518594"/>
                <a:ext cx="2719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Image plane,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93AE97F-D5CD-DB80-1F35-F8897C9EB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732708">
                <a:off x="2024085" y="2518594"/>
                <a:ext cx="2719859" cy="461665"/>
              </a:xfrm>
              <a:prstGeom prst="rect">
                <a:avLst/>
              </a:prstGeom>
              <a:blipFill>
                <a:blip r:embed="rId5"/>
                <a:stretch>
                  <a:fillRect l="-3540" b="-13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BF25874-327D-AFD0-8C22-68289CC6E53D}"/>
              </a:ext>
            </a:extLst>
          </p:cNvPr>
          <p:cNvCxnSpPr>
            <a:cxnSpLocks/>
            <a:stCxn id="5" idx="2"/>
          </p:cNvCxnSpPr>
          <p:nvPr/>
        </p:nvCxnSpPr>
        <p:spPr>
          <a:xfrm flipV="1">
            <a:off x="505471" y="3967900"/>
            <a:ext cx="8506089" cy="80545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09579AE3-1762-15E8-9B67-BA39D8704B68}"/>
              </a:ext>
            </a:extLst>
          </p:cNvPr>
          <p:cNvSpPr/>
          <p:nvPr/>
        </p:nvSpPr>
        <p:spPr>
          <a:xfrm>
            <a:off x="3061321" y="4765720"/>
            <a:ext cx="226243" cy="230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FA6FCAC-9296-DF8C-FF43-97C2F63DE804}"/>
              </a:ext>
            </a:extLst>
          </p:cNvPr>
          <p:cNvSpPr/>
          <p:nvPr/>
        </p:nvSpPr>
        <p:spPr>
          <a:xfrm>
            <a:off x="7484484" y="4891750"/>
            <a:ext cx="226243" cy="230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C7D08E4-B882-D24F-1826-421B322A2B2E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7466574" y="3990372"/>
            <a:ext cx="1608602" cy="1114603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2C782248-E192-F463-8C22-8B9152A2DDB1}"/>
              </a:ext>
            </a:extLst>
          </p:cNvPr>
          <p:cNvSpPr/>
          <p:nvPr/>
        </p:nvSpPr>
        <p:spPr>
          <a:xfrm>
            <a:off x="8929431" y="3861699"/>
            <a:ext cx="226243" cy="230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E699DF5-FF18-73AF-5A78-0E72D8F9F127}"/>
                  </a:ext>
                </a:extLst>
              </p:cNvPr>
              <p:cNvSpPr txBox="1"/>
              <p:nvPr/>
            </p:nvSpPr>
            <p:spPr>
              <a:xfrm>
                <a:off x="7305098" y="5184771"/>
                <a:ext cx="8112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12AF653-AFE6-F2B0-584C-D139F2827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5098" y="5184771"/>
                <a:ext cx="811257" cy="461665"/>
              </a:xfrm>
              <a:prstGeom prst="rect">
                <a:avLst/>
              </a:prstGeom>
              <a:blipFill>
                <a:blip r:embed="rId6"/>
                <a:stretch>
                  <a:fillRect l="-5263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0AEA3D-915C-0B2F-FE72-48B1169DE6F8}"/>
                  </a:ext>
                </a:extLst>
              </p:cNvPr>
              <p:cNvSpPr txBox="1"/>
              <p:nvPr/>
            </p:nvSpPr>
            <p:spPr>
              <a:xfrm>
                <a:off x="8795124" y="4120352"/>
                <a:ext cx="8112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3CA8C88-1208-04D9-BD47-BA7322BCF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5124" y="4120352"/>
                <a:ext cx="811257" cy="461665"/>
              </a:xfrm>
              <a:prstGeom prst="rect">
                <a:avLst/>
              </a:prstGeom>
              <a:blipFill>
                <a:blip r:embed="rId7"/>
                <a:stretch>
                  <a:fillRect l="-5263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Oval 58">
            <a:extLst>
              <a:ext uri="{FF2B5EF4-FFF2-40B4-BE49-F238E27FC236}">
                <a16:creationId xmlns:a16="http://schemas.microsoft.com/office/drawing/2014/main" id="{5729736C-5655-A01C-9A80-82B0E1084ECC}"/>
              </a:ext>
            </a:extLst>
          </p:cNvPr>
          <p:cNvSpPr/>
          <p:nvPr/>
        </p:nvSpPr>
        <p:spPr>
          <a:xfrm>
            <a:off x="3317281" y="4374147"/>
            <a:ext cx="226243" cy="230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AE197E2-FF9D-2E0C-3231-FA442F799672}"/>
                  </a:ext>
                </a:extLst>
              </p:cNvPr>
              <p:cNvSpPr txBox="1"/>
              <p:nvPr/>
            </p:nvSpPr>
            <p:spPr>
              <a:xfrm>
                <a:off x="3149295" y="4824884"/>
                <a:ext cx="6273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6E9E50F-DD81-2075-BD2A-7BEFE374B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295" y="4824884"/>
                <a:ext cx="627331" cy="461665"/>
              </a:xfrm>
              <a:prstGeom prst="rect">
                <a:avLst/>
              </a:prstGeom>
              <a:blipFill>
                <a:blip r:embed="rId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BB61E68-CD84-AB7A-AEBF-79565E662239}"/>
                  </a:ext>
                </a:extLst>
              </p:cNvPr>
              <p:cNvSpPr txBox="1"/>
              <p:nvPr/>
            </p:nvSpPr>
            <p:spPr>
              <a:xfrm>
                <a:off x="3523349" y="4375817"/>
                <a:ext cx="6273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D0AEAD0-DDDD-D6EF-760E-921E8E8F2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349" y="4375817"/>
                <a:ext cx="627331" cy="461665"/>
              </a:xfrm>
              <a:prstGeom prst="rect">
                <a:avLst/>
              </a:prstGeom>
              <a:blipFill>
                <a:blip r:embed="rId9"/>
                <a:stretch>
                  <a:fillRect l="-1262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F621E7-FBD8-507A-560F-7D5BEEC7F556}"/>
                  </a:ext>
                </a:extLst>
              </p:cNvPr>
              <p:cNvSpPr txBox="1"/>
              <p:nvPr/>
            </p:nvSpPr>
            <p:spPr>
              <a:xfrm>
                <a:off x="9044693" y="2523623"/>
                <a:ext cx="3053353" cy="1652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2. Point</a:t>
                </a:r>
                <a:r>
                  <a:rPr lang="en-US" sz="2400" b="1" dirty="0"/>
                  <a:t> </a:t>
                </a:r>
                <a:r>
                  <a:rPr lang="en-US" sz="2400" b="1" i="1" dirty="0"/>
                  <a:t>X</a:t>
                </a:r>
                <a:r>
                  <a:rPr lang="en-US" sz="2400" b="1" dirty="0"/>
                  <a:t> </a:t>
                </a:r>
                <a:r>
                  <a:rPr lang="en-US" sz="2400" dirty="0"/>
                  <a:t>moves in 3-D space</a:t>
                </a:r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040EA7-5E83-0A1E-AAB4-97D979709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4693" y="2523623"/>
                <a:ext cx="3053353" cy="1652888"/>
              </a:xfrm>
              <a:prstGeom prst="rect">
                <a:avLst/>
              </a:prstGeom>
              <a:blipFill>
                <a:blip r:embed="rId10"/>
                <a:stretch>
                  <a:fillRect l="-3194" t="-2952" r="-4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694773E4-72B9-16D5-14A5-7F83FD49D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81" y="285063"/>
            <a:ext cx="11395848" cy="74988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Depth and Motion in 3D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7B997A4-07E4-3687-FECB-09E649E46755}"/>
              </a:ext>
            </a:extLst>
          </p:cNvPr>
          <p:cNvSpPr/>
          <p:nvPr/>
        </p:nvSpPr>
        <p:spPr>
          <a:xfrm>
            <a:off x="7433441" y="4907841"/>
            <a:ext cx="226243" cy="2309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667BE18-8D16-9021-925E-A49660950A5C}"/>
              </a:ext>
            </a:extLst>
          </p:cNvPr>
          <p:cNvCxnSpPr>
            <a:cxnSpLocks/>
            <a:stCxn id="15" idx="6"/>
          </p:cNvCxnSpPr>
          <p:nvPr/>
        </p:nvCxnSpPr>
        <p:spPr>
          <a:xfrm>
            <a:off x="7659684" y="5023320"/>
            <a:ext cx="825126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BB55AA3-8555-EE14-A9A7-78D61B8CE5FF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7522943" y="3832803"/>
            <a:ext cx="23620" cy="1075038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F414C4-6FF2-E8D2-A6E5-DEF7B2823D23}"/>
              </a:ext>
            </a:extLst>
          </p:cNvPr>
          <p:cNvCxnSpPr>
            <a:cxnSpLocks/>
            <a:stCxn id="15" idx="7"/>
          </p:cNvCxnSpPr>
          <p:nvPr/>
        </p:nvCxnSpPr>
        <p:spPr>
          <a:xfrm flipV="1">
            <a:off x="7626551" y="4377175"/>
            <a:ext cx="367403" cy="56448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B815DE-E83A-7B4E-577F-2795BE893DC6}"/>
                  </a:ext>
                </a:extLst>
              </p:cNvPr>
              <p:cNvSpPr txBox="1"/>
              <p:nvPr/>
            </p:nvSpPr>
            <p:spPr>
              <a:xfrm>
                <a:off x="7950110" y="4040201"/>
                <a:ext cx="4481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800" dirty="0">
                  <a:latin typeface="Script MT Bold" panose="03040602040607080904" pitchFamily="66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09EE0F-66D3-F5AB-CC38-63B610570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110" y="4040201"/>
                <a:ext cx="44811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647A125C-F12A-F1BE-9B54-E9ADD1203939}"/>
              </a:ext>
            </a:extLst>
          </p:cNvPr>
          <p:cNvSpPr txBox="1"/>
          <p:nvPr/>
        </p:nvSpPr>
        <p:spPr>
          <a:xfrm>
            <a:off x="7296607" y="3338427"/>
            <a:ext cx="448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Script MT Bold" panose="03040602040607080904" pitchFamily="66" charset="0"/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FDA7B3D-58A5-4925-D95C-0FB579758D64}"/>
                  </a:ext>
                </a:extLst>
              </p:cNvPr>
              <p:cNvSpPr txBox="1"/>
              <p:nvPr/>
            </p:nvSpPr>
            <p:spPr>
              <a:xfrm>
                <a:off x="8484810" y="4773334"/>
                <a:ext cx="4481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2800" dirty="0">
                  <a:latin typeface="Script MT Bold" panose="03040602040607080904" pitchFamily="66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24D6F53-276D-CED8-23BD-7C9E0BFA6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810" y="4773334"/>
                <a:ext cx="448116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2">
                <a:extLst>
                  <a:ext uri="{FF2B5EF4-FFF2-40B4-BE49-F238E27FC236}">
                    <a16:creationId xmlns:a16="http://schemas.microsoft.com/office/drawing/2014/main" id="{3F9B646B-1C01-23A1-61D2-BF888A2D33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9"/>
                <a:ext cx="10515600" cy="9937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Consider what happens when there is motion between the objects in a scene and the image plane with depth-dependent projection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4" name="Content Placeholder 2">
                <a:extLst>
                  <a:ext uri="{FF2B5EF4-FFF2-40B4-BE49-F238E27FC236}">
                    <a16:creationId xmlns:a16="http://schemas.microsoft.com/office/drawing/2014/main" id="{3F9B646B-1C01-23A1-61D2-BF888A2D33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9"/>
                <a:ext cx="10515600" cy="993778"/>
              </a:xfrm>
              <a:blipFill>
                <a:blip r:embed="rId13"/>
                <a:stretch>
                  <a:fillRect l="-1159" t="-9816" r="-812" b="-4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5B2FE48-9B8E-FB52-0B85-796807F4C806}"/>
                  </a:ext>
                </a:extLst>
              </p:cNvPr>
              <p:cNvSpPr txBox="1"/>
              <p:nvPr/>
            </p:nvSpPr>
            <p:spPr>
              <a:xfrm>
                <a:off x="9194952" y="5187344"/>
                <a:ext cx="2615116" cy="1652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1. Point</a:t>
                </a:r>
                <a:r>
                  <a:rPr lang="en-US" sz="2400" b="1" dirty="0"/>
                  <a:t> </a:t>
                </a:r>
                <a:r>
                  <a:rPr lang="en-US" sz="2400" b="1" i="1" dirty="0"/>
                  <a:t>X</a:t>
                </a:r>
                <a:r>
                  <a:rPr lang="en-US" sz="2400" b="1" dirty="0"/>
                  <a:t> </a:t>
                </a:r>
                <a:r>
                  <a:rPr lang="en-US" sz="2400" dirty="0"/>
                  <a:t>with</a:t>
                </a:r>
                <a:r>
                  <a:rPr lang="en-US" sz="2400" b="1" dirty="0"/>
                  <a:t> velocity vector </a:t>
                </a:r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B972BE7-D2AE-5484-FE3E-FEDB57254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4952" y="5187344"/>
                <a:ext cx="2615116" cy="1652888"/>
              </a:xfrm>
              <a:prstGeom prst="rect">
                <a:avLst/>
              </a:prstGeom>
              <a:blipFill>
                <a:blip r:embed="rId14"/>
                <a:stretch>
                  <a:fillRect l="-3497" t="-2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ECF145B-824A-65A9-3EDC-5A63FB6C9129}"/>
                  </a:ext>
                </a:extLst>
              </p:cNvPr>
              <p:cNvSpPr txBox="1"/>
              <p:nvPr/>
            </p:nvSpPr>
            <p:spPr>
              <a:xfrm>
                <a:off x="5199904" y="2101679"/>
                <a:ext cx="358364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3. Projection matrix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for points on image plane</a:t>
                </a:r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5E0B333-AC0B-8813-B7EC-BF7E8B8C6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904" y="2101679"/>
                <a:ext cx="3583641" cy="1569660"/>
              </a:xfrm>
              <a:prstGeom prst="rect">
                <a:avLst/>
              </a:prstGeom>
              <a:blipFill>
                <a:blip r:embed="rId15"/>
                <a:stretch>
                  <a:fillRect l="-2551" t="-3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D1B20BC-57A3-25A4-21F9-AF5E328C18C5}"/>
                  </a:ext>
                </a:extLst>
              </p:cNvPr>
              <p:cNvSpPr txBox="1"/>
              <p:nvPr/>
            </p:nvSpPr>
            <p:spPr>
              <a:xfrm>
                <a:off x="3776626" y="5759554"/>
                <a:ext cx="45259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4</a:t>
                </a:r>
                <a:r>
                  <a:rPr lang="en-US" sz="2400" b="1" dirty="0"/>
                  <a:t>. Projected velocity vector </a:t>
                </a:r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29CBD46-74AF-79EB-753B-BA7448FA9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626" y="5759554"/>
                <a:ext cx="4525934" cy="830997"/>
              </a:xfrm>
              <a:prstGeom prst="rect">
                <a:avLst/>
              </a:prstGeom>
              <a:blipFill>
                <a:blip r:embed="rId16"/>
                <a:stretch>
                  <a:fillRect l="-2156" t="-5882" b="-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AF58112-578B-726C-311C-590F6A6C73A0}"/>
                  </a:ext>
                </a:extLst>
              </p:cNvPr>
              <p:cNvSpPr txBox="1"/>
              <p:nvPr/>
            </p:nvSpPr>
            <p:spPr>
              <a:xfrm>
                <a:off x="2902393" y="4375816"/>
                <a:ext cx="4481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57F3DD2-FB22-F352-6476-C75576983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393" y="4375816"/>
                <a:ext cx="448116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83191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EE22D-5D6A-34BC-2951-7CCA44D14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A36B1-C093-892D-12F5-AA3D6D422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Depth and Motion In 3D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FEC512-2593-5BA6-DB79-0ACC4803D5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We can simplify the interpretation in Cartesian coordinates  </a:t>
                </a:r>
              </a:p>
              <a:p>
                <a:r>
                  <a:rPr lang="en-US" dirty="0"/>
                  <a:t>The projection of 3-D motion to the image plane for a camera with a focal length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 with no rotation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Factoring into two components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Notice that the projected motion on the image plane decreases with depth,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FEC512-2593-5BA6-DB79-0ACC4803D5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  <a:blipFill>
                <a:blip r:embed="rId3"/>
                <a:stretch>
                  <a:fillRect l="-1159" t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1393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C4A0D-A2AB-A05E-EB69-3D11B5C7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BA227-A300-8858-7281-C4B792DB6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Depth and Motion In 3D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6A67A3-DA0D-D1CB-8C38-02F6D13764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We can simplify the interpretation in Cartesian coordinates  </a:t>
                </a:r>
              </a:p>
              <a:p>
                <a:r>
                  <a:rPr lang="en-US" dirty="0"/>
                  <a:t>Factoring into two components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in-plane translation,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a fixed focal length,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 relationship for depth,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𝑓𝑢</m:t>
                          </m:r>
                        </m:num>
                        <m:den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can improve accuracy by using several pixels in a patch and finding the least squares solution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6A67A3-DA0D-D1CB-8C38-02F6D13764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  <a:blipFill>
                <a:blip r:embed="rId3"/>
                <a:stretch>
                  <a:fillRect l="-1159" t="-1743" b="-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318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8222F-E991-8EAE-1B48-B65483E40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BAB4E-B46C-B2FD-EDF1-109730D85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Depth and Motion In 3D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940C5D-46E9-FB20-635D-C3B6638F68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Pitfalls of computing depth from motion     </a:t>
                </a:r>
              </a:p>
              <a:p>
                <a:r>
                  <a:rPr lang="en-US" dirty="0"/>
                  <a:t>The velocity of the camera must be known    </a:t>
                </a:r>
              </a:p>
              <a:p>
                <a:r>
                  <a:rPr lang="en-US" dirty="0"/>
                  <a:t>If the camera and an object in the scene are moving at the same velocity, there is no optical flow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𝑓𝑢</m:t>
                          </m:r>
                        </m:num>
                        <m:den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Rotation complicates the calculation  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940C5D-46E9-FB20-635D-C3B6638F68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  <a:blipFill>
                <a:blip r:embed="rId3"/>
                <a:stretch>
                  <a:fillRect l="-1159" t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26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2FED3-36FD-5365-EB2C-39CFFC7DA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6BB3D-1666-1247-E300-2BE8FA0C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Depth and Motion In 3D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C49DBD-ABB5-DA7D-89EA-DDBCBBD066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0" y="1124339"/>
                <a:ext cx="11044111" cy="55934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Can we determine depth from camera rotation with no translation?  </a:t>
                </a:r>
              </a:p>
              <a:p>
                <a:r>
                  <a:rPr lang="en-US" dirty="0"/>
                  <a:t>The projection matrix is for camera rotation is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For small rotations we can use the approximations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≈0,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approximate rotation matrix is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C49DBD-ABB5-DA7D-89EA-DDBCBBD066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0" y="1124339"/>
                <a:ext cx="11044111" cy="5593468"/>
              </a:xfrm>
              <a:blipFill>
                <a:blip r:embed="rId3"/>
                <a:stretch>
                  <a:fillRect l="-1104" t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63750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1A5E6-962C-DC12-9176-FDD37C1D7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965BF-97CA-0A12-5551-52A3502B3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Depth and Motion In 3D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BBEB95-1499-B021-81DE-795E5FF362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0" y="1124339"/>
                <a:ext cx="11044111" cy="55934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Can we determine depth from camera rotation with no translation?  </a:t>
                </a:r>
              </a:p>
              <a:p>
                <a:r>
                  <a:rPr lang="en-US" dirty="0"/>
                  <a:t>The angular velocity of camera rotation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Multiplying by the approximate angular rotation matrix the projected flow from the rotation is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𝑓𝑦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𝑓𝑥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There is </a:t>
                </a:r>
                <a:r>
                  <a:rPr lang="en-US" b="1" dirty="0"/>
                  <a:t>no dependency on Z</a:t>
                </a:r>
                <a:r>
                  <a:rPr lang="en-US" dirty="0"/>
                  <a:t>!</a:t>
                </a:r>
              </a:p>
              <a:p>
                <a:r>
                  <a:rPr lang="en-US" dirty="0"/>
                  <a:t>Projection of rotation is independent of depth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BBEB95-1499-B021-81DE-795E5FF362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0" y="1124339"/>
                <a:ext cx="11044111" cy="5593468"/>
              </a:xfrm>
              <a:blipFill>
                <a:blip r:embed="rId3"/>
                <a:stretch>
                  <a:fillRect l="-1104" t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911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43427-2068-D2A6-63F4-E0E40454D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EDE60-7EC0-3B1D-2B39-930C1AFE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Iterative Lucas-</a:t>
            </a:r>
            <a:r>
              <a:rPr lang="en-US" sz="4000" dirty="0" err="1"/>
              <a:t>Kanade</a:t>
            </a:r>
            <a:r>
              <a:rPr lang="en-US" sz="4000" dirty="0"/>
              <a:t> Algorithm </a:t>
            </a:r>
          </a:p>
        </p:txBody>
      </p:sp>
    </p:spTree>
    <p:extLst>
      <p:ext uri="{BB962C8B-B14F-4D97-AF65-F5344CB8AC3E}">
        <p14:creationId xmlns:p14="http://schemas.microsoft.com/office/powerpoint/2010/main" val="30379336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BBFD6-BD84-FA62-05B0-67D991531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4DF4-B518-6B72-5FC7-B10966305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The Lucas-</a:t>
            </a:r>
            <a:r>
              <a:rPr lang="en-US" sz="4000" dirty="0" err="1">
                <a:latin typeface="+mn-lt"/>
              </a:rPr>
              <a:t>Kanade</a:t>
            </a:r>
            <a:r>
              <a:rPr lang="en-US" sz="4000" dirty="0">
                <a:latin typeface="+mn-lt"/>
              </a:rPr>
              <a:t> Algorithm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AE76CF-FD31-414C-4702-712489D2BA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Recall the LK linearized equations for the optical flow,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LK algorithm makes the following assumptions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1" dirty="0"/>
                  <a:t>Small motion</a:t>
                </a: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1" dirty="0"/>
                  <a:t>Brightness consistency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1" dirty="0"/>
                  <a:t>Constant flow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AE76CF-FD31-414C-4702-712489D2BA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  <a:blipFill>
                <a:blip r:embed="rId3"/>
                <a:stretch>
                  <a:fillRect l="-1159" t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936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A4DB3-D884-657B-D3E5-486303FFD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3CF5B-C802-126C-0E1D-A815332C9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The Lucas-</a:t>
            </a:r>
            <a:r>
              <a:rPr lang="en-US" sz="4000" dirty="0" err="1">
                <a:latin typeface="+mn-lt"/>
              </a:rPr>
              <a:t>Kanade</a:t>
            </a:r>
            <a:r>
              <a:rPr lang="en-US" sz="4000" dirty="0">
                <a:latin typeface="+mn-lt"/>
              </a:rPr>
              <a:t> Algorithm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793B5E-5A0D-3F6C-2745-BB159F10E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Recall the LK linearized equations for the optical flow,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The brightness consistency energy to be minimized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Using the more compact notation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for the spatial and temporal derivatives of the image intensity we can write a linear system of 25 equations: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 find </a:t>
                </a:r>
                <a:r>
                  <a:rPr lang="en-US" b="1" dirty="0"/>
                  <a:t>least squares estimates </a:t>
                </a:r>
                <a:r>
                  <a:rPr lang="en-US" dirty="0"/>
                  <a:t>for the optical flow,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, at center of patch,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793B5E-5A0D-3F6C-2745-BB159F10E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  <a:blipFill>
                <a:blip r:embed="rId3"/>
                <a:stretch>
                  <a:fillRect l="-1159" t="-2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5411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Iterative Lucas-</a:t>
            </a:r>
            <a:r>
              <a:rPr lang="en-US" sz="4000" dirty="0" err="1">
                <a:latin typeface="+mn-lt"/>
              </a:rPr>
              <a:t>Kanade</a:t>
            </a:r>
            <a:r>
              <a:rPr lang="en-US" sz="4000" dirty="0">
                <a:latin typeface="+mn-lt"/>
              </a:rPr>
              <a:t>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689" y="1012197"/>
            <a:ext cx="11231249" cy="55934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We can apply the </a:t>
            </a:r>
            <a:r>
              <a:rPr lang="en-US" b="1" dirty="0"/>
              <a:t>iterative Lucas-</a:t>
            </a:r>
            <a:r>
              <a:rPr lang="en-US" b="1" dirty="0" err="1"/>
              <a:t>Kanade</a:t>
            </a:r>
            <a:r>
              <a:rPr lang="en-US" b="1" dirty="0"/>
              <a:t> (ilk) </a:t>
            </a:r>
            <a:r>
              <a:rPr lang="en-US" dirty="0"/>
              <a:t>algorithm </a:t>
            </a:r>
          </a:p>
          <a:p>
            <a:r>
              <a:rPr lang="en-US"/>
              <a:t>ilk </a:t>
            </a:r>
            <a:r>
              <a:rPr lang="en-US" dirty="0"/>
              <a:t>applies the Lucas-</a:t>
            </a:r>
            <a:r>
              <a:rPr lang="en-US" dirty="0" err="1"/>
              <a:t>Kanade</a:t>
            </a:r>
            <a:r>
              <a:rPr lang="en-US" dirty="0"/>
              <a:t> algorithm large to small scale iteratively</a:t>
            </a:r>
          </a:p>
          <a:p>
            <a:pPr marL="0" indent="0">
              <a:buNone/>
            </a:pP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Procedure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iLK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(image1, image2):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pyramid1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LaplacianPyramid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(image1)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pyramid2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LaplacianPyramid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(image2)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flow = zeros(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pyramid.shape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for scale in pyramid: # Loop from coarse to fine 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flow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UpSample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(flow) # Up sample flow to scale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warped_image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Warp(pyramid2(scale), flow) # Dense warp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# flow components updated for each scale 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flow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LucasKanade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(pyramid1(scale),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warped_image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 + flow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Filter(flow) # Post processing 	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return flow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10250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Iterative Lucas-</a:t>
            </a:r>
            <a:r>
              <a:rPr lang="en-US" sz="4000" dirty="0" err="1">
                <a:latin typeface="+mn-lt"/>
              </a:rPr>
              <a:t>Kanade</a:t>
            </a:r>
            <a:r>
              <a:rPr lang="en-US" sz="4000" dirty="0">
                <a:latin typeface="+mn-lt"/>
              </a:rPr>
              <a:t>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689" y="1012197"/>
            <a:ext cx="11231249" cy="5593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can apply the </a:t>
            </a:r>
            <a:r>
              <a:rPr lang="en-US" b="1" dirty="0"/>
              <a:t>iterative Lucas-</a:t>
            </a:r>
            <a:r>
              <a:rPr lang="en-US" b="1" dirty="0" err="1"/>
              <a:t>Kanade</a:t>
            </a:r>
            <a:r>
              <a:rPr lang="en-US" b="1" dirty="0"/>
              <a:t> (</a:t>
            </a:r>
            <a:r>
              <a:rPr lang="en-US" b="1" dirty="0" err="1"/>
              <a:t>iKL</a:t>
            </a:r>
            <a:r>
              <a:rPr lang="en-US" b="1" dirty="0"/>
              <a:t>) </a:t>
            </a:r>
            <a:r>
              <a:rPr lang="en-US" dirty="0"/>
              <a:t>algorithm </a:t>
            </a:r>
          </a:p>
          <a:p>
            <a:r>
              <a:rPr lang="en-US" dirty="0" err="1"/>
              <a:t>iLK</a:t>
            </a:r>
            <a:r>
              <a:rPr lang="en-US" dirty="0"/>
              <a:t> applies the Lucas-Kanade algorithm from large to small scale iteratively</a:t>
            </a:r>
          </a:p>
          <a:p>
            <a:pPr marL="0" indent="0">
              <a:buNone/>
            </a:pP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C55C62-710F-4E2C-A201-66BA1C0B7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794" y="1976739"/>
            <a:ext cx="7688614" cy="43002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E4FA3D-D593-455B-8E4C-9EF043E47937}"/>
              </a:ext>
            </a:extLst>
          </p:cNvPr>
          <p:cNvSpPr txBox="1"/>
          <p:nvPr/>
        </p:nvSpPr>
        <p:spPr>
          <a:xfrm>
            <a:off x="4138613" y="6400679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Credit: Sun, et. al,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9620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56AD-D906-FEFD-7FD8-7B84DF60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The Horn-</a:t>
            </a:r>
            <a:r>
              <a:rPr lang="en-US" sz="4000" dirty="0" err="1"/>
              <a:t>Shunck</a:t>
            </a:r>
            <a:r>
              <a:rPr lang="en-US" sz="4000" dirty="0"/>
              <a:t> Algorithm</a:t>
            </a:r>
          </a:p>
        </p:txBody>
      </p:sp>
    </p:spTree>
    <p:extLst>
      <p:ext uri="{BB962C8B-B14F-4D97-AF65-F5344CB8AC3E}">
        <p14:creationId xmlns:p14="http://schemas.microsoft.com/office/powerpoint/2010/main" val="504472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61176-890B-AF8C-244D-D9E442E4C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8FAF-3264-A3E6-D82E-72C8C3FB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The Horn-</a:t>
            </a:r>
            <a:r>
              <a:rPr lang="en-US" sz="4000" dirty="0" err="1">
                <a:latin typeface="+mn-lt"/>
              </a:rPr>
              <a:t>Schunck</a:t>
            </a:r>
            <a:r>
              <a:rPr lang="en-US" sz="4000" dirty="0">
                <a:latin typeface="+mn-lt"/>
              </a:rPr>
              <a:t>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F669F-EB0D-F987-1405-28B20102B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55934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Horn-</a:t>
            </a:r>
            <a:r>
              <a:rPr lang="en-US" b="1" dirty="0" err="1"/>
              <a:t>Schunck</a:t>
            </a:r>
            <a:r>
              <a:rPr lang="en-US" b="1" dirty="0"/>
              <a:t> algorithm </a:t>
            </a:r>
            <a:r>
              <a:rPr lang="en-US" dirty="0"/>
              <a:t>uses a different set of assumptions from Lucas-</a:t>
            </a:r>
            <a:r>
              <a:rPr lang="en-US" dirty="0" err="1"/>
              <a:t>Kanade</a:t>
            </a:r>
            <a:r>
              <a:rPr lang="en-US" dirty="0"/>
              <a:t> algorithm   </a:t>
            </a:r>
          </a:p>
          <a:p>
            <a:r>
              <a:rPr lang="en-US" dirty="0"/>
              <a:t>Both algorithms assume </a:t>
            </a:r>
            <a:r>
              <a:rPr lang="en-US" b="1" dirty="0"/>
              <a:t>small motion</a:t>
            </a:r>
            <a:endParaRPr lang="en-US" dirty="0"/>
          </a:p>
          <a:p>
            <a:r>
              <a:rPr lang="en-US" dirty="0"/>
              <a:t>Both methods enforce </a:t>
            </a:r>
            <a:r>
              <a:rPr lang="en-US" b="1" dirty="0"/>
              <a:t>brightness consistency  </a:t>
            </a:r>
          </a:p>
          <a:p>
            <a:r>
              <a:rPr lang="en-US" dirty="0"/>
              <a:t>Lucas-</a:t>
            </a:r>
            <a:r>
              <a:rPr lang="en-US" dirty="0" err="1"/>
              <a:t>Kanade</a:t>
            </a:r>
            <a:r>
              <a:rPr lang="en-US" dirty="0"/>
              <a:t> enforces </a:t>
            </a:r>
            <a:r>
              <a:rPr lang="en-US" b="1" dirty="0"/>
              <a:t>constant flow</a:t>
            </a:r>
          </a:p>
          <a:p>
            <a:r>
              <a:rPr lang="en-US" dirty="0"/>
              <a:t>Horn-</a:t>
            </a:r>
            <a:r>
              <a:rPr lang="en-US" dirty="0" err="1"/>
              <a:t>Schunck</a:t>
            </a:r>
            <a:r>
              <a:rPr lang="en-US" dirty="0"/>
              <a:t> enforces </a:t>
            </a:r>
            <a:r>
              <a:rPr lang="en-US" b="1" dirty="0"/>
              <a:t>smooth flow</a:t>
            </a:r>
          </a:p>
          <a:p>
            <a:pPr lvl="1"/>
            <a:r>
              <a:rPr lang="en-US" dirty="0"/>
              <a:t>The smooth flow constraint is a </a:t>
            </a:r>
            <a:r>
              <a:rPr lang="en-US" b="1" dirty="0"/>
              <a:t>regularization method</a:t>
            </a:r>
          </a:p>
          <a:p>
            <a:pPr lvl="1"/>
            <a:r>
              <a:rPr lang="en-US" dirty="0"/>
              <a:t>Can find solution even when covariance eigenvalues are small or zero</a:t>
            </a:r>
          </a:p>
        </p:txBody>
      </p:sp>
    </p:spTree>
    <p:extLst>
      <p:ext uri="{BB962C8B-B14F-4D97-AF65-F5344CB8AC3E}">
        <p14:creationId xmlns:p14="http://schemas.microsoft.com/office/powerpoint/2010/main" val="386781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The Horn-</a:t>
            </a:r>
            <a:r>
              <a:rPr lang="en-US" sz="4000" dirty="0" err="1">
                <a:latin typeface="+mn-lt"/>
              </a:rPr>
              <a:t>Schunck</a:t>
            </a:r>
            <a:r>
              <a:rPr lang="en-US" sz="4000" dirty="0">
                <a:latin typeface="+mn-lt"/>
              </a:rPr>
              <a:t>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Formulation of </a:t>
                </a:r>
                <a:r>
                  <a:rPr lang="en-US" b="1" dirty="0"/>
                  <a:t>Horn-</a:t>
                </a:r>
                <a:r>
                  <a:rPr lang="en-US" b="1" dirty="0" err="1"/>
                  <a:t>Schunck</a:t>
                </a:r>
                <a:r>
                  <a:rPr lang="en-US" b="1" dirty="0"/>
                  <a:t> algorithm </a:t>
                </a:r>
                <a:r>
                  <a:rPr lang="en-US" dirty="0"/>
                  <a:t>similar to Lucas-</a:t>
                </a:r>
                <a:r>
                  <a:rPr lang="en-US" dirty="0" err="1"/>
                  <a:t>Kanade</a:t>
                </a:r>
                <a:endParaRPr lang="en-US" dirty="0"/>
              </a:p>
              <a:p>
                <a:r>
                  <a:rPr lang="en-US" dirty="0"/>
                  <a:t>Formulate Horn-</a:t>
                </a:r>
                <a:r>
                  <a:rPr lang="en-US" dirty="0" err="1"/>
                  <a:t>Schunck</a:t>
                </a:r>
                <a:r>
                  <a:rPr lang="en-US" dirty="0"/>
                  <a:t> in terms minimizing an </a:t>
                </a:r>
                <a:r>
                  <a:rPr lang="en-US" b="1" dirty="0"/>
                  <a:t>energy function </a:t>
                </a:r>
                <a:r>
                  <a:rPr lang="en-US" dirty="0"/>
                  <a:t>with two components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brightness energy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smoothness energy</a:t>
                </a:r>
              </a:p>
              <a:p>
                <a:r>
                  <a:rPr lang="en-US" dirty="0"/>
                  <a:t>We have a relationship for brightness consistency following Lucas-</a:t>
                </a:r>
                <a:r>
                  <a:rPr lang="en-US" dirty="0" err="1"/>
                  <a:t>Kanade</a:t>
                </a:r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b="1" dirty="0"/>
                  <a:t>energy</a:t>
                </a:r>
                <a:r>
                  <a:rPr lang="en-US" dirty="0"/>
                  <a:t> arising from enforcing brightness consistency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  <a:blipFill>
                <a:blip r:embed="rId3"/>
                <a:stretch>
                  <a:fillRect l="-1159" t="-1743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256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The Horn-</a:t>
            </a:r>
            <a:r>
              <a:rPr lang="en-US" sz="4000" dirty="0" err="1">
                <a:latin typeface="+mn-lt"/>
              </a:rPr>
              <a:t>Schunck</a:t>
            </a:r>
            <a:r>
              <a:rPr lang="en-US" sz="4000" dirty="0">
                <a:latin typeface="+mn-lt"/>
              </a:rPr>
              <a:t>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21228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Formulation of </a:t>
            </a:r>
            <a:r>
              <a:rPr lang="en-US" b="1" dirty="0"/>
              <a:t>Horn-</a:t>
            </a:r>
            <a:r>
              <a:rPr lang="en-US" b="1" dirty="0" err="1"/>
              <a:t>Schunck</a:t>
            </a:r>
            <a:r>
              <a:rPr lang="en-US" b="1" dirty="0"/>
              <a:t> algorithm </a:t>
            </a:r>
            <a:r>
              <a:rPr lang="en-US" dirty="0"/>
              <a:t>similar to Lucas-</a:t>
            </a:r>
            <a:r>
              <a:rPr lang="en-US" dirty="0" err="1"/>
              <a:t>Kanade</a:t>
            </a:r>
            <a:endParaRPr lang="en-US" dirty="0"/>
          </a:p>
          <a:p>
            <a:r>
              <a:rPr lang="en-US" dirty="0"/>
              <a:t>How do we express the smoothness energy?    </a:t>
            </a:r>
          </a:p>
          <a:p>
            <a:r>
              <a:rPr lang="en-US" dirty="0"/>
              <a:t>Start with neighbor relations for </a:t>
            </a:r>
            <a:r>
              <a:rPr lang="en-US" i="1" dirty="0"/>
              <a:t>u</a:t>
            </a:r>
            <a:r>
              <a:rPr lang="en-US" dirty="0"/>
              <a:t> and </a:t>
            </a:r>
            <a:r>
              <a:rPr lang="en-US" i="1" dirty="0"/>
              <a:t>v</a:t>
            </a:r>
            <a:r>
              <a:rPr lang="en-US" dirty="0"/>
              <a:t> </a:t>
            </a:r>
          </a:p>
          <a:p>
            <a:r>
              <a:rPr lang="en-US" dirty="0"/>
              <a:t>Compute the flow differences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68CA305-C4C5-4ECD-BB19-41690D291883}"/>
              </a:ext>
            </a:extLst>
          </p:cNvPr>
          <p:cNvCxnSpPr/>
          <p:nvPr/>
        </p:nvCxnSpPr>
        <p:spPr>
          <a:xfrm>
            <a:off x="1648520" y="3732767"/>
            <a:ext cx="0" cy="1824317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3B2ED22-E0F4-44F5-847B-CACAB49E0ECD}"/>
              </a:ext>
            </a:extLst>
          </p:cNvPr>
          <p:cNvCxnSpPr>
            <a:cxnSpLocks/>
          </p:cNvCxnSpPr>
          <p:nvPr/>
        </p:nvCxnSpPr>
        <p:spPr>
          <a:xfrm>
            <a:off x="723480" y="4624755"/>
            <a:ext cx="1874018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38E90DD-929D-4D54-AA21-DFABDC3D799A}"/>
              </a:ext>
            </a:extLst>
          </p:cNvPr>
          <p:cNvSpPr txBox="1"/>
          <p:nvPr/>
        </p:nvSpPr>
        <p:spPr>
          <a:xfrm>
            <a:off x="2265903" y="4183260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 + 1, j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02E6DA-982C-4296-A606-F8BBEA196A78}"/>
              </a:ext>
            </a:extLst>
          </p:cNvPr>
          <p:cNvSpPr txBox="1"/>
          <p:nvPr/>
        </p:nvSpPr>
        <p:spPr>
          <a:xfrm>
            <a:off x="1393371" y="4615896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063C4-AB07-4B17-A36E-B748E71BBD6B}"/>
              </a:ext>
            </a:extLst>
          </p:cNvPr>
          <p:cNvSpPr txBox="1"/>
          <p:nvPr/>
        </p:nvSpPr>
        <p:spPr>
          <a:xfrm>
            <a:off x="510249" y="4134062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 - 1, j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BD735-65B7-4FAC-8F2C-C8160C2C6E0E}"/>
              </a:ext>
            </a:extLst>
          </p:cNvPr>
          <p:cNvSpPr txBox="1"/>
          <p:nvPr/>
        </p:nvSpPr>
        <p:spPr>
          <a:xfrm>
            <a:off x="1632856" y="5175254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 - 1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7F2FB8-FB11-4589-9F10-C34641DED5DB}"/>
              </a:ext>
            </a:extLst>
          </p:cNvPr>
          <p:cNvSpPr txBox="1"/>
          <p:nvPr/>
        </p:nvSpPr>
        <p:spPr>
          <a:xfrm>
            <a:off x="1632856" y="3546641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 +1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134AFA-8331-459D-BC1F-316AC97557DA}"/>
              </a:ext>
            </a:extLst>
          </p:cNvPr>
          <p:cNvCxnSpPr/>
          <p:nvPr/>
        </p:nvCxnSpPr>
        <p:spPr>
          <a:xfrm>
            <a:off x="4564217" y="3732767"/>
            <a:ext cx="0" cy="1824317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9A0D334-6B60-4C99-8D0B-A1FBF8D29D92}"/>
              </a:ext>
            </a:extLst>
          </p:cNvPr>
          <p:cNvCxnSpPr>
            <a:cxnSpLocks/>
          </p:cNvCxnSpPr>
          <p:nvPr/>
        </p:nvCxnSpPr>
        <p:spPr>
          <a:xfrm>
            <a:off x="3639177" y="4624755"/>
            <a:ext cx="1874018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D6440E1-6E1B-48A9-B36C-06573E36BFA5}"/>
              </a:ext>
            </a:extLst>
          </p:cNvPr>
          <p:cNvSpPr txBox="1"/>
          <p:nvPr/>
        </p:nvSpPr>
        <p:spPr>
          <a:xfrm>
            <a:off x="5181600" y="4183260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 + 1, j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EF885F-2EF0-4F4A-94F5-C0DC7E0B8D78}"/>
              </a:ext>
            </a:extLst>
          </p:cNvPr>
          <p:cNvSpPr txBox="1"/>
          <p:nvPr/>
        </p:nvSpPr>
        <p:spPr>
          <a:xfrm>
            <a:off x="4309068" y="4615896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DDCC8C-1DE0-4F0F-B42A-5C1A3FA9673C}"/>
              </a:ext>
            </a:extLst>
          </p:cNvPr>
          <p:cNvSpPr txBox="1"/>
          <p:nvPr/>
        </p:nvSpPr>
        <p:spPr>
          <a:xfrm>
            <a:off x="3425946" y="4134062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 - 1, j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43A627-AABB-4A1F-BFC6-28A41ED48196}"/>
              </a:ext>
            </a:extLst>
          </p:cNvPr>
          <p:cNvSpPr txBox="1"/>
          <p:nvPr/>
        </p:nvSpPr>
        <p:spPr>
          <a:xfrm>
            <a:off x="4548553" y="5175254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 - 1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5FE79A-1FD4-4427-AA47-190C9AE29F11}"/>
              </a:ext>
            </a:extLst>
          </p:cNvPr>
          <p:cNvSpPr txBox="1"/>
          <p:nvPr/>
        </p:nvSpPr>
        <p:spPr>
          <a:xfrm>
            <a:off x="4612465" y="3539506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 +1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D551F8C-0E47-4D43-AD88-0B0BB3790F63}"/>
              </a:ext>
            </a:extLst>
          </p:cNvPr>
          <p:cNvCxnSpPr/>
          <p:nvPr/>
        </p:nvCxnSpPr>
        <p:spPr>
          <a:xfrm>
            <a:off x="7479914" y="3732767"/>
            <a:ext cx="0" cy="1824317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1E95E30-F37C-471B-9EFA-99B1920FEBC3}"/>
              </a:ext>
            </a:extLst>
          </p:cNvPr>
          <p:cNvCxnSpPr>
            <a:cxnSpLocks/>
          </p:cNvCxnSpPr>
          <p:nvPr/>
        </p:nvCxnSpPr>
        <p:spPr>
          <a:xfrm>
            <a:off x="6554874" y="4624755"/>
            <a:ext cx="1874018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5A4BABA-802C-409E-8063-F2A73DE3CE3C}"/>
              </a:ext>
            </a:extLst>
          </p:cNvPr>
          <p:cNvSpPr txBox="1"/>
          <p:nvPr/>
        </p:nvSpPr>
        <p:spPr>
          <a:xfrm>
            <a:off x="8097297" y="4183260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 + 1, j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D40386-3B6E-45F2-8F08-A73CB39F6F88}"/>
              </a:ext>
            </a:extLst>
          </p:cNvPr>
          <p:cNvSpPr txBox="1"/>
          <p:nvPr/>
        </p:nvSpPr>
        <p:spPr>
          <a:xfrm>
            <a:off x="7224765" y="4615896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C28156-332A-4EA2-9A86-E507C3EECA65}"/>
              </a:ext>
            </a:extLst>
          </p:cNvPr>
          <p:cNvSpPr txBox="1"/>
          <p:nvPr/>
        </p:nvSpPr>
        <p:spPr>
          <a:xfrm>
            <a:off x="6341643" y="4134062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 - 1, j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D03B63-A325-4760-8540-6F0688558317}"/>
              </a:ext>
            </a:extLst>
          </p:cNvPr>
          <p:cNvSpPr txBox="1"/>
          <p:nvPr/>
        </p:nvSpPr>
        <p:spPr>
          <a:xfrm>
            <a:off x="7464250" y="5175254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 - 1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DC84F6-9CE5-4A9A-B7FD-7460F6DC816E}"/>
              </a:ext>
            </a:extLst>
          </p:cNvPr>
          <p:cNvSpPr txBox="1"/>
          <p:nvPr/>
        </p:nvSpPr>
        <p:spPr>
          <a:xfrm>
            <a:off x="7464250" y="3546641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 +1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9AA99F9-7FBB-4EEB-BA04-93F4D01AF466}"/>
              </a:ext>
            </a:extLst>
          </p:cNvPr>
          <p:cNvCxnSpPr/>
          <p:nvPr/>
        </p:nvCxnSpPr>
        <p:spPr>
          <a:xfrm>
            <a:off x="10395611" y="3732767"/>
            <a:ext cx="0" cy="1824317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4E31838-2E46-4F39-B1BE-B428ADBFC487}"/>
              </a:ext>
            </a:extLst>
          </p:cNvPr>
          <p:cNvCxnSpPr>
            <a:cxnSpLocks/>
          </p:cNvCxnSpPr>
          <p:nvPr/>
        </p:nvCxnSpPr>
        <p:spPr>
          <a:xfrm>
            <a:off x="9470571" y="4624755"/>
            <a:ext cx="1874018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CE29C70-B605-4246-8F67-16145077C5E4}"/>
              </a:ext>
            </a:extLst>
          </p:cNvPr>
          <p:cNvSpPr txBox="1"/>
          <p:nvPr/>
        </p:nvSpPr>
        <p:spPr>
          <a:xfrm>
            <a:off x="11012994" y="4183260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 + 1, j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51799B-B416-4EDD-88BE-9E316014CD3F}"/>
              </a:ext>
            </a:extLst>
          </p:cNvPr>
          <p:cNvSpPr txBox="1"/>
          <p:nvPr/>
        </p:nvSpPr>
        <p:spPr>
          <a:xfrm>
            <a:off x="10140462" y="4615896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7875C1-7654-4356-BD7D-FBF76AA032DA}"/>
              </a:ext>
            </a:extLst>
          </p:cNvPr>
          <p:cNvSpPr txBox="1"/>
          <p:nvPr/>
        </p:nvSpPr>
        <p:spPr>
          <a:xfrm>
            <a:off x="9257340" y="4134062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 - 1, j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CDE5C4-B50A-490B-AF90-321D8F8F4382}"/>
              </a:ext>
            </a:extLst>
          </p:cNvPr>
          <p:cNvSpPr txBox="1"/>
          <p:nvPr/>
        </p:nvSpPr>
        <p:spPr>
          <a:xfrm>
            <a:off x="10379947" y="5175254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 - 1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FDE204-8B03-48C6-A014-5D2B9BC5C694}"/>
              </a:ext>
            </a:extLst>
          </p:cNvPr>
          <p:cNvSpPr txBox="1"/>
          <p:nvPr/>
        </p:nvSpPr>
        <p:spPr>
          <a:xfrm>
            <a:off x="10379947" y="3546641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 +1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16CC96-B231-40E0-9C30-84C3CD50DCB4}"/>
              </a:ext>
            </a:extLst>
          </p:cNvPr>
          <p:cNvCxnSpPr>
            <a:cxnSpLocks/>
          </p:cNvCxnSpPr>
          <p:nvPr/>
        </p:nvCxnSpPr>
        <p:spPr>
          <a:xfrm>
            <a:off x="1632856" y="4624754"/>
            <a:ext cx="964642" cy="1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BED041F-22D5-49AC-A340-487E07D7CC96}"/>
              </a:ext>
            </a:extLst>
          </p:cNvPr>
          <p:cNvCxnSpPr>
            <a:cxnSpLocks/>
          </p:cNvCxnSpPr>
          <p:nvPr/>
        </p:nvCxnSpPr>
        <p:spPr>
          <a:xfrm flipH="1">
            <a:off x="4565340" y="3777473"/>
            <a:ext cx="10846" cy="828338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AEB9411-6C0F-4371-8FCE-CCE49AAC4F6C}"/>
                  </a:ext>
                </a:extLst>
              </p:cNvPr>
              <p:cNvSpPr txBox="1"/>
              <p:nvPr/>
            </p:nvSpPr>
            <p:spPr>
              <a:xfrm>
                <a:off x="909375" y="5663650"/>
                <a:ext cx="1874017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AEB9411-6C0F-4371-8FCE-CCE49AAC4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75" y="5663650"/>
                <a:ext cx="1874017" cy="491417"/>
              </a:xfrm>
              <a:prstGeom prst="rect">
                <a:avLst/>
              </a:prstGeom>
              <a:blipFill>
                <a:blip r:embed="rId3"/>
                <a:stretch>
                  <a:fillRect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0392669-72A2-4092-89E2-88B185D3767B}"/>
                  </a:ext>
                </a:extLst>
              </p:cNvPr>
              <p:cNvSpPr txBox="1"/>
              <p:nvPr/>
            </p:nvSpPr>
            <p:spPr>
              <a:xfrm>
                <a:off x="3797438" y="5639656"/>
                <a:ext cx="1874017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0392669-72A2-4092-89E2-88B185D37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438" y="5639656"/>
                <a:ext cx="1874017" cy="491417"/>
              </a:xfrm>
              <a:prstGeom prst="rect">
                <a:avLst/>
              </a:prstGeom>
              <a:blipFill>
                <a:blip r:embed="rId4"/>
                <a:stretch>
                  <a:fillRect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AF1B1FB-2642-458F-AE2F-752D556A0051}"/>
                  </a:ext>
                </a:extLst>
              </p:cNvPr>
              <p:cNvSpPr txBox="1"/>
              <p:nvPr/>
            </p:nvSpPr>
            <p:spPr>
              <a:xfrm>
                <a:off x="6713135" y="5639655"/>
                <a:ext cx="1874017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AF1B1FB-2642-458F-AE2F-752D556A0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3135" y="5639655"/>
                <a:ext cx="1874017" cy="491417"/>
              </a:xfrm>
              <a:prstGeom prst="rect">
                <a:avLst/>
              </a:prstGeom>
              <a:blipFill>
                <a:blip r:embed="rId5"/>
                <a:stretch>
                  <a:fillRect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FE04A6-84DA-42E7-AE99-B92B0B6E9D8D}"/>
                  </a:ext>
                </a:extLst>
              </p:cNvPr>
              <p:cNvSpPr txBox="1"/>
              <p:nvPr/>
            </p:nvSpPr>
            <p:spPr>
              <a:xfrm>
                <a:off x="9656465" y="5638400"/>
                <a:ext cx="1874017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FE04A6-84DA-42E7-AE99-B92B0B6E9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6465" y="5638400"/>
                <a:ext cx="1874017" cy="491417"/>
              </a:xfrm>
              <a:prstGeom prst="rect">
                <a:avLst/>
              </a:prstGeom>
              <a:blipFill>
                <a:blip r:embed="rId6"/>
                <a:stretch>
                  <a:fillRect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72A7415-499A-49E2-9F90-A31002B34547}"/>
              </a:ext>
            </a:extLst>
          </p:cNvPr>
          <p:cNvCxnSpPr>
            <a:cxnSpLocks/>
          </p:cNvCxnSpPr>
          <p:nvPr/>
        </p:nvCxnSpPr>
        <p:spPr>
          <a:xfrm>
            <a:off x="7464249" y="4620324"/>
            <a:ext cx="964642" cy="1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8F9ACD4-DC7B-4352-9E6C-67FDA6302FFD}"/>
              </a:ext>
            </a:extLst>
          </p:cNvPr>
          <p:cNvCxnSpPr>
            <a:cxnSpLocks/>
          </p:cNvCxnSpPr>
          <p:nvPr/>
        </p:nvCxnSpPr>
        <p:spPr>
          <a:xfrm flipH="1">
            <a:off x="10390188" y="3776248"/>
            <a:ext cx="10846" cy="828338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78E654D-7BDD-4F49-84A7-AD8E44519212}"/>
                  </a:ext>
                </a:extLst>
              </p:cNvPr>
              <p:cNvSpPr txBox="1"/>
              <p:nvPr/>
            </p:nvSpPr>
            <p:spPr>
              <a:xfrm>
                <a:off x="1730040" y="4132106"/>
                <a:ext cx="3574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78E654D-7BDD-4F49-84A7-AD8E44519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040" y="4132106"/>
                <a:ext cx="357450" cy="461665"/>
              </a:xfrm>
              <a:prstGeom prst="rect">
                <a:avLst/>
              </a:prstGeom>
              <a:blipFill>
                <a:blip r:embed="rId7"/>
                <a:stretch>
                  <a:fillRect l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8F8AB3F-4B7C-41DD-8795-ABECD60F99DF}"/>
                  </a:ext>
                </a:extLst>
              </p:cNvPr>
              <p:cNvSpPr txBox="1"/>
              <p:nvPr/>
            </p:nvSpPr>
            <p:spPr>
              <a:xfrm>
                <a:off x="4655944" y="4128758"/>
                <a:ext cx="3574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8F8AB3F-4B7C-41DD-8795-ABECD60F9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944" y="4128758"/>
                <a:ext cx="357450" cy="461665"/>
              </a:xfrm>
              <a:prstGeom prst="rect">
                <a:avLst/>
              </a:prstGeom>
              <a:blipFill>
                <a:blip r:embed="rId8"/>
                <a:stretch>
                  <a:fillRect l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50D2DFD-98A8-49BC-976D-E993093FE386}"/>
                  </a:ext>
                </a:extLst>
              </p:cNvPr>
              <p:cNvSpPr txBox="1"/>
              <p:nvPr/>
            </p:nvSpPr>
            <p:spPr>
              <a:xfrm>
                <a:off x="7581848" y="4125410"/>
                <a:ext cx="3574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50D2DFD-98A8-49BC-976D-E993093FE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1848" y="4125410"/>
                <a:ext cx="357450" cy="461665"/>
              </a:xfrm>
              <a:prstGeom prst="rect">
                <a:avLst/>
              </a:prstGeom>
              <a:blipFill>
                <a:blip r:embed="rId9"/>
                <a:stretch>
                  <a:fillRect l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02F08CF-9E90-478A-BD8B-EF65984FF1D9}"/>
                  </a:ext>
                </a:extLst>
              </p:cNvPr>
              <p:cNvSpPr txBox="1"/>
              <p:nvPr/>
            </p:nvSpPr>
            <p:spPr>
              <a:xfrm>
                <a:off x="10507752" y="4122062"/>
                <a:ext cx="3574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02F08CF-9E90-478A-BD8B-EF65984FF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7752" y="4122062"/>
                <a:ext cx="357450" cy="461665"/>
              </a:xfrm>
              <a:prstGeom prst="rect">
                <a:avLst/>
              </a:prstGeom>
              <a:blipFill>
                <a:blip r:embed="rId10"/>
                <a:stretch>
                  <a:fillRect l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239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6" grpId="0"/>
      <p:bldP spid="17" grpId="0"/>
      <p:bldP spid="18" grpId="0"/>
      <p:bldP spid="19" grpId="0"/>
      <p:bldP spid="20" grpId="0"/>
      <p:bldP spid="23" grpId="0"/>
      <p:bldP spid="24" grpId="0"/>
      <p:bldP spid="25" grpId="0"/>
      <p:bldP spid="26" grpId="0"/>
      <p:bldP spid="27" grpId="0"/>
      <p:bldP spid="30" grpId="0"/>
      <p:bldP spid="31" grpId="0"/>
      <p:bldP spid="32" grpId="0"/>
      <p:bldP spid="33" grpId="0"/>
      <p:bldP spid="34" grpId="0"/>
      <p:bldP spid="41" grpId="0"/>
      <p:bldP spid="42" grpId="0"/>
      <p:bldP spid="43" grpId="0"/>
      <p:bldP spid="44" grpId="0"/>
      <p:bldP spid="46" grpId="0"/>
      <p:bldP spid="47" grpId="0"/>
      <p:bldP spid="48" grpId="0"/>
      <p:bldP spid="4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The Horn-</a:t>
            </a:r>
            <a:r>
              <a:rPr lang="en-US" sz="4000" dirty="0" err="1">
                <a:latin typeface="+mn-lt"/>
              </a:rPr>
              <a:t>Schunck</a:t>
            </a:r>
            <a:r>
              <a:rPr lang="en-US" sz="4000" dirty="0">
                <a:latin typeface="+mn-lt"/>
              </a:rPr>
              <a:t>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8"/>
                <a:ext cx="11102662" cy="533836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Formulation of </a:t>
                </a:r>
                <a:r>
                  <a:rPr lang="en-US" b="1" dirty="0"/>
                  <a:t>Horn-</a:t>
                </a:r>
                <a:r>
                  <a:rPr lang="en-US" b="1" dirty="0" err="1"/>
                  <a:t>Schunck</a:t>
                </a:r>
                <a:r>
                  <a:rPr lang="en-US" b="1" dirty="0"/>
                  <a:t> algorithm </a:t>
                </a:r>
                <a:r>
                  <a:rPr lang="en-US" dirty="0"/>
                  <a:t>similar to Lucas-</a:t>
                </a:r>
                <a:r>
                  <a:rPr lang="en-US" dirty="0" err="1"/>
                  <a:t>Kanade</a:t>
                </a:r>
                <a:endParaRPr lang="en-US" dirty="0"/>
              </a:p>
              <a:p>
                <a:r>
                  <a:rPr lang="en-US" dirty="0"/>
                  <a:t>How do we express the smoothness energy?   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+1,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+1,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8"/>
                <a:ext cx="11102662" cy="5338369"/>
              </a:xfrm>
              <a:blipFill>
                <a:blip r:embed="rId3"/>
                <a:stretch>
                  <a:fillRect l="-1098" t="-1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17FC754-4213-4446-9958-D23ABFBF49BD}"/>
              </a:ext>
            </a:extLst>
          </p:cNvPr>
          <p:cNvCxnSpPr/>
          <p:nvPr/>
        </p:nvCxnSpPr>
        <p:spPr>
          <a:xfrm>
            <a:off x="1598278" y="2470705"/>
            <a:ext cx="0" cy="1824317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A77E29F-CFBF-4ED4-8772-2F1CAB0ABB7B}"/>
              </a:ext>
            </a:extLst>
          </p:cNvPr>
          <p:cNvCxnSpPr>
            <a:cxnSpLocks/>
          </p:cNvCxnSpPr>
          <p:nvPr/>
        </p:nvCxnSpPr>
        <p:spPr>
          <a:xfrm>
            <a:off x="673238" y="3362693"/>
            <a:ext cx="1874018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34B0DCC-7C7A-49A6-922B-6650A8FF9D69}"/>
              </a:ext>
            </a:extLst>
          </p:cNvPr>
          <p:cNvSpPr txBox="1"/>
          <p:nvPr/>
        </p:nvSpPr>
        <p:spPr>
          <a:xfrm>
            <a:off x="2215661" y="2921198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 + 1, j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77E810-2B94-47AA-AEE7-C87D458130AA}"/>
              </a:ext>
            </a:extLst>
          </p:cNvPr>
          <p:cNvSpPr txBox="1"/>
          <p:nvPr/>
        </p:nvSpPr>
        <p:spPr>
          <a:xfrm>
            <a:off x="1343129" y="3353834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7FA04B-A3D5-4E6A-9553-5709CC5862C5}"/>
              </a:ext>
            </a:extLst>
          </p:cNvPr>
          <p:cNvSpPr txBox="1"/>
          <p:nvPr/>
        </p:nvSpPr>
        <p:spPr>
          <a:xfrm>
            <a:off x="460007" y="2872000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 - 1, j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AE8B99-0401-4DDA-ADCD-5ABA714BBCA1}"/>
              </a:ext>
            </a:extLst>
          </p:cNvPr>
          <p:cNvSpPr txBox="1"/>
          <p:nvPr/>
        </p:nvSpPr>
        <p:spPr>
          <a:xfrm>
            <a:off x="1582614" y="3913192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 - 1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0FCF36-7FD3-4C7A-828C-19D648668F38}"/>
              </a:ext>
            </a:extLst>
          </p:cNvPr>
          <p:cNvSpPr txBox="1"/>
          <p:nvPr/>
        </p:nvSpPr>
        <p:spPr>
          <a:xfrm>
            <a:off x="1582614" y="2284579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 +1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E01D891-AD73-4D1D-8625-664025FD1CD4}"/>
              </a:ext>
            </a:extLst>
          </p:cNvPr>
          <p:cNvCxnSpPr/>
          <p:nvPr/>
        </p:nvCxnSpPr>
        <p:spPr>
          <a:xfrm>
            <a:off x="4513975" y="2470705"/>
            <a:ext cx="0" cy="1824317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E570D93-A0D3-4995-888F-0C1F4B088C71}"/>
              </a:ext>
            </a:extLst>
          </p:cNvPr>
          <p:cNvCxnSpPr>
            <a:cxnSpLocks/>
          </p:cNvCxnSpPr>
          <p:nvPr/>
        </p:nvCxnSpPr>
        <p:spPr>
          <a:xfrm>
            <a:off x="3588935" y="3362693"/>
            <a:ext cx="1874018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A0AB16F-7F9A-4F73-B689-25BEF935C029}"/>
              </a:ext>
            </a:extLst>
          </p:cNvPr>
          <p:cNvSpPr txBox="1"/>
          <p:nvPr/>
        </p:nvSpPr>
        <p:spPr>
          <a:xfrm>
            <a:off x="5131358" y="2921198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 + 1, j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C448A90-C88D-4AA5-8B5C-8F3C4B32AFF4}"/>
              </a:ext>
            </a:extLst>
          </p:cNvPr>
          <p:cNvSpPr txBox="1"/>
          <p:nvPr/>
        </p:nvSpPr>
        <p:spPr>
          <a:xfrm>
            <a:off x="4258826" y="3353834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7F884C5-E104-4E23-93AB-3DF65C7CC162}"/>
              </a:ext>
            </a:extLst>
          </p:cNvPr>
          <p:cNvSpPr txBox="1"/>
          <p:nvPr/>
        </p:nvSpPr>
        <p:spPr>
          <a:xfrm>
            <a:off x="3375704" y="2872000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 - 1, j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DF4FF0-B043-436C-81FE-B15FE0D5C945}"/>
              </a:ext>
            </a:extLst>
          </p:cNvPr>
          <p:cNvSpPr txBox="1"/>
          <p:nvPr/>
        </p:nvSpPr>
        <p:spPr>
          <a:xfrm>
            <a:off x="4498311" y="3913192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 - 1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D3A82A-642E-4C34-8A1A-2DC3405CFA13}"/>
              </a:ext>
            </a:extLst>
          </p:cNvPr>
          <p:cNvSpPr txBox="1"/>
          <p:nvPr/>
        </p:nvSpPr>
        <p:spPr>
          <a:xfrm>
            <a:off x="4562223" y="2277444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 +1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23347BC-67FF-42B0-85E6-DFBC5A7840DF}"/>
              </a:ext>
            </a:extLst>
          </p:cNvPr>
          <p:cNvCxnSpPr/>
          <p:nvPr/>
        </p:nvCxnSpPr>
        <p:spPr>
          <a:xfrm>
            <a:off x="7429672" y="2470705"/>
            <a:ext cx="0" cy="1824317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2C5F29D-DF92-452F-8A8C-64D301F23FC1}"/>
              </a:ext>
            </a:extLst>
          </p:cNvPr>
          <p:cNvCxnSpPr>
            <a:cxnSpLocks/>
          </p:cNvCxnSpPr>
          <p:nvPr/>
        </p:nvCxnSpPr>
        <p:spPr>
          <a:xfrm>
            <a:off x="6504632" y="3362693"/>
            <a:ext cx="1874018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CFEADAD-7451-4489-A8AE-79D2F0D4A3F2}"/>
              </a:ext>
            </a:extLst>
          </p:cNvPr>
          <p:cNvSpPr txBox="1"/>
          <p:nvPr/>
        </p:nvSpPr>
        <p:spPr>
          <a:xfrm>
            <a:off x="8047055" y="2921198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 + 1, j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99F07BE-49B0-4199-A467-E21CEC90466E}"/>
              </a:ext>
            </a:extLst>
          </p:cNvPr>
          <p:cNvSpPr txBox="1"/>
          <p:nvPr/>
        </p:nvSpPr>
        <p:spPr>
          <a:xfrm>
            <a:off x="7174523" y="3353834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A25F8E-587C-4ECF-9A86-CA9616D6C22C}"/>
              </a:ext>
            </a:extLst>
          </p:cNvPr>
          <p:cNvSpPr txBox="1"/>
          <p:nvPr/>
        </p:nvSpPr>
        <p:spPr>
          <a:xfrm>
            <a:off x="6291401" y="2872000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 - 1, j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2D4A1A-D1B5-481E-ACE3-F936D22DA8F0}"/>
              </a:ext>
            </a:extLst>
          </p:cNvPr>
          <p:cNvSpPr txBox="1"/>
          <p:nvPr/>
        </p:nvSpPr>
        <p:spPr>
          <a:xfrm>
            <a:off x="7414008" y="3913192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 - 1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8BDF7BE-D0F5-4B13-B77D-CCA0D6E76E07}"/>
              </a:ext>
            </a:extLst>
          </p:cNvPr>
          <p:cNvSpPr txBox="1"/>
          <p:nvPr/>
        </p:nvSpPr>
        <p:spPr>
          <a:xfrm>
            <a:off x="7414008" y="2284579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 +1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584E015-DCCD-4FFA-8909-6C74CCBFB229}"/>
              </a:ext>
            </a:extLst>
          </p:cNvPr>
          <p:cNvCxnSpPr/>
          <p:nvPr/>
        </p:nvCxnSpPr>
        <p:spPr>
          <a:xfrm>
            <a:off x="10345369" y="2470705"/>
            <a:ext cx="0" cy="1824317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307A2A9-4833-47E8-9948-BAFB378EEA34}"/>
              </a:ext>
            </a:extLst>
          </p:cNvPr>
          <p:cNvCxnSpPr>
            <a:cxnSpLocks/>
          </p:cNvCxnSpPr>
          <p:nvPr/>
        </p:nvCxnSpPr>
        <p:spPr>
          <a:xfrm>
            <a:off x="9420329" y="3362693"/>
            <a:ext cx="1874018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C09806D-959B-467D-91DE-D6CAC8C04826}"/>
              </a:ext>
            </a:extLst>
          </p:cNvPr>
          <p:cNvSpPr txBox="1"/>
          <p:nvPr/>
        </p:nvSpPr>
        <p:spPr>
          <a:xfrm>
            <a:off x="10962752" y="2921198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 + 1, j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5943A7F-B708-44EB-8820-4495E4BD2211}"/>
              </a:ext>
            </a:extLst>
          </p:cNvPr>
          <p:cNvSpPr txBox="1"/>
          <p:nvPr/>
        </p:nvSpPr>
        <p:spPr>
          <a:xfrm>
            <a:off x="10090220" y="3353834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A1009DE-0F3A-4D56-8A97-AA3973D05507}"/>
              </a:ext>
            </a:extLst>
          </p:cNvPr>
          <p:cNvSpPr txBox="1"/>
          <p:nvPr/>
        </p:nvSpPr>
        <p:spPr>
          <a:xfrm>
            <a:off x="9207098" y="2872000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 - 1, j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BC4B580-798B-44A5-975C-C3E00DE3C417}"/>
              </a:ext>
            </a:extLst>
          </p:cNvPr>
          <p:cNvSpPr txBox="1"/>
          <p:nvPr/>
        </p:nvSpPr>
        <p:spPr>
          <a:xfrm>
            <a:off x="10329705" y="3913192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 - 1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3F9DE1B-361D-4321-AA7A-3F25FA518D0F}"/>
              </a:ext>
            </a:extLst>
          </p:cNvPr>
          <p:cNvSpPr txBox="1"/>
          <p:nvPr/>
        </p:nvSpPr>
        <p:spPr>
          <a:xfrm>
            <a:off x="10329705" y="2284579"/>
            <a:ext cx="96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i</a:t>
            </a:r>
            <a:r>
              <a:rPr lang="en-US" sz="2400" dirty="0"/>
              <a:t>, j +1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BAACE18-FE40-4DE2-81B5-5CA3A0B39150}"/>
              </a:ext>
            </a:extLst>
          </p:cNvPr>
          <p:cNvCxnSpPr>
            <a:cxnSpLocks/>
          </p:cNvCxnSpPr>
          <p:nvPr/>
        </p:nvCxnSpPr>
        <p:spPr>
          <a:xfrm>
            <a:off x="1582614" y="3362692"/>
            <a:ext cx="964642" cy="1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ABC29C5-CFC4-4365-B5B6-9CEB7CE16FA1}"/>
              </a:ext>
            </a:extLst>
          </p:cNvPr>
          <p:cNvCxnSpPr>
            <a:cxnSpLocks/>
          </p:cNvCxnSpPr>
          <p:nvPr/>
        </p:nvCxnSpPr>
        <p:spPr>
          <a:xfrm flipH="1">
            <a:off x="4515098" y="2515411"/>
            <a:ext cx="10846" cy="828338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B609DBD-3443-4EEE-837A-6216EF0FF680}"/>
                  </a:ext>
                </a:extLst>
              </p:cNvPr>
              <p:cNvSpPr txBox="1"/>
              <p:nvPr/>
            </p:nvSpPr>
            <p:spPr>
              <a:xfrm>
                <a:off x="859133" y="4401588"/>
                <a:ext cx="1874017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B609DBD-3443-4EEE-837A-6216EF0FF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33" y="4401588"/>
                <a:ext cx="1874017" cy="491417"/>
              </a:xfrm>
              <a:prstGeom prst="rect">
                <a:avLst/>
              </a:prstGeom>
              <a:blipFill>
                <a:blip r:embed="rId4"/>
                <a:stretch>
                  <a:fillRect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AA13EA7-759C-48A3-B3B2-98829AF60D29}"/>
                  </a:ext>
                </a:extLst>
              </p:cNvPr>
              <p:cNvSpPr txBox="1"/>
              <p:nvPr/>
            </p:nvSpPr>
            <p:spPr>
              <a:xfrm>
                <a:off x="3747196" y="4377594"/>
                <a:ext cx="1874017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AA13EA7-759C-48A3-B3B2-98829AF60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196" y="4377594"/>
                <a:ext cx="1874017" cy="491417"/>
              </a:xfrm>
              <a:prstGeom prst="rect">
                <a:avLst/>
              </a:prstGeom>
              <a:blipFill>
                <a:blip r:embed="rId5"/>
                <a:stretch>
                  <a:fillRect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FDFCC02-4621-4700-A8C6-6617C6D7A33E}"/>
                  </a:ext>
                </a:extLst>
              </p:cNvPr>
              <p:cNvSpPr txBox="1"/>
              <p:nvPr/>
            </p:nvSpPr>
            <p:spPr>
              <a:xfrm>
                <a:off x="6662893" y="4377593"/>
                <a:ext cx="1874017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FDFCC02-4621-4700-A8C6-6617C6D7A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893" y="4377593"/>
                <a:ext cx="1874017" cy="491417"/>
              </a:xfrm>
              <a:prstGeom prst="rect">
                <a:avLst/>
              </a:prstGeom>
              <a:blipFill>
                <a:blip r:embed="rId6"/>
                <a:stretch>
                  <a:fillRect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CECE8B8-321E-4076-A68C-337703F45AC0}"/>
                  </a:ext>
                </a:extLst>
              </p:cNvPr>
              <p:cNvSpPr txBox="1"/>
              <p:nvPr/>
            </p:nvSpPr>
            <p:spPr>
              <a:xfrm>
                <a:off x="9606223" y="4376338"/>
                <a:ext cx="1874017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CECE8B8-321E-4076-A68C-337703F45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6223" y="4376338"/>
                <a:ext cx="1874017" cy="491417"/>
              </a:xfrm>
              <a:prstGeom prst="rect">
                <a:avLst/>
              </a:prstGeom>
              <a:blipFill>
                <a:blip r:embed="rId7"/>
                <a:stretch>
                  <a:fillRect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E334933-2CD6-42D8-B80F-1D164ACD639F}"/>
              </a:ext>
            </a:extLst>
          </p:cNvPr>
          <p:cNvCxnSpPr>
            <a:cxnSpLocks/>
          </p:cNvCxnSpPr>
          <p:nvPr/>
        </p:nvCxnSpPr>
        <p:spPr>
          <a:xfrm>
            <a:off x="7414007" y="3358262"/>
            <a:ext cx="964642" cy="1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9664916-A7C3-4DCA-B62D-D3429DC2C133}"/>
              </a:ext>
            </a:extLst>
          </p:cNvPr>
          <p:cNvCxnSpPr>
            <a:cxnSpLocks/>
          </p:cNvCxnSpPr>
          <p:nvPr/>
        </p:nvCxnSpPr>
        <p:spPr>
          <a:xfrm flipH="1">
            <a:off x="10339946" y="2514186"/>
            <a:ext cx="10846" cy="828338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C8664EA-34CC-4C85-B9FA-6F7C9692EB5A}"/>
                  </a:ext>
                </a:extLst>
              </p:cNvPr>
              <p:cNvSpPr txBox="1"/>
              <p:nvPr/>
            </p:nvSpPr>
            <p:spPr>
              <a:xfrm>
                <a:off x="1679798" y="2870044"/>
                <a:ext cx="3574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C8664EA-34CC-4C85-B9FA-6F7C9692E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798" y="2870044"/>
                <a:ext cx="357450" cy="461665"/>
              </a:xfrm>
              <a:prstGeom prst="rect">
                <a:avLst/>
              </a:prstGeom>
              <a:blipFill>
                <a:blip r:embed="rId8"/>
                <a:stretch>
                  <a:fillRect l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18C7EA4-19CD-4B69-A02B-904A6A7B1362}"/>
                  </a:ext>
                </a:extLst>
              </p:cNvPr>
              <p:cNvSpPr txBox="1"/>
              <p:nvPr/>
            </p:nvSpPr>
            <p:spPr>
              <a:xfrm>
                <a:off x="4605702" y="2866696"/>
                <a:ext cx="3574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18C7EA4-19CD-4B69-A02B-904A6A7B1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702" y="2866696"/>
                <a:ext cx="357450" cy="461665"/>
              </a:xfrm>
              <a:prstGeom prst="rect">
                <a:avLst/>
              </a:prstGeom>
              <a:blipFill>
                <a:blip r:embed="rId9"/>
                <a:stretch>
                  <a:fillRect l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A2D1B80-5EF7-4350-B844-40CE27E49CCD}"/>
                  </a:ext>
                </a:extLst>
              </p:cNvPr>
              <p:cNvSpPr txBox="1"/>
              <p:nvPr/>
            </p:nvSpPr>
            <p:spPr>
              <a:xfrm>
                <a:off x="7531606" y="2863348"/>
                <a:ext cx="3574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A2D1B80-5EF7-4350-B844-40CE27E49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606" y="2863348"/>
                <a:ext cx="357450" cy="461665"/>
              </a:xfrm>
              <a:prstGeom prst="rect">
                <a:avLst/>
              </a:prstGeom>
              <a:blipFill>
                <a:blip r:embed="rId10"/>
                <a:stretch>
                  <a:fillRect l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BB0353C-8FD2-41A7-95E1-369EF9CB7D94}"/>
                  </a:ext>
                </a:extLst>
              </p:cNvPr>
              <p:cNvSpPr txBox="1"/>
              <p:nvPr/>
            </p:nvSpPr>
            <p:spPr>
              <a:xfrm>
                <a:off x="10457510" y="2860000"/>
                <a:ext cx="3574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BB0353C-8FD2-41A7-95E1-369EF9CB7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7510" y="2860000"/>
                <a:ext cx="357450" cy="461665"/>
              </a:xfrm>
              <a:prstGeom prst="rect">
                <a:avLst/>
              </a:prstGeom>
              <a:blipFill>
                <a:blip r:embed="rId11"/>
                <a:stretch>
                  <a:fillRect l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3957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The Horn-</a:t>
            </a:r>
            <a:r>
              <a:rPr lang="en-US" sz="4000" dirty="0" err="1">
                <a:latin typeface="+mn-lt"/>
              </a:rPr>
              <a:t>Schunck</a:t>
            </a:r>
            <a:r>
              <a:rPr lang="en-US" sz="4000" dirty="0">
                <a:latin typeface="+mn-lt"/>
              </a:rPr>
              <a:t>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8"/>
                <a:ext cx="11102662" cy="533836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Horn-</a:t>
                </a:r>
                <a:r>
                  <a:rPr lang="en-US" b="1" dirty="0" err="1"/>
                  <a:t>Schunck</a:t>
                </a:r>
                <a:r>
                  <a:rPr lang="en-US" b="1" dirty="0"/>
                  <a:t> algorithm</a:t>
                </a:r>
                <a:r>
                  <a:rPr lang="en-US" dirty="0"/>
                  <a:t> combines brightness consistency and smoothness consistency   </a:t>
                </a:r>
              </a:p>
              <a:p>
                <a:r>
                  <a:rPr lang="en-US" dirty="0"/>
                  <a:t>Horn-</a:t>
                </a:r>
                <a:r>
                  <a:rPr lang="en-US" dirty="0" err="1"/>
                  <a:t>Schunck</a:t>
                </a:r>
                <a:r>
                  <a:rPr lang="en-US" dirty="0"/>
                  <a:t> finds the flow field that minimizes the total energy: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+1,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+1,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is tradeoff hyperparameter between smoothness consistency energy and brightness consistency energy  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8"/>
                <a:ext cx="11102662" cy="5338369"/>
              </a:xfrm>
              <a:blipFill>
                <a:blip r:embed="rId3"/>
                <a:stretch>
                  <a:fillRect l="-1098" t="-1826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719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The Horn-</a:t>
            </a:r>
            <a:r>
              <a:rPr lang="en-US" sz="4000" dirty="0" err="1">
                <a:latin typeface="+mn-lt"/>
              </a:rPr>
              <a:t>Schunck</a:t>
            </a:r>
            <a:r>
              <a:rPr lang="en-US" sz="4000" dirty="0">
                <a:latin typeface="+mn-lt"/>
              </a:rPr>
              <a:t>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8"/>
                <a:ext cx="11102662" cy="533836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Horn-</a:t>
                </a:r>
                <a:r>
                  <a:rPr lang="en-US" b="1" dirty="0" err="1"/>
                  <a:t>Schunck</a:t>
                </a:r>
                <a:r>
                  <a:rPr lang="en-US" b="1" dirty="0"/>
                  <a:t> algorithm</a:t>
                </a:r>
                <a:r>
                  <a:rPr lang="en-US" dirty="0"/>
                  <a:t> combines brightness consistency and smoothness consistency   </a:t>
                </a:r>
              </a:p>
              <a:p>
                <a:r>
                  <a:rPr lang="en-US" dirty="0"/>
                  <a:t>How can we solve for the minimum energy field?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Is a nonlinear </a:t>
                </a:r>
                <a:r>
                  <a:rPr lang="en-US"/>
                  <a:t>optimization problem! </a:t>
                </a:r>
                <a:endParaRPr lang="en-US" dirty="0"/>
              </a:p>
              <a:p>
                <a:r>
                  <a:rPr lang="en-US" dirty="0"/>
                  <a:t>Use gradient descent </a:t>
                </a:r>
              </a:p>
              <a:p>
                <a:r>
                  <a:rPr lang="en-US" dirty="0"/>
                  <a:t>Surprisingly, gradient has closed form solution, so efficient calculation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8"/>
                <a:ext cx="11102662" cy="5338369"/>
              </a:xfrm>
              <a:blipFill>
                <a:blip r:embed="rId3"/>
                <a:stretch>
                  <a:fillRect l="-1098" t="-1826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478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The Horn-</a:t>
            </a:r>
            <a:r>
              <a:rPr lang="en-US" sz="4000" dirty="0" err="1">
                <a:latin typeface="+mn-lt"/>
              </a:rPr>
              <a:t>Schunck</a:t>
            </a:r>
            <a:r>
              <a:rPr lang="en-US" sz="4000" dirty="0">
                <a:latin typeface="+mn-lt"/>
              </a:rPr>
              <a:t>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8"/>
                <a:ext cx="11102662" cy="533836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Properties of the Horn-</a:t>
                </a:r>
                <a:r>
                  <a:rPr lang="en-US" dirty="0" err="1"/>
                  <a:t>Schunck</a:t>
                </a:r>
                <a:r>
                  <a:rPr lang="en-US" dirty="0"/>
                  <a:t> algorithm</a:t>
                </a:r>
              </a:p>
              <a:p>
                <a:r>
                  <a:rPr lang="en-US" dirty="0"/>
                  <a:t>The tradeoff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dirty="0"/>
                  <a:t>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dirty="0"/>
                  <a:t> is a regularization</a:t>
                </a:r>
              </a:p>
              <a:p>
                <a:r>
                  <a:rPr lang="en-US" dirty="0"/>
                  <a:t>In areas of images with high gradients (large eigenvalues), illumination consistency term,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dirty="0"/>
                  <a:t>, dominates   </a:t>
                </a:r>
              </a:p>
              <a:p>
                <a:r>
                  <a:rPr lang="en-US" dirty="0"/>
                  <a:t>In areas of images with low gradients (small eigenvalues), smoothness consistency,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dirty="0"/>
                  <a:t>, dominates</a:t>
                </a:r>
              </a:p>
              <a:p>
                <a:r>
                  <a:rPr lang="en-US" dirty="0"/>
                  <a:t>But, for </a:t>
                </a:r>
                <a:r>
                  <a:rPr lang="en-US" b="1" dirty="0"/>
                  <a:t>edges neither constraint binds </a:t>
                </a:r>
              </a:p>
              <a:p>
                <a:r>
                  <a:rPr lang="en-US" dirty="0"/>
                  <a:t>Further, the use of squared terms in energy functional amplifies noise 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8"/>
                <a:ext cx="11102662" cy="5338369"/>
              </a:xfrm>
              <a:blipFill>
                <a:blip r:embed="rId3"/>
                <a:stretch>
                  <a:fillRect l="-1098" t="-1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9691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56AD-D906-FEFD-7FD8-7B84DF60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The TL-L1 Algorithm</a:t>
            </a:r>
          </a:p>
        </p:txBody>
      </p:sp>
    </p:spTree>
    <p:extLst>
      <p:ext uri="{BB962C8B-B14F-4D97-AF65-F5344CB8AC3E}">
        <p14:creationId xmlns:p14="http://schemas.microsoft.com/office/powerpoint/2010/main" val="29273856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The TV-L1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8"/>
            <a:ext cx="11102662" cy="53383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TV-L1 algorithm overcomes some deficiencies of Horn-</a:t>
            </a:r>
            <a:r>
              <a:rPr lang="en-US" dirty="0" err="1"/>
              <a:t>Schunck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Sánchez, et. al., 2013</a:t>
            </a:r>
            <a:r>
              <a:rPr lang="en-US" dirty="0"/>
              <a:t>, proposed a generalization of the Horn-</a:t>
            </a:r>
            <a:r>
              <a:rPr lang="en-US" dirty="0" err="1"/>
              <a:t>Schunck</a:t>
            </a:r>
            <a:r>
              <a:rPr lang="en-US" dirty="0"/>
              <a:t> algorithm   </a:t>
            </a:r>
          </a:p>
          <a:p>
            <a:r>
              <a:rPr lang="en-US" dirty="0"/>
              <a:t>Horn-</a:t>
            </a:r>
            <a:r>
              <a:rPr lang="en-US" dirty="0" err="1"/>
              <a:t>Schunck</a:t>
            </a:r>
            <a:r>
              <a:rPr lang="en-US" dirty="0"/>
              <a:t> is based on L2 (least squares) norm</a:t>
            </a:r>
          </a:p>
          <a:p>
            <a:pPr lvl="1"/>
            <a:r>
              <a:rPr lang="en-US" dirty="0"/>
              <a:t>Sensitive to noise and poor performance on edges  </a:t>
            </a:r>
          </a:p>
          <a:p>
            <a:r>
              <a:rPr lang="en-US" dirty="0"/>
              <a:t>Sánchez, et. al. noted that other norms can be used, in particular the L1 norm</a:t>
            </a:r>
          </a:p>
          <a:p>
            <a:pPr lvl="1"/>
            <a:r>
              <a:rPr lang="en-US" dirty="0"/>
              <a:t>Less sensitive to noise</a:t>
            </a:r>
          </a:p>
          <a:p>
            <a:pPr lvl="1"/>
            <a:r>
              <a:rPr lang="en-US" dirty="0"/>
              <a:t>Better behavior with edges </a:t>
            </a:r>
          </a:p>
        </p:txBody>
      </p:sp>
    </p:spTree>
    <p:extLst>
      <p:ext uri="{BB962C8B-B14F-4D97-AF65-F5344CB8AC3E}">
        <p14:creationId xmlns:p14="http://schemas.microsoft.com/office/powerpoint/2010/main" val="145759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The TV-L1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8"/>
                <a:ext cx="11102662" cy="533836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TV-L1 algorithm overcomes some deficiencies of Horn-</a:t>
                </a:r>
                <a:r>
                  <a:rPr lang="en-US" dirty="0" err="1"/>
                  <a:t>Schunck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TV-L1 uses an energy functional employing the L1 norm, denoted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+1,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+1,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  <a:p>
                <a:r>
                  <a:rPr lang="en-US" dirty="0"/>
                  <a:t>This L1 minimization problem is highly nonlinear</a:t>
                </a:r>
              </a:p>
              <a:p>
                <a:r>
                  <a:rPr lang="en-US" dirty="0"/>
                  <a:t>Solve by </a:t>
                </a:r>
                <a:r>
                  <a:rPr lang="en-US" b="1" dirty="0"/>
                  <a:t>variational methods </a:t>
                </a:r>
                <a:r>
                  <a:rPr lang="en-US" dirty="0"/>
                  <a:t>– we will not investigate further   </a:t>
                </a:r>
              </a:p>
              <a:p>
                <a:r>
                  <a:rPr lang="en-US" dirty="0"/>
                  <a:t>Original Sánchez, et. al. algorithm could not achieve real-time speed</a:t>
                </a:r>
              </a:p>
              <a:p>
                <a:r>
                  <a:rPr lang="en-US" dirty="0"/>
                  <a:t>Improved algorithms achieve real-time performance  - </a:t>
                </a:r>
                <a:r>
                  <a:rPr lang="en-US" dirty="0">
                    <a:hlinkClick r:id="rId3"/>
                  </a:rPr>
                  <a:t>see references for </a:t>
                </a:r>
                <a:r>
                  <a:rPr lang="en-US" dirty="0" err="1">
                    <a:hlinkClick r:id="rId3"/>
                  </a:rPr>
                  <a:t>skimage.registration</a:t>
                </a:r>
                <a:r>
                  <a:rPr lang="en-US" b="1" dirty="0" err="1">
                    <a:hlinkClick r:id="rId3"/>
                  </a:rPr>
                  <a:t>.</a:t>
                </a:r>
                <a:r>
                  <a:rPr lang="en-US" dirty="0" err="1">
                    <a:hlinkClick r:id="rId3"/>
                  </a:rPr>
                  <a:t>optical_flow_ilk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8"/>
                <a:ext cx="11102662" cy="5338369"/>
              </a:xfrm>
              <a:blipFill>
                <a:blip r:embed="rId4"/>
                <a:stretch>
                  <a:fillRect l="-1098" t="-2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33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56AD-D906-FEFD-7FD8-7B84DF60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Evaluation of Optical Flow Models</a:t>
            </a:r>
          </a:p>
        </p:txBody>
      </p:sp>
    </p:spTree>
    <p:extLst>
      <p:ext uri="{BB962C8B-B14F-4D97-AF65-F5344CB8AC3E}">
        <p14:creationId xmlns:p14="http://schemas.microsoft.com/office/powerpoint/2010/main" val="27910253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19504-6549-743F-0F1B-835474F45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99928-3B1C-A652-4748-ECF299C0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Evaluation of optical flow models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3B6D9-C993-BDCE-149A-AE84B44CC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8"/>
            <a:ext cx="11102662" cy="53383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evaluate optical flow models? </a:t>
            </a:r>
          </a:p>
          <a:p>
            <a:r>
              <a:rPr lang="en-US" dirty="0"/>
              <a:t>Choice of metric depends on the presence of labels</a:t>
            </a:r>
          </a:p>
          <a:p>
            <a:r>
              <a:rPr lang="en-US" dirty="0"/>
              <a:t>Metrics for labeled data</a:t>
            </a:r>
          </a:p>
          <a:p>
            <a:pPr lvl="1"/>
            <a:r>
              <a:rPr lang="en-US" b="1" dirty="0"/>
              <a:t>Average end point error (AEPE) </a:t>
            </a:r>
            <a:r>
              <a:rPr lang="en-US" dirty="0"/>
              <a:t>distance between the predicted pixel location and ground-truth location</a:t>
            </a:r>
            <a:endParaRPr lang="en-US" b="1" dirty="0"/>
          </a:p>
          <a:p>
            <a:pPr lvl="1"/>
            <a:r>
              <a:rPr lang="en-US" dirty="0"/>
              <a:t>Average angular error (AEP) difference between predicted flow angle and ground truth angle</a:t>
            </a:r>
          </a:p>
          <a:p>
            <a:r>
              <a:rPr lang="en-US" dirty="0"/>
              <a:t>For unlabeled data</a:t>
            </a:r>
          </a:p>
          <a:p>
            <a:pPr lvl="1"/>
            <a:r>
              <a:rPr lang="en-US" b="1" dirty="0"/>
              <a:t>Average interpolation error (AIE) </a:t>
            </a:r>
            <a:r>
              <a:rPr lang="en-US" dirty="0"/>
              <a:t>difference between two time-sequential images after warping</a:t>
            </a:r>
            <a:endParaRPr lang="en-US" b="1" dirty="0"/>
          </a:p>
          <a:p>
            <a:pPr lvl="1"/>
            <a:r>
              <a:rPr lang="en-US" dirty="0"/>
              <a:t>Interpolated flow accuracy (IFA) measures the coherence and smoothness of the flow field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54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Evaluation of optical flow models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8"/>
                <a:ext cx="11102662" cy="533836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If ground-truth available, use </a:t>
                </a:r>
                <a:r>
                  <a:rPr lang="en-US" b="1" dirty="0"/>
                  <a:t>average endpoint error, </a:t>
                </a:r>
                <a:r>
                  <a:rPr lang="en-US" b="1" dirty="0" err="1"/>
                  <a:t>aEPE</a:t>
                </a:r>
                <a:endParaRPr lang="en-US" dirty="0"/>
              </a:p>
              <a:p>
                <a:r>
                  <a:rPr lang="en-US" dirty="0"/>
                  <a:t>Average endpoint error is the average Euclidian distance between the predicted flow and ground-truth flow   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𝑛𝑥𝑚</m:t>
                    </m:r>
                  </m:oMath>
                </a14:m>
                <a:r>
                  <a:rPr lang="en-US" dirty="0"/>
                  <a:t> flow field with ground truth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and estimated field,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𝑎𝐸𝑃𝐸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𝑛𝑥𝑚</m:t>
                          </m:r>
                        </m:den>
                      </m:f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𝑛𝑥𝑚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𝑢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𝑣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8"/>
                <a:ext cx="11102662" cy="5338369"/>
              </a:xfrm>
              <a:blipFill>
                <a:blip r:embed="rId3"/>
                <a:stretch>
                  <a:fillRect l="-1098" t="-1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224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9276-69A2-D8EC-9DF5-12569BF8F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487FA-30D5-B36D-49C5-339362FB4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Evaluation of optical flow models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17F64-7B65-B3A9-F411-81933D124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8"/>
            <a:ext cx="11102662" cy="53383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do we get labeled cases? </a:t>
            </a:r>
          </a:p>
          <a:p>
            <a:r>
              <a:rPr lang="en-US" dirty="0"/>
              <a:t>Very difficult to hand label real-world images</a:t>
            </a:r>
          </a:p>
          <a:p>
            <a:r>
              <a:rPr lang="en-US" dirty="0"/>
              <a:t>Often train on synthetic datasets</a:t>
            </a:r>
          </a:p>
          <a:p>
            <a:pPr lvl="1"/>
            <a:r>
              <a:rPr lang="en-US" dirty="0">
                <a:hlinkClick r:id="rId3"/>
              </a:rPr>
              <a:t>Flying Chairs</a:t>
            </a:r>
            <a:r>
              <a:rPr lang="en-US" dirty="0"/>
              <a:t>, and </a:t>
            </a:r>
            <a:r>
              <a:rPr lang="en-US" dirty="0">
                <a:hlinkClick r:id="rId4"/>
              </a:rPr>
              <a:t>Flying Chairs 2 </a:t>
            </a:r>
            <a:endParaRPr lang="en-US" dirty="0"/>
          </a:p>
          <a:p>
            <a:pPr lvl="1"/>
            <a:r>
              <a:rPr lang="en-US" dirty="0" err="1">
                <a:hlinkClick r:id="rId5"/>
              </a:rPr>
              <a:t>FlyingThings</a:t>
            </a:r>
            <a:r>
              <a:rPr lang="en-US" dirty="0">
                <a:hlinkClick r:id="rId5"/>
              </a:rPr>
              <a:t> 3D and </a:t>
            </a:r>
            <a:r>
              <a:rPr lang="en-US" dirty="0" err="1">
                <a:hlinkClick r:id="rId5"/>
              </a:rPr>
              <a:t>SceneFlow</a:t>
            </a:r>
            <a:r>
              <a:rPr lang="en-US" dirty="0">
                <a:hlinkClick r:id="rId5"/>
              </a:rPr>
              <a:t> dataset</a:t>
            </a:r>
            <a:r>
              <a:rPr lang="en-US" dirty="0"/>
              <a:t>s</a:t>
            </a:r>
          </a:p>
          <a:p>
            <a:r>
              <a:rPr lang="en-US" dirty="0"/>
              <a:t>Rely on generalization (transfer learning) to real-world cases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22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Evaluation of optical flow models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8"/>
                <a:ext cx="11102662" cy="533836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Usually there is </a:t>
                </a:r>
                <a:r>
                  <a:rPr lang="en-US" b="1" dirty="0"/>
                  <a:t>no ground truth</a:t>
                </a:r>
              </a:p>
              <a:p>
                <a:r>
                  <a:rPr lang="en-US" b="1" dirty="0"/>
                  <a:t>Average interpolation error (AIE)</a:t>
                </a:r>
                <a:r>
                  <a:rPr lang="en-US" dirty="0"/>
                  <a:t> is average difference between two time-sequential images after warping      </a:t>
                </a:r>
              </a:p>
              <a:p>
                <a:r>
                  <a:rPr lang="en-US" dirty="0"/>
                  <a:t>For a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image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a second image warped using the estimated flow field,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/>
                  <a:t>, the interpolation error is the Euclidean distance: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𝐴𝐼𝐸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𝑛𝑥𝑚</m:t>
                          </m:r>
                        </m:den>
                      </m:f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8"/>
                <a:ext cx="11102662" cy="5338369"/>
              </a:xfrm>
              <a:blipFill>
                <a:blip r:embed="rId3"/>
                <a:stretch>
                  <a:fillRect l="-1098" t="-1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9522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56AD-D906-FEFD-7FD8-7B84DF60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Deep Optical Flow Algorithms</a:t>
            </a:r>
          </a:p>
        </p:txBody>
      </p:sp>
    </p:spTree>
    <p:extLst>
      <p:ext uri="{BB962C8B-B14F-4D97-AF65-F5344CB8AC3E}">
        <p14:creationId xmlns:p14="http://schemas.microsoft.com/office/powerpoint/2010/main" val="33532412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Deep Optical Flow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8"/>
            <a:ext cx="11102662" cy="53383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Deep NN algorithms are having an impact on practical optical flow estimation   </a:t>
            </a:r>
          </a:p>
          <a:p>
            <a:r>
              <a:rPr lang="en-US" dirty="0"/>
              <a:t>A number of deep NN algorithms for optical flow have been proposed in recent years, starting around 2016  </a:t>
            </a:r>
          </a:p>
          <a:p>
            <a:r>
              <a:rPr lang="en-US" dirty="0"/>
              <a:t>Early algorithms used pure NN architectures (mostly CNN) proved impractical: </a:t>
            </a:r>
          </a:p>
          <a:p>
            <a:pPr lvl="1"/>
            <a:r>
              <a:rPr lang="en-US" dirty="0"/>
              <a:t>Lower accuracy when compared to conventional algorithms, e.g. TV-L1 </a:t>
            </a:r>
          </a:p>
          <a:p>
            <a:pPr lvl="1"/>
            <a:r>
              <a:rPr lang="en-US" dirty="0"/>
              <a:t>Too slow for real-time use  </a:t>
            </a:r>
          </a:p>
          <a:p>
            <a:r>
              <a:rPr lang="en-US" dirty="0"/>
              <a:t>The PWC-Net algorithm, </a:t>
            </a:r>
            <a:r>
              <a:rPr lang="en-US" dirty="0">
                <a:hlinkClick r:id="rId3"/>
              </a:rPr>
              <a:t>Sun, et. al., 2018</a:t>
            </a:r>
            <a:r>
              <a:rPr lang="en-US" dirty="0"/>
              <a:t>, combines conventional and deep NN methods </a:t>
            </a:r>
          </a:p>
          <a:p>
            <a:pPr lvl="1"/>
            <a:r>
              <a:rPr lang="en-US" dirty="0"/>
              <a:t>PWC-Net is accuracy completive with conventional methods</a:t>
            </a:r>
          </a:p>
          <a:p>
            <a:pPr lvl="1"/>
            <a:r>
              <a:rPr lang="en-US" dirty="0"/>
              <a:t>Usually faster than TV-L1 at inference time!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10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PWC-Net, an early successful optical flow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1102662" cy="1461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Deep NN algorithms are having an impact on practical optical flow estimation   </a:t>
            </a:r>
          </a:p>
          <a:p>
            <a:r>
              <a:rPr lang="en-US" dirty="0"/>
              <a:t>Comparison of NN optical flow algorithms, </a:t>
            </a:r>
            <a:r>
              <a:rPr lang="en-US" dirty="0">
                <a:hlinkClick r:id="rId3"/>
              </a:rPr>
              <a:t>Sun, et. al., 2018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EBA88F-8C95-49E5-9801-07CD3096D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04" y="2453942"/>
            <a:ext cx="7408713" cy="434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4265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1102662" cy="5568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PWC-Net Algorithm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9F8DC6-DF44-460A-9977-179DC52F03DD}"/>
              </a:ext>
            </a:extLst>
          </p:cNvPr>
          <p:cNvSpPr txBox="1">
            <a:spLocks/>
          </p:cNvSpPr>
          <p:nvPr/>
        </p:nvSpPr>
        <p:spPr>
          <a:xfrm>
            <a:off x="789301" y="1752600"/>
            <a:ext cx="5401949" cy="4965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Start with image pyramids</a:t>
            </a:r>
          </a:p>
          <a:p>
            <a:r>
              <a:rPr lang="en-US" dirty="0"/>
              <a:t>Optimal </a:t>
            </a:r>
            <a:r>
              <a:rPr lang="en-US" b="1" dirty="0"/>
              <a:t>image pyramid</a:t>
            </a:r>
            <a:r>
              <a:rPr lang="en-US" dirty="0"/>
              <a:t> weights are </a:t>
            </a:r>
            <a:r>
              <a:rPr lang="en-US" b="1" dirty="0"/>
              <a:t>learned as CNNs</a:t>
            </a:r>
          </a:p>
          <a:p>
            <a:r>
              <a:rPr lang="en-US" dirty="0"/>
              <a:t>Pyramid reduces pixel dimension by 2x per-layer</a:t>
            </a:r>
          </a:p>
          <a:p>
            <a:r>
              <a:rPr lang="en-US" dirty="0"/>
              <a:t>Pyramid layers have 16, 32, 64, 96, 128, 196 channels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760A99-F293-47A0-981E-8DBFB8EC5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320" y="2109717"/>
            <a:ext cx="5698554" cy="31576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7275EB-D7E3-4130-B4A9-BF52CC6F759C}"/>
              </a:ext>
            </a:extLst>
          </p:cNvPr>
          <p:cNvSpPr txBox="1"/>
          <p:nvPr/>
        </p:nvSpPr>
        <p:spPr>
          <a:xfrm>
            <a:off x="8367713" y="5326547"/>
            <a:ext cx="259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Credit </a:t>
            </a:r>
            <a:r>
              <a:rPr lang="en-US" sz="1800" dirty="0">
                <a:hlinkClick r:id="rId4"/>
              </a:rPr>
              <a:t>Sun, et. al., 2018</a:t>
            </a:r>
            <a:endParaRPr lang="en-US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3B943F-B4B3-40D4-B7CB-EAD2C98EFD84}"/>
              </a:ext>
            </a:extLst>
          </p:cNvPr>
          <p:cNvSpPr/>
          <p:nvPr/>
        </p:nvSpPr>
        <p:spPr>
          <a:xfrm>
            <a:off x="6329363" y="2109717"/>
            <a:ext cx="2038350" cy="22336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26C2399-9A41-123D-900C-B397FF8AF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PWC-Net, an early successful optical flow network</a:t>
            </a:r>
          </a:p>
        </p:txBody>
      </p:sp>
    </p:spTree>
    <p:extLst>
      <p:ext uri="{BB962C8B-B14F-4D97-AF65-F5344CB8AC3E}">
        <p14:creationId xmlns:p14="http://schemas.microsoft.com/office/powerpoint/2010/main" val="198003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1102662" cy="5568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PWC-Net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A9F8DC6-DF44-460A-9977-179DC52F03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9301" y="1752600"/>
                <a:ext cx="5401949" cy="49652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Image from pyramid 2 is warped with conventional algorithm</a:t>
                </a:r>
              </a:p>
              <a:p>
                <a:pPr lvl="1"/>
                <a:r>
                  <a:rPr lang="en-US" dirty="0"/>
                  <a:t>For warp at </a:t>
                </a:r>
                <a:r>
                  <a:rPr lang="en-US" i="1" dirty="0"/>
                  <a:t>l</a:t>
                </a:r>
                <a:r>
                  <a:rPr lang="en-US" dirty="0"/>
                  <a:t>th layer,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dirty="0"/>
                  <a:t>  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, input image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pixel values at 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pixel coordinates </a:t>
                </a:r>
              </a:p>
              <a:p>
                <a:r>
                  <a:rPr lang="en-US" dirty="0"/>
                  <a:t>Warping performed with up-sampled flow,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A9F8DC6-DF44-460A-9977-179DC52F0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01" y="1752600"/>
                <a:ext cx="5401949" cy="4965207"/>
              </a:xfrm>
              <a:prstGeom prst="rect">
                <a:avLst/>
              </a:prstGeom>
              <a:blipFill>
                <a:blip r:embed="rId3"/>
                <a:stretch>
                  <a:fillRect l="-2029" t="-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4760A99-F293-47A0-981E-8DBFB8EC5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320" y="2109717"/>
            <a:ext cx="5698554" cy="31576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7275EB-D7E3-4130-B4A9-BF52CC6F759C}"/>
              </a:ext>
            </a:extLst>
          </p:cNvPr>
          <p:cNvSpPr txBox="1"/>
          <p:nvPr/>
        </p:nvSpPr>
        <p:spPr>
          <a:xfrm>
            <a:off x="8367713" y="5326547"/>
            <a:ext cx="259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Credit </a:t>
            </a:r>
            <a:r>
              <a:rPr lang="en-US" sz="1800" dirty="0">
                <a:hlinkClick r:id="rId5"/>
              </a:rPr>
              <a:t>Sun, et. al., 2018</a:t>
            </a:r>
            <a:endParaRPr lang="en-US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3B943F-B4B3-40D4-B7CB-EAD2C98EFD84}"/>
              </a:ext>
            </a:extLst>
          </p:cNvPr>
          <p:cNvSpPr/>
          <p:nvPr/>
        </p:nvSpPr>
        <p:spPr>
          <a:xfrm>
            <a:off x="8837926" y="2138433"/>
            <a:ext cx="3158812" cy="129056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C6B562A-CEEA-C66F-B5C8-944EADF93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PWC-Net, an early successful optical flow network</a:t>
            </a:r>
          </a:p>
        </p:txBody>
      </p:sp>
    </p:spTree>
    <p:extLst>
      <p:ext uri="{BB962C8B-B14F-4D97-AF65-F5344CB8AC3E}">
        <p14:creationId xmlns:p14="http://schemas.microsoft.com/office/powerpoint/2010/main" val="1161430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1102662" cy="5568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PWC-Net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A9F8DC6-DF44-460A-9977-179DC52F03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9301" y="1752600"/>
                <a:ext cx="5589019" cy="49652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b="1" dirty="0"/>
                  <a:t>Cost volume</a:t>
                </a:r>
                <a:r>
                  <a:rPr lang="en-US" sz="2400" dirty="0"/>
                  <a:t> layer maintains array of feature </a:t>
                </a:r>
                <a:r>
                  <a:rPr lang="en-US" sz="2400" b="1" dirty="0"/>
                  <a:t>matching costs </a:t>
                </a:r>
                <a:r>
                  <a:rPr lang="en-US" sz="2400" dirty="0"/>
                  <a:t>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values at pyramid level, </a:t>
                </a:r>
                <a:r>
                  <a:rPr lang="en-US" sz="2400" i="1" dirty="0"/>
                  <a:t>l</a:t>
                </a:r>
              </a:p>
              <a:p>
                <a:r>
                  <a:rPr lang="en-US" sz="2400" dirty="0"/>
                  <a:t>Matching cost is the </a:t>
                </a:r>
                <a:r>
                  <a:rPr lang="en-US" sz="2400" b="1" dirty="0"/>
                  <a:t>correlation</a:t>
                </a:r>
                <a:r>
                  <a:rPr lang="en-US" sz="2400" dirty="0"/>
                  <a:t> between the feature (pixel) vector of the first image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the feature vector of the warped second image,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2,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b="1" dirty="0"/>
                  <a:t>Limiting complexity to compute cost volume </a:t>
                </a:r>
                <a:r>
                  <a:rPr lang="en-US" sz="2400" dirty="0"/>
                  <a:t>is key to performance </a:t>
                </a:r>
              </a:p>
              <a:p>
                <a:r>
                  <a:rPr lang="en-US" sz="2400" dirty="0"/>
                  <a:t>Filter to keep only </a:t>
                </a:r>
                <a:r>
                  <a:rPr lang="en-US" sz="2400" b="1" dirty="0"/>
                  <a:t>near neighbor values </a:t>
                </a:r>
                <a:r>
                  <a:rPr lang="en-US" sz="2400" dirty="0"/>
                  <a:t>with upper bound </a:t>
                </a:r>
                <a:r>
                  <a:rPr lang="en-US" sz="2400" i="1" dirty="0"/>
                  <a:t>d</a:t>
                </a:r>
                <a:r>
                  <a:rPr lang="en-US" sz="2400" dirty="0"/>
                  <a:t> to limit computation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A9F8DC6-DF44-460A-9977-179DC52F0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01" y="1752600"/>
                <a:ext cx="5589019" cy="4965207"/>
              </a:xfrm>
              <a:prstGeom prst="rect">
                <a:avLst/>
              </a:prstGeom>
              <a:blipFill>
                <a:blip r:embed="rId3"/>
                <a:stretch>
                  <a:fillRect l="-1418" t="-2334" r="-1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4760A99-F293-47A0-981E-8DBFB8EC5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320" y="2109717"/>
            <a:ext cx="5698554" cy="31576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7275EB-D7E3-4130-B4A9-BF52CC6F759C}"/>
              </a:ext>
            </a:extLst>
          </p:cNvPr>
          <p:cNvSpPr txBox="1"/>
          <p:nvPr/>
        </p:nvSpPr>
        <p:spPr>
          <a:xfrm>
            <a:off x="8367713" y="5326547"/>
            <a:ext cx="259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Credit </a:t>
            </a:r>
            <a:r>
              <a:rPr lang="en-US" sz="1800" dirty="0">
                <a:hlinkClick r:id="rId5"/>
              </a:rPr>
              <a:t>Sun, et. al., 2018</a:t>
            </a:r>
            <a:endParaRPr lang="en-US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3B943F-B4B3-40D4-B7CB-EAD2C98EFD84}"/>
              </a:ext>
            </a:extLst>
          </p:cNvPr>
          <p:cNvSpPr/>
          <p:nvPr/>
        </p:nvSpPr>
        <p:spPr>
          <a:xfrm>
            <a:off x="9411975" y="3495675"/>
            <a:ext cx="1941825" cy="52387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43F5E03-D875-D607-34DA-8FBB59E52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PWC-Net, an early successful optical flow network</a:t>
            </a:r>
          </a:p>
        </p:txBody>
      </p:sp>
    </p:spTree>
    <p:extLst>
      <p:ext uri="{BB962C8B-B14F-4D97-AF65-F5344CB8AC3E}">
        <p14:creationId xmlns:p14="http://schemas.microsoft.com/office/powerpoint/2010/main" val="81580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1102662" cy="5568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PWC-Net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A9F8DC6-DF44-460A-9977-179DC52F03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9301" y="1752600"/>
                <a:ext cx="5589019" cy="49652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CNN used to estimate optical flow</a:t>
                </a:r>
              </a:p>
              <a:p>
                <a:r>
                  <a:rPr lang="en-US" sz="2400" dirty="0"/>
                  <a:t>Training loss is least squares (Euclidian distance) between first image and warped second image, summed over levels of the pyramid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nary>
                            <m:naryPr>
                              <m:chr m:val="∑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𝐺𝑇</m:t>
                                          </m:r>
                                        </m:sub>
                                        <m: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𝐺𝑇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𝑔𝑟𝑜𝑢𝑛𝑑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𝑡𝑟𝑢𝑡h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𝑟𝑒𝑔𝑢𝑙𝑎𝑟𝑖𝑧𝑎𝑡𝑖𝑜𝑛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𝑡𝑒𝑟𝑚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400" dirty="0"/>
                  <a:t>Warp,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sz="2400" dirty="0"/>
                  <a:t>, is learned by minimizing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400" dirty="0"/>
                  <a:t>  with CNN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A9F8DC6-DF44-460A-9977-179DC52F0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01" y="1752600"/>
                <a:ext cx="5589019" cy="4965207"/>
              </a:xfrm>
              <a:prstGeom prst="rect">
                <a:avLst/>
              </a:prstGeom>
              <a:blipFill>
                <a:blip r:embed="rId3"/>
                <a:stretch>
                  <a:fillRect l="-1418" t="-1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4760A99-F293-47A0-981E-8DBFB8EC5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320" y="2125393"/>
            <a:ext cx="5698554" cy="31576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7275EB-D7E3-4130-B4A9-BF52CC6F759C}"/>
              </a:ext>
            </a:extLst>
          </p:cNvPr>
          <p:cNvSpPr txBox="1"/>
          <p:nvPr/>
        </p:nvSpPr>
        <p:spPr>
          <a:xfrm>
            <a:off x="8367713" y="5326547"/>
            <a:ext cx="259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Credit </a:t>
            </a:r>
            <a:r>
              <a:rPr lang="en-US" sz="1800" dirty="0">
                <a:hlinkClick r:id="rId5"/>
              </a:rPr>
              <a:t>Sun, et. al., 2018</a:t>
            </a:r>
            <a:endParaRPr lang="en-US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3B943F-B4B3-40D4-B7CB-EAD2C98EFD84}"/>
              </a:ext>
            </a:extLst>
          </p:cNvPr>
          <p:cNvSpPr/>
          <p:nvPr/>
        </p:nvSpPr>
        <p:spPr>
          <a:xfrm>
            <a:off x="9411975" y="4114800"/>
            <a:ext cx="1941825" cy="52387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A74EE9-7A4C-B0D9-3066-64A7D702D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PWC-Net, an early successful optical flow network</a:t>
            </a:r>
          </a:p>
        </p:txBody>
      </p:sp>
    </p:spTree>
    <p:extLst>
      <p:ext uri="{BB962C8B-B14F-4D97-AF65-F5344CB8AC3E}">
        <p14:creationId xmlns:p14="http://schemas.microsoft.com/office/powerpoint/2010/main" val="377731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1102662" cy="5568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PWC-Net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A9F8DC6-DF44-460A-9977-179DC52F03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7780" y="1793305"/>
                <a:ext cx="5922852" cy="49652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Conventional filtering used for post processing to improve continuity of flow field </a:t>
                </a:r>
              </a:p>
              <a:p>
                <a:r>
                  <a:rPr lang="en-US" sz="2400" b="1" dirty="0"/>
                  <a:t>Composing</a:t>
                </a:r>
                <a:r>
                  <a:rPr lang="en-US" sz="2400" dirty="0"/>
                  <a:t> is learned by minimizing robust training loss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sup>
                                          </m:sSub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𝐺𝑇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sup>
                                          </m:sSub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𝐺𝑇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𝑒𝑟𝑟𝑜𝑟</m:t>
                      </m:r>
                    </m:oMath>
                  </m:oMathPara>
                </a14:m>
                <a:endParaRPr lang="en-US" sz="20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𝑛𝑜𝑖𝑠𝑒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𝑡𝑒𝑟𝑚</m:t>
                      </m:r>
                    </m:oMath>
                  </m:oMathPara>
                </a14:m>
                <a:endParaRPr lang="en-US" sz="20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𝑙𝑒𝑎𝑟𝑛𝑎𝑏𝑙𝑒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𝑤𝑒𝑖𝑔h𝑡</m:t>
                      </m:r>
                    </m:oMath>
                  </m:oMathPara>
                </a14:m>
                <a:endParaRPr lang="en-US" sz="20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𝑠𝑢𝑝𝑟𝑒𝑠𝑠𝑒𝑠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𝑛𝑜𝑖𝑠𝑒</m:t>
                      </m:r>
                    </m:oMath>
                  </m:oMathPara>
                </a14:m>
                <a:endParaRPr lang="en-US" sz="2000" i="1" dirty="0"/>
              </a:p>
              <a:p>
                <a:pPr marL="0" indent="0">
                  <a:buNone/>
                </a:pPr>
                <a:endParaRPr lang="en-US" sz="2000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A9F8DC6-DF44-460A-9977-179DC52F0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780" y="1793305"/>
                <a:ext cx="5922852" cy="4965207"/>
              </a:xfrm>
              <a:prstGeom prst="rect">
                <a:avLst/>
              </a:prstGeom>
              <a:blipFill>
                <a:blip r:embed="rId3"/>
                <a:stretch>
                  <a:fillRect l="-1442" t="-1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4760A99-F293-47A0-981E-8DBFB8EC5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320" y="2109717"/>
            <a:ext cx="5698554" cy="31576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7275EB-D7E3-4130-B4A9-BF52CC6F759C}"/>
              </a:ext>
            </a:extLst>
          </p:cNvPr>
          <p:cNvSpPr txBox="1"/>
          <p:nvPr/>
        </p:nvSpPr>
        <p:spPr>
          <a:xfrm>
            <a:off x="8367713" y="5326547"/>
            <a:ext cx="259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Credit </a:t>
            </a:r>
            <a:r>
              <a:rPr lang="en-US" sz="1800" dirty="0">
                <a:hlinkClick r:id="rId5"/>
              </a:rPr>
              <a:t>Sun, et. al., 2018</a:t>
            </a:r>
            <a:endParaRPr lang="en-US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3B943F-B4B3-40D4-B7CB-EAD2C98EFD84}"/>
              </a:ext>
            </a:extLst>
          </p:cNvPr>
          <p:cNvSpPr/>
          <p:nvPr/>
        </p:nvSpPr>
        <p:spPr>
          <a:xfrm>
            <a:off x="7924801" y="4562475"/>
            <a:ext cx="3429000" cy="6429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1C72EA-5208-35EC-6664-CB0EED529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PWC-Net, an early successful optical flow network</a:t>
            </a:r>
          </a:p>
        </p:txBody>
      </p:sp>
    </p:spTree>
    <p:extLst>
      <p:ext uri="{BB962C8B-B14F-4D97-AF65-F5344CB8AC3E}">
        <p14:creationId xmlns:p14="http://schemas.microsoft.com/office/powerpoint/2010/main" val="105873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55934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PWC-Net algorithm tracking image-to-image motion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Credit </a:t>
            </a:r>
            <a:r>
              <a:rPr lang="en-US" sz="1800" dirty="0">
                <a:hlinkClick r:id="rId2"/>
              </a:rPr>
              <a:t>Sun, et. al., 2018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hlinkClick r:id="rId3"/>
              </a:rPr>
              <a:t>TensorFlow implementation  </a:t>
            </a:r>
            <a:endParaRPr lang="en-US" sz="1800" b="1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1293D0-BB50-465C-AFA6-10824FD07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937" y="1545515"/>
            <a:ext cx="10036395" cy="441601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1F08955-D9B4-FC0D-DBD7-DED77CAAB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PWC-Net, an early successful optical flow network</a:t>
            </a:r>
          </a:p>
        </p:txBody>
      </p:sp>
    </p:spTree>
    <p:extLst>
      <p:ext uri="{BB962C8B-B14F-4D97-AF65-F5344CB8AC3E}">
        <p14:creationId xmlns:p14="http://schemas.microsoft.com/office/powerpoint/2010/main" val="359070774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RAFT, Fully Neural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5593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0" dirty="0">
                <a:solidFill>
                  <a:srgbClr val="000000"/>
                </a:solidFill>
                <a:effectLst/>
                <a:hlinkClick r:id="rId2"/>
              </a:rPr>
              <a:t>RAFT: Recurrent All-Pairs Field Transforms for Optical Flow, Teed and Dang, 2020</a:t>
            </a:r>
            <a:r>
              <a:rPr lang="en-US" i="0" dirty="0">
                <a:solidFill>
                  <a:srgbClr val="000000"/>
                </a:solidFill>
                <a:effectLst/>
              </a:rPr>
              <a:t>, improves performance </a:t>
            </a:r>
            <a:r>
              <a:rPr lang="en-US" dirty="0">
                <a:solidFill>
                  <a:srgbClr val="000000"/>
                </a:solidFill>
              </a:rPr>
              <a:t>in several ways</a:t>
            </a:r>
            <a:r>
              <a:rPr lang="en-US" i="0" dirty="0">
                <a:solidFill>
                  <a:srgbClr val="000000"/>
                </a:solidFill>
                <a:effectLst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</a:rPr>
              <a:t>A multi-scale correlation volume to measure alignment between images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Account for flow at multiple scales, large slow motions and fast moving objects</a:t>
            </a:r>
          </a:p>
          <a:p>
            <a:r>
              <a:rPr lang="en-US" i="0" dirty="0">
                <a:solidFill>
                  <a:srgbClr val="000000"/>
                </a:solidFill>
                <a:effectLst/>
              </a:rPr>
              <a:t>Recurrent neural network to </a:t>
            </a:r>
            <a:r>
              <a:rPr lang="en-US" dirty="0">
                <a:solidFill>
                  <a:srgbClr val="000000"/>
                </a:solidFill>
              </a:rPr>
              <a:t>optimize warp  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Flow has long and short range dependencies </a:t>
            </a:r>
          </a:p>
          <a:p>
            <a:pPr lvl="1"/>
            <a:r>
              <a:rPr lang="en-US" i="0" dirty="0">
                <a:solidFill>
                  <a:srgbClr val="000000"/>
                </a:solidFill>
                <a:effectLst/>
              </a:rPr>
              <a:t>Recurrent neural network accounts for range of dependencies  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44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5636F-0AF7-CBD3-0C1F-A189061D7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1D3BE-2744-14F8-1565-C82B53F5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RAFT, Fully Neural Algorithm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30F86-3209-530A-961B-2FB1371A0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012197"/>
            <a:ext cx="10515600" cy="917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0" dirty="0">
                <a:solidFill>
                  <a:srgbClr val="000000"/>
                </a:solidFill>
                <a:effectLst/>
                <a:hlinkClick r:id="rId2"/>
              </a:rPr>
              <a:t>RAFT: Recurrent All-Pairs Field Transforms for Optical Flow, Teed and Dang, 2020</a:t>
            </a:r>
            <a:r>
              <a:rPr lang="en-US" i="0" dirty="0">
                <a:solidFill>
                  <a:srgbClr val="000000"/>
                </a:solidFill>
                <a:effectLst/>
              </a:rPr>
              <a:t>, improves performance </a:t>
            </a:r>
            <a:r>
              <a:rPr lang="en-US" dirty="0">
                <a:solidFill>
                  <a:srgbClr val="000000"/>
                </a:solidFill>
              </a:rPr>
              <a:t>in several ways</a:t>
            </a:r>
            <a:r>
              <a:rPr lang="en-US" i="0" dirty="0">
                <a:solidFill>
                  <a:srgbClr val="000000"/>
                </a:solidFill>
                <a:effectLst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4CFE5D-FB5B-72BE-1ECB-2519F28DB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571" y="3488174"/>
            <a:ext cx="9492332" cy="31937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BC4657A-3690-EA94-A3E6-9BB5809817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48718" y="2195625"/>
                <a:ext cx="5812107" cy="9171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Learned multi-scale feature pyramids for both images,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BC4657A-3690-EA94-A3E6-9BB580981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718" y="2195625"/>
                <a:ext cx="5812107" cy="917112"/>
              </a:xfrm>
              <a:prstGeom prst="rect">
                <a:avLst/>
              </a:prstGeom>
              <a:blipFill>
                <a:blip r:embed="rId4"/>
                <a:stretch>
                  <a:fillRect l="-2204" t="-10596" b="-12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0078703-1296-4E2A-05A6-03F0C0FE36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525" y="4129136"/>
                <a:ext cx="2410046" cy="21363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Context encoder for first image with different learned weights,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0078703-1296-4E2A-05A6-03F0C0FE3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5" y="4129136"/>
                <a:ext cx="2410046" cy="2136353"/>
              </a:xfrm>
              <a:prstGeom prst="rect">
                <a:avLst/>
              </a:prstGeom>
              <a:blipFill>
                <a:blip r:embed="rId5"/>
                <a:stretch>
                  <a:fillRect l="-4545" t="-4274" r="-7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D664E3-0908-A40F-8BA8-3130F645100B}"/>
              </a:ext>
            </a:extLst>
          </p:cNvPr>
          <p:cNvCxnSpPr>
            <a:cxnSpLocks/>
          </p:cNvCxnSpPr>
          <p:nvPr/>
        </p:nvCxnSpPr>
        <p:spPr>
          <a:xfrm flipH="1">
            <a:off x="4680488" y="3081399"/>
            <a:ext cx="704903" cy="57620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933F2A-3713-E124-5F81-842385009623}"/>
              </a:ext>
            </a:extLst>
          </p:cNvPr>
          <p:cNvCxnSpPr>
            <a:cxnSpLocks/>
          </p:cNvCxnSpPr>
          <p:nvPr/>
        </p:nvCxnSpPr>
        <p:spPr>
          <a:xfrm flipH="1">
            <a:off x="4933627" y="3081399"/>
            <a:ext cx="451764" cy="155776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D393F7-E7B0-B2C8-DE6F-9460757CFDB9}"/>
              </a:ext>
            </a:extLst>
          </p:cNvPr>
          <p:cNvCxnSpPr>
            <a:cxnSpLocks/>
          </p:cNvCxnSpPr>
          <p:nvPr/>
        </p:nvCxnSpPr>
        <p:spPr>
          <a:xfrm>
            <a:off x="2314414" y="5470902"/>
            <a:ext cx="1756474" cy="19631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BFDE1EA8-9BE0-B1CA-94F4-2D6A346495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69170" y="1921613"/>
                <a:ext cx="3677082" cy="13441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Recurrent neural network learns an update,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, to the flow fields,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, at different ranges</a:t>
                </a:r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BFDE1EA8-9BE0-B1CA-94F4-2D6A34649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9170" y="1921613"/>
                <a:ext cx="3677082" cy="1344101"/>
              </a:xfrm>
              <a:prstGeom prst="rect">
                <a:avLst/>
              </a:prstGeom>
              <a:blipFill>
                <a:blip r:embed="rId6"/>
                <a:stretch>
                  <a:fillRect l="-2985" t="-11312" r="-3648" b="-27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24FBFC6-D4D3-4DFC-5673-CDA36F42148E}"/>
              </a:ext>
            </a:extLst>
          </p:cNvPr>
          <p:cNvCxnSpPr>
            <a:cxnSpLocks/>
          </p:cNvCxnSpPr>
          <p:nvPr/>
        </p:nvCxnSpPr>
        <p:spPr>
          <a:xfrm flipH="1">
            <a:off x="8935656" y="3081399"/>
            <a:ext cx="306315" cy="112769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47F845B-6F78-97B9-86B3-A6B9DBB52458}"/>
              </a:ext>
            </a:extLst>
          </p:cNvPr>
          <p:cNvSpPr txBox="1">
            <a:spLocks/>
          </p:cNvSpPr>
          <p:nvPr/>
        </p:nvSpPr>
        <p:spPr>
          <a:xfrm>
            <a:off x="10208457" y="3570515"/>
            <a:ext cx="1883747" cy="946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Final flow field result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AA645A-7BFB-D567-E903-C3EBAA704CC2}"/>
              </a:ext>
            </a:extLst>
          </p:cNvPr>
          <p:cNvCxnSpPr>
            <a:cxnSpLocks/>
          </p:cNvCxnSpPr>
          <p:nvPr/>
        </p:nvCxnSpPr>
        <p:spPr>
          <a:xfrm flipH="1">
            <a:off x="11117484" y="4399367"/>
            <a:ext cx="187417" cy="83817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97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8" grpId="0"/>
      <p:bldP spid="2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04EE6-20B2-F2E7-B43C-A3D74AE6D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77CBA-6AFD-DAB3-463D-886811065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RAFT, Fully Neural Algorithm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C4680-D1E8-17BB-3A75-C674A2949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012197"/>
            <a:ext cx="10515600" cy="917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0" dirty="0">
                <a:solidFill>
                  <a:srgbClr val="000000"/>
                </a:solidFill>
                <a:effectLst/>
                <a:hlinkClick r:id="rId2"/>
              </a:rPr>
              <a:t>RAFT: Recurrent All-Pairs Field Transforms for Optical Flow, Teed and Dang, 2020</a:t>
            </a:r>
            <a:r>
              <a:rPr lang="en-US" i="0" dirty="0">
                <a:solidFill>
                  <a:srgbClr val="000000"/>
                </a:solidFill>
                <a:effectLst/>
              </a:rPr>
              <a:t>, improves performance </a:t>
            </a:r>
            <a:r>
              <a:rPr lang="en-US" dirty="0">
                <a:solidFill>
                  <a:srgbClr val="000000"/>
                </a:solidFill>
              </a:rPr>
              <a:t>in several ways</a:t>
            </a:r>
            <a:r>
              <a:rPr lang="en-US" i="0" dirty="0">
                <a:solidFill>
                  <a:srgbClr val="000000"/>
                </a:solidFill>
                <a:effectLst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74EECA-2B02-9817-8010-BA0943375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248" y="4099932"/>
            <a:ext cx="8007752" cy="26942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3D1E284-09DD-6BED-1A0B-D4A563F845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72400" y="2343780"/>
                <a:ext cx="4343401" cy="9171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Correlation volume of dimension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3D1E284-09DD-6BED-1A0B-D4A563F84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0" y="2343780"/>
                <a:ext cx="4343401" cy="917112"/>
              </a:xfrm>
              <a:prstGeom prst="rect">
                <a:avLst/>
              </a:prstGeom>
              <a:blipFill>
                <a:blip r:embed="rId4"/>
                <a:stretch>
                  <a:fillRect l="-2805" t="-10596" b="-12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F4F879A-C83D-DB62-ED25-15B7ACA1DF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059" y="2004237"/>
                <a:ext cx="6758763" cy="201631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channels similarity is computed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e>
                      </m:nary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Over limited range for efficiency,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d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F4F879A-C83D-DB62-ED25-15B7ACA1D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59" y="2004237"/>
                <a:ext cx="6758763" cy="2016317"/>
              </a:xfrm>
              <a:prstGeom prst="rect">
                <a:avLst/>
              </a:prstGeom>
              <a:blipFill>
                <a:blip r:embed="rId5"/>
                <a:stretch>
                  <a:fillRect l="-1803" t="-6949" b="-72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82CB9F-E78C-0055-D671-00ED597345C5}"/>
              </a:ext>
            </a:extLst>
          </p:cNvPr>
          <p:cNvCxnSpPr>
            <a:cxnSpLocks/>
          </p:cNvCxnSpPr>
          <p:nvPr/>
        </p:nvCxnSpPr>
        <p:spPr>
          <a:xfrm flipH="1">
            <a:off x="7772400" y="3195084"/>
            <a:ext cx="1866014" cy="73896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9EFB59-A010-81C7-D8D8-599E715A21F6}"/>
              </a:ext>
            </a:extLst>
          </p:cNvPr>
          <p:cNvCxnSpPr>
            <a:cxnSpLocks/>
          </p:cNvCxnSpPr>
          <p:nvPr/>
        </p:nvCxnSpPr>
        <p:spPr>
          <a:xfrm>
            <a:off x="6412375" y="4020554"/>
            <a:ext cx="202557" cy="41255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709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AAC26-2290-603F-CAD9-D7DBAEEA0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90F8-48CE-11C9-8448-8DABAC2AD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RAFT, Fully Neural Algorithm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14184-A0AD-B71B-E4F2-155735B92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012197"/>
            <a:ext cx="10515600" cy="917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0" dirty="0">
                <a:solidFill>
                  <a:srgbClr val="000000"/>
                </a:solidFill>
                <a:effectLst/>
                <a:hlinkClick r:id="rId2"/>
              </a:rPr>
              <a:t>RAFT: Recurrent All-Pairs Field Transforms for Optical Flow, Teed and Dang, 2020</a:t>
            </a:r>
            <a:r>
              <a:rPr lang="en-US" i="0" dirty="0">
                <a:solidFill>
                  <a:srgbClr val="000000"/>
                </a:solidFill>
                <a:effectLst/>
              </a:rPr>
              <a:t>, improves performance </a:t>
            </a:r>
            <a:r>
              <a:rPr lang="en-US" dirty="0">
                <a:solidFill>
                  <a:srgbClr val="000000"/>
                </a:solidFill>
              </a:rPr>
              <a:t>in several ways</a:t>
            </a:r>
            <a:r>
              <a:rPr lang="en-US" i="0" dirty="0">
                <a:solidFill>
                  <a:srgbClr val="000000"/>
                </a:solidFill>
                <a:effectLst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0F64968-25F5-EF42-B88D-DE9EDA1176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4617" y="2004237"/>
                <a:ext cx="6430274" cy="46222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Recurrent relationship, similar to GRU, computes update to flow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𝐶𝑜𝑛𝑣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3×3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𝐶𝑜𝑛𝑣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3×3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𝐶𝑜𝑛𝑣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3×3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⊙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contamination of flow, context correlation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 a hidden state of recurrent network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000000"/>
                    </a:solidFill>
                  </a:rPr>
                  <a:t>Three </a:t>
                </a:r>
                <a:r>
                  <a:rPr lang="en-US" sz="2400" b="1" dirty="0">
                    <a:solidFill>
                      <a:srgbClr val="000000"/>
                    </a:solidFill>
                  </a:rPr>
                  <a:t>learnable shared weight tensors</a:t>
                </a:r>
                <a:r>
                  <a:rPr lang="en-US" sz="2400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0F64968-25F5-EF42-B88D-DE9EDA117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17" y="2004237"/>
                <a:ext cx="6430274" cy="4622269"/>
              </a:xfrm>
              <a:prstGeom prst="rect">
                <a:avLst/>
              </a:prstGeom>
              <a:blipFill>
                <a:blip r:embed="rId3"/>
                <a:stretch>
                  <a:fillRect l="-1896" t="-2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E057A4F-7FA8-962F-6C40-F66D7B072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098" y="2567015"/>
            <a:ext cx="5673433" cy="340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67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D0629-4972-C038-035C-0CC282B80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FC8DB-7CDA-9A36-DC39-B512A409C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RAFT, Fully Neural Algorithm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FFC03-1B49-AB7E-6E22-9809ABE36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012197"/>
            <a:ext cx="10515600" cy="917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0" dirty="0">
                <a:solidFill>
                  <a:srgbClr val="000000"/>
                </a:solidFill>
                <a:effectLst/>
                <a:hlinkClick r:id="rId2"/>
              </a:rPr>
              <a:t>RAFT: Recurrent All-Pairs Field Transforms for Optical Flow, Teed and Dang, 2020</a:t>
            </a:r>
            <a:r>
              <a:rPr lang="en-US" i="0" dirty="0">
                <a:solidFill>
                  <a:srgbClr val="000000"/>
                </a:solidFill>
                <a:effectLst/>
              </a:rPr>
              <a:t>, improves performance </a:t>
            </a:r>
            <a:r>
              <a:rPr lang="en-US" dirty="0">
                <a:solidFill>
                  <a:srgbClr val="000000"/>
                </a:solidFill>
              </a:rPr>
              <a:t>in several ways</a:t>
            </a:r>
            <a:r>
              <a:rPr lang="en-US" i="0" dirty="0">
                <a:solidFill>
                  <a:srgbClr val="000000"/>
                </a:solidFill>
                <a:effectLst/>
              </a:rPr>
              <a:t>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720452-D33A-AC1F-1EB7-26E798D9C52D}"/>
              </a:ext>
            </a:extLst>
          </p:cNvPr>
          <p:cNvSpPr txBox="1">
            <a:spLocks/>
          </p:cNvSpPr>
          <p:nvPr/>
        </p:nvSpPr>
        <p:spPr>
          <a:xfrm>
            <a:off x="3804557" y="6060924"/>
            <a:ext cx="4060372" cy="656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Example of RAFT 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7A19D1-42F1-5661-8CE5-3872B7E80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2" y="2383732"/>
            <a:ext cx="10862476" cy="346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1358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E6B7F-5D11-0703-B50E-ED28E59AF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4E52D-BE42-7B7C-48EF-D4D8D159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+mn-lt"/>
              </a:rPr>
              <a:t>NeuFlow</a:t>
            </a:r>
            <a:r>
              <a:rPr lang="en-US" sz="4000" dirty="0">
                <a:latin typeface="+mn-lt"/>
              </a:rPr>
              <a:t> 2: High Efficiency Optical Flow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C830A8-F887-F859-1EE2-CE5D53F08738}"/>
              </a:ext>
            </a:extLst>
          </p:cNvPr>
          <p:cNvSpPr txBox="1">
            <a:spLocks/>
          </p:cNvSpPr>
          <p:nvPr/>
        </p:nvSpPr>
        <p:spPr>
          <a:xfrm>
            <a:off x="294617" y="1191987"/>
            <a:ext cx="5997326" cy="5434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hlinkClick r:id="rId2"/>
              </a:rPr>
              <a:t>NeuFlow</a:t>
            </a:r>
            <a:r>
              <a:rPr lang="en-US" dirty="0">
                <a:solidFill>
                  <a:srgbClr val="000000"/>
                </a:solidFill>
                <a:hlinkClick r:id="rId2"/>
              </a:rPr>
              <a:t> 2, Zhang, et. al., 2024 </a:t>
            </a:r>
            <a:r>
              <a:rPr lang="en-US" dirty="0">
                <a:solidFill>
                  <a:srgbClr val="000000"/>
                </a:solidFill>
              </a:rPr>
              <a:t>is a high-performance optical flow algorithm optimized for edge devices</a:t>
            </a:r>
          </a:p>
          <a:p>
            <a:r>
              <a:rPr lang="en-US" dirty="0" err="1">
                <a:solidFill>
                  <a:srgbClr val="000000"/>
                </a:solidFill>
              </a:rPr>
              <a:t>NeuFlow</a:t>
            </a:r>
            <a:r>
              <a:rPr lang="en-US" dirty="0">
                <a:solidFill>
                  <a:srgbClr val="000000"/>
                </a:solidFill>
              </a:rPr>
              <a:t> 2 has superior speed and accuracy</a:t>
            </a:r>
          </a:p>
          <a:p>
            <a:pPr lvl="1"/>
            <a:r>
              <a:rPr lang="en-US" i="1" dirty="0">
                <a:solidFill>
                  <a:schemeClr val="accent1"/>
                </a:solidFill>
              </a:rPr>
              <a:t>Note the inverted vertical scale </a:t>
            </a:r>
          </a:p>
          <a:p>
            <a:r>
              <a:rPr lang="en-US" dirty="0"/>
              <a:t>Unfortunately, the algorithm is not well described </a:t>
            </a:r>
          </a:p>
          <a:p>
            <a:pPr marL="0" indent="0">
              <a:buNone/>
            </a:pPr>
            <a:r>
              <a:rPr lang="en-US" dirty="0"/>
              <a:t>  </a:t>
            </a:r>
            <a:endParaRPr lang="en-US" i="1" dirty="0">
              <a:latin typeface="Cambria Math" panose="020405030504060302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28D7BA-7F61-BAE2-4B29-B2CEEC9DE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129" y="1170378"/>
            <a:ext cx="5712370" cy="547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9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DF481-EAEA-DEE5-31AF-ECFFA8A88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3ADFB-FE92-7801-21A7-3EA5FB328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+mn-lt"/>
              </a:rPr>
              <a:t>NeuFlow</a:t>
            </a:r>
            <a:r>
              <a:rPr lang="en-US" sz="4000" dirty="0">
                <a:latin typeface="+mn-lt"/>
              </a:rPr>
              <a:t> 2: High Efficiency Optical Flow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11D8B7-8D50-0AC4-32D2-E9BFB1E3418B}"/>
              </a:ext>
            </a:extLst>
          </p:cNvPr>
          <p:cNvSpPr txBox="1">
            <a:spLocks/>
          </p:cNvSpPr>
          <p:nvPr/>
        </p:nvSpPr>
        <p:spPr>
          <a:xfrm>
            <a:off x="294616" y="1191987"/>
            <a:ext cx="11370441" cy="5434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hlinkClick r:id="rId3"/>
              </a:rPr>
              <a:t>NeuFlow</a:t>
            </a:r>
            <a:r>
              <a:rPr lang="en-US" dirty="0">
                <a:solidFill>
                  <a:srgbClr val="000000"/>
                </a:solidFill>
                <a:hlinkClick r:id="rId3"/>
              </a:rPr>
              <a:t> 2, Zhang, et. al., 2024 </a:t>
            </a:r>
            <a:r>
              <a:rPr lang="en-US" dirty="0">
                <a:solidFill>
                  <a:srgbClr val="000000"/>
                </a:solidFill>
              </a:rPr>
              <a:t>is a high-performance optical flow algorithm optimized for edge devices</a:t>
            </a:r>
          </a:p>
          <a:p>
            <a:r>
              <a:rPr lang="en-US" dirty="0" err="1">
                <a:solidFill>
                  <a:srgbClr val="000000"/>
                </a:solidFill>
              </a:rPr>
              <a:t>NeuFlow</a:t>
            </a:r>
            <a:r>
              <a:rPr lang="en-US" dirty="0">
                <a:solidFill>
                  <a:srgbClr val="000000"/>
                </a:solidFill>
              </a:rPr>
              <a:t> 2 is a lightweight hybrid CNN-transformer-based algorithm    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Feature maps and context created with light-weight CNNs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Cross-attention provides flow at multiple scales</a:t>
            </a:r>
          </a:p>
          <a:p>
            <a:r>
              <a:rPr lang="en-US" dirty="0" err="1">
                <a:solidFill>
                  <a:srgbClr val="000000"/>
                </a:solidFill>
              </a:rPr>
              <a:t>NeuFlow</a:t>
            </a:r>
            <a:r>
              <a:rPr lang="en-US" dirty="0">
                <a:solidFill>
                  <a:srgbClr val="000000"/>
                </a:solidFill>
              </a:rPr>
              <a:t> 2 computes flow field in two stages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A 1/16 scale global flow to capture large scale motion such as moving camera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Integrated 1/8 scale flow to capture fine scale motion such as fast moving objects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1/8 scale flow interpolated to full 1/1 scale </a:t>
            </a:r>
          </a:p>
          <a:p>
            <a:r>
              <a:rPr lang="en-US" dirty="0">
                <a:solidFill>
                  <a:srgbClr val="000000"/>
                </a:solidFill>
              </a:rPr>
              <a:t>Using CNNs and fractional scale flow greatly increases inference speed</a:t>
            </a:r>
          </a:p>
          <a:p>
            <a:pPr marL="0" indent="0">
              <a:buNone/>
            </a:pPr>
            <a:r>
              <a:rPr lang="en-US" dirty="0"/>
              <a:t>  </a:t>
            </a:r>
            <a:endParaRPr lang="en-US" i="1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28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8ED36-C685-9BB3-6108-ED3868E1A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F7281E3-460A-78B1-044B-B8B0B6EDB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54" y="3937907"/>
            <a:ext cx="10726647" cy="28293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6DC10A-6B26-9720-140F-7BFD5AA1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+mn-lt"/>
              </a:rPr>
              <a:t>NeuFlow</a:t>
            </a:r>
            <a:r>
              <a:rPr lang="en-US" sz="4000" dirty="0">
                <a:latin typeface="+mn-lt"/>
              </a:rPr>
              <a:t> 2: High Efficiency Optical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38714-1FEA-23BF-B0C6-E297A0D1E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012197"/>
            <a:ext cx="10515600" cy="917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hlinkClick r:id="rId3"/>
              </a:rPr>
              <a:t>NeuFlow</a:t>
            </a:r>
            <a:r>
              <a:rPr lang="en-US" dirty="0">
                <a:solidFill>
                  <a:srgbClr val="000000"/>
                </a:solidFill>
                <a:hlinkClick r:id="rId3"/>
              </a:rPr>
              <a:t> 2, Zhang, et. al., 2024 </a:t>
            </a:r>
            <a:r>
              <a:rPr lang="en-US" dirty="0">
                <a:solidFill>
                  <a:srgbClr val="000000"/>
                </a:solidFill>
              </a:rPr>
              <a:t>is a high-performance optical flow algorithm optimized for edge devices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CD96F8-5E44-34AB-826E-05540373ED1C}"/>
              </a:ext>
            </a:extLst>
          </p:cNvPr>
          <p:cNvSpPr txBox="1">
            <a:spLocks/>
          </p:cNvSpPr>
          <p:nvPr/>
        </p:nvSpPr>
        <p:spPr>
          <a:xfrm>
            <a:off x="4669604" y="3020793"/>
            <a:ext cx="1659345" cy="91711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3. 16</a:t>
            </a:r>
            <a:r>
              <a:rPr lang="en-US" baseline="30000" dirty="0">
                <a:solidFill>
                  <a:srgbClr val="000000"/>
                </a:solidFill>
              </a:rPr>
              <a:t>th</a:t>
            </a:r>
            <a:r>
              <a:rPr lang="en-US" dirty="0">
                <a:solidFill>
                  <a:srgbClr val="000000"/>
                </a:solidFill>
              </a:rPr>
              <a:t> scale cross attention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D33567B-FC63-018C-B5AB-04DF80921C39}"/>
              </a:ext>
            </a:extLst>
          </p:cNvPr>
          <p:cNvSpPr txBox="1">
            <a:spLocks/>
          </p:cNvSpPr>
          <p:nvPr/>
        </p:nvSpPr>
        <p:spPr>
          <a:xfrm>
            <a:off x="507125" y="2801313"/>
            <a:ext cx="2070311" cy="92344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1. </a:t>
            </a:r>
            <a:r>
              <a:rPr lang="en-US">
                <a:solidFill>
                  <a:srgbClr val="000000"/>
                </a:solidFill>
              </a:rPr>
              <a:t>Multi-scale CNN </a:t>
            </a:r>
            <a:r>
              <a:rPr lang="en-US" dirty="0">
                <a:solidFill>
                  <a:srgbClr val="000000"/>
                </a:solidFill>
              </a:rPr>
              <a:t>backbones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003466-4FF3-AD94-1950-95CA55C88FF5}"/>
              </a:ext>
            </a:extLst>
          </p:cNvPr>
          <p:cNvCxnSpPr>
            <a:cxnSpLocks/>
          </p:cNvCxnSpPr>
          <p:nvPr/>
        </p:nvCxnSpPr>
        <p:spPr>
          <a:xfrm flipH="1">
            <a:off x="4520339" y="3937907"/>
            <a:ext cx="878237" cy="13470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38DC4E1-790A-381B-3E24-E28AF8FC8AFB}"/>
              </a:ext>
            </a:extLst>
          </p:cNvPr>
          <p:cNvCxnSpPr>
            <a:cxnSpLocks/>
          </p:cNvCxnSpPr>
          <p:nvPr/>
        </p:nvCxnSpPr>
        <p:spPr>
          <a:xfrm>
            <a:off x="1585993" y="3596292"/>
            <a:ext cx="482293" cy="109840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FA4189-8171-D7D4-EDB9-4E02299EB247}"/>
              </a:ext>
            </a:extLst>
          </p:cNvPr>
          <p:cNvCxnSpPr>
            <a:cxnSpLocks/>
          </p:cNvCxnSpPr>
          <p:nvPr/>
        </p:nvCxnSpPr>
        <p:spPr>
          <a:xfrm>
            <a:off x="1627322" y="3596292"/>
            <a:ext cx="179706" cy="206972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39D51BC-0A84-5A7C-4F34-E7BBFD61D1A2}"/>
              </a:ext>
            </a:extLst>
          </p:cNvPr>
          <p:cNvSpPr txBox="1">
            <a:spLocks/>
          </p:cNvSpPr>
          <p:nvPr/>
        </p:nvSpPr>
        <p:spPr>
          <a:xfrm>
            <a:off x="2803257" y="1952001"/>
            <a:ext cx="2070311" cy="118200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2. 1/8 and 1/16 scale feature maps and context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7CBA82-397C-66ED-E1ED-D506E218731F}"/>
              </a:ext>
            </a:extLst>
          </p:cNvPr>
          <p:cNvCxnSpPr>
            <a:cxnSpLocks/>
          </p:cNvCxnSpPr>
          <p:nvPr/>
        </p:nvCxnSpPr>
        <p:spPr>
          <a:xfrm flipH="1">
            <a:off x="3353561" y="3027717"/>
            <a:ext cx="278208" cy="8520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9F36190-C50A-EB98-9A69-A9F4F703DBFE}"/>
              </a:ext>
            </a:extLst>
          </p:cNvPr>
          <p:cNvSpPr txBox="1">
            <a:spLocks/>
          </p:cNvSpPr>
          <p:nvPr/>
        </p:nvSpPr>
        <p:spPr>
          <a:xfrm>
            <a:off x="9972608" y="3198884"/>
            <a:ext cx="2070312" cy="87200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6. Up-sampled 1/1 scale flow map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B6D008C-92D1-38B4-31B3-F0AA130E8AFA}"/>
              </a:ext>
            </a:extLst>
          </p:cNvPr>
          <p:cNvCxnSpPr>
            <a:cxnSpLocks/>
          </p:cNvCxnSpPr>
          <p:nvPr/>
        </p:nvCxnSpPr>
        <p:spPr>
          <a:xfrm>
            <a:off x="11050292" y="3776420"/>
            <a:ext cx="47607" cy="144650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9AA48D3-7A9B-CBA0-20D9-570DF1A9BC19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7220405" y="3717065"/>
            <a:ext cx="757889" cy="167118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DF38C2C-A54D-902A-3605-B1F8908536D7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7108458" y="3717065"/>
            <a:ext cx="111947" cy="167118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CD6EACE-8D3F-CB4B-7434-5C9859F1FA67}"/>
              </a:ext>
            </a:extLst>
          </p:cNvPr>
          <p:cNvSpPr txBox="1">
            <a:spLocks/>
          </p:cNvSpPr>
          <p:nvPr/>
        </p:nvSpPr>
        <p:spPr>
          <a:xfrm>
            <a:off x="6307350" y="1816096"/>
            <a:ext cx="1826110" cy="190096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4. 1/16 scale flow captures global motion, such as moving camera 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3661AC55-826C-1BAE-52F7-B7AE3B0EB438}"/>
              </a:ext>
            </a:extLst>
          </p:cNvPr>
          <p:cNvSpPr txBox="1">
            <a:spLocks/>
          </p:cNvSpPr>
          <p:nvPr/>
        </p:nvSpPr>
        <p:spPr>
          <a:xfrm>
            <a:off x="8323263" y="1678984"/>
            <a:ext cx="1826110" cy="15199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5. Integrated 1/8 scale flow captures fine grain motion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0EF02D7-FC1D-25C7-A4F1-D6DAE1B394CB}"/>
              </a:ext>
            </a:extLst>
          </p:cNvPr>
          <p:cNvCxnSpPr>
            <a:cxnSpLocks/>
          </p:cNvCxnSpPr>
          <p:nvPr/>
        </p:nvCxnSpPr>
        <p:spPr>
          <a:xfrm>
            <a:off x="9185329" y="3027717"/>
            <a:ext cx="633902" cy="225720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76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9" grpId="0"/>
      <p:bldP spid="21" grpId="0"/>
      <p:bldP spid="27" grpId="0"/>
      <p:bldP spid="37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B07B3-83F3-7A23-7E76-69ABBF942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105AB8-062F-BCBE-F0B1-994EB9D74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490" y="3879742"/>
            <a:ext cx="8221222" cy="25244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4A5CFE-5EB7-66DF-FD85-19D4DA4C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RAFT, Fully Neural Algorithm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0F715-CB0F-CA81-32B7-B238DA433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012196"/>
            <a:ext cx="10515600" cy="1277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hlinkClick r:id="rId3"/>
              </a:rPr>
              <a:t>NeuFlow</a:t>
            </a:r>
            <a:r>
              <a:rPr lang="en-US" dirty="0">
                <a:solidFill>
                  <a:srgbClr val="000000"/>
                </a:solidFill>
                <a:hlinkClick r:id="rId3"/>
              </a:rPr>
              <a:t> 2, Zhang, et. al., 2024 </a:t>
            </a:r>
            <a:r>
              <a:rPr lang="en-US" dirty="0">
                <a:solidFill>
                  <a:srgbClr val="000000"/>
                </a:solidFill>
              </a:rPr>
              <a:t>is a high-performance optical flow algorithm optimized for edge devices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2145F9-5FB3-43EA-2DCC-00B48ABCE006}"/>
              </a:ext>
            </a:extLst>
          </p:cNvPr>
          <p:cNvSpPr txBox="1">
            <a:spLocks/>
          </p:cNvSpPr>
          <p:nvPr/>
        </p:nvSpPr>
        <p:spPr>
          <a:xfrm>
            <a:off x="1045792" y="2462544"/>
            <a:ext cx="2260513" cy="100017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1. CNN pyramid with scale range 1/1 to 1/8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3E34FF-A8DC-91B7-8BEE-0B14AD5D0AE2}"/>
              </a:ext>
            </a:extLst>
          </p:cNvPr>
          <p:cNvCxnSpPr>
            <a:cxnSpLocks/>
          </p:cNvCxnSpPr>
          <p:nvPr/>
        </p:nvCxnSpPr>
        <p:spPr>
          <a:xfrm>
            <a:off x="2034288" y="3533614"/>
            <a:ext cx="522932" cy="89966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62DDA40-39E4-78E9-EB1B-B43A19A81986}"/>
              </a:ext>
            </a:extLst>
          </p:cNvPr>
          <p:cNvCxnSpPr>
            <a:cxnSpLocks/>
          </p:cNvCxnSpPr>
          <p:nvPr/>
        </p:nvCxnSpPr>
        <p:spPr>
          <a:xfrm>
            <a:off x="2034288" y="3533614"/>
            <a:ext cx="130309" cy="241256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3B45FDC-2B5C-2098-60A8-7837798C03CC}"/>
              </a:ext>
            </a:extLst>
          </p:cNvPr>
          <p:cNvSpPr txBox="1">
            <a:spLocks/>
          </p:cNvSpPr>
          <p:nvPr/>
        </p:nvSpPr>
        <p:spPr>
          <a:xfrm>
            <a:off x="5155770" y="2185838"/>
            <a:ext cx="3282410" cy="13942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2. Light-weight convolutional blocks down-sample and integrate multi-scale features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4E69638-65D6-65C0-7D22-7C3F3FE400B8}"/>
              </a:ext>
            </a:extLst>
          </p:cNvPr>
          <p:cNvCxnSpPr>
            <a:cxnSpLocks/>
          </p:cNvCxnSpPr>
          <p:nvPr/>
        </p:nvCxnSpPr>
        <p:spPr>
          <a:xfrm flipH="1">
            <a:off x="5553559" y="3533614"/>
            <a:ext cx="289302" cy="46352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F8D9A3B-A733-DA96-FA7E-A366B9D5FD7A}"/>
              </a:ext>
            </a:extLst>
          </p:cNvPr>
          <p:cNvSpPr txBox="1">
            <a:spLocks/>
          </p:cNvSpPr>
          <p:nvPr/>
        </p:nvSpPr>
        <p:spPr>
          <a:xfrm>
            <a:off x="9216325" y="2185837"/>
            <a:ext cx="2826595" cy="149554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3. Fully convolutional network creates 1/8 and 1/16 scale feature and context maps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D5B4E4-6E77-B048-16FA-92CD99A9D1AA}"/>
              </a:ext>
            </a:extLst>
          </p:cNvPr>
          <p:cNvCxnSpPr>
            <a:cxnSpLocks/>
          </p:cNvCxnSpPr>
          <p:nvPr/>
        </p:nvCxnSpPr>
        <p:spPr>
          <a:xfrm flipH="1">
            <a:off x="10157712" y="3580110"/>
            <a:ext cx="443129" cy="98849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E41EC0-A436-DE59-FF1F-E98A50052F85}"/>
              </a:ext>
            </a:extLst>
          </p:cNvPr>
          <p:cNvCxnSpPr>
            <a:cxnSpLocks/>
          </p:cNvCxnSpPr>
          <p:nvPr/>
        </p:nvCxnSpPr>
        <p:spPr>
          <a:xfrm>
            <a:off x="6442129" y="3533614"/>
            <a:ext cx="666427" cy="84724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04D1331-709F-80C2-6B34-934C4B8ADE27}"/>
              </a:ext>
            </a:extLst>
          </p:cNvPr>
          <p:cNvCxnSpPr>
            <a:cxnSpLocks/>
          </p:cNvCxnSpPr>
          <p:nvPr/>
        </p:nvCxnSpPr>
        <p:spPr>
          <a:xfrm>
            <a:off x="7268705" y="3533614"/>
            <a:ext cx="1219200" cy="6147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010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92E96-3F83-EC4A-8D39-650A26500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A20BF09-10CA-F7A0-3BF8-00D3C5172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977" y="2958087"/>
            <a:ext cx="3962953" cy="809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769FED-FC7D-8218-AF56-609E37399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759" y="2331265"/>
            <a:ext cx="4640345" cy="21561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F0474B-9AE8-B8F6-2F7A-BF7A5E06F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346" y="4633334"/>
            <a:ext cx="8090115" cy="21338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25AB9-144F-F2AE-8EEC-31404234D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+mn-lt"/>
              </a:rPr>
              <a:t>NeuFlow</a:t>
            </a:r>
            <a:r>
              <a:rPr lang="en-US" sz="4000" dirty="0">
                <a:latin typeface="+mn-lt"/>
              </a:rPr>
              <a:t> 2: High Efficiency Optical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53698-AF4C-A483-56CE-1EC6680AA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012197"/>
            <a:ext cx="10515600" cy="917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hlinkClick r:id="rId5"/>
              </a:rPr>
              <a:t>NeuFlow</a:t>
            </a:r>
            <a:r>
              <a:rPr lang="en-US" dirty="0">
                <a:solidFill>
                  <a:srgbClr val="000000"/>
                </a:solidFill>
                <a:hlinkClick r:id="rId5"/>
              </a:rPr>
              <a:t> 2, Zhang, et. al., 2024 </a:t>
            </a:r>
            <a:r>
              <a:rPr lang="en-US" dirty="0">
                <a:solidFill>
                  <a:srgbClr val="000000"/>
                </a:solidFill>
              </a:rPr>
              <a:t>is a high-performance optical flow algorithm optimized for edge devices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D3EE31-FF62-52F8-703E-10F9446BD921}"/>
              </a:ext>
            </a:extLst>
          </p:cNvPr>
          <p:cNvSpPr txBox="1">
            <a:spLocks/>
          </p:cNvSpPr>
          <p:nvPr/>
        </p:nvSpPr>
        <p:spPr>
          <a:xfrm>
            <a:off x="284048" y="3256800"/>
            <a:ext cx="2070311" cy="92344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Notice recurrent loops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A2A8B3-363A-979A-9EB0-3EBF3984D844}"/>
              </a:ext>
            </a:extLst>
          </p:cNvPr>
          <p:cNvCxnSpPr>
            <a:cxnSpLocks/>
          </p:cNvCxnSpPr>
          <p:nvPr/>
        </p:nvCxnSpPr>
        <p:spPr>
          <a:xfrm>
            <a:off x="1611825" y="3569945"/>
            <a:ext cx="630264" cy="64249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9C74EE5-6F0F-E8A5-5F90-95D1A611C3B2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570495" y="3409325"/>
            <a:ext cx="630264" cy="16062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805E34F-98BC-7B0D-3722-4B30DBDC7AAC}"/>
              </a:ext>
            </a:extLst>
          </p:cNvPr>
          <p:cNvSpPr txBox="1">
            <a:spLocks/>
          </p:cNvSpPr>
          <p:nvPr/>
        </p:nvSpPr>
        <p:spPr>
          <a:xfrm>
            <a:off x="628793" y="2018469"/>
            <a:ext cx="6259649" cy="51010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Recurrent network iteratively refines flow map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53B02CF-EC0E-6C00-40E1-038A86FF5140}"/>
              </a:ext>
            </a:extLst>
          </p:cNvPr>
          <p:cNvCxnSpPr>
            <a:cxnSpLocks/>
          </p:cNvCxnSpPr>
          <p:nvPr/>
        </p:nvCxnSpPr>
        <p:spPr>
          <a:xfrm flipH="1">
            <a:off x="8606725" y="3565479"/>
            <a:ext cx="1058622" cy="209656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D7C4118-C83B-242F-718F-34E35B3E93C7}"/>
              </a:ext>
            </a:extLst>
          </p:cNvPr>
          <p:cNvSpPr txBox="1">
            <a:spLocks/>
          </p:cNvSpPr>
          <p:nvPr/>
        </p:nvSpPr>
        <p:spPr>
          <a:xfrm>
            <a:off x="7289369" y="2331265"/>
            <a:ext cx="4688572" cy="62321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Convolutional network integrates 1/8 and 1/16 scale flow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AF01B8D-BE8F-3DAE-9D6D-235A4299AE2C}"/>
              </a:ext>
            </a:extLst>
          </p:cNvPr>
          <p:cNvCxnSpPr>
            <a:cxnSpLocks/>
          </p:cNvCxnSpPr>
          <p:nvPr/>
        </p:nvCxnSpPr>
        <p:spPr>
          <a:xfrm>
            <a:off x="5858359" y="4417017"/>
            <a:ext cx="1115878" cy="120370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39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/>
      <p:bldP spid="20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07AED-C512-B70A-A0A7-9C525F33B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02654-EA03-3654-15F0-476EA7BA2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RAFT, Fully Neural Algorithm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9794B-EC5A-D13C-5C75-D0368DD61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012196"/>
            <a:ext cx="10515600" cy="1277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hlinkClick r:id="rId2"/>
              </a:rPr>
              <a:t>NeuFlow</a:t>
            </a:r>
            <a:r>
              <a:rPr lang="en-US" dirty="0">
                <a:solidFill>
                  <a:srgbClr val="000000"/>
                </a:solidFill>
                <a:hlinkClick r:id="rId2"/>
              </a:rPr>
              <a:t> 2, Zhang, et. al., 2024 </a:t>
            </a:r>
            <a:r>
              <a:rPr lang="en-US" dirty="0">
                <a:solidFill>
                  <a:srgbClr val="000000"/>
                </a:solidFill>
              </a:rPr>
              <a:t>is a high-performance optical flow algorithm optimized for edge devices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8CDD32-6A29-8B27-07F8-F06B3485758C}"/>
              </a:ext>
            </a:extLst>
          </p:cNvPr>
          <p:cNvSpPr txBox="1">
            <a:spLocks/>
          </p:cNvSpPr>
          <p:nvPr/>
        </p:nvSpPr>
        <p:spPr>
          <a:xfrm>
            <a:off x="2321819" y="6047818"/>
            <a:ext cx="7726249" cy="631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Example of </a:t>
            </a:r>
            <a:r>
              <a:rPr lang="en-US" dirty="0" err="1">
                <a:solidFill>
                  <a:srgbClr val="000000"/>
                </a:solidFill>
              </a:rPr>
              <a:t>NeuFlow</a:t>
            </a:r>
            <a:r>
              <a:rPr lang="en-US" dirty="0">
                <a:solidFill>
                  <a:srgbClr val="000000"/>
                </a:solidFill>
              </a:rPr>
              <a:t> 2 state-of-the-art performance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FBC122-530E-D2C9-8C4F-DA408F059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69" y="2052445"/>
            <a:ext cx="11367848" cy="379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93694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018BE-4278-F25F-0DD8-72172AB4C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D2511-72F1-B672-7589-D80B3FF11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Short Bibliography For Further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A0AAC-6E86-1BB1-1D3F-2A0FFB954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5593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RIEF - Real-Time Intermediate Flow Estimation for Video Frame Interpolation, Haung, et. al, 202</a:t>
            </a:r>
            <a:r>
              <a:rPr lang="en-US" dirty="0"/>
              <a:t>0 </a:t>
            </a:r>
          </a:p>
          <a:p>
            <a:pPr marL="0" indent="0">
              <a:buNone/>
            </a:pPr>
            <a:r>
              <a:rPr lang="en-US" i="0" dirty="0" err="1">
                <a:solidFill>
                  <a:srgbClr val="000000"/>
                </a:solidFill>
                <a:effectLst/>
                <a:hlinkClick r:id="rId3"/>
              </a:rPr>
              <a:t>GMFlow</a:t>
            </a:r>
            <a:r>
              <a:rPr lang="en-US" i="0" dirty="0">
                <a:solidFill>
                  <a:srgbClr val="000000"/>
                </a:solidFill>
                <a:effectLst/>
                <a:hlinkClick r:id="rId3"/>
              </a:rPr>
              <a:t>: Learning Optical Flow via Global Matching, Xu, et. al., 2021</a:t>
            </a:r>
            <a:endParaRPr lang="en-US" dirty="0"/>
          </a:p>
          <a:p>
            <a:pPr marL="0" indent="0">
              <a:buNone/>
            </a:pPr>
            <a:r>
              <a:rPr lang="en-US" i="0" dirty="0" err="1">
                <a:solidFill>
                  <a:srgbClr val="000000"/>
                </a:solidFill>
                <a:effectLst/>
                <a:hlinkClick r:id="rId4"/>
              </a:rPr>
              <a:t>FlowFormer</a:t>
            </a:r>
            <a:r>
              <a:rPr lang="en-US" i="0" dirty="0">
                <a:solidFill>
                  <a:srgbClr val="000000"/>
                </a:solidFill>
                <a:effectLst/>
                <a:hlinkClick r:id="rId4"/>
              </a:rPr>
              <a:t>: A Transformer Architecture for Optical Flow, Haung, et. al., 2022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hlinkClick r:id="rId5"/>
              </a:rPr>
              <a:t>NeuFlow</a:t>
            </a:r>
            <a:r>
              <a:rPr lang="en-US" dirty="0">
                <a:hlinkClick r:id="rId5"/>
              </a:rPr>
              <a:t>: Real-time, High-accuracy Optical Flow Estimation on Robots Using Edge Devices, Zhang, et. al., 2024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i="0" dirty="0" err="1">
                <a:effectLst/>
                <a:hlinkClick r:id="rId6"/>
              </a:rPr>
              <a:t>RPKNet</a:t>
            </a:r>
            <a:r>
              <a:rPr lang="en-US" dirty="0">
                <a:hlinkClick r:id="rId6"/>
              </a:rPr>
              <a:t>: </a:t>
            </a:r>
            <a:r>
              <a:rPr lang="en-US" i="0" dirty="0">
                <a:effectLst/>
                <a:hlinkClick r:id="rId6"/>
              </a:rPr>
              <a:t>Recurrent Partial Kernel Network for Efficient Optical Flow Estimation, Morimitsu, et. al., 2024</a:t>
            </a:r>
            <a:endParaRPr lang="en-US" dirty="0"/>
          </a:p>
          <a:p>
            <a:pPr marL="0" indent="0">
              <a:buNone/>
            </a:pPr>
            <a:r>
              <a:rPr lang="en-US" b="0" i="0" dirty="0">
                <a:solidFill>
                  <a:srgbClr val="1F1F1F"/>
                </a:solidFill>
                <a:effectLst/>
                <a:latin typeface="ElsevierGulliver"/>
                <a:hlinkClick r:id="rId7"/>
              </a:rPr>
              <a:t>Estimating optical flow: A comprehensive review of the state of the art,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ElsevierGulliver"/>
                <a:hlinkClick r:id="rId7"/>
              </a:rPr>
              <a:t>Alfarano</a:t>
            </a:r>
            <a:r>
              <a:rPr lang="en-US" b="0" i="0" dirty="0">
                <a:solidFill>
                  <a:srgbClr val="1F1F1F"/>
                </a:solidFill>
                <a:effectLst/>
                <a:latin typeface="ElsevierGulliver"/>
                <a:hlinkClick r:id="rId7"/>
              </a:rPr>
              <a:t>, et. al., 2024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Other papers and benchmark datasets in </a:t>
            </a:r>
            <a:r>
              <a:rPr lang="en-US" dirty="0">
                <a:hlinkClick r:id="rId8"/>
              </a:rPr>
              <a:t>Papers with 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34569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Summary Optical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55934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Key points:</a:t>
            </a:r>
          </a:p>
          <a:p>
            <a:r>
              <a:rPr lang="en-US" dirty="0"/>
              <a:t>Relationship between optical flow and projective transforms</a:t>
            </a:r>
          </a:p>
          <a:p>
            <a:r>
              <a:rPr lang="en-US" dirty="0"/>
              <a:t>Small movement and consistency assumptions and the iterative Lucas-</a:t>
            </a:r>
            <a:r>
              <a:rPr lang="en-US" dirty="0" err="1"/>
              <a:t>Kanade</a:t>
            </a:r>
            <a:r>
              <a:rPr lang="en-US" dirty="0"/>
              <a:t> (</a:t>
            </a:r>
            <a:r>
              <a:rPr lang="en-US" dirty="0" err="1"/>
              <a:t>iLK</a:t>
            </a:r>
            <a:r>
              <a:rPr lang="en-US" dirty="0"/>
              <a:t>) algorithm</a:t>
            </a:r>
          </a:p>
          <a:p>
            <a:r>
              <a:rPr lang="en-US" dirty="0"/>
              <a:t>Image pyramids for multiple scales</a:t>
            </a:r>
          </a:p>
          <a:p>
            <a:r>
              <a:rPr lang="en-US" dirty="0"/>
              <a:t>Relationship between camera pose and optical flow in 3D</a:t>
            </a:r>
          </a:p>
          <a:p>
            <a:r>
              <a:rPr lang="en-US" dirty="0"/>
              <a:t>Regularization with the</a:t>
            </a:r>
            <a:r>
              <a:rPr lang="en-US" b="1" dirty="0"/>
              <a:t> </a:t>
            </a:r>
            <a:r>
              <a:rPr lang="en-US" dirty="0"/>
              <a:t>Horn-</a:t>
            </a:r>
            <a:r>
              <a:rPr lang="en-US" dirty="0" err="1"/>
              <a:t>Schunck</a:t>
            </a:r>
            <a:r>
              <a:rPr lang="en-US" dirty="0"/>
              <a:t> algorithm </a:t>
            </a:r>
          </a:p>
          <a:p>
            <a:r>
              <a:rPr lang="en-US" dirty="0"/>
              <a:t>Improving performance with the LV-L1 algorithm smoothing constraint  </a:t>
            </a:r>
          </a:p>
          <a:p>
            <a:r>
              <a:rPr lang="en-US" dirty="0"/>
              <a:t>Evaluation of optical flow algorithms </a:t>
            </a:r>
          </a:p>
          <a:p>
            <a:r>
              <a:rPr lang="en-US" dirty="0"/>
              <a:t>Hybrid deep NN and classical algorithms for optical flow to improve performance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100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20255</TotalTime>
  <Words>5301</Words>
  <Application>Microsoft Office PowerPoint</Application>
  <PresentationFormat>Widescreen</PresentationFormat>
  <Paragraphs>873</Paragraphs>
  <Slides>86</Slides>
  <Notes>44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5" baseType="lpstr">
      <vt:lpstr>Arial</vt:lpstr>
      <vt:lpstr>Calibri</vt:lpstr>
      <vt:lpstr>Calibri Light</vt:lpstr>
      <vt:lpstr>Cambria Math</vt:lpstr>
      <vt:lpstr>Courier New</vt:lpstr>
      <vt:lpstr>ElsevierGulliver</vt:lpstr>
      <vt:lpstr>Script MT Bold</vt:lpstr>
      <vt:lpstr>Times New Roman</vt:lpstr>
      <vt:lpstr>Office Theme</vt:lpstr>
      <vt:lpstr>CSCI E-25 Computer Vision</vt:lpstr>
      <vt:lpstr>Optical Flow</vt:lpstr>
      <vt:lpstr>Optical Flow</vt:lpstr>
      <vt:lpstr>Optical Flow</vt:lpstr>
      <vt:lpstr>Optical Flow</vt:lpstr>
      <vt:lpstr>Optical Flow</vt:lpstr>
      <vt:lpstr>Measuring Optical Flow is a Difficult Task</vt:lpstr>
      <vt:lpstr>Measuring Optical Flow is a Difficult Task</vt:lpstr>
      <vt:lpstr>Measuring Optical Flow is a Difficult Task</vt:lpstr>
      <vt:lpstr>Measuring Optical Flow is a Difficult Task</vt:lpstr>
      <vt:lpstr>Optical Flow vs. Image Stitching</vt:lpstr>
      <vt:lpstr>The Small Motion Consistency Assumptions</vt:lpstr>
      <vt:lpstr>Small Motion and Consistency Assumptions </vt:lpstr>
      <vt:lpstr>Small Motion and Consistency Assumptions </vt:lpstr>
      <vt:lpstr>Small Motion and Consistency Assumptions </vt:lpstr>
      <vt:lpstr>Small Motion and Consistency Assumptions </vt:lpstr>
      <vt:lpstr>The Lucas-Kanade Algorithm</vt:lpstr>
      <vt:lpstr>The Lucas-Kanade Algorithm  </vt:lpstr>
      <vt:lpstr>The Lucas-Kanade Algorithm  </vt:lpstr>
      <vt:lpstr>The Lucas-Kanade Algorithm  </vt:lpstr>
      <vt:lpstr>Finding spatial gradients</vt:lpstr>
      <vt:lpstr>The Lucas-Kanade Algorithm  </vt:lpstr>
      <vt:lpstr>The Lucas-Kanade Algorithm  </vt:lpstr>
      <vt:lpstr>Gradients and the Lucas-Kanade Algorithm</vt:lpstr>
      <vt:lpstr>Pitfalls of Gradient Based Lucas-Kanade Algorithm</vt:lpstr>
      <vt:lpstr>Pitfalls of gradient-based Lucas-Kanade algorithm</vt:lpstr>
      <vt:lpstr>Properties of spatial gradients </vt:lpstr>
      <vt:lpstr>Properties of spatial gradients</vt:lpstr>
      <vt:lpstr>Properties of spatial gradients</vt:lpstr>
      <vt:lpstr>Properties of spatial gradients </vt:lpstr>
      <vt:lpstr>Properties of spatial gradients</vt:lpstr>
      <vt:lpstr>Dealing with Scale</vt:lpstr>
      <vt:lpstr>Problem with scale</vt:lpstr>
      <vt:lpstr>Multi-Scale Feature Identification</vt:lpstr>
      <vt:lpstr>Depth and Motion in 3D</vt:lpstr>
      <vt:lpstr>Depth and Motion In 3D</vt:lpstr>
      <vt:lpstr>Depth and Motion In 3D</vt:lpstr>
      <vt:lpstr>Depth and Motion in 3D</vt:lpstr>
      <vt:lpstr>Depth and Motion In 3D</vt:lpstr>
      <vt:lpstr>Depth and Motion In 3D</vt:lpstr>
      <vt:lpstr>Depth and Motion In 3D</vt:lpstr>
      <vt:lpstr>Depth and Motion In 3D</vt:lpstr>
      <vt:lpstr>Depth and Motion In 3D</vt:lpstr>
      <vt:lpstr>Iterative Lucas-Kanade Algorithm </vt:lpstr>
      <vt:lpstr>The Lucas-Kanade Algorithm  </vt:lpstr>
      <vt:lpstr>The Lucas-Kanade Algorithm  </vt:lpstr>
      <vt:lpstr>Iterative Lucas-Kanade algorithm </vt:lpstr>
      <vt:lpstr>Iterative Lucas-Kanade algorithm </vt:lpstr>
      <vt:lpstr>The Horn-Shunck Algorithm</vt:lpstr>
      <vt:lpstr>The Horn-Schunck Algorithm </vt:lpstr>
      <vt:lpstr>The Horn-Schunck Algorithm </vt:lpstr>
      <vt:lpstr>The Horn-Schunck Algorithm </vt:lpstr>
      <vt:lpstr>The Horn-Schunck Algorithm </vt:lpstr>
      <vt:lpstr>The Horn-Schunck Algorithm </vt:lpstr>
      <vt:lpstr>The Horn-Schunck Algorithm </vt:lpstr>
      <vt:lpstr>The Horn-Schunck Algorithm </vt:lpstr>
      <vt:lpstr>The TL-L1 Algorithm</vt:lpstr>
      <vt:lpstr>The TV-L1 Algorithm </vt:lpstr>
      <vt:lpstr>The TV-L1 Algorithm </vt:lpstr>
      <vt:lpstr>Evaluation of Optical Flow Models</vt:lpstr>
      <vt:lpstr>Evaluation of optical flow models </vt:lpstr>
      <vt:lpstr>Evaluation of optical flow models </vt:lpstr>
      <vt:lpstr>Evaluation of optical flow models </vt:lpstr>
      <vt:lpstr>Evaluation of optical flow models </vt:lpstr>
      <vt:lpstr>Deep Optical Flow Algorithms</vt:lpstr>
      <vt:lpstr>Deep Optical Flow Algorithms</vt:lpstr>
      <vt:lpstr>PWC-Net, an early successful optical flow network</vt:lpstr>
      <vt:lpstr>PWC-Net, an early successful optical flow network</vt:lpstr>
      <vt:lpstr>PWC-Net, an early successful optical flow network</vt:lpstr>
      <vt:lpstr>PWC-Net, an early successful optical flow network</vt:lpstr>
      <vt:lpstr>PWC-Net, an early successful optical flow network</vt:lpstr>
      <vt:lpstr>PWC-Net, an early successful optical flow network</vt:lpstr>
      <vt:lpstr>PWC-Net, an early successful optical flow network</vt:lpstr>
      <vt:lpstr>RAFT, Fully Neural Algorithm </vt:lpstr>
      <vt:lpstr>RAFT, Fully Neural Algorithm  </vt:lpstr>
      <vt:lpstr>RAFT, Fully Neural Algorithm  </vt:lpstr>
      <vt:lpstr>RAFT, Fully Neural Algorithm  </vt:lpstr>
      <vt:lpstr>RAFT, Fully Neural Algorithm  </vt:lpstr>
      <vt:lpstr>NeuFlow 2: High Efficiency Optical Flow</vt:lpstr>
      <vt:lpstr>NeuFlow 2: High Efficiency Optical Flow</vt:lpstr>
      <vt:lpstr>NeuFlow 2: High Efficiency Optical Flow</vt:lpstr>
      <vt:lpstr>RAFT, Fully Neural Algorithm  </vt:lpstr>
      <vt:lpstr>NeuFlow 2: High Efficiency Optical Flow</vt:lpstr>
      <vt:lpstr>RAFT, Fully Neural Algorithm  </vt:lpstr>
      <vt:lpstr>Short Bibliography For Further Reading</vt:lpstr>
      <vt:lpstr>Summary Optical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E-25 Computer Vision</dc:title>
  <dc:creator>Stephe Elston</dc:creator>
  <cp:lastModifiedBy>Stephen Elston</cp:lastModifiedBy>
  <cp:revision>614</cp:revision>
  <dcterms:created xsi:type="dcterms:W3CDTF">2022-01-24T17:07:03Z</dcterms:created>
  <dcterms:modified xsi:type="dcterms:W3CDTF">2026-04-29T16:36:11Z</dcterms:modified>
</cp:coreProperties>
</file>