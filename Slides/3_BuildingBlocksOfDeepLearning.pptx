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0" r:id="rId5"/>
  </p:sldMasterIdLst>
  <p:notesMasterIdLst>
    <p:notesMasterId r:id="rId91"/>
  </p:notesMasterIdLst>
  <p:handoutMasterIdLst>
    <p:handoutMasterId r:id="rId92"/>
  </p:handoutMasterIdLst>
  <p:sldIdLst>
    <p:sldId id="375" r:id="rId6"/>
    <p:sldId id="376" r:id="rId7"/>
    <p:sldId id="321" r:id="rId8"/>
    <p:sldId id="322" r:id="rId9"/>
    <p:sldId id="513" r:id="rId10"/>
    <p:sldId id="550" r:id="rId11"/>
    <p:sldId id="438" r:id="rId12"/>
    <p:sldId id="557" r:id="rId13"/>
    <p:sldId id="554" r:id="rId14"/>
    <p:sldId id="556" r:id="rId15"/>
    <p:sldId id="558" r:id="rId16"/>
    <p:sldId id="553" r:id="rId17"/>
    <p:sldId id="323" r:id="rId18"/>
    <p:sldId id="361" r:id="rId19"/>
    <p:sldId id="324" r:id="rId20"/>
    <p:sldId id="325" r:id="rId21"/>
    <p:sldId id="326" r:id="rId22"/>
    <p:sldId id="357" r:id="rId23"/>
    <p:sldId id="439" r:id="rId24"/>
    <p:sldId id="327" r:id="rId25"/>
    <p:sldId id="344" r:id="rId26"/>
    <p:sldId id="328" r:id="rId27"/>
    <p:sldId id="440" r:id="rId28"/>
    <p:sldId id="330" r:id="rId29"/>
    <p:sldId id="331" r:id="rId30"/>
    <p:sldId id="332" r:id="rId31"/>
    <p:sldId id="559" r:id="rId32"/>
    <p:sldId id="560" r:id="rId33"/>
    <p:sldId id="441" r:id="rId34"/>
    <p:sldId id="333" r:id="rId35"/>
    <p:sldId id="349" r:id="rId36"/>
    <p:sldId id="334" r:id="rId37"/>
    <p:sldId id="346" r:id="rId38"/>
    <p:sldId id="442" r:id="rId39"/>
    <p:sldId id="336" r:id="rId40"/>
    <p:sldId id="536" r:id="rId41"/>
    <p:sldId id="537" r:id="rId42"/>
    <p:sldId id="338" r:id="rId43"/>
    <p:sldId id="339" r:id="rId44"/>
    <p:sldId id="340" r:id="rId45"/>
    <p:sldId id="341" r:id="rId46"/>
    <p:sldId id="563" r:id="rId47"/>
    <p:sldId id="342" r:id="rId48"/>
    <p:sldId id="356" r:id="rId49"/>
    <p:sldId id="481" r:id="rId50"/>
    <p:sldId id="490" r:id="rId51"/>
    <p:sldId id="534" r:id="rId52"/>
    <p:sldId id="489" r:id="rId53"/>
    <p:sldId id="529" r:id="rId54"/>
    <p:sldId id="562" r:id="rId55"/>
    <p:sldId id="335" r:id="rId56"/>
    <p:sldId id="530" r:id="rId57"/>
    <p:sldId id="561" r:id="rId58"/>
    <p:sldId id="362" r:id="rId59"/>
    <p:sldId id="522" r:id="rId60"/>
    <p:sldId id="533" r:id="rId61"/>
    <p:sldId id="548" r:id="rId62"/>
    <p:sldId id="549" r:id="rId63"/>
    <p:sldId id="535" r:id="rId64"/>
    <p:sldId id="540" r:id="rId65"/>
    <p:sldId id="541" r:id="rId66"/>
    <p:sldId id="539" r:id="rId67"/>
    <p:sldId id="542" r:id="rId68"/>
    <p:sldId id="543" r:id="rId69"/>
    <p:sldId id="544" r:id="rId70"/>
    <p:sldId id="547" r:id="rId71"/>
    <p:sldId id="545" r:id="rId72"/>
    <p:sldId id="546" r:id="rId73"/>
    <p:sldId id="552" r:id="rId74"/>
    <p:sldId id="446" r:id="rId75"/>
    <p:sldId id="443" r:id="rId76"/>
    <p:sldId id="374" r:id="rId77"/>
    <p:sldId id="451" r:id="rId78"/>
    <p:sldId id="452" r:id="rId79"/>
    <p:sldId id="454" r:id="rId80"/>
    <p:sldId id="453" r:id="rId81"/>
    <p:sldId id="348" r:id="rId82"/>
    <p:sldId id="363" r:id="rId83"/>
    <p:sldId id="371" r:id="rId84"/>
    <p:sldId id="364" r:id="rId85"/>
    <p:sldId id="366" r:id="rId86"/>
    <p:sldId id="365" r:id="rId87"/>
    <p:sldId id="368" r:id="rId88"/>
    <p:sldId id="370" r:id="rId89"/>
    <p:sldId id="447"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50"/>
    <a:srgbClr val="007233"/>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74" autoAdjust="0"/>
    <p:restoredTop sz="94794" autoAdjust="0"/>
  </p:normalViewPr>
  <p:slideViewPr>
    <p:cSldViewPr snapToGrid="0">
      <p:cViewPr varScale="1">
        <p:scale>
          <a:sx n="73" d="100"/>
          <a:sy n="73" d="100"/>
        </p:scale>
        <p:origin x="46" y="137"/>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796" y="4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2/13/2026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dirty="0"/>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2/13/2026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dirty="0"/>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1</a:t>
            </a:fld>
            <a:endParaRPr lang="en-US" dirty="0"/>
          </a:p>
        </p:txBody>
      </p:sp>
    </p:spTree>
    <p:extLst>
      <p:ext uri="{BB962C8B-B14F-4D97-AF65-F5344CB8AC3E}">
        <p14:creationId xmlns:p14="http://schemas.microsoft.com/office/powerpoint/2010/main" val="1069694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190648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3</a:t>
            </a:fld>
            <a:endParaRPr lang="en-US" dirty="0"/>
          </a:p>
        </p:txBody>
      </p:sp>
    </p:spTree>
    <p:extLst>
      <p:ext uri="{BB962C8B-B14F-4D97-AF65-F5344CB8AC3E}">
        <p14:creationId xmlns:p14="http://schemas.microsoft.com/office/powerpoint/2010/main" val="3851979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4</a:t>
            </a:fld>
            <a:endParaRPr lang="en-US" dirty="0"/>
          </a:p>
        </p:txBody>
      </p:sp>
    </p:spTree>
    <p:extLst>
      <p:ext uri="{BB962C8B-B14F-4D97-AF65-F5344CB8AC3E}">
        <p14:creationId xmlns:p14="http://schemas.microsoft.com/office/powerpoint/2010/main" val="3046837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2CFA1-8C4D-2EA2-C117-A39F1BE82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4FA67-9BED-B313-424B-C80AA6335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6F588-C510-C2B2-9DCA-63162614798B}"/>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4CF33AB2-F533-44EB-8763-B15D9D1D7B6D}"/>
              </a:ext>
            </a:extLst>
          </p:cNvPr>
          <p:cNvSpPr>
            <a:spLocks noGrp="1"/>
          </p:cNvSpPr>
          <p:nvPr>
            <p:ph type="sldNum" sz="quarter" idx="10"/>
          </p:nvPr>
        </p:nvSpPr>
        <p:spPr/>
        <p:txBody>
          <a:bodyPr/>
          <a:lstStyle/>
          <a:p>
            <a:fld id="{13F0F35F-DD44-4607-AEC1-49D7A4BC4066}" type="slidenum">
              <a:rPr lang="en-US" smtClean="0"/>
              <a:pPr/>
              <a:t>5</a:t>
            </a:fld>
            <a:endParaRPr lang="en-US" dirty="0"/>
          </a:p>
        </p:txBody>
      </p:sp>
    </p:spTree>
    <p:extLst>
      <p:ext uri="{BB962C8B-B14F-4D97-AF65-F5344CB8AC3E}">
        <p14:creationId xmlns:p14="http://schemas.microsoft.com/office/powerpoint/2010/main" val="2663458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D18B-C141-7190-F079-210E05B30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32428-0D9C-CF62-0155-1FDBE4CCC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617C4-F394-94BC-BF28-11BC628A249F}"/>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0C500255-959B-3486-7350-7232EB82ABDD}"/>
              </a:ext>
            </a:extLst>
          </p:cNvPr>
          <p:cNvSpPr>
            <a:spLocks noGrp="1"/>
          </p:cNvSpPr>
          <p:nvPr>
            <p:ph type="sldNum" sz="quarter" idx="10"/>
          </p:nvPr>
        </p:nvSpPr>
        <p:spPr/>
        <p:txBody>
          <a:bodyPr/>
          <a:lstStyle/>
          <a:p>
            <a:fld id="{13F0F35F-DD44-4607-AEC1-49D7A4BC4066}" type="slidenum">
              <a:rPr lang="en-US" smtClean="0"/>
              <a:pPr/>
              <a:t>6</a:t>
            </a:fld>
            <a:endParaRPr lang="en-US" dirty="0"/>
          </a:p>
        </p:txBody>
      </p:sp>
    </p:spTree>
    <p:extLst>
      <p:ext uri="{BB962C8B-B14F-4D97-AF65-F5344CB8AC3E}">
        <p14:creationId xmlns:p14="http://schemas.microsoft.com/office/powerpoint/2010/main" val="1222084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7D14-DD38-4BDE-DF79-584B1D4A4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DE945-F1A8-C179-7203-455157DED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CD9CB-707A-796F-AB95-B3515EA09700}"/>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16B2AB0D-3478-3AD8-95F7-9CC6EB90C9DB}"/>
              </a:ext>
            </a:extLst>
          </p:cNvPr>
          <p:cNvSpPr>
            <a:spLocks noGrp="1"/>
          </p:cNvSpPr>
          <p:nvPr>
            <p:ph type="sldNum" sz="quarter" idx="10"/>
          </p:nvPr>
        </p:nvSpPr>
        <p:spPr/>
        <p:txBody>
          <a:bodyPr/>
          <a:lstStyle/>
          <a:p>
            <a:fld id="{13F0F35F-DD44-4607-AEC1-49D7A4BC4066}" type="slidenum">
              <a:rPr lang="en-US" smtClean="0"/>
              <a:pPr/>
              <a:t>8</a:t>
            </a:fld>
            <a:endParaRPr lang="en-US" dirty="0"/>
          </a:p>
        </p:txBody>
      </p:sp>
    </p:spTree>
    <p:extLst>
      <p:ext uri="{BB962C8B-B14F-4D97-AF65-F5344CB8AC3E}">
        <p14:creationId xmlns:p14="http://schemas.microsoft.com/office/powerpoint/2010/main" val="1901758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EDF0-BEC8-F06B-26DC-0E0DD4A13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2BAEE-0D44-F934-D1D9-8B0FF0C57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8FDC5-2F0C-ACAD-778B-63CFFA31F1AA}"/>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1353EE33-6FDA-2FE3-499A-784301A8D964}"/>
              </a:ext>
            </a:extLst>
          </p:cNvPr>
          <p:cNvSpPr>
            <a:spLocks noGrp="1"/>
          </p:cNvSpPr>
          <p:nvPr>
            <p:ph type="sldNum" sz="quarter" idx="10"/>
          </p:nvPr>
        </p:nvSpPr>
        <p:spPr/>
        <p:txBody>
          <a:bodyPr/>
          <a:lstStyle/>
          <a:p>
            <a:fld id="{13F0F35F-DD44-4607-AEC1-49D7A4BC4066}" type="slidenum">
              <a:rPr lang="en-US" smtClean="0"/>
              <a:pPr/>
              <a:t>9</a:t>
            </a:fld>
            <a:endParaRPr lang="en-US" dirty="0"/>
          </a:p>
        </p:txBody>
      </p:sp>
    </p:spTree>
    <p:extLst>
      <p:ext uri="{BB962C8B-B14F-4D97-AF65-F5344CB8AC3E}">
        <p14:creationId xmlns:p14="http://schemas.microsoft.com/office/powerpoint/2010/main" val="2518425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EBC7F-A9A5-3A04-96C9-72ED1CD29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50DEE-CA30-B8C9-8112-15DD4B30B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AEBE1-E77C-0112-5C96-7A410C514F94}"/>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5EBF106E-36EB-B757-F534-AC74C508AFD1}"/>
              </a:ext>
            </a:extLst>
          </p:cNvPr>
          <p:cNvSpPr>
            <a:spLocks noGrp="1"/>
          </p:cNvSpPr>
          <p:nvPr>
            <p:ph type="sldNum" sz="quarter" idx="10"/>
          </p:nvPr>
        </p:nvSpPr>
        <p:spPr/>
        <p:txBody>
          <a:bodyPr/>
          <a:lstStyle/>
          <a:p>
            <a:fld id="{13F0F35F-DD44-4607-AEC1-49D7A4BC4066}" type="slidenum">
              <a:rPr lang="en-US" smtClean="0"/>
              <a:pPr/>
              <a:t>10</a:t>
            </a:fld>
            <a:endParaRPr lang="en-US" dirty="0"/>
          </a:p>
        </p:txBody>
      </p:sp>
    </p:spTree>
    <p:extLst>
      <p:ext uri="{BB962C8B-B14F-4D97-AF65-F5344CB8AC3E}">
        <p14:creationId xmlns:p14="http://schemas.microsoft.com/office/powerpoint/2010/main" val="2414940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C7290-F985-225E-BBC1-F55610AB6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A6B8A-FA2C-2094-0BBA-D8EB6A251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D55FC-D1B2-EC16-AA69-A5B6BDE5ECAD}"/>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380D01FF-D277-4536-202A-E79D4CD78ED5}"/>
              </a:ext>
            </a:extLst>
          </p:cNvPr>
          <p:cNvSpPr>
            <a:spLocks noGrp="1"/>
          </p:cNvSpPr>
          <p:nvPr>
            <p:ph type="sldNum" sz="quarter" idx="10"/>
          </p:nvPr>
        </p:nvSpPr>
        <p:spPr/>
        <p:txBody>
          <a:bodyPr/>
          <a:lstStyle/>
          <a:p>
            <a:fld id="{13F0F35F-DD44-4607-AEC1-49D7A4BC4066}" type="slidenum">
              <a:rPr lang="en-US" smtClean="0"/>
              <a:pPr/>
              <a:t>11</a:t>
            </a:fld>
            <a:endParaRPr lang="en-US" dirty="0"/>
          </a:p>
        </p:txBody>
      </p:sp>
    </p:spTree>
    <p:extLst>
      <p:ext uri="{BB962C8B-B14F-4D97-AF65-F5344CB8AC3E}">
        <p14:creationId xmlns:p14="http://schemas.microsoft.com/office/powerpoint/2010/main" val="3753080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17</a:t>
            </a:fld>
            <a:endParaRPr lang="en-US" dirty="0"/>
          </a:p>
        </p:txBody>
      </p:sp>
    </p:spTree>
    <p:extLst>
      <p:ext uri="{BB962C8B-B14F-4D97-AF65-F5344CB8AC3E}">
        <p14:creationId xmlns:p14="http://schemas.microsoft.com/office/powerpoint/2010/main" val="799760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18</a:t>
            </a:fld>
            <a:endParaRPr lang="en-US" dirty="0"/>
          </a:p>
        </p:txBody>
      </p:sp>
    </p:spTree>
    <p:extLst>
      <p:ext uri="{BB962C8B-B14F-4D97-AF65-F5344CB8AC3E}">
        <p14:creationId xmlns:p14="http://schemas.microsoft.com/office/powerpoint/2010/main" val="677024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31</a:t>
            </a:fld>
            <a:endParaRPr lang="en-US" dirty="0"/>
          </a:p>
        </p:txBody>
      </p:sp>
    </p:spTree>
    <p:extLst>
      <p:ext uri="{BB962C8B-B14F-4D97-AF65-F5344CB8AC3E}">
        <p14:creationId xmlns:p14="http://schemas.microsoft.com/office/powerpoint/2010/main" val="3999466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36</a:t>
            </a:fld>
            <a:endParaRPr lang="en-US" dirty="0"/>
          </a:p>
        </p:txBody>
      </p:sp>
    </p:spTree>
    <p:extLst>
      <p:ext uri="{BB962C8B-B14F-4D97-AF65-F5344CB8AC3E}">
        <p14:creationId xmlns:p14="http://schemas.microsoft.com/office/powerpoint/2010/main" val="1529324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37</a:t>
            </a:fld>
            <a:endParaRPr lang="en-US"/>
          </a:p>
        </p:txBody>
      </p:sp>
    </p:spTree>
    <p:extLst>
      <p:ext uri="{BB962C8B-B14F-4D97-AF65-F5344CB8AC3E}">
        <p14:creationId xmlns:p14="http://schemas.microsoft.com/office/powerpoint/2010/main" val="559693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38</a:t>
            </a:fld>
            <a:endParaRPr lang="en-US" dirty="0"/>
          </a:p>
        </p:txBody>
      </p:sp>
    </p:spTree>
    <p:extLst>
      <p:ext uri="{BB962C8B-B14F-4D97-AF65-F5344CB8AC3E}">
        <p14:creationId xmlns:p14="http://schemas.microsoft.com/office/powerpoint/2010/main" val="411578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39</a:t>
            </a:fld>
            <a:endParaRPr lang="en-US" dirty="0"/>
          </a:p>
        </p:txBody>
      </p:sp>
    </p:spTree>
    <p:extLst>
      <p:ext uri="{BB962C8B-B14F-4D97-AF65-F5344CB8AC3E}">
        <p14:creationId xmlns:p14="http://schemas.microsoft.com/office/powerpoint/2010/main" val="1006012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40</a:t>
            </a:fld>
            <a:endParaRPr lang="en-US" dirty="0"/>
          </a:p>
        </p:txBody>
      </p:sp>
    </p:spTree>
    <p:extLst>
      <p:ext uri="{BB962C8B-B14F-4D97-AF65-F5344CB8AC3E}">
        <p14:creationId xmlns:p14="http://schemas.microsoft.com/office/powerpoint/2010/main" val="1552241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41</a:t>
            </a:fld>
            <a:endParaRPr lang="en-US" dirty="0"/>
          </a:p>
        </p:txBody>
      </p:sp>
    </p:spTree>
    <p:extLst>
      <p:ext uri="{BB962C8B-B14F-4D97-AF65-F5344CB8AC3E}">
        <p14:creationId xmlns:p14="http://schemas.microsoft.com/office/powerpoint/2010/main" val="4192066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6A1F9-AFC1-45FA-DFE0-8A4ECE7DF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F866B-9A1E-1251-6365-017888FAFD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B9B64-60A4-2074-C4DA-D5170DE2EF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446958-B2DA-6601-0A43-F44238636BAD}"/>
              </a:ext>
            </a:extLst>
          </p:cNvPr>
          <p:cNvSpPr>
            <a:spLocks noGrp="1"/>
          </p:cNvSpPr>
          <p:nvPr>
            <p:ph type="sldNum" sz="quarter" idx="5"/>
          </p:nvPr>
        </p:nvSpPr>
        <p:spPr/>
        <p:txBody>
          <a:bodyPr/>
          <a:lstStyle/>
          <a:p>
            <a:fld id="{4CFD207A-07DF-40AD-A916-9872E089CE7A}" type="slidenum">
              <a:rPr lang="en-US" smtClean="0"/>
              <a:t>42</a:t>
            </a:fld>
            <a:endParaRPr lang="en-US" dirty="0"/>
          </a:p>
        </p:txBody>
      </p:sp>
    </p:spTree>
    <p:extLst>
      <p:ext uri="{BB962C8B-B14F-4D97-AF65-F5344CB8AC3E}">
        <p14:creationId xmlns:p14="http://schemas.microsoft.com/office/powerpoint/2010/main" val="1242030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43</a:t>
            </a:fld>
            <a:endParaRPr lang="en-US" dirty="0"/>
          </a:p>
        </p:txBody>
      </p:sp>
    </p:spTree>
    <p:extLst>
      <p:ext uri="{BB962C8B-B14F-4D97-AF65-F5344CB8AC3E}">
        <p14:creationId xmlns:p14="http://schemas.microsoft.com/office/powerpoint/2010/main" val="1196210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46</a:t>
            </a:fld>
            <a:endParaRPr lang="en-US" dirty="0"/>
          </a:p>
        </p:txBody>
      </p:sp>
    </p:spTree>
    <p:extLst>
      <p:ext uri="{BB962C8B-B14F-4D97-AF65-F5344CB8AC3E}">
        <p14:creationId xmlns:p14="http://schemas.microsoft.com/office/powerpoint/2010/main" val="959957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47</a:t>
            </a:fld>
            <a:endParaRPr lang="en-US" dirty="0"/>
          </a:p>
        </p:txBody>
      </p:sp>
    </p:spTree>
    <p:extLst>
      <p:ext uri="{BB962C8B-B14F-4D97-AF65-F5344CB8AC3E}">
        <p14:creationId xmlns:p14="http://schemas.microsoft.com/office/powerpoint/2010/main" val="2565587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49</a:t>
            </a:fld>
            <a:endParaRPr lang="en-US" dirty="0"/>
          </a:p>
        </p:txBody>
      </p:sp>
    </p:spTree>
    <p:extLst>
      <p:ext uri="{BB962C8B-B14F-4D97-AF65-F5344CB8AC3E}">
        <p14:creationId xmlns:p14="http://schemas.microsoft.com/office/powerpoint/2010/main" val="2018950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7F7D4-1BA9-1C03-A4FB-8DCF7AB28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75072-4E0B-1D8C-AA83-C0020CAD2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9FAAA-C3EF-1381-7073-C0376FA63DD8}"/>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F7D3EB72-20A1-DDEE-EA38-A2B32F8971C6}"/>
              </a:ext>
            </a:extLst>
          </p:cNvPr>
          <p:cNvSpPr>
            <a:spLocks noGrp="1"/>
          </p:cNvSpPr>
          <p:nvPr>
            <p:ph type="sldNum" sz="quarter" idx="10"/>
          </p:nvPr>
        </p:nvSpPr>
        <p:spPr/>
        <p:txBody>
          <a:bodyPr/>
          <a:lstStyle/>
          <a:p>
            <a:fld id="{13F0F35F-DD44-4607-AEC1-49D7A4BC4066}" type="slidenum">
              <a:rPr lang="en-US" smtClean="0"/>
              <a:pPr/>
              <a:t>60</a:t>
            </a:fld>
            <a:endParaRPr lang="en-US" dirty="0"/>
          </a:p>
        </p:txBody>
      </p:sp>
    </p:spTree>
    <p:extLst>
      <p:ext uri="{BB962C8B-B14F-4D97-AF65-F5344CB8AC3E}">
        <p14:creationId xmlns:p14="http://schemas.microsoft.com/office/powerpoint/2010/main" val="27369866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E76F-C4E5-5730-C5E1-2FBFD9A65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93699-71A1-8F6D-953A-163BD9848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DD84A-097D-8508-7951-A848A958DC47}"/>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CF4B0352-04A5-AB82-2D5C-0D380B4A2479}"/>
              </a:ext>
            </a:extLst>
          </p:cNvPr>
          <p:cNvSpPr>
            <a:spLocks noGrp="1"/>
          </p:cNvSpPr>
          <p:nvPr>
            <p:ph type="sldNum" sz="quarter" idx="10"/>
          </p:nvPr>
        </p:nvSpPr>
        <p:spPr/>
        <p:txBody>
          <a:bodyPr/>
          <a:lstStyle/>
          <a:p>
            <a:fld id="{13F0F35F-DD44-4607-AEC1-49D7A4BC4066}" type="slidenum">
              <a:rPr lang="en-US" smtClean="0"/>
              <a:pPr/>
              <a:t>61</a:t>
            </a:fld>
            <a:endParaRPr lang="en-US" dirty="0"/>
          </a:p>
        </p:txBody>
      </p:sp>
    </p:spTree>
    <p:extLst>
      <p:ext uri="{BB962C8B-B14F-4D97-AF65-F5344CB8AC3E}">
        <p14:creationId xmlns:p14="http://schemas.microsoft.com/office/powerpoint/2010/main" val="42332669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1569-AAD8-7909-7765-0BAFDD4FA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EE58B-B834-7C6D-FF6D-9A03F40EE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15417-FDC1-3488-7AD6-05CEB7DE8CCC}"/>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3BE9F599-DC27-F987-4A50-8B5633E9F90D}"/>
              </a:ext>
            </a:extLst>
          </p:cNvPr>
          <p:cNvSpPr>
            <a:spLocks noGrp="1"/>
          </p:cNvSpPr>
          <p:nvPr>
            <p:ph type="sldNum" sz="quarter" idx="10"/>
          </p:nvPr>
        </p:nvSpPr>
        <p:spPr/>
        <p:txBody>
          <a:bodyPr/>
          <a:lstStyle/>
          <a:p>
            <a:fld id="{13F0F35F-DD44-4607-AEC1-49D7A4BC4066}" type="slidenum">
              <a:rPr lang="en-US" smtClean="0"/>
              <a:pPr/>
              <a:t>63</a:t>
            </a:fld>
            <a:endParaRPr lang="en-US" dirty="0"/>
          </a:p>
        </p:txBody>
      </p:sp>
    </p:spTree>
    <p:extLst>
      <p:ext uri="{BB962C8B-B14F-4D97-AF65-F5344CB8AC3E}">
        <p14:creationId xmlns:p14="http://schemas.microsoft.com/office/powerpoint/2010/main" val="24188971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2D1E-B556-4211-7F8D-4995F805D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C1D72-2A7A-5585-9535-89080D1E1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A7AAF-AB34-3049-9BAE-967B295616EA}"/>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F40CBF88-F8E5-25EC-16EF-E91650053181}"/>
              </a:ext>
            </a:extLst>
          </p:cNvPr>
          <p:cNvSpPr>
            <a:spLocks noGrp="1"/>
          </p:cNvSpPr>
          <p:nvPr>
            <p:ph type="sldNum" sz="quarter" idx="10"/>
          </p:nvPr>
        </p:nvSpPr>
        <p:spPr/>
        <p:txBody>
          <a:bodyPr/>
          <a:lstStyle/>
          <a:p>
            <a:fld id="{13F0F35F-DD44-4607-AEC1-49D7A4BC4066}" type="slidenum">
              <a:rPr lang="en-US" smtClean="0"/>
              <a:pPr/>
              <a:t>64</a:t>
            </a:fld>
            <a:endParaRPr lang="en-US" dirty="0"/>
          </a:p>
        </p:txBody>
      </p:sp>
    </p:spTree>
    <p:extLst>
      <p:ext uri="{BB962C8B-B14F-4D97-AF65-F5344CB8AC3E}">
        <p14:creationId xmlns:p14="http://schemas.microsoft.com/office/powerpoint/2010/main" val="30910743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F532-A21A-4F59-16A7-8E73EC211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E1478-FD63-06F5-103B-FF8447C6D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5D3FC-0EE3-9BCE-F220-F67D738A2668}"/>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8968B95F-3020-514E-B0CA-0F1E7DA9C1CF}"/>
              </a:ext>
            </a:extLst>
          </p:cNvPr>
          <p:cNvSpPr>
            <a:spLocks noGrp="1"/>
          </p:cNvSpPr>
          <p:nvPr>
            <p:ph type="sldNum" sz="quarter" idx="10"/>
          </p:nvPr>
        </p:nvSpPr>
        <p:spPr/>
        <p:txBody>
          <a:bodyPr/>
          <a:lstStyle/>
          <a:p>
            <a:fld id="{13F0F35F-DD44-4607-AEC1-49D7A4BC4066}" type="slidenum">
              <a:rPr lang="en-US" smtClean="0"/>
              <a:pPr/>
              <a:t>65</a:t>
            </a:fld>
            <a:endParaRPr lang="en-US" dirty="0"/>
          </a:p>
        </p:txBody>
      </p:sp>
    </p:spTree>
    <p:extLst>
      <p:ext uri="{BB962C8B-B14F-4D97-AF65-F5344CB8AC3E}">
        <p14:creationId xmlns:p14="http://schemas.microsoft.com/office/powerpoint/2010/main" val="2128738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405E-BFD8-1744-51D2-17D81D778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DCE-559F-660E-4F1C-126AD4F96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CE301-8354-8991-84D7-25E7D5676F92}"/>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5BE0067C-784D-507A-16E6-8C68C819CE76}"/>
              </a:ext>
            </a:extLst>
          </p:cNvPr>
          <p:cNvSpPr>
            <a:spLocks noGrp="1"/>
          </p:cNvSpPr>
          <p:nvPr>
            <p:ph type="sldNum" sz="quarter" idx="10"/>
          </p:nvPr>
        </p:nvSpPr>
        <p:spPr/>
        <p:txBody>
          <a:bodyPr/>
          <a:lstStyle/>
          <a:p>
            <a:fld id="{13F0F35F-DD44-4607-AEC1-49D7A4BC4066}" type="slidenum">
              <a:rPr lang="en-US" smtClean="0"/>
              <a:pPr/>
              <a:t>66</a:t>
            </a:fld>
            <a:endParaRPr lang="en-US" dirty="0"/>
          </a:p>
        </p:txBody>
      </p:sp>
    </p:spTree>
    <p:extLst>
      <p:ext uri="{BB962C8B-B14F-4D97-AF65-F5344CB8AC3E}">
        <p14:creationId xmlns:p14="http://schemas.microsoft.com/office/powerpoint/2010/main" val="1487559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9B02-B35D-5343-19F8-8721A76A1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E6182-79A2-0414-7E51-95A07168B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4152B-0735-FEA2-7DC7-B1E051195AEF}"/>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551607D2-FAAE-92EC-D7A9-326685FED537}"/>
              </a:ext>
            </a:extLst>
          </p:cNvPr>
          <p:cNvSpPr>
            <a:spLocks noGrp="1"/>
          </p:cNvSpPr>
          <p:nvPr>
            <p:ph type="sldNum" sz="quarter" idx="10"/>
          </p:nvPr>
        </p:nvSpPr>
        <p:spPr/>
        <p:txBody>
          <a:bodyPr/>
          <a:lstStyle/>
          <a:p>
            <a:fld id="{13F0F35F-DD44-4607-AEC1-49D7A4BC4066}" type="slidenum">
              <a:rPr lang="en-US" smtClean="0"/>
              <a:pPr/>
              <a:t>67</a:t>
            </a:fld>
            <a:endParaRPr lang="en-US" dirty="0"/>
          </a:p>
        </p:txBody>
      </p:sp>
    </p:spTree>
    <p:extLst>
      <p:ext uri="{BB962C8B-B14F-4D97-AF65-F5344CB8AC3E}">
        <p14:creationId xmlns:p14="http://schemas.microsoft.com/office/powerpoint/2010/main" val="1489109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6A528-8F99-6E49-E480-CA6A4F6B1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B6632-B3CD-5F36-8011-AB1139B79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32E6B-E1D4-DA93-BE91-59E007D92D02}"/>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191F0213-5933-7062-6BE5-8F1B4EA6C8FF}"/>
              </a:ext>
            </a:extLst>
          </p:cNvPr>
          <p:cNvSpPr>
            <a:spLocks noGrp="1"/>
          </p:cNvSpPr>
          <p:nvPr>
            <p:ph type="sldNum" sz="quarter" idx="10"/>
          </p:nvPr>
        </p:nvSpPr>
        <p:spPr/>
        <p:txBody>
          <a:bodyPr/>
          <a:lstStyle/>
          <a:p>
            <a:fld id="{13F0F35F-DD44-4607-AEC1-49D7A4BC4066}" type="slidenum">
              <a:rPr lang="en-US" smtClean="0"/>
              <a:pPr/>
              <a:t>68</a:t>
            </a:fld>
            <a:endParaRPr lang="en-US" dirty="0"/>
          </a:p>
        </p:txBody>
      </p:sp>
    </p:spTree>
    <p:extLst>
      <p:ext uri="{BB962C8B-B14F-4D97-AF65-F5344CB8AC3E}">
        <p14:creationId xmlns:p14="http://schemas.microsoft.com/office/powerpoint/2010/main" val="1725043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F4A1-6F41-278B-E511-1C3F805FC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FB896-0B12-B422-15E2-4A7B5B108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C639E-A9DD-A9A8-9A97-75A3195F2CD0}"/>
              </a:ext>
            </a:extLst>
          </p:cNvPr>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a:extLst>
              <a:ext uri="{FF2B5EF4-FFF2-40B4-BE49-F238E27FC236}">
                <a16:creationId xmlns:a16="http://schemas.microsoft.com/office/drawing/2014/main" id="{C97B58B2-57F3-C76D-1C87-AE2999A49AF7}"/>
              </a:ext>
            </a:extLst>
          </p:cNvPr>
          <p:cNvSpPr>
            <a:spLocks noGrp="1"/>
          </p:cNvSpPr>
          <p:nvPr>
            <p:ph type="sldNum" sz="quarter" idx="10"/>
          </p:nvPr>
        </p:nvSpPr>
        <p:spPr/>
        <p:txBody>
          <a:bodyPr/>
          <a:lstStyle/>
          <a:p>
            <a:fld id="{13F0F35F-DD44-4607-AEC1-49D7A4BC4066}" type="slidenum">
              <a:rPr lang="en-US" smtClean="0"/>
              <a:pPr/>
              <a:t>69</a:t>
            </a:fld>
            <a:endParaRPr lang="en-US" dirty="0"/>
          </a:p>
        </p:txBody>
      </p:sp>
    </p:spTree>
    <p:extLst>
      <p:ext uri="{BB962C8B-B14F-4D97-AF65-F5344CB8AC3E}">
        <p14:creationId xmlns:p14="http://schemas.microsoft.com/office/powerpoint/2010/main" val="5454448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70</a:t>
            </a:fld>
            <a:endParaRPr lang="en-US" dirty="0"/>
          </a:p>
        </p:txBody>
      </p:sp>
    </p:spTree>
    <p:extLst>
      <p:ext uri="{BB962C8B-B14F-4D97-AF65-F5344CB8AC3E}">
        <p14:creationId xmlns:p14="http://schemas.microsoft.com/office/powerpoint/2010/main" val="9777274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D207A-07DF-40AD-A916-9872E089CE7A}" type="slidenum">
              <a:rPr lang="en-US" smtClean="0"/>
              <a:t>83</a:t>
            </a:fld>
            <a:endParaRPr lang="en-US" dirty="0"/>
          </a:p>
        </p:txBody>
      </p:sp>
    </p:spTree>
    <p:extLst>
      <p:ext uri="{BB962C8B-B14F-4D97-AF65-F5344CB8AC3E}">
        <p14:creationId xmlns:p14="http://schemas.microsoft.com/office/powerpoint/2010/main" val="35226680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a:t>Click to edit Master subtitle style</a:t>
            </a:r>
          </a:p>
        </p:txBody>
      </p:sp>
      <p:sp>
        <p:nvSpPr>
          <p:cNvPr id="10" name="Title 1"/>
          <p:cNvSpPr>
            <a:spLocks noGrp="1"/>
          </p:cNvSpPr>
          <p:nvPr>
            <p:ph type="ctrTitle" hasCustomPrompt="1"/>
          </p:nvPr>
        </p:nvSpPr>
        <p:spPr>
          <a:xfrm>
            <a:off x="193271" y="2415641"/>
            <a:ext cx="8579886" cy="2603307"/>
          </a:xfrm>
          <a:prstGeom prst="rect">
            <a:avLst/>
          </a:prstGeom>
          <a:noFill/>
          <a:effectLst/>
        </p:spPr>
        <p:txBody>
          <a:bodyPr vert="horz" lIns="137160" tIns="137160" rIns="91409" bIns="137160" rtlCol="0" anchor="b" anchorCtr="0">
            <a:noAutofit/>
          </a:bodyPr>
          <a:lstStyle>
            <a:lvl1pPr>
              <a:defRPr lang="en-US" sz="4800" kern="0" dirty="0">
                <a:ln w="3175">
                  <a:noFill/>
                </a:ln>
                <a:gradFill flip="none" rotWithShape="1">
                  <a:gsLst>
                    <a:gs pos="4583">
                      <a:schemeClr val="tx1"/>
                    </a:gs>
                    <a:gs pos="100000">
                      <a:srgbClr val="FFFFFF"/>
                    </a:gs>
                  </a:gsLst>
                  <a:lin ang="5400000" scaled="0"/>
                  <a:tileRect/>
                </a:gradFill>
              </a:defRPr>
            </a:lvl1pPr>
          </a:lstStyle>
          <a:p>
            <a:pPr lvl="0"/>
            <a:r>
              <a:rPr lang="en-US" dirty="0"/>
              <a:t>Course title style</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spTree>
    <p:extLst>
      <p:ext uri="{BB962C8B-B14F-4D97-AF65-F5344CB8AC3E}">
        <p14:creationId xmlns:p14="http://schemas.microsoft.com/office/powerpoint/2010/main" val="942519667"/>
      </p:ext>
    </p:extLst>
  </p:cSld>
  <p:clrMapOvr>
    <a:masterClrMapping/>
  </p:clrMapOvr>
  <p:extLst>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a:t>Click to edit Master title style</a:t>
            </a:r>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326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7745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99461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9021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783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rgbClr val="00205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©2019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1" name="Subtitle 2"/>
          <p:cNvSpPr>
            <a:spLocks noGrp="1"/>
          </p:cNvSpPr>
          <p:nvPr>
            <p:ph type="subTitle" idx="1"/>
          </p:nvPr>
        </p:nvSpPr>
        <p:spPr>
          <a:xfrm>
            <a:off x="193273" y="5132441"/>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4195626397"/>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CBD87-9830-4447-9A42-E70DBB0CC5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AC98E-45EF-45BA-976D-099EB8DA42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6A0C5-2664-4154-9CF3-A792DC121CFF}"/>
              </a:ext>
            </a:extLst>
          </p:cNvPr>
          <p:cNvSpPr>
            <a:spLocks noGrp="1"/>
          </p:cNvSpPr>
          <p:nvPr>
            <p:ph type="dt" sz="half" idx="10"/>
          </p:nvPr>
        </p:nvSpPr>
        <p:spPr/>
        <p:txBody>
          <a:bodyPr/>
          <a:lstStyle/>
          <a:p>
            <a:fld id="{6E4A31BF-7266-4BEB-918B-ADC21C630A6F}" type="datetimeFigureOut">
              <a:rPr lang="en-US" smtClean="0"/>
              <a:t>2/13/2026</a:t>
            </a:fld>
            <a:endParaRPr lang="en-US"/>
          </a:p>
        </p:txBody>
      </p:sp>
      <p:sp>
        <p:nvSpPr>
          <p:cNvPr id="5" name="Footer Placeholder 4">
            <a:extLst>
              <a:ext uri="{FF2B5EF4-FFF2-40B4-BE49-F238E27FC236}">
                <a16:creationId xmlns:a16="http://schemas.microsoft.com/office/drawing/2014/main" id="{303AC4A1-FBD2-4367-957A-935CAAE2C2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64DFC-3150-4671-90C7-B0ED2580A242}"/>
              </a:ext>
            </a:extLst>
          </p:cNvPr>
          <p:cNvSpPr>
            <a:spLocks noGrp="1"/>
          </p:cNvSpPr>
          <p:nvPr>
            <p:ph type="sldNum" sz="quarter" idx="12"/>
          </p:nvPr>
        </p:nvSpPr>
        <p:spPr/>
        <p:txBody>
          <a:bodyPr/>
          <a:lstStyle/>
          <a:p>
            <a:fld id="{7B75037E-CA28-4CDA-B6A5-29C59D4F2894}" type="slidenum">
              <a:rPr lang="en-US" smtClean="0"/>
              <a:t>‹#›</a:t>
            </a:fld>
            <a:endParaRPr lang="en-US"/>
          </a:p>
        </p:txBody>
      </p:sp>
    </p:spTree>
    <p:extLst>
      <p:ext uri="{BB962C8B-B14F-4D97-AF65-F5344CB8AC3E}">
        <p14:creationId xmlns:p14="http://schemas.microsoft.com/office/powerpoint/2010/main" val="154823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2940-C286-42C1-9010-1A658D157A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FF8782-4683-4B9D-8881-A996710D8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684089-8433-45A4-95CA-B1B45415729D}"/>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53E9F063-8808-4E6D-B458-8E13FC562D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BDFCD-9E64-42AA-BC33-A02ED69346E0}"/>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6477969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09C4-331A-4F8E-9C63-303C31453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59F34A-2443-468B-9DEC-057918C7E4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5C0A4-0B19-4954-BD29-F08BE61193C1}"/>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056EFD81-5068-48B4-9648-85B0D12C1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B328E-80D6-472E-8A1E-831F39043C9F}"/>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605471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80E2-9234-4188-8816-EACEC69163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AA4C78-7C62-4472-A49B-ABDD52A994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B3B61A-B612-41BA-8B68-6800728FECDF}"/>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DE28830D-FE6F-447E-93E1-DE4EB1A8C4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B7A6B-EC4D-4149-A9F8-89583742082F}"/>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1909710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7F82-A46A-40DC-8A7F-3628C8AFE6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616B2C-AC1F-4F94-8635-5B5AE8B7F8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6B9CB3-DD43-404A-8EC3-A66681BAF7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5ABB4A-28C2-479E-900D-4192EE9DF288}"/>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6" name="Footer Placeholder 5">
            <a:extLst>
              <a:ext uri="{FF2B5EF4-FFF2-40B4-BE49-F238E27FC236}">
                <a16:creationId xmlns:a16="http://schemas.microsoft.com/office/drawing/2014/main" id="{566D6A09-75F4-4526-859A-A290357173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B4D064-C25A-4932-907B-686C3859ED0C}"/>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2834383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183E-9FC4-4428-AB2E-4F644809CD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5219C6-EC01-41A6-94DD-327FCC904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C5DAFF-4CAE-4C24-95F5-30AA60C5A4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81E108-BF48-4DE6-80C1-BC1B6D9B76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05F2E3-F653-4AD8-A722-7118506E94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993AB9-18CF-412E-9678-7587B3260365}"/>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8" name="Footer Placeholder 7">
            <a:extLst>
              <a:ext uri="{FF2B5EF4-FFF2-40B4-BE49-F238E27FC236}">
                <a16:creationId xmlns:a16="http://schemas.microsoft.com/office/drawing/2014/main" id="{6707A225-C4C6-44A7-83BB-A21DC549E0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EBA5BA-E66A-4A42-8125-C7DC51F97BC0}"/>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1979714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56E26-53B1-4FE0-ABBA-11E686BA39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6931B7-899E-4140-87AC-B2122CB10909}"/>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4" name="Footer Placeholder 3">
            <a:extLst>
              <a:ext uri="{FF2B5EF4-FFF2-40B4-BE49-F238E27FC236}">
                <a16:creationId xmlns:a16="http://schemas.microsoft.com/office/drawing/2014/main" id="{AFE431E3-40EF-4F54-98E1-9E480C7FEB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4319B9-169B-43A4-AE80-AB37BA3D7327}"/>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2985437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3876BF-0B9C-410F-8893-DD9E11DDCDB8}"/>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3" name="Footer Placeholder 2">
            <a:extLst>
              <a:ext uri="{FF2B5EF4-FFF2-40B4-BE49-F238E27FC236}">
                <a16:creationId xmlns:a16="http://schemas.microsoft.com/office/drawing/2014/main" id="{135A06A4-B178-4424-9C5F-67F147356D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E55DA6-67A6-4B9E-A3E4-42AFA4A4B2BA}"/>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152901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EF1E-7615-42AD-805D-A2FD24708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3321E6-C526-49E7-B02E-08EA923D06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D977B9-143B-41FB-B988-793F2AD68D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7230FB-14D9-4D8A-BBEC-A7782D52CDDB}"/>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6" name="Footer Placeholder 5">
            <a:extLst>
              <a:ext uri="{FF2B5EF4-FFF2-40B4-BE49-F238E27FC236}">
                <a16:creationId xmlns:a16="http://schemas.microsoft.com/office/drawing/2014/main" id="{4B261659-843A-4959-96BA-8849D497CA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24B95-331A-4505-8464-6C6C6CFDF3CB}"/>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2205086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B093-7F4C-4930-BC54-F12270701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267225-0793-40F8-89CB-5F1EC1AB3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46DB63-CB17-4E21-9AE8-CCE1E98052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745AD-8D6F-4481-BD90-493E3CBF23D9}"/>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6" name="Footer Placeholder 5">
            <a:extLst>
              <a:ext uri="{FF2B5EF4-FFF2-40B4-BE49-F238E27FC236}">
                <a16:creationId xmlns:a16="http://schemas.microsoft.com/office/drawing/2014/main" id="{C0A1747A-ED49-481E-9A48-FC59ED9F5D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2D0CA3-0584-4F67-89A5-3F62C28B4B3F}"/>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3571660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0BB0A-C1BF-45C5-8108-46542AFE01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21A5A9-7FA5-43CB-9ED4-241FEBBF00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C60C29-8E1C-41B1-B4E8-FCEB7A9AD7CB}"/>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7E458C8B-B2B2-432A-86CA-6376158D3D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0811AE-A55A-437F-860D-8326A0BC9E8E}"/>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27915792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B18A12-841B-4AF8-8EC5-CB048068D4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896B34-27D2-4043-9D83-17FDA4475C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59E835-CDFD-49BD-806F-3E1A8F4FF4A2}"/>
              </a:ext>
            </a:extLst>
          </p:cNvPr>
          <p:cNvSpPr>
            <a:spLocks noGrp="1"/>
          </p:cNvSpPr>
          <p:nvPr>
            <p:ph type="dt" sz="half" idx="10"/>
          </p:nvPr>
        </p:nvSpPr>
        <p:spPr/>
        <p:txBody>
          <a:body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45CC70A1-95EE-415E-863A-EA224FE5D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44889-227C-49F0-8C46-A6BF65C84C16}"/>
              </a:ext>
            </a:extLst>
          </p:cNvPr>
          <p:cNvSpPr>
            <a:spLocks noGrp="1"/>
          </p:cNvSpPr>
          <p:nvPr>
            <p:ph type="sldNum" sz="quarter" idx="12"/>
          </p:nvPr>
        </p:nvSpPr>
        <p:spPr/>
        <p:txBody>
          <a:bodyPr/>
          <a:lstStyle/>
          <a:p>
            <a:fld id="{D2E7BA0C-A532-4032-9947-23BEFFA2E0DA}" type="slidenum">
              <a:rPr lang="en-US" smtClean="0"/>
              <a:t>‹#›</a:t>
            </a:fld>
            <a:endParaRPr lang="en-US"/>
          </a:p>
        </p:txBody>
      </p:sp>
    </p:spTree>
    <p:extLst>
      <p:ext uri="{BB962C8B-B14F-4D97-AF65-F5344CB8AC3E}">
        <p14:creationId xmlns:p14="http://schemas.microsoft.com/office/powerpoint/2010/main" val="411764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a:t>Click to edit Master title style</a:t>
            </a:r>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3" r:id="rId3"/>
    <p:sldLayoutId id="2147483664" r:id="rId4"/>
    <p:sldLayoutId id="2147483665" r:id="rId5"/>
    <p:sldLayoutId id="2147483666" r:id="rId6"/>
    <p:sldLayoutId id="2147483668" r:id="rId7"/>
    <p:sldLayoutId id="2147483669" r:id="rId8"/>
    <p:sldLayoutId id="2147483682" r:id="rId9"/>
    <p:sldLayoutId id="2147483683" r:id="rId10"/>
  </p:sldLayoutIdLst>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072130-6BA1-4D9E-B6B5-EE0FF1239E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18A96-4198-45A7-AA43-CCD2BADCE6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C469E1-B400-40D2-A33F-F19C852204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085E44-FE1D-42BD-8BEC-66E1A7095121}" type="datetimeFigureOut">
              <a:rPr lang="en-US" smtClean="0"/>
              <a:t>2/13/2026</a:t>
            </a:fld>
            <a:endParaRPr lang="en-US"/>
          </a:p>
        </p:txBody>
      </p:sp>
      <p:sp>
        <p:nvSpPr>
          <p:cNvPr id="5" name="Footer Placeholder 4">
            <a:extLst>
              <a:ext uri="{FF2B5EF4-FFF2-40B4-BE49-F238E27FC236}">
                <a16:creationId xmlns:a16="http://schemas.microsoft.com/office/drawing/2014/main" id="{85C07CD1-B0F8-4DF5-A0FF-8E28DF5312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CCA3E6-D767-4BAD-AA88-8F2BD19E0A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E7BA0C-A532-4032-9947-23BEFFA2E0DA}" type="slidenum">
              <a:rPr lang="en-US" smtClean="0"/>
              <a:t>‹#›</a:t>
            </a:fld>
            <a:endParaRPr lang="en-US"/>
          </a:p>
        </p:txBody>
      </p:sp>
    </p:spTree>
    <p:extLst>
      <p:ext uri="{BB962C8B-B14F-4D97-AF65-F5344CB8AC3E}">
        <p14:creationId xmlns:p14="http://schemas.microsoft.com/office/powerpoint/2010/main" val="295204828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4.jpe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4.jpe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hyperlink" Target="https://stanford.edu/~jlmcc/papers/PDP/Volume%201/Chap8_PDP86.pdf"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hyperlink" Target="http://www.cs.toronto.edu/~rsalakhu/papers/srivastava14a.pdf" TargetMode="Externa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hyperlink" Target="https://arxiv.org/pdf/1805.11604.pdf" TargetMode="External"/><Relationship Id="rId2" Type="http://schemas.openxmlformats.org/officeDocument/2006/relationships/hyperlink" Target="https://arxiv.org/pdf/1502.03167.pdf" TargetMode="Externa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hyperlink" Target="https://en.wikipedia.org/wiki/Jacobian_matrix_and_determinant" TargetMode="Externa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8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hyperlink" Target="https://arxiv.org/abs/1502.05767" TargetMode="External"/><Relationship Id="rId2" Type="http://schemas.openxmlformats.org/officeDocument/2006/relationships/hyperlink" Target="https://en.wikipedia.org/wiki/Automatic_differentiation" TargetMode="External"/><Relationship Id="rId1" Type="http://schemas.openxmlformats.org/officeDocument/2006/relationships/slideLayout" Target="../slideLayouts/slideLayout10.xml"/><Relationship Id="rId4" Type="http://schemas.openxmlformats.org/officeDocument/2006/relationships/hyperlink" Target="https://www.tensorflow.org/guide/autodif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AD34-FE4D-4A41-82A2-223615631262}"/>
              </a:ext>
            </a:extLst>
          </p:cNvPr>
          <p:cNvSpPr>
            <a:spLocks noGrp="1"/>
          </p:cNvSpPr>
          <p:nvPr>
            <p:ph type="ctrTitle"/>
          </p:nvPr>
        </p:nvSpPr>
        <p:spPr>
          <a:xfrm>
            <a:off x="1248955" y="273713"/>
            <a:ext cx="9601200" cy="2387600"/>
          </a:xfrm>
        </p:spPr>
        <p:txBody>
          <a:bodyPr>
            <a:normAutofit/>
          </a:bodyPr>
          <a:lstStyle/>
          <a:p>
            <a:r>
              <a:rPr lang="en-US" dirty="0">
                <a:latin typeface="+mn-lt"/>
              </a:rPr>
              <a:t>CSCI E-25</a:t>
            </a:r>
            <a:br>
              <a:rPr lang="en-US" dirty="0">
                <a:latin typeface="+mn-lt"/>
              </a:rPr>
            </a:br>
            <a:r>
              <a:rPr lang="en-US" dirty="0">
                <a:latin typeface="+mn-lt"/>
              </a:rPr>
              <a:t>Computer Vision</a:t>
            </a:r>
          </a:p>
        </p:txBody>
      </p:sp>
      <p:sp>
        <p:nvSpPr>
          <p:cNvPr id="3" name="Subtitle 2">
            <a:extLst>
              <a:ext uri="{FF2B5EF4-FFF2-40B4-BE49-F238E27FC236}">
                <a16:creationId xmlns:a16="http://schemas.microsoft.com/office/drawing/2014/main" id="{B25A855A-A2B4-41D5-81C1-CAA6D45AA9D5}"/>
              </a:ext>
            </a:extLst>
          </p:cNvPr>
          <p:cNvSpPr>
            <a:spLocks noGrp="1"/>
          </p:cNvSpPr>
          <p:nvPr>
            <p:ph type="subTitle" idx="1"/>
          </p:nvPr>
        </p:nvSpPr>
        <p:spPr>
          <a:xfrm>
            <a:off x="1477555" y="3946867"/>
            <a:ext cx="9144000" cy="494102"/>
          </a:xfrm>
        </p:spPr>
        <p:txBody>
          <a:bodyPr/>
          <a:lstStyle/>
          <a:p>
            <a:r>
              <a:rPr lang="en-US" dirty="0"/>
              <a:t>Steve Elston</a:t>
            </a:r>
          </a:p>
          <a:p>
            <a:endParaRPr lang="en-US" dirty="0"/>
          </a:p>
        </p:txBody>
      </p:sp>
      <p:pic>
        <p:nvPicPr>
          <p:cNvPr id="1026" name="Picture 2" descr="Image result for harvard extension school logo">
            <a:extLst>
              <a:ext uri="{FF2B5EF4-FFF2-40B4-BE49-F238E27FC236}">
                <a16:creationId xmlns:a16="http://schemas.microsoft.com/office/drawing/2014/main" id="{0512F5AD-ED64-4E88-80AB-F8D75DDF2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093" y="4750441"/>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169F207C-EF37-41D2-8510-622FD323B072}"/>
              </a:ext>
            </a:extLst>
          </p:cNvPr>
          <p:cNvSpPr txBox="1">
            <a:spLocks/>
          </p:cNvSpPr>
          <p:nvPr/>
        </p:nvSpPr>
        <p:spPr>
          <a:xfrm>
            <a:off x="1382693" y="6306671"/>
            <a:ext cx="9144000" cy="4941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Copyright 2021, 2022, 2023, 2024,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2025, 2026,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Stephen F Elston. All rights reserved.</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6C37018-A4F9-4B1C-806D-0E7F64A950E8}"/>
              </a:ext>
            </a:extLst>
          </p:cNvPr>
          <p:cNvSpPr txBox="1"/>
          <p:nvPr/>
        </p:nvSpPr>
        <p:spPr>
          <a:xfrm>
            <a:off x="788724" y="2851645"/>
            <a:ext cx="11036368"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Building Blocks of Deep Learning for CV</a:t>
            </a:r>
          </a:p>
        </p:txBody>
      </p:sp>
    </p:spTree>
    <p:extLst>
      <p:ext uri="{BB962C8B-B14F-4D97-AF65-F5344CB8AC3E}">
        <p14:creationId xmlns:p14="http://schemas.microsoft.com/office/powerpoint/2010/main" val="2261068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666750" y="1388226"/>
            <a:ext cx="11525250" cy="5203489"/>
          </a:xfrm>
        </p:spPr>
        <p:txBody>
          <a:bodyPr>
            <a:normAutofit fontScale="85000" lnSpcReduction="20000"/>
          </a:bodyPr>
          <a:lstStyle/>
          <a:p>
            <a:pPr marL="0" indent="0">
              <a:buNone/>
            </a:pPr>
            <a:r>
              <a:rPr lang="en-GB" sz="3000" dirty="0">
                <a:latin typeface="+mn-lt"/>
                <a:ea typeface="Segoe UI" panose="020B0502040204020203" pitchFamily="34" charset="0"/>
                <a:cs typeface="Segoe UI" panose="020B0502040204020203" pitchFamily="34" charset="0"/>
              </a:rPr>
              <a:t>Deep learning for computer vision</a:t>
            </a:r>
          </a:p>
          <a:p>
            <a:r>
              <a:rPr lang="en-GB" sz="2800" dirty="0">
                <a:latin typeface="+mn-lt"/>
                <a:ea typeface="Segoe UI" panose="020B0502040204020203" pitchFamily="34" charset="0"/>
                <a:cs typeface="Segoe UI" panose="020B0502040204020203" pitchFamily="34" charset="0"/>
              </a:rPr>
              <a:t>Deep neural networks have revolutionized many areas of machine learning </a:t>
            </a:r>
          </a:p>
          <a:p>
            <a:pPr lvl="1"/>
            <a:r>
              <a:rPr lang="en-GB" sz="2400" dirty="0">
                <a:latin typeface="+mn-lt"/>
                <a:ea typeface="Segoe UI" panose="020B0502040204020203" pitchFamily="34" charset="0"/>
                <a:cs typeface="Segoe UI" panose="020B0502040204020203" pitchFamily="34" charset="0"/>
              </a:rPr>
              <a:t>Object classification </a:t>
            </a:r>
          </a:p>
          <a:p>
            <a:pPr lvl="1"/>
            <a:r>
              <a:rPr lang="en-GB" sz="2400" dirty="0">
                <a:latin typeface="+mn-lt"/>
                <a:ea typeface="Segoe UI" panose="020B0502040204020203" pitchFamily="34" charset="0"/>
                <a:cs typeface="Segoe UI" panose="020B0502040204020203" pitchFamily="34" charset="0"/>
              </a:rPr>
              <a:t>Object detection </a:t>
            </a:r>
          </a:p>
          <a:p>
            <a:pPr lvl="1"/>
            <a:r>
              <a:rPr lang="en-GB" sz="2400" dirty="0">
                <a:latin typeface="+mn-lt"/>
                <a:ea typeface="Segoe UI" panose="020B0502040204020203" pitchFamily="34" charset="0"/>
                <a:cs typeface="Segoe UI" panose="020B0502040204020203" pitchFamily="34" charset="0"/>
              </a:rPr>
              <a:t>Segmentation</a:t>
            </a:r>
          </a:p>
          <a:p>
            <a:pPr lvl="1"/>
            <a:r>
              <a:rPr lang="en-GB" sz="2400" dirty="0">
                <a:latin typeface="+mn-lt"/>
                <a:ea typeface="Segoe UI" panose="020B0502040204020203" pitchFamily="34" charset="0"/>
                <a:cs typeface="Segoe UI" panose="020B0502040204020203" pitchFamily="34" charset="0"/>
              </a:rPr>
              <a:t>Optical flow</a:t>
            </a:r>
          </a:p>
          <a:p>
            <a:pPr lvl="1"/>
            <a:r>
              <a:rPr lang="en-GB" sz="2400" dirty="0">
                <a:latin typeface="+mn-lt"/>
                <a:ea typeface="Segoe UI" panose="020B0502040204020203" pitchFamily="34" charset="0"/>
                <a:cs typeface="Segoe UI" panose="020B0502040204020203" pitchFamily="34" charset="0"/>
              </a:rPr>
              <a:t>3-D geometry</a:t>
            </a:r>
          </a:p>
          <a:p>
            <a:pPr lvl="1"/>
            <a:r>
              <a:rPr lang="en-GB" sz="2400" dirty="0">
                <a:latin typeface="+mn-lt"/>
                <a:ea typeface="Segoe UI" panose="020B0502040204020203" pitchFamily="34" charset="0"/>
                <a:cs typeface="Segoe UI" panose="020B0502040204020203" pitchFamily="34" charset="0"/>
              </a:rPr>
              <a:t>Generative models</a:t>
            </a:r>
          </a:p>
          <a:p>
            <a:pPr lvl="1"/>
            <a:r>
              <a:rPr lang="en-GB" sz="2400" dirty="0">
                <a:latin typeface="+mn-lt"/>
                <a:ea typeface="Segoe UI" panose="020B0502040204020203" pitchFamily="34" charset="0"/>
                <a:cs typeface="Segoe UI" panose="020B0502040204020203" pitchFamily="34" charset="0"/>
              </a:rPr>
              <a:t>…</a:t>
            </a:r>
          </a:p>
          <a:p>
            <a:r>
              <a:rPr lang="en-GB" sz="2800" dirty="0">
                <a:latin typeface="+mn-lt"/>
                <a:ea typeface="Segoe UI" panose="020B0502040204020203" pitchFamily="34" charset="0"/>
                <a:cs typeface="Segoe UI" panose="020B0502040204020203" pitchFamily="34" charset="0"/>
              </a:rPr>
              <a:t>Many types of deep neural networks used in CV</a:t>
            </a:r>
          </a:p>
          <a:p>
            <a:pPr lvl="1"/>
            <a:r>
              <a:rPr lang="en-GB" sz="2600" b="1" dirty="0">
                <a:latin typeface="+mn-lt"/>
                <a:ea typeface="Segoe UI" panose="020B0502040204020203" pitchFamily="34" charset="0"/>
                <a:cs typeface="Segoe UI" panose="020B0502040204020203" pitchFamily="34" charset="0"/>
              </a:rPr>
              <a:t>Fully connected NNs or </a:t>
            </a:r>
            <a:r>
              <a:rPr lang="en-GB" sz="2600" b="1" dirty="0" err="1">
                <a:latin typeface="+mn-lt"/>
                <a:ea typeface="Segoe UI" panose="020B0502040204020203" pitchFamily="34" charset="0"/>
                <a:cs typeface="Segoe UI" panose="020B0502040204020203" pitchFamily="34" charset="0"/>
              </a:rPr>
              <a:t>preceptrons</a:t>
            </a:r>
            <a:r>
              <a:rPr lang="en-GB" sz="2600" b="1" dirty="0">
                <a:latin typeface="+mn-lt"/>
                <a:ea typeface="Segoe UI" panose="020B0502040204020203" pitchFamily="34" charset="0"/>
                <a:cs typeface="Segoe UI" panose="020B0502040204020203" pitchFamily="34" charset="0"/>
              </a:rPr>
              <a:t> </a:t>
            </a:r>
            <a:r>
              <a:rPr lang="en-GB" sz="2600" dirty="0">
                <a:latin typeface="+mn-lt"/>
                <a:ea typeface="Segoe UI" panose="020B0502040204020203" pitchFamily="34" charset="0"/>
                <a:cs typeface="Segoe UI" panose="020B0502040204020203" pitchFamily="34" charset="0"/>
              </a:rPr>
              <a:t>– our focus this week</a:t>
            </a:r>
          </a:p>
          <a:p>
            <a:pPr lvl="1"/>
            <a:r>
              <a:rPr lang="en-GB" sz="2600" dirty="0">
                <a:latin typeface="+mn-lt"/>
                <a:ea typeface="Segoe UI" panose="020B0502040204020203" pitchFamily="34" charset="0"/>
                <a:cs typeface="Segoe UI" panose="020B0502040204020203" pitchFamily="34" charset="0"/>
              </a:rPr>
              <a:t>Convolutional NNs create </a:t>
            </a:r>
            <a:r>
              <a:rPr lang="en-GB" sz="2600" b="1" dirty="0">
                <a:latin typeface="+mn-lt"/>
                <a:ea typeface="Segoe UI" panose="020B0502040204020203" pitchFamily="34" charset="0"/>
                <a:cs typeface="Segoe UI" panose="020B0502040204020203" pitchFamily="34" charset="0"/>
              </a:rPr>
              <a:t>complex feature maps </a:t>
            </a:r>
            <a:r>
              <a:rPr lang="en-GB" sz="2600" dirty="0">
                <a:latin typeface="+mn-lt"/>
                <a:ea typeface="Segoe UI" panose="020B0502040204020203" pitchFamily="34" charset="0"/>
                <a:cs typeface="Segoe UI" panose="020B0502040204020203" pitchFamily="34" charset="0"/>
              </a:rPr>
              <a:t>– next week</a:t>
            </a:r>
          </a:p>
          <a:p>
            <a:pPr lvl="1"/>
            <a:r>
              <a:rPr lang="en-GB" sz="2600" dirty="0">
                <a:latin typeface="+mn-lt"/>
                <a:ea typeface="Segoe UI" panose="020B0502040204020203" pitchFamily="34" charset="0"/>
                <a:cs typeface="Segoe UI" panose="020B0502040204020203" pitchFamily="34" charset="0"/>
              </a:rPr>
              <a:t>Transformers use </a:t>
            </a:r>
            <a:r>
              <a:rPr lang="en-GB" sz="2600" b="1" dirty="0">
                <a:latin typeface="+mn-lt"/>
                <a:ea typeface="Segoe UI" panose="020B0502040204020203" pitchFamily="34" charset="0"/>
                <a:cs typeface="Segoe UI" panose="020B0502040204020203" pitchFamily="34" charset="0"/>
              </a:rPr>
              <a:t>attention</a:t>
            </a:r>
            <a:r>
              <a:rPr lang="en-GB" sz="2600" dirty="0">
                <a:latin typeface="+mn-lt"/>
                <a:ea typeface="Segoe UI" panose="020B0502040204020203" pitchFamily="34" charset="0"/>
                <a:cs typeface="Segoe UI" panose="020B0502040204020203" pitchFamily="34" charset="0"/>
              </a:rPr>
              <a:t> between image features – two weeks from now</a:t>
            </a:r>
          </a:p>
          <a:p>
            <a:pPr lvl="1"/>
            <a:r>
              <a:rPr lang="en-GB" sz="2600" dirty="0">
                <a:latin typeface="+mn-lt"/>
                <a:ea typeface="Segoe UI" panose="020B0502040204020203" pitchFamily="34" charset="0"/>
                <a:cs typeface="Segoe UI" panose="020B0502040204020203" pitchFamily="34" charset="0"/>
              </a:rPr>
              <a:t>Many others …</a:t>
            </a:r>
          </a:p>
          <a:p>
            <a:pPr lvl="1"/>
            <a:endParaRPr lang="en-GB" sz="2600" dirty="0">
              <a:latin typeface="+mn-lt"/>
              <a:ea typeface="Segoe UI" panose="020B0502040204020203" pitchFamily="34" charset="0"/>
              <a:cs typeface="Segoe UI" panose="020B0502040204020203" pitchFamily="34" charset="0"/>
            </a:endParaRPr>
          </a:p>
          <a:p>
            <a:endParaRPr lang="en-GB"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Building Blocks of Deep Learning</a:t>
            </a:r>
          </a:p>
        </p:txBody>
      </p:sp>
    </p:spTree>
    <p:extLst>
      <p:ext uri="{BB962C8B-B14F-4D97-AF65-F5344CB8AC3E}">
        <p14:creationId xmlns:p14="http://schemas.microsoft.com/office/powerpoint/2010/main" val="64869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ontent Placeholder 6"/>
              <p:cNvSpPr>
                <a:spLocks noGrp="1"/>
              </p:cNvSpPr>
              <p:nvPr>
                <p:ph sz="quarter" idx="10"/>
              </p:nvPr>
            </p:nvSpPr>
            <p:spPr>
              <a:xfrm>
                <a:off x="666750" y="1514481"/>
                <a:ext cx="11525250" cy="4942916"/>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Deep neural networks are powerful </a:t>
                </a:r>
                <a:r>
                  <a:rPr lang="en-GB" sz="2800" b="1" dirty="0">
                    <a:latin typeface="+mn-lt"/>
                    <a:ea typeface="Segoe UI" panose="020B0502040204020203" pitchFamily="34" charset="0"/>
                    <a:cs typeface="Segoe UI" panose="020B0502040204020203" pitchFamily="34" charset="0"/>
                  </a:rPr>
                  <a:t>function approximators</a:t>
                </a:r>
                <a:endParaRPr lang="en-GB" sz="2800" dirty="0">
                  <a:latin typeface="+mn-lt"/>
                  <a:ea typeface="Segoe UI" panose="020B0502040204020203" pitchFamily="34" charset="0"/>
                  <a:cs typeface="Segoe UI" panose="020B0502040204020203" pitchFamily="34" charset="0"/>
                </a:endParaRPr>
              </a:p>
              <a:p>
                <a:pPr marL="0" indent="0">
                  <a:buNone/>
                </a:pPr>
                <a:r>
                  <a:rPr lang="en-GB" sz="2800" dirty="0">
                    <a:latin typeface="+mn-lt"/>
                    <a:ea typeface="Segoe UI" panose="020B0502040204020203" pitchFamily="34" charset="0"/>
                    <a:cs typeface="Segoe UI" panose="020B0502040204020203" pitchFamily="34" charset="0"/>
                  </a:rPr>
                  <a:t>                             </a:t>
                </a:r>
                <a14:m>
                  <m:oMath xmlns:m="http://schemas.openxmlformats.org/officeDocument/2006/math">
                    <m:r>
                      <a:rPr lang="en-US" sz="2800" b="0" i="1" smtClean="0">
                        <a:latin typeface="Cambria Math" panose="02040503050406030204" pitchFamily="18" charset="0"/>
                        <a:ea typeface="Segoe UI" panose="020B0502040204020203" pitchFamily="34" charset="0"/>
                        <a:cs typeface="Segoe UI" panose="020B0502040204020203" pitchFamily="34" charset="0"/>
                      </a:rPr>
                      <m:t>𝑦</m:t>
                    </m:r>
                    <m:r>
                      <a:rPr lang="en-US" sz="2800" b="0" i="1" smtClean="0">
                        <a:latin typeface="Cambria Math" panose="02040503050406030204" pitchFamily="18" charset="0"/>
                        <a:ea typeface="Segoe UI" panose="020B0502040204020203" pitchFamily="34" charset="0"/>
                        <a:cs typeface="Segoe UI" panose="020B0502040204020203" pitchFamily="34" charset="0"/>
                      </a:rPr>
                      <m:t>=</m:t>
                    </m:r>
                    <m:r>
                      <a:rPr lang="en-US" sz="2800" b="0" i="1" smtClean="0">
                        <a:latin typeface="Cambria Math" panose="02040503050406030204" pitchFamily="18" charset="0"/>
                        <a:ea typeface="Segoe UI" panose="020B0502040204020203" pitchFamily="34" charset="0"/>
                        <a:cs typeface="Segoe UI" panose="020B0502040204020203" pitchFamily="34" charset="0"/>
                      </a:rPr>
                      <m:t>𝑓</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𝑥</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𝑤</m:t>
                        </m:r>
                      </m:e>
                    </m:d>
                    <m:r>
                      <a:rPr lang="en-US" sz="2800" b="0" i="1" smtClean="0">
                        <a:latin typeface="Cambria Math" panose="02040503050406030204" pitchFamily="18" charset="0"/>
                        <a:cs typeface="Segoe UI" panose="020B0502040204020203" pitchFamily="34" charset="0"/>
                      </a:rPr>
                      <m:t>,    </m:t>
                    </m:r>
                    <m:r>
                      <a:rPr lang="en-US" sz="2800" b="0" i="1" smtClean="0">
                        <a:latin typeface="Cambria Math" panose="02040503050406030204" pitchFamily="18" charset="0"/>
                        <a:cs typeface="Segoe UI" panose="020B0502040204020203" pitchFamily="34" charset="0"/>
                      </a:rPr>
                      <m:t>𝑤</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𝑙𝑒𝑎𝑟𝑛𝑎𝑏𝑙𝑒</m:t>
                    </m:r>
                    <m:r>
                      <a:rPr lang="en-US" sz="2800" b="0" i="1" smtClean="0">
                        <a:latin typeface="Cambria Math" panose="02040503050406030204" pitchFamily="18" charset="0"/>
                        <a:cs typeface="Segoe UI" panose="020B0502040204020203" pitchFamily="34" charset="0"/>
                      </a:rPr>
                      <m:t> </m:t>
                    </m:r>
                    <m:r>
                      <a:rPr lang="en-US" sz="2800" b="0" i="1" smtClean="0">
                        <a:latin typeface="Cambria Math" panose="02040503050406030204" pitchFamily="18" charset="0"/>
                        <a:cs typeface="Segoe UI" panose="020B0502040204020203" pitchFamily="34" charset="0"/>
                      </a:rPr>
                      <m:t>𝑤𝑒𝑖𝑔h𝑡𝑠</m:t>
                    </m:r>
                  </m:oMath>
                </a14:m>
                <a:endParaRPr lang="en-GB" sz="2800" dirty="0">
                  <a:latin typeface="+mn-lt"/>
                  <a:ea typeface="Segoe UI" panose="020B0502040204020203" pitchFamily="34" charset="0"/>
                  <a:cs typeface="Segoe UI" panose="020B0502040204020203" pitchFamily="34" charset="0"/>
                </a:endParaRPr>
              </a:p>
              <a:p>
                <a:r>
                  <a:rPr lang="en-GB" sz="2800" dirty="0">
                    <a:latin typeface="+mn-lt"/>
                    <a:ea typeface="Segoe UI" panose="020B0502040204020203" pitchFamily="34" charset="0"/>
                    <a:cs typeface="Segoe UI" panose="020B0502040204020203" pitchFamily="34" charset="0"/>
                  </a:rPr>
                  <a:t>CV tasks require complex function approximations</a:t>
                </a:r>
              </a:p>
              <a:p>
                <a:pPr lvl="1">
                  <a:buFont typeface="Arial" panose="020B0604020202020204" pitchFamily="34" charset="0"/>
                  <a:buChar char="•"/>
                </a:pPr>
                <a14:m>
                  <m:oMath xmlns:m="http://schemas.openxmlformats.org/officeDocument/2006/math">
                    <m:r>
                      <a:rPr lang="en-US" sz="2400" i="1">
                        <a:latin typeface="Cambria Math" panose="02040503050406030204" pitchFamily="18" charset="0"/>
                        <a:ea typeface="Segoe UI" panose="020B0502040204020203" pitchFamily="34" charset="0"/>
                        <a:cs typeface="Segoe UI" panose="020B0502040204020203" pitchFamily="34" charset="0"/>
                      </a:rPr>
                      <m:t>𝑓</m:t>
                    </m:r>
                    <m:d>
                      <m:dPr>
                        <m:ctrlPr>
                          <a:rPr lang="en-US" sz="2400" i="1">
                            <a:latin typeface="Cambria Math" panose="02040503050406030204" pitchFamily="18" charset="0"/>
                            <a:cs typeface="Segoe UI" panose="020B0502040204020203" pitchFamily="34" charset="0"/>
                          </a:rPr>
                        </m:ctrlPr>
                      </m:dPr>
                      <m:e>
                        <m:r>
                          <a:rPr lang="en-US" sz="2400" i="1">
                            <a:latin typeface="Cambria Math" panose="02040503050406030204" pitchFamily="18" charset="0"/>
                            <a:cs typeface="Segoe UI" panose="020B0502040204020203" pitchFamily="34" charset="0"/>
                          </a:rPr>
                          <m:t>𝑥</m:t>
                        </m:r>
                        <m:r>
                          <a:rPr lang="en-US" sz="2400" i="1">
                            <a:latin typeface="Cambria Math" panose="02040503050406030204" pitchFamily="18" charset="0"/>
                            <a:cs typeface="Segoe UI" panose="020B0502040204020203" pitchFamily="34" charset="0"/>
                          </a:rPr>
                          <m:t>;</m:t>
                        </m:r>
                        <m:r>
                          <a:rPr lang="en-US" sz="2400" i="1">
                            <a:latin typeface="Cambria Math" panose="02040503050406030204" pitchFamily="18" charset="0"/>
                            <a:cs typeface="Segoe UI" panose="020B0502040204020203" pitchFamily="34" charset="0"/>
                          </a:rPr>
                          <m:t>𝑤</m:t>
                        </m:r>
                      </m:e>
                    </m:d>
                    <m:r>
                      <a:rPr lang="en-US" sz="2400" i="1">
                        <a:latin typeface="Cambria Math" panose="02040503050406030204" pitchFamily="18" charset="0"/>
                        <a:cs typeface="Segoe UI" panose="020B0502040204020203" pitchFamily="34" charset="0"/>
                      </a:rPr>
                      <m:t> </m:t>
                    </m:r>
                  </m:oMath>
                </a14:m>
                <a:r>
                  <a:rPr lang="en-GB" sz="2400" dirty="0">
                    <a:latin typeface="+mn-lt"/>
                    <a:ea typeface="Segoe UI" panose="020B0502040204020203" pitchFamily="34" charset="0"/>
                    <a:cs typeface="Segoe UI" panose="020B0502040204020203" pitchFamily="34" charset="0"/>
                  </a:rPr>
                  <a:t>is nonlinear and can be quite complex</a:t>
                </a:r>
              </a:p>
              <a:p>
                <a:pPr lvl="1">
                  <a:buFont typeface="Arial" panose="020B0604020202020204" pitchFamily="34" charset="0"/>
                  <a:buChar char="•"/>
                </a:pPr>
                <a:r>
                  <a:rPr lang="en-GB" sz="2400" dirty="0">
                    <a:latin typeface="+mn-lt"/>
                    <a:ea typeface="Segoe UI" panose="020B0502040204020203" pitchFamily="34" charset="0"/>
                    <a:cs typeface="Segoe UI" panose="020B0502040204020203" pitchFamily="34" charset="0"/>
                  </a:rPr>
                  <a:t>Strong interaction between adjacent pixels and </a:t>
                </a:r>
                <a:r>
                  <a:rPr lang="en-GB" sz="2400" dirty="0" err="1">
                    <a:latin typeface="+mn-lt"/>
                    <a:ea typeface="Segoe UI" panose="020B0502040204020203" pitchFamily="34" charset="0"/>
                    <a:cs typeface="Segoe UI" panose="020B0502040204020203" pitchFamily="34" charset="0"/>
                  </a:rPr>
                  <a:t>color</a:t>
                </a:r>
                <a:r>
                  <a:rPr lang="en-GB" sz="2400" dirty="0">
                    <a:latin typeface="+mn-lt"/>
                    <a:ea typeface="Segoe UI" panose="020B0502040204020203" pitchFamily="34" charset="0"/>
                    <a:cs typeface="Segoe UI" panose="020B0502040204020203" pitchFamily="34" charset="0"/>
                  </a:rPr>
                  <a:t> channels  </a:t>
                </a:r>
              </a:p>
              <a:p>
                <a:pPr lvl="1">
                  <a:buFont typeface="Arial" panose="020B0604020202020204" pitchFamily="34" charset="0"/>
                  <a:buChar char="•"/>
                </a:pPr>
                <a:r>
                  <a:rPr lang="en-GB" sz="2400" dirty="0">
                    <a:latin typeface="+mn-lt"/>
                    <a:ea typeface="Segoe UI" panose="020B0502040204020203" pitchFamily="34" charset="0"/>
                    <a:cs typeface="Segoe UI" panose="020B0502040204020203" pitchFamily="34" charset="0"/>
                  </a:rPr>
                  <a:t>Linear models struggle with this complexity</a:t>
                </a:r>
              </a:p>
              <a:p>
                <a:r>
                  <a:rPr lang="en-GB" sz="2800" dirty="0">
                    <a:latin typeface="+mn-lt"/>
                    <a:ea typeface="Segoe UI" panose="020B0502040204020203" pitchFamily="34" charset="0"/>
                    <a:cs typeface="Segoe UI" panose="020B0502040204020203" pitchFamily="34" charset="0"/>
                  </a:rPr>
                  <a:t>Most deep neural networks use </a:t>
                </a:r>
                <a:r>
                  <a:rPr lang="en-GB" sz="2800" b="1" dirty="0">
                    <a:latin typeface="+mn-lt"/>
                    <a:ea typeface="Segoe UI" panose="020B0502040204020203" pitchFamily="34" charset="0"/>
                    <a:cs typeface="Segoe UI" panose="020B0502040204020203" pitchFamily="34" charset="0"/>
                  </a:rPr>
                  <a:t>supervised learning </a:t>
                </a:r>
              </a:p>
              <a:p>
                <a:pPr lvl="1">
                  <a:buFont typeface="Arial" panose="020B0604020202020204" pitchFamily="34" charset="0"/>
                  <a:buChar char="•"/>
                </a:pPr>
                <a:r>
                  <a:rPr lang="en-GB" sz="2400" b="1" dirty="0">
                    <a:latin typeface="+mn-lt"/>
                    <a:ea typeface="Segoe UI" panose="020B0502040204020203" pitchFamily="34" charset="0"/>
                    <a:cs typeface="Segoe UI" panose="020B0502040204020203" pitchFamily="34" charset="0"/>
                  </a:rPr>
                  <a:t>Labelled cases </a:t>
                </a:r>
                <a:r>
                  <a:rPr lang="en-GB" sz="2400" dirty="0">
                    <a:latin typeface="+mn-lt"/>
                    <a:ea typeface="Segoe UI" panose="020B0502040204020203" pitchFamily="34" charset="0"/>
                    <a:cs typeface="Segoe UI" panose="020B0502040204020203" pitchFamily="34" charset="0"/>
                  </a:rPr>
                  <a:t>used to </a:t>
                </a:r>
                <a:r>
                  <a:rPr lang="en-GB" sz="2400" b="1" dirty="0">
                    <a:latin typeface="+mn-lt"/>
                    <a:ea typeface="Segoe UI" panose="020B0502040204020203" pitchFamily="34" charset="0"/>
                    <a:cs typeface="Segoe UI" panose="020B0502040204020203" pitchFamily="34" charset="0"/>
                  </a:rPr>
                  <a:t>learn model weights</a:t>
                </a:r>
                <a:r>
                  <a:rPr lang="en-GB" sz="2400" dirty="0">
                    <a:latin typeface="+mn-lt"/>
                    <a:ea typeface="Segoe UI" panose="020B0502040204020203" pitchFamily="34" charset="0"/>
                    <a:cs typeface="Segoe UI" panose="020B0502040204020203" pitchFamily="34" charset="0"/>
                  </a:rPr>
                  <a:t>, </a:t>
                </a:r>
                <a14:m>
                  <m:oMath xmlns:m="http://schemas.openxmlformats.org/officeDocument/2006/math">
                    <m:r>
                      <a:rPr lang="en-US" sz="2400" b="1" i="1" smtClean="0">
                        <a:latin typeface="Cambria Math" panose="02040503050406030204" pitchFamily="18" charset="0"/>
                        <a:ea typeface="Segoe UI" panose="020B0502040204020203" pitchFamily="34" charset="0"/>
                        <a:cs typeface="Segoe UI" panose="020B0502040204020203" pitchFamily="34" charset="0"/>
                      </a:rPr>
                      <m:t>𝒘</m:t>
                    </m:r>
                  </m:oMath>
                </a14:m>
                <a:endParaRPr lang="en-GB" sz="2400" b="1" dirty="0">
                  <a:latin typeface="+mn-lt"/>
                  <a:ea typeface="Segoe UI" panose="020B0502040204020203" pitchFamily="34" charset="0"/>
                  <a:cs typeface="Segoe UI" panose="020B0502040204020203" pitchFamily="34" charset="0"/>
                </a:endParaRPr>
              </a:p>
              <a:p>
                <a:pPr lvl="1">
                  <a:buFont typeface="Arial" panose="020B0604020202020204" pitchFamily="34" charset="0"/>
                  <a:buChar char="•"/>
                </a:pPr>
                <a:r>
                  <a:rPr lang="en-GB" sz="2400" dirty="0">
                    <a:latin typeface="+mn-lt"/>
                    <a:ea typeface="Segoe UI" panose="020B0502040204020203" pitchFamily="34" charset="0"/>
                    <a:cs typeface="Segoe UI" panose="020B0502040204020203" pitchFamily="34" charset="0"/>
                  </a:rPr>
                  <a:t>Complexity leads to problems with generalization</a:t>
                </a:r>
              </a:p>
              <a:p>
                <a:pPr marL="457046" lvl="1" indent="0">
                  <a:buNone/>
                </a:pPr>
                <a:endParaRPr lang="en-GB" sz="24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mc:Choice>
        <mc:Fallback xmlns="">
          <p:sp>
            <p:nvSpPr>
              <p:cNvPr id="7" name="Content Placeholder 6"/>
              <p:cNvSpPr>
                <a:spLocks noGrp="1" noRot="1" noChangeAspect="1" noMove="1" noResize="1" noEditPoints="1" noAdjustHandles="1" noChangeArrowheads="1" noChangeShapeType="1" noTextEdit="1"/>
              </p:cNvSpPr>
              <p:nvPr>
                <p:ph sz="quarter" idx="10"/>
              </p:nvPr>
            </p:nvSpPr>
            <p:spPr>
              <a:xfrm>
                <a:off x="666750" y="1514481"/>
                <a:ext cx="11525250" cy="4942916"/>
              </a:xfrm>
              <a:blipFill>
                <a:blip r:embed="rId3"/>
                <a:stretch>
                  <a:fillRect l="-1058" t="-1110"/>
                </a:stretch>
              </a:blipFill>
            </p:spPr>
            <p:txBody>
              <a:bodyPr/>
              <a:lstStyle/>
              <a:p>
                <a:r>
                  <a:rPr lang="en-US">
                    <a:noFill/>
                  </a:rPr>
                  <a:t> </a:t>
                </a:r>
              </a:p>
            </p:txBody>
          </p:sp>
        </mc:Fallback>
      </mc:AlternateContent>
      <p:sp>
        <p:nvSpPr>
          <p:cNvPr id="2" name="Title 1"/>
          <p:cNvSpPr>
            <a:spLocks noGrp="1"/>
          </p:cNvSpPr>
          <p:nvPr>
            <p:ph type="title"/>
          </p:nvPr>
        </p:nvSpPr>
        <p:spPr>
          <a:xfrm>
            <a:off x="324000" y="1"/>
            <a:ext cx="11579845" cy="1388226"/>
          </a:xfrm>
        </p:spPr>
        <p:txBody>
          <a:bodyPr>
            <a:normAutofit fontScale="90000"/>
          </a:bodyPr>
          <a:lstStyle/>
          <a:p>
            <a:br>
              <a:rPr lang="en-US" dirty="0">
                <a:latin typeface="+mn-lt"/>
              </a:rPr>
            </a:br>
            <a:r>
              <a:rPr lang="en-US" dirty="0">
                <a:latin typeface="+mn-lt"/>
              </a:rPr>
              <a:t>Function Approximation with Deep Neural Networks </a:t>
            </a:r>
          </a:p>
        </p:txBody>
      </p:sp>
    </p:spTree>
    <p:extLst>
      <p:ext uri="{BB962C8B-B14F-4D97-AF65-F5344CB8AC3E}">
        <p14:creationId xmlns:p14="http://schemas.microsoft.com/office/powerpoint/2010/main" val="326304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98064-B113-4202-BE3C-04CCC3015D0B}"/>
              </a:ext>
            </a:extLst>
          </p:cNvPr>
          <p:cNvSpPr>
            <a:spLocks noGrp="1"/>
          </p:cNvSpPr>
          <p:nvPr>
            <p:ph type="title"/>
          </p:nvPr>
        </p:nvSpPr>
        <p:spPr>
          <a:xfrm>
            <a:off x="379514" y="182215"/>
            <a:ext cx="11524432" cy="1063487"/>
          </a:xfrm>
        </p:spPr>
        <p:txBody>
          <a:bodyPr>
            <a:normAutofit/>
          </a:bodyPr>
          <a:lstStyle/>
          <a:p>
            <a:r>
              <a:rPr lang="en-US" sz="4000" dirty="0">
                <a:latin typeface="+mn-lt"/>
                <a:cs typeface="Segoe UI" panose="020B0502040204020203" pitchFamily="34" charset="0"/>
              </a:rPr>
              <a:t>Essential Elements of AI Agents </a:t>
            </a:r>
          </a:p>
        </p:txBody>
      </p:sp>
      <p:sp>
        <p:nvSpPr>
          <p:cNvPr id="4" name="TextBox 3">
            <a:extLst>
              <a:ext uri="{FF2B5EF4-FFF2-40B4-BE49-F238E27FC236}">
                <a16:creationId xmlns:a16="http://schemas.microsoft.com/office/drawing/2014/main" id="{F206BFC6-5F2D-4DD5-9F12-E3BFB8A203A9}"/>
              </a:ext>
            </a:extLst>
          </p:cNvPr>
          <p:cNvSpPr txBox="1"/>
          <p:nvPr/>
        </p:nvSpPr>
        <p:spPr>
          <a:xfrm>
            <a:off x="213528" y="2268703"/>
            <a:ext cx="1864215" cy="584775"/>
          </a:xfrm>
          <a:prstGeom prst="rect">
            <a:avLst/>
          </a:prstGeom>
          <a:noFill/>
        </p:spPr>
        <p:txBody>
          <a:bodyPr wrap="square" rtlCol="0">
            <a:spAutoFit/>
          </a:bodyPr>
          <a:lstStyle/>
          <a:p>
            <a:r>
              <a:rPr lang="en-US" sz="3200" b="1" dirty="0"/>
              <a:t>Input  = X</a:t>
            </a:r>
          </a:p>
        </p:txBody>
      </p:sp>
      <p:sp>
        <p:nvSpPr>
          <p:cNvPr id="5" name="Rectangle: Rounded Corners 4">
            <a:extLst>
              <a:ext uri="{FF2B5EF4-FFF2-40B4-BE49-F238E27FC236}">
                <a16:creationId xmlns:a16="http://schemas.microsoft.com/office/drawing/2014/main" id="{DA4BB109-1C90-41A8-B86F-061F0C0488C5}"/>
              </a:ext>
            </a:extLst>
          </p:cNvPr>
          <p:cNvSpPr/>
          <p:nvPr/>
        </p:nvSpPr>
        <p:spPr>
          <a:xfrm>
            <a:off x="2475272" y="1651802"/>
            <a:ext cx="3127464" cy="1900107"/>
          </a:xfrm>
          <a:prstGeom prst="roundRect">
            <a:avLst/>
          </a:prstGeom>
          <a:solidFill>
            <a:schemeClr val="bg2">
              <a:lumMod val="90000"/>
            </a:schemeClr>
          </a:solidFill>
          <a:ln w="3175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Representation</a:t>
            </a:r>
          </a:p>
        </p:txBody>
      </p:sp>
      <p:sp>
        <p:nvSpPr>
          <p:cNvPr id="6" name="Rectangle: Rounded Corners 5">
            <a:extLst>
              <a:ext uri="{FF2B5EF4-FFF2-40B4-BE49-F238E27FC236}">
                <a16:creationId xmlns:a16="http://schemas.microsoft.com/office/drawing/2014/main" id="{4D14C783-1BEF-4F5C-8C6A-8696AC3437F6}"/>
              </a:ext>
            </a:extLst>
          </p:cNvPr>
          <p:cNvSpPr/>
          <p:nvPr/>
        </p:nvSpPr>
        <p:spPr>
          <a:xfrm>
            <a:off x="2512870" y="4587622"/>
            <a:ext cx="3078258" cy="1900107"/>
          </a:xfrm>
          <a:prstGeom prst="roundRect">
            <a:avLst/>
          </a:prstGeom>
          <a:solidFill>
            <a:schemeClr val="bg2">
              <a:lumMod val="90000"/>
            </a:schemeClr>
          </a:solidFill>
          <a:ln w="3175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Learning</a:t>
            </a:r>
          </a:p>
        </p:txBody>
      </p:sp>
      <p:cxnSp>
        <p:nvCxnSpPr>
          <p:cNvPr id="7" name="Straight Arrow Connector 6">
            <a:extLst>
              <a:ext uri="{FF2B5EF4-FFF2-40B4-BE49-F238E27FC236}">
                <a16:creationId xmlns:a16="http://schemas.microsoft.com/office/drawing/2014/main" id="{ED761516-E494-4DF9-B54B-B1B7CB1CCA55}"/>
              </a:ext>
            </a:extLst>
          </p:cNvPr>
          <p:cNvCxnSpPr>
            <a:cxnSpLocks/>
            <a:endCxn id="13" idx="1"/>
          </p:cNvCxnSpPr>
          <p:nvPr/>
        </p:nvCxnSpPr>
        <p:spPr>
          <a:xfrm>
            <a:off x="5602736" y="2590211"/>
            <a:ext cx="493264" cy="1297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630745A-DB10-4E13-86AB-CC89CAE6C316}"/>
              </a:ext>
            </a:extLst>
          </p:cNvPr>
          <p:cNvCxnSpPr>
            <a:cxnSpLocks/>
          </p:cNvCxnSpPr>
          <p:nvPr/>
        </p:nvCxnSpPr>
        <p:spPr>
          <a:xfrm>
            <a:off x="1985330" y="2561091"/>
            <a:ext cx="489941"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D1DB747-018A-4DE9-9ACC-531D5BAAFCFF}"/>
              </a:ext>
            </a:extLst>
          </p:cNvPr>
          <p:cNvCxnSpPr>
            <a:cxnSpLocks/>
          </p:cNvCxnSpPr>
          <p:nvPr/>
        </p:nvCxnSpPr>
        <p:spPr>
          <a:xfrm>
            <a:off x="3593066" y="3551909"/>
            <a:ext cx="0" cy="107630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94C8B49-5782-4833-B83B-D62CD0C53512}"/>
              </a:ext>
            </a:extLst>
          </p:cNvPr>
          <p:cNvCxnSpPr>
            <a:cxnSpLocks/>
          </p:cNvCxnSpPr>
          <p:nvPr/>
        </p:nvCxnSpPr>
        <p:spPr>
          <a:xfrm flipH="1" flipV="1">
            <a:off x="4667460" y="3551909"/>
            <a:ext cx="5804" cy="103571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141B768-58D5-405D-A8B8-AAA9A07E246A}"/>
              </a:ext>
            </a:extLst>
          </p:cNvPr>
          <p:cNvCxnSpPr>
            <a:cxnSpLocks/>
            <a:endCxn id="6" idx="3"/>
          </p:cNvCxnSpPr>
          <p:nvPr/>
        </p:nvCxnSpPr>
        <p:spPr>
          <a:xfrm flipH="1">
            <a:off x="5591128" y="5537675"/>
            <a:ext cx="2068604"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51EA0EB-83EC-41E8-BD6A-F4D56AC916DC}"/>
              </a:ext>
            </a:extLst>
          </p:cNvPr>
          <p:cNvCxnSpPr>
            <a:cxnSpLocks/>
          </p:cNvCxnSpPr>
          <p:nvPr/>
        </p:nvCxnSpPr>
        <p:spPr>
          <a:xfrm>
            <a:off x="7659732" y="3540264"/>
            <a:ext cx="0" cy="1997411"/>
          </a:xfrm>
          <a:prstGeom prst="straightConnector1">
            <a:avLst/>
          </a:prstGeom>
          <a:ln w="31750">
            <a:tailEnd type="non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05E8FA41-15E4-4953-9C3D-58BE73FB5ADC}"/>
              </a:ext>
            </a:extLst>
          </p:cNvPr>
          <p:cNvSpPr/>
          <p:nvPr/>
        </p:nvSpPr>
        <p:spPr>
          <a:xfrm>
            <a:off x="6096000" y="1653128"/>
            <a:ext cx="3127464" cy="1900107"/>
          </a:xfrm>
          <a:prstGeom prst="roundRect">
            <a:avLst/>
          </a:prstGeom>
          <a:noFill/>
          <a:ln w="3175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Inference</a:t>
            </a:r>
          </a:p>
        </p:txBody>
      </p:sp>
      <p:cxnSp>
        <p:nvCxnSpPr>
          <p:cNvPr id="14" name="Straight Arrow Connector 13">
            <a:extLst>
              <a:ext uri="{FF2B5EF4-FFF2-40B4-BE49-F238E27FC236}">
                <a16:creationId xmlns:a16="http://schemas.microsoft.com/office/drawing/2014/main" id="{A04C0963-E770-402C-BEF3-B09E35E580DB}"/>
              </a:ext>
            </a:extLst>
          </p:cNvPr>
          <p:cNvCxnSpPr>
            <a:cxnSpLocks/>
          </p:cNvCxnSpPr>
          <p:nvPr/>
        </p:nvCxnSpPr>
        <p:spPr>
          <a:xfrm flipV="1">
            <a:off x="9223464" y="2596696"/>
            <a:ext cx="493264" cy="648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9AB5DF0-86A4-4911-817A-C77AEE52CA0A}"/>
              </a:ext>
            </a:extLst>
          </p:cNvPr>
          <p:cNvSpPr txBox="1"/>
          <p:nvPr/>
        </p:nvSpPr>
        <p:spPr>
          <a:xfrm>
            <a:off x="9782951" y="2297823"/>
            <a:ext cx="2226340" cy="584775"/>
          </a:xfrm>
          <a:prstGeom prst="rect">
            <a:avLst/>
          </a:prstGeom>
          <a:noFill/>
        </p:spPr>
        <p:txBody>
          <a:bodyPr wrap="square" rtlCol="0">
            <a:spAutoFit/>
          </a:bodyPr>
          <a:lstStyle/>
          <a:p>
            <a:r>
              <a:rPr lang="en-US" sz="3200" b="1" dirty="0"/>
              <a:t>Output  = Y</a:t>
            </a:r>
          </a:p>
        </p:txBody>
      </p:sp>
    </p:spTree>
    <p:extLst>
      <p:ext uri="{BB962C8B-B14F-4D97-AF65-F5344CB8AC3E}">
        <p14:creationId xmlns:p14="http://schemas.microsoft.com/office/powerpoint/2010/main" val="225863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13"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CA87-A6F4-FCED-74FA-3E5BF9FB6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6474C-5849-12AE-9C63-E238DC01136C}"/>
              </a:ext>
            </a:extLst>
          </p:cNvPr>
          <p:cNvSpPr>
            <a:spLocks noGrp="1"/>
          </p:cNvSpPr>
          <p:nvPr>
            <p:ph type="title"/>
          </p:nvPr>
        </p:nvSpPr>
        <p:spPr>
          <a:xfrm>
            <a:off x="144077" y="328838"/>
            <a:ext cx="11903845" cy="683617"/>
          </a:xfrm>
        </p:spPr>
        <p:txBody>
          <a:bodyPr>
            <a:normAutofit/>
          </a:bodyPr>
          <a:lstStyle/>
          <a:p>
            <a:r>
              <a:rPr lang="en-US" sz="4000" dirty="0">
                <a:latin typeface="Segoe"/>
              </a:rPr>
              <a:t>Why Fully Connected Neural Networks in CV</a:t>
            </a:r>
          </a:p>
        </p:txBody>
      </p:sp>
      <p:sp>
        <p:nvSpPr>
          <p:cNvPr id="330" name="TextBox 329">
            <a:extLst>
              <a:ext uri="{FF2B5EF4-FFF2-40B4-BE49-F238E27FC236}">
                <a16:creationId xmlns:a16="http://schemas.microsoft.com/office/drawing/2014/main" id="{711093C3-E191-1415-23C6-EC7B136A3D95}"/>
              </a:ext>
            </a:extLst>
          </p:cNvPr>
          <p:cNvSpPr txBox="1"/>
          <p:nvPr/>
        </p:nvSpPr>
        <p:spPr>
          <a:xfrm>
            <a:off x="409876" y="1205070"/>
            <a:ext cx="11163815" cy="523220"/>
          </a:xfrm>
          <a:prstGeom prst="rect">
            <a:avLst/>
          </a:prstGeom>
          <a:noFill/>
        </p:spPr>
        <p:txBody>
          <a:bodyPr wrap="square" rtlCol="0">
            <a:spAutoFit/>
          </a:bodyPr>
          <a:lstStyle/>
          <a:p>
            <a:pPr algn="ctr"/>
            <a:r>
              <a:rPr lang="en-US" sz="2800" dirty="0"/>
              <a:t>Pipelines for many CV tasks require fully connected NNs</a:t>
            </a:r>
          </a:p>
        </p:txBody>
      </p:sp>
      <p:cxnSp>
        <p:nvCxnSpPr>
          <p:cNvPr id="155" name="Straight Connector 154">
            <a:extLst>
              <a:ext uri="{FF2B5EF4-FFF2-40B4-BE49-F238E27FC236}">
                <a16:creationId xmlns:a16="http://schemas.microsoft.com/office/drawing/2014/main" id="{3C8A95DC-3125-4F88-41F6-A967D27BFB81}"/>
              </a:ext>
            </a:extLst>
          </p:cNvPr>
          <p:cNvCxnSpPr>
            <a:cxnSpLocks/>
          </p:cNvCxnSpPr>
          <p:nvPr/>
        </p:nvCxnSpPr>
        <p:spPr>
          <a:xfrm>
            <a:off x="5599967" y="3369815"/>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39690F1-AE6A-0500-68A0-49E5D5905615}"/>
              </a:ext>
            </a:extLst>
          </p:cNvPr>
          <p:cNvCxnSpPr>
            <a:cxnSpLocks/>
          </p:cNvCxnSpPr>
          <p:nvPr/>
        </p:nvCxnSpPr>
        <p:spPr>
          <a:xfrm>
            <a:off x="5599967" y="3531740"/>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9EFB9B6-2A8E-78E7-8E85-A5850893D62D}"/>
              </a:ext>
            </a:extLst>
          </p:cNvPr>
          <p:cNvCxnSpPr>
            <a:cxnSpLocks/>
          </p:cNvCxnSpPr>
          <p:nvPr/>
        </p:nvCxnSpPr>
        <p:spPr>
          <a:xfrm>
            <a:off x="5123717" y="2584000"/>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937038A-F428-8F70-1534-2822427FB64C}"/>
              </a:ext>
            </a:extLst>
          </p:cNvPr>
          <p:cNvCxnSpPr>
            <a:cxnSpLocks/>
          </p:cNvCxnSpPr>
          <p:nvPr/>
        </p:nvCxnSpPr>
        <p:spPr>
          <a:xfrm>
            <a:off x="7290457" y="2599526"/>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F4BA4856-1CC5-6CE9-EB68-6A4949BA02F1}"/>
              </a:ext>
            </a:extLst>
          </p:cNvPr>
          <p:cNvCxnSpPr>
            <a:cxnSpLocks/>
          </p:cNvCxnSpPr>
          <p:nvPr/>
        </p:nvCxnSpPr>
        <p:spPr>
          <a:xfrm>
            <a:off x="5080854" y="2931665"/>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033FC87E-3683-9656-ABA6-14D730D40D19}"/>
              </a:ext>
            </a:extLst>
          </p:cNvPr>
          <p:cNvCxnSpPr>
            <a:cxnSpLocks/>
          </p:cNvCxnSpPr>
          <p:nvPr/>
        </p:nvCxnSpPr>
        <p:spPr>
          <a:xfrm>
            <a:off x="5080853" y="3093590"/>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B22B670B-B3DF-E1A0-96C0-B2B4300497AD}"/>
              </a:ext>
            </a:extLst>
          </p:cNvPr>
          <p:cNvCxnSpPr>
            <a:cxnSpLocks/>
          </p:cNvCxnSpPr>
          <p:nvPr/>
        </p:nvCxnSpPr>
        <p:spPr>
          <a:xfrm>
            <a:off x="7781557" y="3379417"/>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5BC0A7A9-CAAA-0B73-856A-992035D46F92}"/>
              </a:ext>
            </a:extLst>
          </p:cNvPr>
          <p:cNvCxnSpPr>
            <a:cxnSpLocks/>
          </p:cNvCxnSpPr>
          <p:nvPr/>
        </p:nvCxnSpPr>
        <p:spPr>
          <a:xfrm>
            <a:off x="5599966" y="3369815"/>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2052343-37D2-8FB4-1ED7-4EAF9FEE087B}"/>
              </a:ext>
            </a:extLst>
          </p:cNvPr>
          <p:cNvCxnSpPr>
            <a:cxnSpLocks/>
          </p:cNvCxnSpPr>
          <p:nvPr/>
        </p:nvCxnSpPr>
        <p:spPr>
          <a:xfrm>
            <a:off x="5080852" y="2945953"/>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F7C0554-1429-97A6-6653-802FB9706C56}"/>
              </a:ext>
            </a:extLst>
          </p:cNvPr>
          <p:cNvCxnSpPr>
            <a:cxnSpLocks/>
          </p:cNvCxnSpPr>
          <p:nvPr/>
        </p:nvCxnSpPr>
        <p:spPr>
          <a:xfrm>
            <a:off x="5599966" y="3193602"/>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C5CF0A70-2B45-46FE-969F-13265EAF2039}"/>
              </a:ext>
            </a:extLst>
          </p:cNvPr>
          <p:cNvCxnSpPr>
            <a:cxnSpLocks/>
          </p:cNvCxnSpPr>
          <p:nvPr/>
        </p:nvCxnSpPr>
        <p:spPr>
          <a:xfrm>
            <a:off x="5599966" y="3355527"/>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0C67461-5783-7F4A-9B0D-491B925F4FFC}"/>
              </a:ext>
            </a:extLst>
          </p:cNvPr>
          <p:cNvCxnSpPr>
            <a:cxnSpLocks/>
          </p:cNvCxnSpPr>
          <p:nvPr/>
        </p:nvCxnSpPr>
        <p:spPr>
          <a:xfrm>
            <a:off x="5080853" y="2755452"/>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DC861F7-AFDC-E3FC-4933-0D6691F3F304}"/>
              </a:ext>
            </a:extLst>
          </p:cNvPr>
          <p:cNvCxnSpPr>
            <a:cxnSpLocks/>
          </p:cNvCxnSpPr>
          <p:nvPr/>
        </p:nvCxnSpPr>
        <p:spPr>
          <a:xfrm>
            <a:off x="5080852" y="2917377"/>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47499EF-915A-E2CD-3C21-C4C9E7AD37E0}"/>
              </a:ext>
            </a:extLst>
          </p:cNvPr>
          <p:cNvCxnSpPr>
            <a:cxnSpLocks/>
          </p:cNvCxnSpPr>
          <p:nvPr/>
        </p:nvCxnSpPr>
        <p:spPr>
          <a:xfrm>
            <a:off x="7783592" y="3215032"/>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84D5FE9C-B299-0C53-3CE4-64E7AACAF11E}"/>
              </a:ext>
            </a:extLst>
          </p:cNvPr>
          <p:cNvCxnSpPr>
            <a:cxnSpLocks/>
          </p:cNvCxnSpPr>
          <p:nvPr/>
        </p:nvCxnSpPr>
        <p:spPr>
          <a:xfrm>
            <a:off x="5599965" y="3193602"/>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BE59A3C-640C-81E7-B56B-A7D902C26D2D}"/>
              </a:ext>
            </a:extLst>
          </p:cNvPr>
          <p:cNvCxnSpPr>
            <a:cxnSpLocks/>
          </p:cNvCxnSpPr>
          <p:nvPr/>
        </p:nvCxnSpPr>
        <p:spPr>
          <a:xfrm>
            <a:off x="5080851" y="2769740"/>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F6C7A497-02A0-8AF4-AFF3-82B24CCC83B3}"/>
              </a:ext>
            </a:extLst>
          </p:cNvPr>
          <p:cNvCxnSpPr>
            <a:cxnSpLocks/>
          </p:cNvCxnSpPr>
          <p:nvPr/>
        </p:nvCxnSpPr>
        <p:spPr>
          <a:xfrm>
            <a:off x="5599965" y="3017389"/>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BCBC5E13-1F47-F39D-3A30-45EDDC03D8F4}"/>
              </a:ext>
            </a:extLst>
          </p:cNvPr>
          <p:cNvCxnSpPr>
            <a:cxnSpLocks/>
          </p:cNvCxnSpPr>
          <p:nvPr/>
        </p:nvCxnSpPr>
        <p:spPr>
          <a:xfrm>
            <a:off x="5599965" y="3179314"/>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4627CD65-DC73-3138-991F-5DB7184BF6DA}"/>
              </a:ext>
            </a:extLst>
          </p:cNvPr>
          <p:cNvCxnSpPr>
            <a:cxnSpLocks/>
          </p:cNvCxnSpPr>
          <p:nvPr/>
        </p:nvCxnSpPr>
        <p:spPr>
          <a:xfrm>
            <a:off x="5080852" y="2579239"/>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0CE6A696-11F1-C765-1224-A3CA4E18E28F}"/>
              </a:ext>
            </a:extLst>
          </p:cNvPr>
          <p:cNvCxnSpPr>
            <a:cxnSpLocks/>
          </p:cNvCxnSpPr>
          <p:nvPr/>
        </p:nvCxnSpPr>
        <p:spPr>
          <a:xfrm>
            <a:off x="5080851" y="2741164"/>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A9754930-5B0B-175A-59C8-71F60B923C55}"/>
              </a:ext>
            </a:extLst>
          </p:cNvPr>
          <p:cNvCxnSpPr>
            <a:cxnSpLocks/>
          </p:cNvCxnSpPr>
          <p:nvPr/>
        </p:nvCxnSpPr>
        <p:spPr>
          <a:xfrm>
            <a:off x="7781557" y="3038822"/>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938FC45-3D2C-10B6-0B15-25B234F3C605}"/>
              </a:ext>
            </a:extLst>
          </p:cNvPr>
          <p:cNvCxnSpPr>
            <a:cxnSpLocks/>
          </p:cNvCxnSpPr>
          <p:nvPr/>
        </p:nvCxnSpPr>
        <p:spPr>
          <a:xfrm>
            <a:off x="5599964" y="3017389"/>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4D9169E-4A2C-0F5F-C4AA-22E9460F9933}"/>
              </a:ext>
            </a:extLst>
          </p:cNvPr>
          <p:cNvCxnSpPr>
            <a:cxnSpLocks/>
          </p:cNvCxnSpPr>
          <p:nvPr/>
        </p:nvCxnSpPr>
        <p:spPr>
          <a:xfrm>
            <a:off x="5080850" y="2593527"/>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F9056E1-8DDB-1432-CA4D-C1807272A409}"/>
              </a:ext>
            </a:extLst>
          </p:cNvPr>
          <p:cNvCxnSpPr>
            <a:cxnSpLocks/>
          </p:cNvCxnSpPr>
          <p:nvPr/>
        </p:nvCxnSpPr>
        <p:spPr>
          <a:xfrm>
            <a:off x="5599964" y="3874639"/>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1F5BB11-4A6E-9D2B-CB0F-1913589513F0}"/>
              </a:ext>
            </a:extLst>
          </p:cNvPr>
          <p:cNvCxnSpPr>
            <a:cxnSpLocks/>
          </p:cNvCxnSpPr>
          <p:nvPr/>
        </p:nvCxnSpPr>
        <p:spPr>
          <a:xfrm>
            <a:off x="5599964" y="4036564"/>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46330C5-5B91-28D1-660A-E497A40A60E4}"/>
              </a:ext>
            </a:extLst>
          </p:cNvPr>
          <p:cNvCxnSpPr>
            <a:cxnSpLocks/>
          </p:cNvCxnSpPr>
          <p:nvPr/>
        </p:nvCxnSpPr>
        <p:spPr>
          <a:xfrm>
            <a:off x="5080851" y="3436489"/>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61768F9F-65F7-58A9-155A-4AA5572DC6CA}"/>
              </a:ext>
            </a:extLst>
          </p:cNvPr>
          <p:cNvCxnSpPr>
            <a:cxnSpLocks/>
          </p:cNvCxnSpPr>
          <p:nvPr/>
        </p:nvCxnSpPr>
        <p:spPr>
          <a:xfrm>
            <a:off x="5080850" y="3598414"/>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4E1AB82B-D8AA-FF3E-2B6A-C1BA89F77CA3}"/>
              </a:ext>
            </a:extLst>
          </p:cNvPr>
          <p:cNvCxnSpPr>
            <a:cxnSpLocks/>
          </p:cNvCxnSpPr>
          <p:nvPr/>
        </p:nvCxnSpPr>
        <p:spPr>
          <a:xfrm>
            <a:off x="7788134" y="3880155"/>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1C28FEA7-A514-C8A1-6B36-D3A37D25E3DD}"/>
              </a:ext>
            </a:extLst>
          </p:cNvPr>
          <p:cNvCxnSpPr>
            <a:cxnSpLocks/>
          </p:cNvCxnSpPr>
          <p:nvPr/>
        </p:nvCxnSpPr>
        <p:spPr>
          <a:xfrm>
            <a:off x="5599963" y="3874639"/>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C103535A-BA13-F146-516A-6ECDF8719756}"/>
              </a:ext>
            </a:extLst>
          </p:cNvPr>
          <p:cNvCxnSpPr>
            <a:cxnSpLocks/>
          </p:cNvCxnSpPr>
          <p:nvPr/>
        </p:nvCxnSpPr>
        <p:spPr>
          <a:xfrm>
            <a:off x="5080849" y="3450777"/>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392D8EE-2F84-AAFB-7628-833C7C0BEFAC}"/>
              </a:ext>
            </a:extLst>
          </p:cNvPr>
          <p:cNvCxnSpPr>
            <a:cxnSpLocks/>
          </p:cNvCxnSpPr>
          <p:nvPr/>
        </p:nvCxnSpPr>
        <p:spPr>
          <a:xfrm>
            <a:off x="5599963" y="3698426"/>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584B9CC1-7DC3-2A39-087C-9328DAE8B505}"/>
              </a:ext>
            </a:extLst>
          </p:cNvPr>
          <p:cNvCxnSpPr>
            <a:cxnSpLocks/>
          </p:cNvCxnSpPr>
          <p:nvPr/>
        </p:nvCxnSpPr>
        <p:spPr>
          <a:xfrm>
            <a:off x="5599963" y="3860351"/>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6CA3AFFE-2031-C3F3-0134-603B46310BE5}"/>
              </a:ext>
            </a:extLst>
          </p:cNvPr>
          <p:cNvCxnSpPr>
            <a:cxnSpLocks/>
          </p:cNvCxnSpPr>
          <p:nvPr/>
        </p:nvCxnSpPr>
        <p:spPr>
          <a:xfrm>
            <a:off x="5080850" y="3260276"/>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20AC712B-DF70-3DC8-9CE8-41101D8C7A35}"/>
              </a:ext>
            </a:extLst>
          </p:cNvPr>
          <p:cNvCxnSpPr>
            <a:cxnSpLocks/>
          </p:cNvCxnSpPr>
          <p:nvPr/>
        </p:nvCxnSpPr>
        <p:spPr>
          <a:xfrm>
            <a:off x="5080849" y="3422201"/>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7109314-3042-310F-33D5-1CD3B198160F}"/>
              </a:ext>
            </a:extLst>
          </p:cNvPr>
          <p:cNvCxnSpPr>
            <a:cxnSpLocks/>
          </p:cNvCxnSpPr>
          <p:nvPr/>
        </p:nvCxnSpPr>
        <p:spPr>
          <a:xfrm>
            <a:off x="7785494" y="3705571"/>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44A3DE13-77B7-CC62-CA95-6627DA25C9CB}"/>
              </a:ext>
            </a:extLst>
          </p:cNvPr>
          <p:cNvCxnSpPr>
            <a:cxnSpLocks/>
          </p:cNvCxnSpPr>
          <p:nvPr/>
        </p:nvCxnSpPr>
        <p:spPr>
          <a:xfrm>
            <a:off x="5599962" y="3698426"/>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42D1638-0975-0749-A818-85739F364A78}"/>
              </a:ext>
            </a:extLst>
          </p:cNvPr>
          <p:cNvCxnSpPr>
            <a:cxnSpLocks/>
          </p:cNvCxnSpPr>
          <p:nvPr/>
        </p:nvCxnSpPr>
        <p:spPr>
          <a:xfrm>
            <a:off x="5080848" y="3274564"/>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503FF22-0C5D-4E8B-5665-2F2624058580}"/>
              </a:ext>
            </a:extLst>
          </p:cNvPr>
          <p:cNvCxnSpPr>
            <a:cxnSpLocks/>
          </p:cNvCxnSpPr>
          <p:nvPr/>
        </p:nvCxnSpPr>
        <p:spPr>
          <a:xfrm>
            <a:off x="5599962" y="3522213"/>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364C3256-5971-0342-B3A5-03EE0FCDFC03}"/>
              </a:ext>
            </a:extLst>
          </p:cNvPr>
          <p:cNvCxnSpPr>
            <a:cxnSpLocks/>
          </p:cNvCxnSpPr>
          <p:nvPr/>
        </p:nvCxnSpPr>
        <p:spPr>
          <a:xfrm>
            <a:off x="5599962" y="3684138"/>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DDECE6D-59CD-7705-C359-9679CFCA5570}"/>
              </a:ext>
            </a:extLst>
          </p:cNvPr>
          <p:cNvCxnSpPr>
            <a:cxnSpLocks/>
          </p:cNvCxnSpPr>
          <p:nvPr/>
        </p:nvCxnSpPr>
        <p:spPr>
          <a:xfrm>
            <a:off x="5080849" y="3084063"/>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B3BAB469-8279-041F-029E-10A2950FE318}"/>
              </a:ext>
            </a:extLst>
          </p:cNvPr>
          <p:cNvCxnSpPr>
            <a:cxnSpLocks/>
          </p:cNvCxnSpPr>
          <p:nvPr/>
        </p:nvCxnSpPr>
        <p:spPr>
          <a:xfrm>
            <a:off x="5080848" y="3245988"/>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80BEBFE-4764-ABB5-5395-91F2A64C801F}"/>
              </a:ext>
            </a:extLst>
          </p:cNvPr>
          <p:cNvCxnSpPr>
            <a:cxnSpLocks/>
          </p:cNvCxnSpPr>
          <p:nvPr/>
        </p:nvCxnSpPr>
        <p:spPr>
          <a:xfrm>
            <a:off x="7781557" y="3553931"/>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5ADA37D1-DE53-9F35-1342-40D927BDABD3}"/>
              </a:ext>
            </a:extLst>
          </p:cNvPr>
          <p:cNvCxnSpPr>
            <a:cxnSpLocks/>
          </p:cNvCxnSpPr>
          <p:nvPr/>
        </p:nvCxnSpPr>
        <p:spPr>
          <a:xfrm>
            <a:off x="5599961" y="3522213"/>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5EC968BF-77C9-0538-9757-3E8AC64EB3AF}"/>
              </a:ext>
            </a:extLst>
          </p:cNvPr>
          <p:cNvCxnSpPr>
            <a:cxnSpLocks/>
          </p:cNvCxnSpPr>
          <p:nvPr/>
        </p:nvCxnSpPr>
        <p:spPr>
          <a:xfrm>
            <a:off x="5080847" y="3098351"/>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8CD610E-87FA-A28C-7ABE-32D543A66130}"/>
              </a:ext>
            </a:extLst>
          </p:cNvPr>
          <p:cNvCxnSpPr>
            <a:cxnSpLocks/>
          </p:cNvCxnSpPr>
          <p:nvPr/>
        </p:nvCxnSpPr>
        <p:spPr>
          <a:xfrm>
            <a:off x="5599961" y="4379463"/>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F7302348-80EC-F9AA-C643-83BA3D7EB056}"/>
              </a:ext>
            </a:extLst>
          </p:cNvPr>
          <p:cNvCxnSpPr>
            <a:cxnSpLocks/>
          </p:cNvCxnSpPr>
          <p:nvPr/>
        </p:nvCxnSpPr>
        <p:spPr>
          <a:xfrm>
            <a:off x="5599961" y="4541388"/>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30BE062F-4CB3-078B-891E-50035D468A79}"/>
              </a:ext>
            </a:extLst>
          </p:cNvPr>
          <p:cNvCxnSpPr>
            <a:cxnSpLocks/>
          </p:cNvCxnSpPr>
          <p:nvPr/>
        </p:nvCxnSpPr>
        <p:spPr>
          <a:xfrm>
            <a:off x="5080848" y="3941313"/>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E0B973E7-6DB3-E0B9-0D78-983D59F0BE28}"/>
              </a:ext>
            </a:extLst>
          </p:cNvPr>
          <p:cNvCxnSpPr>
            <a:cxnSpLocks/>
          </p:cNvCxnSpPr>
          <p:nvPr/>
        </p:nvCxnSpPr>
        <p:spPr>
          <a:xfrm>
            <a:off x="5080847" y="4103238"/>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0E633041-A197-345C-4382-30B974E2AC4C}"/>
              </a:ext>
            </a:extLst>
          </p:cNvPr>
          <p:cNvCxnSpPr>
            <a:cxnSpLocks/>
          </p:cNvCxnSpPr>
          <p:nvPr/>
        </p:nvCxnSpPr>
        <p:spPr>
          <a:xfrm>
            <a:off x="7788131" y="4384979"/>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DFC668CE-E5C5-7247-7BE4-1489E9D454A4}"/>
              </a:ext>
            </a:extLst>
          </p:cNvPr>
          <p:cNvCxnSpPr>
            <a:cxnSpLocks/>
          </p:cNvCxnSpPr>
          <p:nvPr/>
        </p:nvCxnSpPr>
        <p:spPr>
          <a:xfrm>
            <a:off x="5599960" y="4379463"/>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BB165B2A-69AE-E846-6F35-E11AA12584D2}"/>
              </a:ext>
            </a:extLst>
          </p:cNvPr>
          <p:cNvCxnSpPr>
            <a:cxnSpLocks/>
          </p:cNvCxnSpPr>
          <p:nvPr/>
        </p:nvCxnSpPr>
        <p:spPr>
          <a:xfrm>
            <a:off x="5080846" y="3955601"/>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061EC346-E963-1780-EE9B-6DA7208FAF1C}"/>
              </a:ext>
            </a:extLst>
          </p:cNvPr>
          <p:cNvCxnSpPr>
            <a:cxnSpLocks/>
          </p:cNvCxnSpPr>
          <p:nvPr/>
        </p:nvCxnSpPr>
        <p:spPr>
          <a:xfrm>
            <a:off x="5599960" y="4203250"/>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95266CE-F15E-A4C1-3695-23FB6F9340CD}"/>
              </a:ext>
            </a:extLst>
          </p:cNvPr>
          <p:cNvCxnSpPr>
            <a:cxnSpLocks/>
          </p:cNvCxnSpPr>
          <p:nvPr/>
        </p:nvCxnSpPr>
        <p:spPr>
          <a:xfrm>
            <a:off x="5599960" y="4365175"/>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ADBF258-41FD-0516-DE28-FC3FBF38D868}"/>
              </a:ext>
            </a:extLst>
          </p:cNvPr>
          <p:cNvCxnSpPr>
            <a:cxnSpLocks/>
          </p:cNvCxnSpPr>
          <p:nvPr/>
        </p:nvCxnSpPr>
        <p:spPr>
          <a:xfrm>
            <a:off x="5080847" y="3765100"/>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9B49EEE6-C756-1C86-7E2C-E25F87B32FB6}"/>
              </a:ext>
            </a:extLst>
          </p:cNvPr>
          <p:cNvCxnSpPr>
            <a:cxnSpLocks/>
          </p:cNvCxnSpPr>
          <p:nvPr/>
        </p:nvCxnSpPr>
        <p:spPr>
          <a:xfrm>
            <a:off x="5080846" y="3927025"/>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8B682D5B-4C4B-AA44-5AAD-0900556C5C54}"/>
              </a:ext>
            </a:extLst>
          </p:cNvPr>
          <p:cNvCxnSpPr>
            <a:cxnSpLocks/>
          </p:cNvCxnSpPr>
          <p:nvPr/>
        </p:nvCxnSpPr>
        <p:spPr>
          <a:xfrm>
            <a:off x="7788130" y="4208766"/>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1CCB107-1EC1-76AC-A517-C3C481510505}"/>
              </a:ext>
            </a:extLst>
          </p:cNvPr>
          <p:cNvCxnSpPr>
            <a:cxnSpLocks/>
          </p:cNvCxnSpPr>
          <p:nvPr/>
        </p:nvCxnSpPr>
        <p:spPr>
          <a:xfrm>
            <a:off x="5599959" y="4203250"/>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F224AC72-1E8A-D313-6435-92DD32FC05C4}"/>
              </a:ext>
            </a:extLst>
          </p:cNvPr>
          <p:cNvCxnSpPr>
            <a:cxnSpLocks/>
          </p:cNvCxnSpPr>
          <p:nvPr/>
        </p:nvCxnSpPr>
        <p:spPr>
          <a:xfrm>
            <a:off x="5080845" y="3779388"/>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C44DF02C-4B91-4952-9A8D-DB7487018821}"/>
              </a:ext>
            </a:extLst>
          </p:cNvPr>
          <p:cNvCxnSpPr>
            <a:cxnSpLocks/>
          </p:cNvCxnSpPr>
          <p:nvPr/>
        </p:nvCxnSpPr>
        <p:spPr>
          <a:xfrm>
            <a:off x="5599959" y="4027037"/>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E863A9DA-0021-C7B2-325F-8AA56BE46F2C}"/>
              </a:ext>
            </a:extLst>
          </p:cNvPr>
          <p:cNvCxnSpPr>
            <a:cxnSpLocks/>
          </p:cNvCxnSpPr>
          <p:nvPr/>
        </p:nvCxnSpPr>
        <p:spPr>
          <a:xfrm>
            <a:off x="5599959" y="4188962"/>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F8056EE2-69E5-4D67-E397-165EAA0678F8}"/>
              </a:ext>
            </a:extLst>
          </p:cNvPr>
          <p:cNvCxnSpPr>
            <a:cxnSpLocks/>
          </p:cNvCxnSpPr>
          <p:nvPr/>
        </p:nvCxnSpPr>
        <p:spPr>
          <a:xfrm>
            <a:off x="5080846" y="3588887"/>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E255BA3C-BEEB-EA00-5B19-09ADF61B04BA}"/>
              </a:ext>
            </a:extLst>
          </p:cNvPr>
          <p:cNvCxnSpPr>
            <a:cxnSpLocks/>
          </p:cNvCxnSpPr>
          <p:nvPr/>
        </p:nvCxnSpPr>
        <p:spPr>
          <a:xfrm>
            <a:off x="5080845" y="3750812"/>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06C58867-52C0-AC62-3946-B5636FE7DF30}"/>
              </a:ext>
            </a:extLst>
          </p:cNvPr>
          <p:cNvCxnSpPr>
            <a:cxnSpLocks/>
          </p:cNvCxnSpPr>
          <p:nvPr/>
        </p:nvCxnSpPr>
        <p:spPr>
          <a:xfrm>
            <a:off x="7788129" y="4032553"/>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04AA6D82-7046-8BD5-5183-10308C0775CC}"/>
              </a:ext>
            </a:extLst>
          </p:cNvPr>
          <p:cNvCxnSpPr>
            <a:cxnSpLocks/>
          </p:cNvCxnSpPr>
          <p:nvPr/>
        </p:nvCxnSpPr>
        <p:spPr>
          <a:xfrm>
            <a:off x="5599958" y="4027037"/>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0EF31ACB-A6E8-8632-F8FB-315B16B88BCF}"/>
              </a:ext>
            </a:extLst>
          </p:cNvPr>
          <p:cNvCxnSpPr>
            <a:cxnSpLocks/>
          </p:cNvCxnSpPr>
          <p:nvPr/>
        </p:nvCxnSpPr>
        <p:spPr>
          <a:xfrm>
            <a:off x="5080844" y="3603175"/>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1306FF56-43F9-3D5D-BF7E-19AF0724D64A}"/>
              </a:ext>
            </a:extLst>
          </p:cNvPr>
          <p:cNvCxnSpPr>
            <a:cxnSpLocks/>
          </p:cNvCxnSpPr>
          <p:nvPr/>
        </p:nvCxnSpPr>
        <p:spPr>
          <a:xfrm>
            <a:off x="5599958" y="4884287"/>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0371445B-E042-9E35-FBA5-AA0DA4341008}"/>
              </a:ext>
            </a:extLst>
          </p:cNvPr>
          <p:cNvCxnSpPr>
            <a:cxnSpLocks/>
          </p:cNvCxnSpPr>
          <p:nvPr/>
        </p:nvCxnSpPr>
        <p:spPr>
          <a:xfrm>
            <a:off x="5599958" y="5046212"/>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9F6AA832-A46F-A1DE-34A6-73B3FFE53707}"/>
              </a:ext>
            </a:extLst>
          </p:cNvPr>
          <p:cNvCxnSpPr>
            <a:cxnSpLocks/>
          </p:cNvCxnSpPr>
          <p:nvPr/>
        </p:nvCxnSpPr>
        <p:spPr>
          <a:xfrm>
            <a:off x="5080845" y="4446137"/>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138A334-F0DD-464C-A035-40ED0B3CF692}"/>
              </a:ext>
            </a:extLst>
          </p:cNvPr>
          <p:cNvCxnSpPr>
            <a:cxnSpLocks/>
          </p:cNvCxnSpPr>
          <p:nvPr/>
        </p:nvCxnSpPr>
        <p:spPr>
          <a:xfrm>
            <a:off x="5080844" y="4608062"/>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0CCB8252-6C11-C817-BF0D-8A4710015230}"/>
              </a:ext>
            </a:extLst>
          </p:cNvPr>
          <p:cNvCxnSpPr>
            <a:cxnSpLocks/>
          </p:cNvCxnSpPr>
          <p:nvPr/>
        </p:nvCxnSpPr>
        <p:spPr>
          <a:xfrm>
            <a:off x="7785111" y="4801696"/>
            <a:ext cx="3017" cy="26432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5BC11643-9517-4D36-AF8B-0A25F25EC24B}"/>
              </a:ext>
            </a:extLst>
          </p:cNvPr>
          <p:cNvCxnSpPr>
            <a:cxnSpLocks/>
          </p:cNvCxnSpPr>
          <p:nvPr/>
        </p:nvCxnSpPr>
        <p:spPr>
          <a:xfrm>
            <a:off x="5599957" y="4884287"/>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0EC048A1-5ECC-3040-E4A7-D010150876D3}"/>
              </a:ext>
            </a:extLst>
          </p:cNvPr>
          <p:cNvCxnSpPr>
            <a:cxnSpLocks/>
          </p:cNvCxnSpPr>
          <p:nvPr/>
        </p:nvCxnSpPr>
        <p:spPr>
          <a:xfrm>
            <a:off x="5080843" y="4460425"/>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C7BB1656-AEBE-122D-B622-FDCC0673D10B}"/>
              </a:ext>
            </a:extLst>
          </p:cNvPr>
          <p:cNvCxnSpPr>
            <a:cxnSpLocks/>
          </p:cNvCxnSpPr>
          <p:nvPr/>
        </p:nvCxnSpPr>
        <p:spPr>
          <a:xfrm>
            <a:off x="5599957" y="4708074"/>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147E7DD-C95C-EFCE-95E1-951628A5DE4C}"/>
              </a:ext>
            </a:extLst>
          </p:cNvPr>
          <p:cNvCxnSpPr>
            <a:cxnSpLocks/>
          </p:cNvCxnSpPr>
          <p:nvPr/>
        </p:nvCxnSpPr>
        <p:spPr>
          <a:xfrm>
            <a:off x="5599957" y="4869999"/>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38072FA-C76D-8956-E214-EF3582E531DE}"/>
              </a:ext>
            </a:extLst>
          </p:cNvPr>
          <p:cNvCxnSpPr>
            <a:cxnSpLocks/>
          </p:cNvCxnSpPr>
          <p:nvPr/>
        </p:nvCxnSpPr>
        <p:spPr>
          <a:xfrm>
            <a:off x="5080844" y="4269924"/>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A2D81437-0801-6E32-C290-ED3CBA064156}"/>
              </a:ext>
            </a:extLst>
          </p:cNvPr>
          <p:cNvCxnSpPr>
            <a:cxnSpLocks/>
          </p:cNvCxnSpPr>
          <p:nvPr/>
        </p:nvCxnSpPr>
        <p:spPr>
          <a:xfrm>
            <a:off x="5080843" y="4431849"/>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456A1070-C964-0B9D-27D1-CEA881C91F8C}"/>
              </a:ext>
            </a:extLst>
          </p:cNvPr>
          <p:cNvCxnSpPr>
            <a:cxnSpLocks/>
          </p:cNvCxnSpPr>
          <p:nvPr/>
        </p:nvCxnSpPr>
        <p:spPr>
          <a:xfrm>
            <a:off x="7788127" y="4713590"/>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40D6399-F6D8-CC39-7B23-AEB6CC68F2E1}"/>
              </a:ext>
            </a:extLst>
          </p:cNvPr>
          <p:cNvCxnSpPr>
            <a:cxnSpLocks/>
          </p:cNvCxnSpPr>
          <p:nvPr/>
        </p:nvCxnSpPr>
        <p:spPr>
          <a:xfrm>
            <a:off x="5599956" y="4708074"/>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61A3D21-EE45-826E-0AD5-DC5AED39AD1B}"/>
              </a:ext>
            </a:extLst>
          </p:cNvPr>
          <p:cNvCxnSpPr>
            <a:cxnSpLocks/>
          </p:cNvCxnSpPr>
          <p:nvPr/>
        </p:nvCxnSpPr>
        <p:spPr>
          <a:xfrm>
            <a:off x="5080842" y="4284212"/>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0C8CB7F-B5D9-6333-FA46-43851882A210}"/>
              </a:ext>
            </a:extLst>
          </p:cNvPr>
          <p:cNvCxnSpPr>
            <a:cxnSpLocks/>
          </p:cNvCxnSpPr>
          <p:nvPr/>
        </p:nvCxnSpPr>
        <p:spPr>
          <a:xfrm>
            <a:off x="5599956" y="4531861"/>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D92A0FE-212D-98F7-3061-377CD94733F4}"/>
              </a:ext>
            </a:extLst>
          </p:cNvPr>
          <p:cNvCxnSpPr>
            <a:cxnSpLocks/>
          </p:cNvCxnSpPr>
          <p:nvPr/>
        </p:nvCxnSpPr>
        <p:spPr>
          <a:xfrm>
            <a:off x="5599956" y="4693786"/>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CFE17A0D-E7CC-420B-9FC1-B04A604E8A21}"/>
              </a:ext>
            </a:extLst>
          </p:cNvPr>
          <p:cNvCxnSpPr>
            <a:cxnSpLocks/>
          </p:cNvCxnSpPr>
          <p:nvPr/>
        </p:nvCxnSpPr>
        <p:spPr>
          <a:xfrm>
            <a:off x="5080843" y="4093711"/>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3008AC02-0E4C-24A7-7152-F8CB66AECC9F}"/>
              </a:ext>
            </a:extLst>
          </p:cNvPr>
          <p:cNvCxnSpPr>
            <a:cxnSpLocks/>
          </p:cNvCxnSpPr>
          <p:nvPr/>
        </p:nvCxnSpPr>
        <p:spPr>
          <a:xfrm>
            <a:off x="5080842" y="4255636"/>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0D543525-05A2-8D2A-1D18-43FE06B8B486}"/>
              </a:ext>
            </a:extLst>
          </p:cNvPr>
          <p:cNvCxnSpPr>
            <a:cxnSpLocks/>
          </p:cNvCxnSpPr>
          <p:nvPr/>
        </p:nvCxnSpPr>
        <p:spPr>
          <a:xfrm>
            <a:off x="7788126" y="4537377"/>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F03D094A-A6BC-9CF9-7EA3-5427883B5CB4}"/>
              </a:ext>
            </a:extLst>
          </p:cNvPr>
          <p:cNvCxnSpPr>
            <a:cxnSpLocks/>
          </p:cNvCxnSpPr>
          <p:nvPr/>
        </p:nvCxnSpPr>
        <p:spPr>
          <a:xfrm>
            <a:off x="5599955" y="4531861"/>
            <a:ext cx="0" cy="1762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A23A3683-3FC6-8C28-886B-E8ABE7C2E750}"/>
              </a:ext>
            </a:extLst>
          </p:cNvPr>
          <p:cNvCxnSpPr>
            <a:cxnSpLocks/>
          </p:cNvCxnSpPr>
          <p:nvPr/>
        </p:nvCxnSpPr>
        <p:spPr>
          <a:xfrm>
            <a:off x="5080841" y="4107999"/>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7E660C1D-C58B-10D2-FF42-34ED77BFF8DC}"/>
              </a:ext>
            </a:extLst>
          </p:cNvPr>
          <p:cNvCxnSpPr>
            <a:cxnSpLocks/>
          </p:cNvCxnSpPr>
          <p:nvPr/>
        </p:nvCxnSpPr>
        <p:spPr>
          <a:xfrm>
            <a:off x="5075228" y="2586380"/>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9E1A7D02-5B89-B528-7BB6-E8F6BAC4297B}"/>
              </a:ext>
            </a:extLst>
          </p:cNvPr>
          <p:cNvCxnSpPr>
            <a:cxnSpLocks/>
          </p:cNvCxnSpPr>
          <p:nvPr/>
        </p:nvCxnSpPr>
        <p:spPr>
          <a:xfrm>
            <a:off x="7297847" y="2601857"/>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7977AEB8-8430-6A4E-EA49-A57B3D4677F6}"/>
              </a:ext>
            </a:extLst>
          </p:cNvPr>
          <p:cNvCxnSpPr>
            <a:cxnSpLocks/>
          </p:cNvCxnSpPr>
          <p:nvPr/>
        </p:nvCxnSpPr>
        <p:spPr>
          <a:xfrm>
            <a:off x="5075231" y="2938806"/>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7BC1FB86-B04C-C93F-0EDA-E9A5A4F0A8B8}"/>
              </a:ext>
            </a:extLst>
          </p:cNvPr>
          <p:cNvCxnSpPr>
            <a:cxnSpLocks/>
          </p:cNvCxnSpPr>
          <p:nvPr/>
        </p:nvCxnSpPr>
        <p:spPr>
          <a:xfrm>
            <a:off x="5075230" y="2762593"/>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99E2B193-22ED-DBBA-F818-3B76B3F52740}"/>
              </a:ext>
            </a:extLst>
          </p:cNvPr>
          <p:cNvCxnSpPr>
            <a:cxnSpLocks/>
          </p:cNvCxnSpPr>
          <p:nvPr/>
        </p:nvCxnSpPr>
        <p:spPr>
          <a:xfrm>
            <a:off x="5594344" y="3010242"/>
            <a:ext cx="2198596" cy="2143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7B8EAF57-1A37-7AB8-E4C7-457184034BC0}"/>
              </a:ext>
            </a:extLst>
          </p:cNvPr>
          <p:cNvCxnSpPr>
            <a:cxnSpLocks/>
          </p:cNvCxnSpPr>
          <p:nvPr/>
        </p:nvCxnSpPr>
        <p:spPr>
          <a:xfrm>
            <a:off x="5075231" y="2572092"/>
            <a:ext cx="519113" cy="4381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47B6086-8D03-B5B1-B415-5F271E3D0EB8}"/>
              </a:ext>
            </a:extLst>
          </p:cNvPr>
          <p:cNvCxnSpPr>
            <a:cxnSpLocks/>
          </p:cNvCxnSpPr>
          <p:nvPr/>
        </p:nvCxnSpPr>
        <p:spPr>
          <a:xfrm>
            <a:off x="5075229" y="2586380"/>
            <a:ext cx="1" cy="14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9313EDA3-C609-EA52-C8D9-298DA4973092}"/>
              </a:ext>
            </a:extLst>
          </p:cNvPr>
          <p:cNvCxnSpPr>
            <a:cxnSpLocks/>
          </p:cNvCxnSpPr>
          <p:nvPr/>
        </p:nvCxnSpPr>
        <p:spPr>
          <a:xfrm>
            <a:off x="5501101" y="2931657"/>
            <a:ext cx="2198596" cy="21432"/>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D894DDE1-658B-4DB8-12FA-77217E7B8D20}"/>
              </a:ext>
            </a:extLst>
          </p:cNvPr>
          <p:cNvCxnSpPr>
            <a:cxnSpLocks/>
          </p:cNvCxnSpPr>
          <p:nvPr/>
        </p:nvCxnSpPr>
        <p:spPr>
          <a:xfrm>
            <a:off x="5403852" y="2843556"/>
            <a:ext cx="2198596" cy="21432"/>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58B901FC-FB2F-FD86-A385-787E85277091}"/>
              </a:ext>
            </a:extLst>
          </p:cNvPr>
          <p:cNvCxnSpPr>
            <a:cxnSpLocks/>
          </p:cNvCxnSpPr>
          <p:nvPr/>
        </p:nvCxnSpPr>
        <p:spPr>
          <a:xfrm>
            <a:off x="5295567" y="2748305"/>
            <a:ext cx="2198596" cy="21432"/>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A67ACB62-6022-4117-2506-BF5EFB8F2A33}"/>
              </a:ext>
            </a:extLst>
          </p:cNvPr>
          <p:cNvCxnSpPr>
            <a:cxnSpLocks/>
          </p:cNvCxnSpPr>
          <p:nvPr/>
        </p:nvCxnSpPr>
        <p:spPr>
          <a:xfrm>
            <a:off x="5184771" y="2653054"/>
            <a:ext cx="2198596" cy="21432"/>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61922CF8-1DA4-14DE-EF20-3C84C16138C7}"/>
              </a:ext>
            </a:extLst>
          </p:cNvPr>
          <p:cNvCxnSpPr>
            <a:cxnSpLocks/>
          </p:cNvCxnSpPr>
          <p:nvPr/>
        </p:nvCxnSpPr>
        <p:spPr>
          <a:xfrm>
            <a:off x="6006481" y="2588752"/>
            <a:ext cx="519113" cy="4381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D13C0C74-3817-AC00-9E78-F41E8A0C9CC5}"/>
              </a:ext>
            </a:extLst>
          </p:cNvPr>
          <p:cNvCxnSpPr>
            <a:cxnSpLocks/>
          </p:cNvCxnSpPr>
          <p:nvPr/>
        </p:nvCxnSpPr>
        <p:spPr>
          <a:xfrm>
            <a:off x="5550363" y="2586376"/>
            <a:ext cx="519113" cy="4381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2294716-A67F-C99B-7AFB-260629C360E9}"/>
              </a:ext>
            </a:extLst>
          </p:cNvPr>
          <p:cNvCxnSpPr>
            <a:cxnSpLocks/>
          </p:cNvCxnSpPr>
          <p:nvPr/>
        </p:nvCxnSpPr>
        <p:spPr>
          <a:xfrm>
            <a:off x="6533419" y="2588761"/>
            <a:ext cx="519113" cy="4381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38FC2832-4F9E-0112-CA1B-1A74F8ABEFA5}"/>
              </a:ext>
            </a:extLst>
          </p:cNvPr>
          <p:cNvCxnSpPr>
            <a:cxnSpLocks/>
          </p:cNvCxnSpPr>
          <p:nvPr/>
        </p:nvCxnSpPr>
        <p:spPr>
          <a:xfrm>
            <a:off x="7036881" y="2579236"/>
            <a:ext cx="519113" cy="4381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299" name="TextBox 298">
            <a:extLst>
              <a:ext uri="{FF2B5EF4-FFF2-40B4-BE49-F238E27FC236}">
                <a16:creationId xmlns:a16="http://schemas.microsoft.com/office/drawing/2014/main" id="{5390AD87-F31C-1A77-9FF0-3FE388DEC738}"/>
              </a:ext>
            </a:extLst>
          </p:cNvPr>
          <p:cNvSpPr txBox="1"/>
          <p:nvPr/>
        </p:nvSpPr>
        <p:spPr>
          <a:xfrm>
            <a:off x="4921476" y="5250996"/>
            <a:ext cx="3080527" cy="830997"/>
          </a:xfrm>
          <a:prstGeom prst="rect">
            <a:avLst/>
          </a:prstGeom>
          <a:noFill/>
        </p:spPr>
        <p:txBody>
          <a:bodyPr wrap="square" rtlCol="0">
            <a:spAutoFit/>
          </a:bodyPr>
          <a:lstStyle/>
          <a:p>
            <a:pPr algn="ctr"/>
            <a:r>
              <a:rPr lang="en-US" sz="2400" b="1" dirty="0"/>
              <a:t>Multi-dimensional feature map</a:t>
            </a:r>
          </a:p>
        </p:txBody>
      </p:sp>
      <p:pic>
        <p:nvPicPr>
          <p:cNvPr id="300" name="Picture 299">
            <a:extLst>
              <a:ext uri="{FF2B5EF4-FFF2-40B4-BE49-F238E27FC236}">
                <a16:creationId xmlns:a16="http://schemas.microsoft.com/office/drawing/2014/main" id="{0E4B738A-DDA4-2B55-0618-D23824369065}"/>
              </a:ext>
            </a:extLst>
          </p:cNvPr>
          <p:cNvPicPr preferRelativeResize="0">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703" y="3098899"/>
            <a:ext cx="1483778" cy="1217092"/>
          </a:xfrm>
          <a:prstGeom prst="rect">
            <a:avLst/>
          </a:prstGeom>
        </p:spPr>
      </p:pic>
      <p:sp>
        <p:nvSpPr>
          <p:cNvPr id="301" name="Rectangle 300">
            <a:extLst>
              <a:ext uri="{FF2B5EF4-FFF2-40B4-BE49-F238E27FC236}">
                <a16:creationId xmlns:a16="http://schemas.microsoft.com/office/drawing/2014/main" id="{581865A5-EF7D-77E2-49D1-6C4F2A08F639}"/>
              </a:ext>
            </a:extLst>
          </p:cNvPr>
          <p:cNvSpPr/>
          <p:nvPr/>
        </p:nvSpPr>
        <p:spPr>
          <a:xfrm>
            <a:off x="2290277" y="2572341"/>
            <a:ext cx="2020556" cy="2185300"/>
          </a:xfrm>
          <a:prstGeom prst="rect">
            <a:avLst/>
          </a:prstGeom>
          <a:noFill/>
          <a:ln>
            <a:solidFill>
              <a:schemeClr val="tx1"/>
            </a:solidFill>
          </a:ln>
          <a:scene3d>
            <a:camera prst="orthographicFront"/>
            <a:lightRig rig="threePt" dir="t"/>
          </a:scene3d>
          <a:sp3d>
            <a:bevelB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B1898ACF-2CB2-E7CE-1B30-940E0BCC0B37}"/>
              </a:ext>
            </a:extLst>
          </p:cNvPr>
          <p:cNvSpPr/>
          <p:nvPr/>
        </p:nvSpPr>
        <p:spPr>
          <a:xfrm>
            <a:off x="2442677" y="2724741"/>
            <a:ext cx="2020556" cy="2185300"/>
          </a:xfrm>
          <a:prstGeom prst="rect">
            <a:avLst/>
          </a:prstGeom>
          <a:noFill/>
          <a:ln>
            <a:solidFill>
              <a:schemeClr val="tx1"/>
            </a:solidFill>
          </a:ln>
          <a:scene3d>
            <a:camera prst="orthographicFront"/>
            <a:lightRig rig="threePt" dir="t"/>
          </a:scene3d>
          <a:sp3d>
            <a:bevelB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0CDE0F1A-105F-F752-03BE-8A182301B61F}"/>
              </a:ext>
            </a:extLst>
          </p:cNvPr>
          <p:cNvSpPr/>
          <p:nvPr/>
        </p:nvSpPr>
        <p:spPr>
          <a:xfrm>
            <a:off x="2595077" y="2877141"/>
            <a:ext cx="2020556" cy="2185300"/>
          </a:xfrm>
          <a:prstGeom prst="rect">
            <a:avLst/>
          </a:prstGeom>
          <a:noFill/>
          <a:ln>
            <a:solidFill>
              <a:schemeClr val="tx1"/>
            </a:solidFill>
          </a:ln>
          <a:scene3d>
            <a:camera prst="orthographicFront"/>
            <a:lightRig rig="threePt" dir="t"/>
          </a:scene3d>
          <a:sp3d>
            <a:bevelB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51021D8-47E3-0EC7-54B1-AA66B442E8E1}"/>
              </a:ext>
            </a:extLst>
          </p:cNvPr>
          <p:cNvSpPr/>
          <p:nvPr/>
        </p:nvSpPr>
        <p:spPr>
          <a:xfrm>
            <a:off x="2132882" y="2459657"/>
            <a:ext cx="2020556" cy="2185300"/>
          </a:xfrm>
          <a:prstGeom prst="rect">
            <a:avLst/>
          </a:prstGeom>
          <a:noFill/>
          <a:ln>
            <a:solidFill>
              <a:schemeClr val="tx1"/>
            </a:solidFill>
          </a:ln>
          <a:scene3d>
            <a:camera prst="orthographicFront"/>
            <a:lightRig rig="threePt" dir="t"/>
          </a:scene3d>
          <a:sp3d>
            <a:bevelB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TextBox 304">
            <a:extLst>
              <a:ext uri="{FF2B5EF4-FFF2-40B4-BE49-F238E27FC236}">
                <a16:creationId xmlns:a16="http://schemas.microsoft.com/office/drawing/2014/main" id="{E531A043-F5E7-3E69-CA05-EDFE9F059533}"/>
              </a:ext>
            </a:extLst>
          </p:cNvPr>
          <p:cNvSpPr txBox="1"/>
          <p:nvPr/>
        </p:nvSpPr>
        <p:spPr>
          <a:xfrm>
            <a:off x="2520643" y="3529230"/>
            <a:ext cx="1660733" cy="769441"/>
          </a:xfrm>
          <a:prstGeom prst="rect">
            <a:avLst/>
          </a:prstGeom>
          <a:noFill/>
        </p:spPr>
        <p:txBody>
          <a:bodyPr wrap="square" rtlCol="0">
            <a:spAutoFit/>
          </a:bodyPr>
          <a:lstStyle/>
          <a:p>
            <a:pPr algn="ctr"/>
            <a:r>
              <a:rPr lang="en-US" sz="2200" dirty="0"/>
              <a:t>CNNs and transformers</a:t>
            </a:r>
          </a:p>
        </p:txBody>
      </p:sp>
      <p:sp>
        <p:nvSpPr>
          <p:cNvPr id="306" name="TextBox 305">
            <a:extLst>
              <a:ext uri="{FF2B5EF4-FFF2-40B4-BE49-F238E27FC236}">
                <a16:creationId xmlns:a16="http://schemas.microsoft.com/office/drawing/2014/main" id="{22006F73-DB41-500B-1571-A9A14D317B7A}"/>
              </a:ext>
            </a:extLst>
          </p:cNvPr>
          <p:cNvSpPr txBox="1"/>
          <p:nvPr/>
        </p:nvSpPr>
        <p:spPr>
          <a:xfrm>
            <a:off x="362251" y="4406307"/>
            <a:ext cx="1055270" cy="830997"/>
          </a:xfrm>
          <a:prstGeom prst="rect">
            <a:avLst/>
          </a:prstGeom>
          <a:noFill/>
        </p:spPr>
        <p:txBody>
          <a:bodyPr wrap="square" rtlCol="0">
            <a:spAutoFit/>
          </a:bodyPr>
          <a:lstStyle/>
          <a:p>
            <a:pPr algn="ctr"/>
            <a:r>
              <a:rPr lang="en-US" sz="2400" dirty="0"/>
              <a:t>Input Image</a:t>
            </a:r>
            <a:endParaRPr lang="en-US" sz="2400" b="1" dirty="0"/>
          </a:p>
        </p:txBody>
      </p:sp>
      <p:grpSp>
        <p:nvGrpSpPr>
          <p:cNvPr id="307" name="Group 306">
            <a:extLst>
              <a:ext uri="{FF2B5EF4-FFF2-40B4-BE49-F238E27FC236}">
                <a16:creationId xmlns:a16="http://schemas.microsoft.com/office/drawing/2014/main" id="{65BE7C18-C70F-EF5F-E1AA-D49C29CCD403}"/>
              </a:ext>
            </a:extLst>
          </p:cNvPr>
          <p:cNvGrpSpPr/>
          <p:nvPr/>
        </p:nvGrpSpPr>
        <p:grpSpPr>
          <a:xfrm rot="16200000">
            <a:off x="8319658" y="3219035"/>
            <a:ext cx="3052037" cy="1141576"/>
            <a:chOff x="1969698" y="2335789"/>
            <a:chExt cx="7926520" cy="2781454"/>
          </a:xfrm>
        </p:grpSpPr>
        <p:sp>
          <p:nvSpPr>
            <p:cNvPr id="308" name="Oval 307">
              <a:extLst>
                <a:ext uri="{FF2B5EF4-FFF2-40B4-BE49-F238E27FC236}">
                  <a16:creationId xmlns:a16="http://schemas.microsoft.com/office/drawing/2014/main" id="{F6AF4986-D0E9-312D-E3FE-B8EF336963DD}"/>
                </a:ext>
              </a:extLst>
            </p:cNvPr>
            <p:cNvSpPr/>
            <p:nvPr/>
          </p:nvSpPr>
          <p:spPr>
            <a:xfrm>
              <a:off x="1969698" y="2335789"/>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a:extLst>
                <a:ext uri="{FF2B5EF4-FFF2-40B4-BE49-F238E27FC236}">
                  <a16:creationId xmlns:a16="http://schemas.microsoft.com/office/drawing/2014/main" id="{EAC1D493-6381-2A05-4B87-B514A7E4ED80}"/>
                </a:ext>
              </a:extLst>
            </p:cNvPr>
            <p:cNvSpPr/>
            <p:nvPr/>
          </p:nvSpPr>
          <p:spPr>
            <a:xfrm>
              <a:off x="3621188" y="2346329"/>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a:extLst>
                <a:ext uri="{FF2B5EF4-FFF2-40B4-BE49-F238E27FC236}">
                  <a16:creationId xmlns:a16="http://schemas.microsoft.com/office/drawing/2014/main" id="{A53B1245-0867-1266-8FF6-3A047AEC58AA}"/>
                </a:ext>
              </a:extLst>
            </p:cNvPr>
            <p:cNvSpPr/>
            <p:nvPr/>
          </p:nvSpPr>
          <p:spPr>
            <a:xfrm>
              <a:off x="5573374" y="2346329"/>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a:extLst>
                <a:ext uri="{FF2B5EF4-FFF2-40B4-BE49-F238E27FC236}">
                  <a16:creationId xmlns:a16="http://schemas.microsoft.com/office/drawing/2014/main" id="{6A418603-B72E-F7F2-CB81-EC3A2C873635}"/>
                </a:ext>
              </a:extLst>
            </p:cNvPr>
            <p:cNvSpPr/>
            <p:nvPr/>
          </p:nvSpPr>
          <p:spPr>
            <a:xfrm>
              <a:off x="7525560" y="2335789"/>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a:extLst>
                <a:ext uri="{FF2B5EF4-FFF2-40B4-BE49-F238E27FC236}">
                  <a16:creationId xmlns:a16="http://schemas.microsoft.com/office/drawing/2014/main" id="{11007A84-67FE-10B1-18FC-FA75D9AB895A}"/>
                </a:ext>
              </a:extLst>
            </p:cNvPr>
            <p:cNvSpPr/>
            <p:nvPr/>
          </p:nvSpPr>
          <p:spPr>
            <a:xfrm>
              <a:off x="9310727" y="2338968"/>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6A1036D4-4168-45A4-CE0D-11E93F028CA1}"/>
                </a:ext>
              </a:extLst>
            </p:cNvPr>
            <p:cNvSpPr/>
            <p:nvPr/>
          </p:nvSpPr>
          <p:spPr>
            <a:xfrm>
              <a:off x="2032563" y="4585326"/>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E66B8D79-BBA4-9B1C-7AC6-7CEDFED5E760}"/>
                </a:ext>
              </a:extLst>
            </p:cNvPr>
            <p:cNvSpPr/>
            <p:nvPr/>
          </p:nvSpPr>
          <p:spPr>
            <a:xfrm>
              <a:off x="3684053" y="4595866"/>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6ED5F776-D418-8D3A-1380-BD58A4E470D1}"/>
                </a:ext>
              </a:extLst>
            </p:cNvPr>
            <p:cNvSpPr/>
            <p:nvPr/>
          </p:nvSpPr>
          <p:spPr>
            <a:xfrm>
              <a:off x="5636239" y="4595866"/>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a:extLst>
                <a:ext uri="{FF2B5EF4-FFF2-40B4-BE49-F238E27FC236}">
                  <a16:creationId xmlns:a16="http://schemas.microsoft.com/office/drawing/2014/main" id="{E49234FC-CAE3-C719-1D72-CB5092FEE2D4}"/>
                </a:ext>
              </a:extLst>
            </p:cNvPr>
            <p:cNvSpPr/>
            <p:nvPr/>
          </p:nvSpPr>
          <p:spPr>
            <a:xfrm>
              <a:off x="7588425" y="4585326"/>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a:extLst>
                <a:ext uri="{FF2B5EF4-FFF2-40B4-BE49-F238E27FC236}">
                  <a16:creationId xmlns:a16="http://schemas.microsoft.com/office/drawing/2014/main" id="{4C2400BB-62BC-B688-9108-148FBEA24DFC}"/>
                </a:ext>
              </a:extLst>
            </p:cNvPr>
            <p:cNvSpPr/>
            <p:nvPr/>
          </p:nvSpPr>
          <p:spPr>
            <a:xfrm>
              <a:off x="9373592" y="4588505"/>
              <a:ext cx="522626" cy="521377"/>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8" name="Straight Arrow Connector 317">
              <a:extLst>
                <a:ext uri="{FF2B5EF4-FFF2-40B4-BE49-F238E27FC236}">
                  <a16:creationId xmlns:a16="http://schemas.microsoft.com/office/drawing/2014/main" id="{69DB557B-EB87-A36F-1E15-D8FBEAFD9E5A}"/>
                </a:ext>
              </a:extLst>
            </p:cNvPr>
            <p:cNvCxnSpPr>
              <a:cxnSpLocks/>
              <a:stCxn id="313" idx="0"/>
              <a:endCxn id="308" idx="4"/>
            </p:cNvCxnSpPr>
            <p:nvPr/>
          </p:nvCxnSpPr>
          <p:spPr>
            <a:xfrm flipH="1" flipV="1">
              <a:off x="2231011" y="2857166"/>
              <a:ext cx="62865" cy="17281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3036FD8A-8B76-5560-685E-6B33144DCB23}"/>
                </a:ext>
              </a:extLst>
            </p:cNvPr>
            <p:cNvCxnSpPr>
              <a:cxnSpLocks/>
              <a:stCxn id="314" idx="0"/>
            </p:cNvCxnSpPr>
            <p:nvPr/>
          </p:nvCxnSpPr>
          <p:spPr>
            <a:xfrm flipH="1" flipV="1">
              <a:off x="3876198" y="2878246"/>
              <a:ext cx="69168" cy="17176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7F2DC87-21D0-3B71-6D37-AD3F35008A83}"/>
                </a:ext>
              </a:extLst>
            </p:cNvPr>
            <p:cNvCxnSpPr>
              <a:cxnSpLocks/>
              <a:stCxn id="315" idx="0"/>
            </p:cNvCxnSpPr>
            <p:nvPr/>
          </p:nvCxnSpPr>
          <p:spPr>
            <a:xfrm flipH="1" flipV="1">
              <a:off x="5833112" y="2867706"/>
              <a:ext cx="64440" cy="17281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1" name="Straight Arrow Connector 320">
              <a:extLst>
                <a:ext uri="{FF2B5EF4-FFF2-40B4-BE49-F238E27FC236}">
                  <a16:creationId xmlns:a16="http://schemas.microsoft.com/office/drawing/2014/main" id="{3F3A16BB-35A2-85EC-9293-AA489B0B632E}"/>
                </a:ext>
              </a:extLst>
            </p:cNvPr>
            <p:cNvCxnSpPr>
              <a:cxnSpLocks/>
              <a:stCxn id="316" idx="0"/>
            </p:cNvCxnSpPr>
            <p:nvPr/>
          </p:nvCxnSpPr>
          <p:spPr>
            <a:xfrm flipH="1" flipV="1">
              <a:off x="7790026" y="2857164"/>
              <a:ext cx="59712" cy="172816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8A3D6746-99FB-DA0B-0BC0-FF64C457D299}"/>
                </a:ext>
              </a:extLst>
            </p:cNvPr>
            <p:cNvCxnSpPr>
              <a:cxnSpLocks/>
              <a:stCxn id="317" idx="0"/>
            </p:cNvCxnSpPr>
            <p:nvPr/>
          </p:nvCxnSpPr>
          <p:spPr>
            <a:xfrm flipH="1" flipV="1">
              <a:off x="9572041" y="2860343"/>
              <a:ext cx="62864" cy="172816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6774A76A-709E-7DA6-11EB-CAD75D842D20}"/>
                </a:ext>
              </a:extLst>
            </p:cNvPr>
            <p:cNvCxnSpPr>
              <a:cxnSpLocks/>
              <a:stCxn id="313" idx="0"/>
              <a:endCxn id="309" idx="3"/>
            </p:cNvCxnSpPr>
            <p:nvPr/>
          </p:nvCxnSpPr>
          <p:spPr>
            <a:xfrm flipV="1">
              <a:off x="2293876" y="2791352"/>
              <a:ext cx="1403849" cy="17939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a:extLst>
                <a:ext uri="{FF2B5EF4-FFF2-40B4-BE49-F238E27FC236}">
                  <a16:creationId xmlns:a16="http://schemas.microsoft.com/office/drawing/2014/main" id="{CC009527-7297-25EA-DE17-CBB77F0E4085}"/>
                </a:ext>
              </a:extLst>
            </p:cNvPr>
            <p:cNvCxnSpPr>
              <a:cxnSpLocks/>
              <a:stCxn id="313" idx="0"/>
              <a:endCxn id="310" idx="3"/>
            </p:cNvCxnSpPr>
            <p:nvPr/>
          </p:nvCxnSpPr>
          <p:spPr>
            <a:xfrm flipV="1">
              <a:off x="2293876" y="2791352"/>
              <a:ext cx="3356035" cy="17939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5FBD15C6-87B4-7DEB-01D7-7A17B99EC41A}"/>
                </a:ext>
              </a:extLst>
            </p:cNvPr>
            <p:cNvCxnSpPr>
              <a:cxnSpLocks/>
              <a:stCxn id="313" idx="0"/>
              <a:endCxn id="311" idx="3"/>
            </p:cNvCxnSpPr>
            <p:nvPr/>
          </p:nvCxnSpPr>
          <p:spPr>
            <a:xfrm flipV="1">
              <a:off x="2293876" y="2780812"/>
              <a:ext cx="5308221" cy="1804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48F903A5-276A-F7B2-7F2E-FDD744F85934}"/>
                </a:ext>
              </a:extLst>
            </p:cNvPr>
            <p:cNvCxnSpPr>
              <a:cxnSpLocks/>
              <a:stCxn id="313" idx="7"/>
              <a:endCxn id="312" idx="3"/>
            </p:cNvCxnSpPr>
            <p:nvPr/>
          </p:nvCxnSpPr>
          <p:spPr>
            <a:xfrm flipV="1">
              <a:off x="2478652" y="2783991"/>
              <a:ext cx="6908612" cy="187768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74DD233A-97B7-3A9B-6196-D3A49913092D}"/>
                </a:ext>
              </a:extLst>
            </p:cNvPr>
            <p:cNvCxnSpPr>
              <a:cxnSpLocks/>
              <a:stCxn id="314" idx="0"/>
              <a:endCxn id="308" idx="5"/>
            </p:cNvCxnSpPr>
            <p:nvPr/>
          </p:nvCxnSpPr>
          <p:spPr>
            <a:xfrm flipH="1" flipV="1">
              <a:off x="2415787" y="2780812"/>
              <a:ext cx="1529579" cy="18150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1B70E9BC-7973-EC90-280D-D4FFB4A05033}"/>
                </a:ext>
              </a:extLst>
            </p:cNvPr>
            <p:cNvCxnSpPr>
              <a:cxnSpLocks/>
              <a:stCxn id="314" idx="0"/>
              <a:endCxn id="310" idx="3"/>
            </p:cNvCxnSpPr>
            <p:nvPr/>
          </p:nvCxnSpPr>
          <p:spPr>
            <a:xfrm flipV="1">
              <a:off x="3945366" y="2791352"/>
              <a:ext cx="1704545" cy="1804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01FCA0FC-3FED-5530-9BE5-2438F337811C}"/>
                </a:ext>
              </a:extLst>
            </p:cNvPr>
            <p:cNvCxnSpPr>
              <a:cxnSpLocks/>
              <a:stCxn id="314" idx="0"/>
              <a:endCxn id="311" idx="3"/>
            </p:cNvCxnSpPr>
            <p:nvPr/>
          </p:nvCxnSpPr>
          <p:spPr>
            <a:xfrm flipV="1">
              <a:off x="3945366" y="2780812"/>
              <a:ext cx="3656731" cy="18150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FB855CAC-9D66-7FDF-1504-980175833C21}"/>
                </a:ext>
              </a:extLst>
            </p:cNvPr>
            <p:cNvCxnSpPr>
              <a:cxnSpLocks/>
              <a:stCxn id="314" idx="7"/>
              <a:endCxn id="312" idx="3"/>
            </p:cNvCxnSpPr>
            <p:nvPr/>
          </p:nvCxnSpPr>
          <p:spPr>
            <a:xfrm flipV="1">
              <a:off x="4130142" y="2783991"/>
              <a:ext cx="5257122" cy="188822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96C3D302-B1AE-15F7-9FA6-2C51E5EBBCD2}"/>
                </a:ext>
              </a:extLst>
            </p:cNvPr>
            <p:cNvCxnSpPr>
              <a:cxnSpLocks/>
              <a:stCxn id="315" idx="0"/>
              <a:endCxn id="312" idx="3"/>
            </p:cNvCxnSpPr>
            <p:nvPr/>
          </p:nvCxnSpPr>
          <p:spPr>
            <a:xfrm flipV="1">
              <a:off x="5897552" y="2783991"/>
              <a:ext cx="3489712" cy="18118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3D052A2-B7AA-838B-1764-85EAAFD2043C}"/>
                </a:ext>
              </a:extLst>
            </p:cNvPr>
            <p:cNvCxnSpPr>
              <a:cxnSpLocks/>
              <a:stCxn id="315" idx="0"/>
              <a:endCxn id="311" idx="3"/>
            </p:cNvCxnSpPr>
            <p:nvPr/>
          </p:nvCxnSpPr>
          <p:spPr>
            <a:xfrm flipV="1">
              <a:off x="5897552" y="2780812"/>
              <a:ext cx="1704545" cy="18150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67DEA598-59A6-B7A2-3375-487EACE2618D}"/>
                </a:ext>
              </a:extLst>
            </p:cNvPr>
            <p:cNvCxnSpPr>
              <a:cxnSpLocks/>
              <a:stCxn id="315" idx="1"/>
              <a:endCxn id="309" idx="5"/>
            </p:cNvCxnSpPr>
            <p:nvPr/>
          </p:nvCxnSpPr>
          <p:spPr>
            <a:xfrm flipH="1" flipV="1">
              <a:off x="4067277" y="2791352"/>
              <a:ext cx="1645499" cy="188086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48793E57-A8B0-D93C-58F9-B2C203D4D931}"/>
                </a:ext>
              </a:extLst>
            </p:cNvPr>
            <p:cNvCxnSpPr>
              <a:cxnSpLocks/>
              <a:stCxn id="315" idx="0"/>
              <a:endCxn id="308" idx="5"/>
            </p:cNvCxnSpPr>
            <p:nvPr/>
          </p:nvCxnSpPr>
          <p:spPr>
            <a:xfrm flipH="1" flipV="1">
              <a:off x="2415787" y="2780812"/>
              <a:ext cx="3481765" cy="18150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A6240CDF-E984-B974-4346-2C52DC53219C}"/>
                </a:ext>
              </a:extLst>
            </p:cNvPr>
            <p:cNvCxnSpPr>
              <a:cxnSpLocks/>
              <a:stCxn id="316" idx="0"/>
              <a:endCxn id="312" idx="4"/>
            </p:cNvCxnSpPr>
            <p:nvPr/>
          </p:nvCxnSpPr>
          <p:spPr>
            <a:xfrm flipV="1">
              <a:off x="7849738" y="2860345"/>
              <a:ext cx="1722302" cy="17249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46550F7E-EE9C-981B-091D-1618D06AA32B}"/>
                </a:ext>
              </a:extLst>
            </p:cNvPr>
            <p:cNvCxnSpPr>
              <a:cxnSpLocks/>
              <a:stCxn id="316" idx="0"/>
              <a:endCxn id="308" idx="5"/>
            </p:cNvCxnSpPr>
            <p:nvPr/>
          </p:nvCxnSpPr>
          <p:spPr>
            <a:xfrm flipH="1" flipV="1">
              <a:off x="2415787" y="2780812"/>
              <a:ext cx="5433951" cy="1804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96D097FF-EFF4-D005-CD42-9E267626050D}"/>
                </a:ext>
              </a:extLst>
            </p:cNvPr>
            <p:cNvCxnSpPr>
              <a:cxnSpLocks/>
              <a:stCxn id="316" idx="1"/>
              <a:endCxn id="309" idx="5"/>
            </p:cNvCxnSpPr>
            <p:nvPr/>
          </p:nvCxnSpPr>
          <p:spPr>
            <a:xfrm flipH="1" flipV="1">
              <a:off x="4067277" y="2791352"/>
              <a:ext cx="3597685" cy="18703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9" name="Straight Arrow Connector 338">
              <a:extLst>
                <a:ext uri="{FF2B5EF4-FFF2-40B4-BE49-F238E27FC236}">
                  <a16:creationId xmlns:a16="http://schemas.microsoft.com/office/drawing/2014/main" id="{2502B2DE-42A2-972D-4C77-1FA1E614B8C7}"/>
                </a:ext>
              </a:extLst>
            </p:cNvPr>
            <p:cNvCxnSpPr>
              <a:cxnSpLocks/>
              <a:stCxn id="316" idx="0"/>
              <a:endCxn id="310" idx="5"/>
            </p:cNvCxnSpPr>
            <p:nvPr/>
          </p:nvCxnSpPr>
          <p:spPr>
            <a:xfrm flipH="1" flipV="1">
              <a:off x="6019463" y="2791352"/>
              <a:ext cx="1830275" cy="17939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0" name="Straight Arrow Connector 339">
              <a:extLst>
                <a:ext uri="{FF2B5EF4-FFF2-40B4-BE49-F238E27FC236}">
                  <a16:creationId xmlns:a16="http://schemas.microsoft.com/office/drawing/2014/main" id="{D497E164-9668-6F71-23E3-892899858CD8}"/>
                </a:ext>
              </a:extLst>
            </p:cNvPr>
            <p:cNvCxnSpPr>
              <a:cxnSpLocks/>
              <a:stCxn id="317" idx="0"/>
              <a:endCxn id="310" idx="5"/>
            </p:cNvCxnSpPr>
            <p:nvPr/>
          </p:nvCxnSpPr>
          <p:spPr>
            <a:xfrm flipH="1" flipV="1">
              <a:off x="6019463" y="2791352"/>
              <a:ext cx="3615442" cy="179715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A5D97F59-336B-7354-0828-97EAAF1B2968}"/>
                </a:ext>
              </a:extLst>
            </p:cNvPr>
            <p:cNvCxnSpPr>
              <a:cxnSpLocks/>
              <a:stCxn id="317" idx="1"/>
              <a:endCxn id="309" idx="5"/>
            </p:cNvCxnSpPr>
            <p:nvPr/>
          </p:nvCxnSpPr>
          <p:spPr>
            <a:xfrm flipH="1" flipV="1">
              <a:off x="4067277" y="2791352"/>
              <a:ext cx="5382852" cy="187350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2" name="Straight Arrow Connector 341">
              <a:extLst>
                <a:ext uri="{FF2B5EF4-FFF2-40B4-BE49-F238E27FC236}">
                  <a16:creationId xmlns:a16="http://schemas.microsoft.com/office/drawing/2014/main" id="{393D869B-8B17-1334-3D6D-3E520011CB01}"/>
                </a:ext>
              </a:extLst>
            </p:cNvPr>
            <p:cNvCxnSpPr>
              <a:cxnSpLocks/>
              <a:stCxn id="317" idx="1"/>
              <a:endCxn id="308" idx="5"/>
            </p:cNvCxnSpPr>
            <p:nvPr/>
          </p:nvCxnSpPr>
          <p:spPr>
            <a:xfrm flipH="1" flipV="1">
              <a:off x="2415787" y="2780812"/>
              <a:ext cx="7034342" cy="18840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3" name="Straight Arrow Connector 342">
              <a:extLst>
                <a:ext uri="{FF2B5EF4-FFF2-40B4-BE49-F238E27FC236}">
                  <a16:creationId xmlns:a16="http://schemas.microsoft.com/office/drawing/2014/main" id="{9BF7A4D0-1769-956D-2D46-376624888859}"/>
                </a:ext>
              </a:extLst>
            </p:cNvPr>
            <p:cNvCxnSpPr>
              <a:cxnSpLocks/>
              <a:stCxn id="317" idx="0"/>
              <a:endCxn id="311" idx="5"/>
            </p:cNvCxnSpPr>
            <p:nvPr/>
          </p:nvCxnSpPr>
          <p:spPr>
            <a:xfrm flipH="1" flipV="1">
              <a:off x="7971649" y="2780812"/>
              <a:ext cx="1663256" cy="1807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344" name="TextBox 343">
            <a:extLst>
              <a:ext uri="{FF2B5EF4-FFF2-40B4-BE49-F238E27FC236}">
                <a16:creationId xmlns:a16="http://schemas.microsoft.com/office/drawing/2014/main" id="{6B31CAFA-F5E6-EA62-B478-6E7BE3623FFB}"/>
              </a:ext>
            </a:extLst>
          </p:cNvPr>
          <p:cNvSpPr txBox="1"/>
          <p:nvPr/>
        </p:nvSpPr>
        <p:spPr>
          <a:xfrm>
            <a:off x="10703859" y="3552307"/>
            <a:ext cx="1382445" cy="461665"/>
          </a:xfrm>
          <a:prstGeom prst="rect">
            <a:avLst/>
          </a:prstGeom>
          <a:noFill/>
        </p:spPr>
        <p:txBody>
          <a:bodyPr wrap="square" rtlCol="0">
            <a:spAutoFit/>
          </a:bodyPr>
          <a:lstStyle/>
          <a:p>
            <a:pPr algn="ctr"/>
            <a:r>
              <a:rPr lang="en-US" sz="2400" dirty="0"/>
              <a:t>Inference</a:t>
            </a:r>
            <a:endParaRPr lang="en-US" sz="2400" b="1" dirty="0"/>
          </a:p>
        </p:txBody>
      </p:sp>
      <p:sp>
        <p:nvSpPr>
          <p:cNvPr id="345" name="Arrow: Right 344">
            <a:extLst>
              <a:ext uri="{FF2B5EF4-FFF2-40B4-BE49-F238E27FC236}">
                <a16:creationId xmlns:a16="http://schemas.microsoft.com/office/drawing/2014/main" id="{41AE01CE-6754-7EF0-8339-C066C7D89630}"/>
              </a:ext>
            </a:extLst>
          </p:cNvPr>
          <p:cNvSpPr/>
          <p:nvPr/>
        </p:nvSpPr>
        <p:spPr>
          <a:xfrm>
            <a:off x="1846947" y="3449125"/>
            <a:ext cx="218615"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Arrow: Right 345">
            <a:extLst>
              <a:ext uri="{FF2B5EF4-FFF2-40B4-BE49-F238E27FC236}">
                <a16:creationId xmlns:a16="http://schemas.microsoft.com/office/drawing/2014/main" id="{A0951EDA-400B-BD7A-E6F5-E420C72AC231}"/>
              </a:ext>
            </a:extLst>
          </p:cNvPr>
          <p:cNvSpPr/>
          <p:nvPr/>
        </p:nvSpPr>
        <p:spPr>
          <a:xfrm>
            <a:off x="4719420" y="3502473"/>
            <a:ext cx="218615"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Arrow: Right 346">
            <a:extLst>
              <a:ext uri="{FF2B5EF4-FFF2-40B4-BE49-F238E27FC236}">
                <a16:creationId xmlns:a16="http://schemas.microsoft.com/office/drawing/2014/main" id="{D38A0624-4C89-C8C1-39A7-B738E04CAB96}"/>
              </a:ext>
            </a:extLst>
          </p:cNvPr>
          <p:cNvSpPr/>
          <p:nvPr/>
        </p:nvSpPr>
        <p:spPr>
          <a:xfrm>
            <a:off x="8988080" y="3588887"/>
            <a:ext cx="218615"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Arrow: Right 347">
            <a:extLst>
              <a:ext uri="{FF2B5EF4-FFF2-40B4-BE49-F238E27FC236}">
                <a16:creationId xmlns:a16="http://schemas.microsoft.com/office/drawing/2014/main" id="{33EDE7BB-5F5B-B322-B33E-0F59173CA0D4}"/>
              </a:ext>
            </a:extLst>
          </p:cNvPr>
          <p:cNvSpPr/>
          <p:nvPr/>
        </p:nvSpPr>
        <p:spPr>
          <a:xfrm>
            <a:off x="10516885" y="3568984"/>
            <a:ext cx="218615"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Arrow: Right 348">
            <a:extLst>
              <a:ext uri="{FF2B5EF4-FFF2-40B4-BE49-F238E27FC236}">
                <a16:creationId xmlns:a16="http://schemas.microsoft.com/office/drawing/2014/main" id="{76FC15CF-42B9-0402-2F3B-B769C4F395CD}"/>
              </a:ext>
            </a:extLst>
          </p:cNvPr>
          <p:cNvSpPr/>
          <p:nvPr/>
        </p:nvSpPr>
        <p:spPr>
          <a:xfrm>
            <a:off x="8024726" y="3576345"/>
            <a:ext cx="218615"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5739A065-AA41-5D82-C5D0-06CC6686681B}"/>
              </a:ext>
            </a:extLst>
          </p:cNvPr>
          <p:cNvSpPr/>
          <p:nvPr/>
        </p:nvSpPr>
        <p:spPr>
          <a:xfrm rot="16200000">
            <a:off x="7286809" y="3628865"/>
            <a:ext cx="2642183" cy="5165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Flatten feature map</a:t>
            </a:r>
          </a:p>
        </p:txBody>
      </p:sp>
      <p:sp>
        <p:nvSpPr>
          <p:cNvPr id="351" name="TextBox 350">
            <a:extLst>
              <a:ext uri="{FF2B5EF4-FFF2-40B4-BE49-F238E27FC236}">
                <a16:creationId xmlns:a16="http://schemas.microsoft.com/office/drawing/2014/main" id="{CFD7EA22-8D85-ACEA-8613-DB09739A33C6}"/>
              </a:ext>
            </a:extLst>
          </p:cNvPr>
          <p:cNvSpPr txBox="1"/>
          <p:nvPr/>
        </p:nvSpPr>
        <p:spPr>
          <a:xfrm>
            <a:off x="9175505" y="5286371"/>
            <a:ext cx="1458338" cy="1200329"/>
          </a:xfrm>
          <a:prstGeom prst="rect">
            <a:avLst/>
          </a:prstGeom>
          <a:noFill/>
        </p:spPr>
        <p:txBody>
          <a:bodyPr wrap="square" rtlCol="0">
            <a:spAutoFit/>
          </a:bodyPr>
          <a:lstStyle/>
          <a:p>
            <a:pPr algn="ctr"/>
            <a:r>
              <a:rPr lang="en-US" sz="2400" dirty="0"/>
              <a:t>Task specific NN</a:t>
            </a:r>
          </a:p>
        </p:txBody>
      </p:sp>
      <p:sp>
        <p:nvSpPr>
          <p:cNvPr id="3" name="TextBox 2">
            <a:extLst>
              <a:ext uri="{FF2B5EF4-FFF2-40B4-BE49-F238E27FC236}">
                <a16:creationId xmlns:a16="http://schemas.microsoft.com/office/drawing/2014/main" id="{66CA9C23-C056-EAA6-C194-18C0FF78F4D7}"/>
              </a:ext>
            </a:extLst>
          </p:cNvPr>
          <p:cNvSpPr txBox="1"/>
          <p:nvPr/>
        </p:nvSpPr>
        <p:spPr>
          <a:xfrm>
            <a:off x="1973691" y="5237431"/>
            <a:ext cx="3080527" cy="830997"/>
          </a:xfrm>
          <a:prstGeom prst="rect">
            <a:avLst/>
          </a:prstGeom>
          <a:noFill/>
        </p:spPr>
        <p:txBody>
          <a:bodyPr wrap="square" rtlCol="0">
            <a:spAutoFit/>
          </a:bodyPr>
          <a:lstStyle/>
          <a:p>
            <a:pPr algn="ctr"/>
            <a:r>
              <a:rPr lang="en-US" sz="2400" b="1" dirty="0"/>
              <a:t>Backbone network learns feature map</a:t>
            </a:r>
          </a:p>
        </p:txBody>
      </p:sp>
    </p:spTree>
    <p:extLst>
      <p:ext uri="{BB962C8B-B14F-4D97-AF65-F5344CB8AC3E}">
        <p14:creationId xmlns:p14="http://schemas.microsoft.com/office/powerpoint/2010/main" val="187433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6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7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8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8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8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3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3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3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3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3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3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3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3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3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4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4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42"/>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43"/>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4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45"/>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4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47"/>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48"/>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24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25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25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25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25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25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255"/>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256"/>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257"/>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58"/>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25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260"/>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261"/>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262"/>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26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264"/>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265"/>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266"/>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267"/>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268"/>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269"/>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270"/>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271"/>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272"/>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273"/>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74"/>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275"/>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276"/>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277"/>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278"/>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279"/>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280"/>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281"/>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282"/>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283"/>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284"/>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285"/>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286"/>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287"/>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288"/>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289"/>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290"/>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291"/>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292"/>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293"/>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294"/>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295"/>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296"/>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297"/>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298"/>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99"/>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346"/>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34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35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307"/>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347"/>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351"/>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34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 grpId="0"/>
      <p:bldP spid="301" grpId="0" animBg="1"/>
      <p:bldP spid="302" grpId="0" animBg="1"/>
      <p:bldP spid="303" grpId="0" animBg="1"/>
      <p:bldP spid="304" grpId="0" animBg="1"/>
      <p:bldP spid="305" grpId="0"/>
      <p:bldP spid="306" grpId="0"/>
      <p:bldP spid="344" grpId="0"/>
      <p:bldP spid="345" grpId="0" animBg="1"/>
      <p:bldP spid="346" grpId="0" animBg="1"/>
      <p:bldP spid="347" grpId="0" animBg="1"/>
      <p:bldP spid="348" grpId="0" animBg="1"/>
      <p:bldP spid="349" grpId="0" animBg="1"/>
      <p:bldP spid="350" grpId="0" animBg="1"/>
      <p:bldP spid="351"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558D-7B75-A0D7-E6AF-EB386445A72A}"/>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20E3566-9ED0-6D03-6CAF-1B80819C9AFF}"/>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Key points for this lesson</a:t>
            </a:r>
          </a:p>
          <a:p>
            <a:r>
              <a:rPr lang="en-GB" sz="2800" dirty="0">
                <a:latin typeface="+mn-lt"/>
                <a:ea typeface="Segoe UI" panose="020B0502040204020203" pitchFamily="34" charset="0"/>
                <a:cs typeface="Segoe UI" panose="020B0502040204020203" pitchFamily="34" charset="0"/>
              </a:rPr>
              <a:t>Predictive tasks vs. generative tasks</a:t>
            </a:r>
          </a:p>
          <a:p>
            <a:r>
              <a:rPr lang="en-GB" sz="2800" dirty="0" err="1">
                <a:latin typeface="+mn-lt"/>
                <a:ea typeface="Segoe UI" panose="020B0502040204020203" pitchFamily="34" charset="0"/>
                <a:cs typeface="Segoe UI" panose="020B0502040204020203" pitchFamily="34" charset="0"/>
              </a:rPr>
              <a:t>Preceptrons</a:t>
            </a:r>
            <a:r>
              <a:rPr lang="en-GB" sz="2800" dirty="0">
                <a:latin typeface="+mn-lt"/>
                <a:ea typeface="Segoe UI" panose="020B0502040204020203" pitchFamily="34" charset="0"/>
                <a:cs typeface="Segoe UI" panose="020B0502040204020203" pitchFamily="34" charset="0"/>
              </a:rPr>
              <a:t> and forward propagation</a:t>
            </a:r>
          </a:p>
          <a:p>
            <a:r>
              <a:rPr lang="en-GB" sz="2800" dirty="0">
                <a:latin typeface="+mn-lt"/>
                <a:ea typeface="Segoe UI" panose="020B0502040204020203" pitchFamily="34" charset="0"/>
                <a:cs typeface="Segoe UI" panose="020B0502040204020203" pitchFamily="34" charset="0"/>
              </a:rPr>
              <a:t>Depth, breath and model capacity</a:t>
            </a:r>
          </a:p>
          <a:p>
            <a:r>
              <a:rPr lang="en-GB" sz="2800" dirty="0">
                <a:latin typeface="+mn-lt"/>
                <a:ea typeface="Segoe UI" panose="020B0502040204020203" pitchFamily="34" charset="0"/>
                <a:cs typeface="Segoe UI" panose="020B0502040204020203" pitchFamily="34" charset="0"/>
              </a:rPr>
              <a:t>Nonlinearity and activation functions</a:t>
            </a:r>
          </a:p>
          <a:p>
            <a:r>
              <a:rPr lang="en-GB" sz="2800" dirty="0">
                <a:latin typeface="+mn-lt"/>
                <a:ea typeface="Segoe UI" panose="020B0502040204020203" pitchFamily="34" charset="0"/>
                <a:cs typeface="Segoe UI" panose="020B0502040204020203" pitchFamily="34" charset="0"/>
              </a:rPr>
              <a:t>Loss functions</a:t>
            </a:r>
          </a:p>
          <a:p>
            <a:r>
              <a:rPr lang="en-GB" sz="2800" dirty="0">
                <a:latin typeface="+mn-lt"/>
                <a:ea typeface="Segoe UI" panose="020B0502040204020203" pitchFamily="34" charset="0"/>
                <a:cs typeface="Segoe UI" panose="020B0502040204020203" pitchFamily="34" charset="0"/>
              </a:rPr>
              <a:t>Architectures of deep NNs </a:t>
            </a:r>
          </a:p>
          <a:p>
            <a:r>
              <a:rPr lang="en-GB" sz="2800" dirty="0">
                <a:latin typeface="+mn-lt"/>
                <a:ea typeface="Segoe UI" panose="020B0502040204020203" pitchFamily="34" charset="0"/>
                <a:cs typeface="Segoe UI" panose="020B0502040204020203" pitchFamily="34" charset="0"/>
              </a:rPr>
              <a:t>Learning, overfitting and regularization for deep NNs   </a:t>
            </a: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E637B476-18CA-D832-46BF-FA1F6CE32BBA}"/>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Building Blocks of Deep Learning</a:t>
            </a:r>
          </a:p>
        </p:txBody>
      </p:sp>
    </p:spTree>
    <p:extLst>
      <p:ext uri="{BB962C8B-B14F-4D97-AF65-F5344CB8AC3E}">
        <p14:creationId xmlns:p14="http://schemas.microsoft.com/office/powerpoint/2010/main" val="410165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719942" y="1827533"/>
            <a:ext cx="9364067" cy="2015419"/>
          </a:xfrm>
        </p:spPr>
        <p:txBody>
          <a:bodyPr>
            <a:normAutofit/>
          </a:bodyPr>
          <a:lstStyle/>
          <a:p>
            <a:r>
              <a:rPr lang="en-US" sz="4400" b="1" dirty="0"/>
              <a:t>Predictive vs. Generative Models</a:t>
            </a:r>
          </a:p>
        </p:txBody>
      </p:sp>
    </p:spTree>
    <p:extLst>
      <p:ext uri="{BB962C8B-B14F-4D97-AF65-F5344CB8AC3E}">
        <p14:creationId xmlns:p14="http://schemas.microsoft.com/office/powerpoint/2010/main" val="2329516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A394-7A81-8B87-584E-A0CCB928C33E}"/>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E70A18E-2FFC-177C-D961-0FEF6202F89E}"/>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CV tasks can be formulated using a predictive or generative framework </a:t>
            </a:r>
          </a:p>
          <a:p>
            <a:r>
              <a:rPr lang="en-GB" sz="2800" b="1" dirty="0">
                <a:latin typeface="+mn-lt"/>
                <a:ea typeface="Segoe UI" panose="020B0502040204020203" pitchFamily="34" charset="0"/>
                <a:cs typeface="Segoe UI" panose="020B0502040204020203" pitchFamily="34" charset="0"/>
              </a:rPr>
              <a:t>Predictive tasks</a:t>
            </a:r>
            <a:r>
              <a:rPr lang="en-GB" sz="2800" dirty="0">
                <a:latin typeface="+mn-lt"/>
                <a:ea typeface="Segoe UI" panose="020B0502040204020203" pitchFamily="34" charset="0"/>
                <a:cs typeface="Segoe UI" panose="020B0502040204020203" pitchFamily="34" charset="0"/>
              </a:rPr>
              <a:t> lean to predict a task specific result</a:t>
            </a:r>
          </a:p>
          <a:p>
            <a:pPr lvl="1"/>
            <a:r>
              <a:rPr lang="en-GB" sz="2400" dirty="0">
                <a:latin typeface="+mn-lt"/>
                <a:ea typeface="Segoe UI" panose="020B0502040204020203" pitchFamily="34" charset="0"/>
                <a:cs typeface="Segoe UI" panose="020B0502040204020203" pitchFamily="34" charset="0"/>
              </a:rPr>
              <a:t>Object classification </a:t>
            </a:r>
          </a:p>
          <a:p>
            <a:pPr lvl="1"/>
            <a:r>
              <a:rPr lang="en-GB" sz="2400" dirty="0">
                <a:latin typeface="+mn-lt"/>
                <a:ea typeface="Segoe UI" panose="020B0502040204020203" pitchFamily="34" charset="0"/>
                <a:cs typeface="Segoe UI" panose="020B0502040204020203" pitchFamily="34" charset="0"/>
              </a:rPr>
              <a:t>Object detection </a:t>
            </a:r>
          </a:p>
          <a:p>
            <a:pPr lvl="1"/>
            <a:r>
              <a:rPr lang="en-GB" sz="2400" dirty="0">
                <a:latin typeface="+mn-lt"/>
                <a:ea typeface="Segoe UI" panose="020B0502040204020203" pitchFamily="34" charset="0"/>
                <a:cs typeface="Segoe UI" panose="020B0502040204020203" pitchFamily="34" charset="0"/>
              </a:rPr>
              <a:t>Segmentation</a:t>
            </a:r>
          </a:p>
          <a:p>
            <a:pPr lvl="1"/>
            <a:r>
              <a:rPr lang="en-GB" sz="2400" dirty="0">
                <a:latin typeface="+mn-lt"/>
                <a:ea typeface="Segoe UI" panose="020B0502040204020203" pitchFamily="34" charset="0"/>
                <a:cs typeface="Segoe UI" panose="020B0502040204020203" pitchFamily="34" charset="0"/>
              </a:rPr>
              <a:t>Optical flow</a:t>
            </a:r>
          </a:p>
          <a:p>
            <a:pPr lvl="1"/>
            <a:r>
              <a:rPr lang="en-GB" sz="2400" dirty="0">
                <a:latin typeface="+mn-lt"/>
                <a:ea typeface="Segoe UI" panose="020B0502040204020203" pitchFamily="34" charset="0"/>
                <a:cs typeface="Segoe UI" panose="020B0502040204020203" pitchFamily="34" charset="0"/>
              </a:rPr>
              <a:t>3-D geometry</a:t>
            </a:r>
          </a:p>
          <a:p>
            <a:pPr lvl="1"/>
            <a:r>
              <a:rPr lang="en-GB" sz="2400" dirty="0">
                <a:latin typeface="+mn-lt"/>
                <a:ea typeface="Segoe UI" panose="020B0502040204020203" pitchFamily="34" charset="0"/>
                <a:cs typeface="Segoe UI" panose="020B0502040204020203" pitchFamily="34" charset="0"/>
              </a:rPr>
              <a:t>…</a:t>
            </a:r>
            <a:endParaRPr lang="en-GB" sz="2800" dirty="0">
              <a:latin typeface="+mn-lt"/>
              <a:ea typeface="Segoe UI" panose="020B0502040204020203" pitchFamily="34" charset="0"/>
              <a:cs typeface="Segoe UI" panose="020B0502040204020203" pitchFamily="34" charset="0"/>
            </a:endParaRPr>
          </a:p>
          <a:p>
            <a:r>
              <a:rPr lang="en-GB" sz="2800" b="1" dirty="0">
                <a:latin typeface="+mn-lt"/>
                <a:ea typeface="Segoe UI" panose="020B0502040204020203" pitchFamily="34" charset="0"/>
                <a:cs typeface="Segoe UI" panose="020B0502040204020203" pitchFamily="34" charset="0"/>
              </a:rPr>
              <a:t>Generative tasks </a:t>
            </a:r>
            <a:r>
              <a:rPr lang="en-GB" sz="2800" dirty="0">
                <a:latin typeface="+mn-lt"/>
                <a:ea typeface="Segoe UI" panose="020B0502040204020203" pitchFamily="34" charset="0"/>
                <a:cs typeface="Segoe UI" panose="020B0502040204020203" pitchFamily="34" charset="0"/>
              </a:rPr>
              <a:t>learn to generate new images </a:t>
            </a:r>
          </a:p>
          <a:p>
            <a:r>
              <a:rPr lang="en-GB" sz="2800" dirty="0">
                <a:latin typeface="+mn-lt"/>
                <a:ea typeface="Segoe UI" panose="020B0502040204020203" pitchFamily="34" charset="0"/>
                <a:cs typeface="Segoe UI" panose="020B0502040204020203" pitchFamily="34" charset="0"/>
              </a:rPr>
              <a:t>Generative and predictive models have learned parameters</a:t>
            </a:r>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98DC7FA5-7289-0E55-C7D3-AC2B941C4A06}"/>
              </a:ext>
            </a:extLst>
          </p:cNvPr>
          <p:cNvSpPr>
            <a:spLocks noGrp="1"/>
          </p:cNvSpPr>
          <p:nvPr>
            <p:ph type="title"/>
          </p:nvPr>
        </p:nvSpPr>
        <p:spPr>
          <a:xfrm>
            <a:off x="0" y="1"/>
            <a:ext cx="11903845" cy="1196787"/>
          </a:xfrm>
        </p:spPr>
        <p:txBody>
          <a:bodyPr>
            <a:normAutofit/>
          </a:bodyPr>
          <a:lstStyle/>
          <a:p>
            <a:br>
              <a:rPr lang="en-US" dirty="0">
                <a:latin typeface="Segoe"/>
              </a:rPr>
            </a:br>
            <a:r>
              <a:rPr lang="en-US" dirty="0">
                <a:latin typeface="Segoe"/>
              </a:rPr>
              <a:t>   </a:t>
            </a:r>
            <a:r>
              <a:rPr lang="en-US" sz="4000" dirty="0">
                <a:latin typeface="+mn-lt"/>
              </a:rPr>
              <a:t>Predictive vs. Generative CV tasks</a:t>
            </a:r>
          </a:p>
        </p:txBody>
      </p:sp>
    </p:spTree>
    <p:extLst>
      <p:ext uri="{BB962C8B-B14F-4D97-AF65-F5344CB8AC3E}">
        <p14:creationId xmlns:p14="http://schemas.microsoft.com/office/powerpoint/2010/main" val="1126280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2F696-A26B-3469-262F-137AA7C6E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860B6-BFE4-AFBA-4364-8BD319352761}"/>
              </a:ext>
            </a:extLst>
          </p:cNvPr>
          <p:cNvSpPr>
            <a:spLocks noGrp="1"/>
          </p:cNvSpPr>
          <p:nvPr>
            <p:ph type="title"/>
          </p:nvPr>
        </p:nvSpPr>
        <p:spPr>
          <a:xfrm>
            <a:off x="144077" y="328838"/>
            <a:ext cx="11903845" cy="683617"/>
          </a:xfrm>
        </p:spPr>
        <p:txBody>
          <a:bodyPr>
            <a:normAutofit/>
          </a:bodyPr>
          <a:lstStyle/>
          <a:p>
            <a:r>
              <a:rPr lang="en-US" sz="4000" dirty="0">
                <a:latin typeface="Segoe"/>
              </a:rPr>
              <a:t>Predictive Models for CV</a:t>
            </a:r>
          </a:p>
        </p:txBody>
      </p:sp>
      <mc:AlternateContent xmlns:mc="http://schemas.openxmlformats.org/markup-compatibility/2006" xmlns:a14="http://schemas.microsoft.com/office/drawing/2010/main">
        <mc:Choice Requires="a14">
          <p:sp>
            <p:nvSpPr>
              <p:cNvPr id="330" name="TextBox 329">
                <a:extLst>
                  <a:ext uri="{FF2B5EF4-FFF2-40B4-BE49-F238E27FC236}">
                    <a16:creationId xmlns:a16="http://schemas.microsoft.com/office/drawing/2014/main" id="{8AA99868-2BF7-2CD7-B829-F252C3824DE1}"/>
                  </a:ext>
                </a:extLst>
              </p:cNvPr>
              <p:cNvSpPr txBox="1"/>
              <p:nvPr/>
            </p:nvSpPr>
            <p:spPr>
              <a:xfrm>
                <a:off x="144077" y="922098"/>
                <a:ext cx="11163815" cy="1088760"/>
              </a:xfrm>
              <a:prstGeom prst="rect">
                <a:avLst/>
              </a:prstGeom>
              <a:noFill/>
            </p:spPr>
            <p:txBody>
              <a:bodyPr wrap="square" rtlCol="0">
                <a:spAutoFit/>
              </a:bodyPr>
              <a:lstStyle/>
              <a:p>
                <a:r>
                  <a:rPr lang="en-US" sz="2800" dirty="0"/>
                  <a:t>Predicative CV task applies learned task specific head,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𝑌</m:t>
                        </m:r>
                      </m:e>
                    </m:acc>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h</m:t>
                        </m:r>
                      </m:e>
                      <m:sub>
                        <m:r>
                          <a:rPr lang="en-US" sz="2800" i="1">
                            <a:latin typeface="Cambria Math" panose="02040503050406030204" pitchFamily="18" charset="0"/>
                            <a:ea typeface="Cambria Math" panose="02040503050406030204" pitchFamily="18" charset="0"/>
                          </a:rPr>
                          <m:t>𝜗</m:t>
                        </m:r>
                      </m:sub>
                    </m:sSub>
                    <m:r>
                      <a:rPr lang="en-US" sz="2800">
                        <a:latin typeface="Cambria Math" panose="02040503050406030204" pitchFamily="18" charset="0"/>
                      </a:rPr>
                      <m:t>(</m:t>
                    </m:r>
                    <m:r>
                      <a:rPr lang="en-US" sz="2800" i="1">
                        <a:latin typeface="Cambria Math" panose="02040503050406030204" pitchFamily="18" charset="0"/>
                      </a:rPr>
                      <m:t>𝑍</m:t>
                    </m:r>
                    <m:r>
                      <a:rPr lang="en-US" sz="2800" i="1">
                        <a:latin typeface="Cambria Math" panose="02040503050406030204" pitchFamily="18" charset="0"/>
                      </a:rPr>
                      <m:t>)</m:t>
                    </m:r>
                  </m:oMath>
                </a14:m>
                <a:r>
                  <a:rPr lang="en-US" sz="2800" dirty="0"/>
                  <a:t> , to learned latent space or feature map, </a:t>
                </a:r>
                <a14:m>
                  <m:oMath xmlns:m="http://schemas.openxmlformats.org/officeDocument/2006/math">
                    <m:r>
                      <m:rPr>
                        <m:sty m:val="p"/>
                      </m:rPr>
                      <a:rPr lang="en-US" sz="2800">
                        <a:latin typeface="Cambria Math" panose="02040503050406030204" pitchFamily="18" charset="0"/>
                      </a:rPr>
                      <m:t>p</m:t>
                    </m:r>
                    <m:d>
                      <m:dPr>
                        <m:ctrlPr>
                          <a:rPr lang="en-US" sz="2800" i="1">
                            <a:latin typeface="Cambria Math" panose="02040503050406030204" pitchFamily="18" charset="0"/>
                          </a:rPr>
                        </m:ctrlPr>
                      </m:dPr>
                      <m:e>
                        <m:r>
                          <m:rPr>
                            <m:sty m:val="p"/>
                          </m:rPr>
                          <a:rPr lang="en-US" sz="2800">
                            <a:latin typeface="Cambria Math" panose="02040503050406030204" pitchFamily="18" charset="0"/>
                          </a:rPr>
                          <m:t>Z</m:t>
                        </m:r>
                      </m:e>
                    </m:d>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ea typeface="Cambria Math" panose="02040503050406030204" pitchFamily="18" charset="0"/>
                          </a:rPr>
                          <m:t>𝜃</m:t>
                        </m:r>
                      </m:sub>
                    </m:sSub>
                    <m:r>
                      <a:rPr lang="en-US" sz="2800">
                        <a:latin typeface="Cambria Math" panose="02040503050406030204" pitchFamily="18" charset="0"/>
                      </a:rPr>
                      <m:t>(</m:t>
                    </m:r>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𝑋</m:t>
                        </m:r>
                      </m:e>
                    </m:d>
                  </m:oMath>
                </a14:m>
                <a:r>
                  <a:rPr lang="en-US" sz="3600" dirty="0"/>
                  <a:t> </a:t>
                </a:r>
              </a:p>
            </p:txBody>
          </p:sp>
        </mc:Choice>
        <mc:Fallback xmlns="">
          <p:sp>
            <p:nvSpPr>
              <p:cNvPr id="330" name="TextBox 329">
                <a:extLst>
                  <a:ext uri="{FF2B5EF4-FFF2-40B4-BE49-F238E27FC236}">
                    <a16:creationId xmlns:a16="http://schemas.microsoft.com/office/drawing/2014/main" id="{8AA99868-2BF7-2CD7-B829-F252C3824DE1}"/>
                  </a:ext>
                </a:extLst>
              </p:cNvPr>
              <p:cNvSpPr txBox="1">
                <a:spLocks noRot="1" noChangeAspect="1" noMove="1" noResize="1" noEditPoints="1" noAdjustHandles="1" noChangeArrowheads="1" noChangeShapeType="1" noTextEdit="1"/>
              </p:cNvSpPr>
              <p:nvPr/>
            </p:nvSpPr>
            <p:spPr>
              <a:xfrm>
                <a:off x="144077" y="922098"/>
                <a:ext cx="11163815" cy="1088760"/>
              </a:xfrm>
              <a:prstGeom prst="rect">
                <a:avLst/>
              </a:prstGeom>
              <a:blipFill>
                <a:blip r:embed="rId3"/>
                <a:stretch>
                  <a:fillRect l="-1147" t="-3911" b="-1229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C5F6178-BCE5-2796-ACB7-0383E57FEF15}"/>
              </a:ext>
            </a:extLst>
          </p:cNvPr>
          <p:cNvPicPr preferRelativeResize="0">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334" y="3559194"/>
            <a:ext cx="1483778" cy="1217092"/>
          </a:xfrm>
          <a:prstGeom prst="rect">
            <a:avLst/>
          </a:prstGeom>
        </p:spPr>
      </p:pic>
      <p:sp>
        <p:nvSpPr>
          <p:cNvPr id="5" name="TextBox 4">
            <a:extLst>
              <a:ext uri="{FF2B5EF4-FFF2-40B4-BE49-F238E27FC236}">
                <a16:creationId xmlns:a16="http://schemas.microsoft.com/office/drawing/2014/main" id="{E0100D4F-2ADC-9355-ABE6-2176EFEBB173}"/>
              </a:ext>
            </a:extLst>
          </p:cNvPr>
          <p:cNvSpPr txBox="1"/>
          <p:nvPr/>
        </p:nvSpPr>
        <p:spPr>
          <a:xfrm>
            <a:off x="453882" y="4866602"/>
            <a:ext cx="1055270" cy="830997"/>
          </a:xfrm>
          <a:prstGeom prst="rect">
            <a:avLst/>
          </a:prstGeom>
          <a:noFill/>
        </p:spPr>
        <p:txBody>
          <a:bodyPr wrap="square" rtlCol="0">
            <a:spAutoFit/>
          </a:bodyPr>
          <a:lstStyle/>
          <a:p>
            <a:pPr algn="ctr"/>
            <a:r>
              <a:rPr lang="en-US" sz="2400" dirty="0"/>
              <a:t>Input Image</a:t>
            </a:r>
            <a:endParaRPr lang="en-US" sz="2400" b="1" dirty="0"/>
          </a:p>
        </p:txBody>
      </p:sp>
      <p:sp>
        <p:nvSpPr>
          <p:cNvPr id="6" name="Arrow: Right 5">
            <a:extLst>
              <a:ext uri="{FF2B5EF4-FFF2-40B4-BE49-F238E27FC236}">
                <a16:creationId xmlns:a16="http://schemas.microsoft.com/office/drawing/2014/main" id="{A9F342E1-324D-3A8D-4AEB-9DF911E49BA9}"/>
              </a:ext>
            </a:extLst>
          </p:cNvPr>
          <p:cNvSpPr/>
          <p:nvPr/>
        </p:nvSpPr>
        <p:spPr>
          <a:xfrm>
            <a:off x="1938578" y="3909420"/>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64E5002-D3ED-3CA2-7DEA-BAB81439E21B}"/>
                  </a:ext>
                </a:extLst>
              </p:cNvPr>
              <p:cNvSpPr txBox="1"/>
              <p:nvPr/>
            </p:nvSpPr>
            <p:spPr>
              <a:xfrm>
                <a:off x="432727" y="2395201"/>
                <a:ext cx="1904514" cy="1015663"/>
              </a:xfrm>
              <a:prstGeom prst="rect">
                <a:avLst/>
              </a:prstGeom>
              <a:noFill/>
            </p:spPr>
            <p:txBody>
              <a:bodyPr wrap="square" rtlCol="0">
                <a:spAutoFit/>
              </a:bodyPr>
              <a:lstStyle/>
              <a:p>
                <a:r>
                  <a:rPr lang="en-US" sz="2000" dirty="0"/>
                  <a:t>Image, </a:t>
                </a:r>
                <a14:m>
                  <m:oMath xmlns:m="http://schemas.openxmlformats.org/officeDocument/2006/math">
                    <m:r>
                      <a:rPr lang="en-US" sz="2000" b="0" i="1" smtClean="0">
                        <a:latin typeface="Cambria Math" panose="02040503050406030204" pitchFamily="18" charset="0"/>
                      </a:rPr>
                      <m:t>𝑥</m:t>
                    </m:r>
                  </m:oMath>
                </a14:m>
                <a:r>
                  <a:rPr lang="en-US" sz="2000" dirty="0"/>
                  <a:t>, with distribution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oMath>
                </a14:m>
                <a:r>
                  <a:rPr lang="en-US" sz="2000" dirty="0"/>
                  <a:t> </a:t>
                </a:r>
              </a:p>
            </p:txBody>
          </p:sp>
        </mc:Choice>
        <mc:Fallback xmlns="">
          <p:sp>
            <p:nvSpPr>
              <p:cNvPr id="7" name="TextBox 6">
                <a:extLst>
                  <a:ext uri="{FF2B5EF4-FFF2-40B4-BE49-F238E27FC236}">
                    <a16:creationId xmlns:a16="http://schemas.microsoft.com/office/drawing/2014/main" id="{B64E5002-D3ED-3CA2-7DEA-BAB81439E21B}"/>
                  </a:ext>
                </a:extLst>
              </p:cNvPr>
              <p:cNvSpPr txBox="1">
                <a:spLocks noRot="1" noChangeAspect="1" noMove="1" noResize="1" noEditPoints="1" noAdjustHandles="1" noChangeArrowheads="1" noChangeShapeType="1" noTextEdit="1"/>
              </p:cNvSpPr>
              <p:nvPr/>
            </p:nvSpPr>
            <p:spPr>
              <a:xfrm>
                <a:off x="432727" y="2395201"/>
                <a:ext cx="1904514" cy="1015663"/>
              </a:xfrm>
              <a:prstGeom prst="rect">
                <a:avLst/>
              </a:prstGeom>
              <a:blipFill>
                <a:blip r:embed="rId5"/>
                <a:stretch>
                  <a:fillRect l="-3526" t="-3593" b="-47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BB05624-058D-7C49-9F2A-BD7A41E9168A}"/>
                  </a:ext>
                </a:extLst>
              </p:cNvPr>
              <p:cNvSpPr txBox="1"/>
              <p:nvPr/>
            </p:nvSpPr>
            <p:spPr>
              <a:xfrm>
                <a:off x="5040827" y="2162816"/>
                <a:ext cx="2102070" cy="1015663"/>
              </a:xfrm>
              <a:prstGeom prst="rect">
                <a:avLst/>
              </a:prstGeom>
              <a:noFill/>
            </p:spPr>
            <p:txBody>
              <a:bodyPr wrap="square" rtlCol="0">
                <a:spAutoFit/>
              </a:bodyPr>
              <a:lstStyle/>
              <a:p>
                <a:r>
                  <a:rPr lang="en-US" sz="2000" dirty="0"/>
                  <a:t>Multidimensional latent space  </a:t>
                </a:r>
                <a14:m>
                  <m:oMath xmlns:m="http://schemas.openxmlformats.org/officeDocument/2006/math">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Z</m:t>
                        </m:r>
                      </m:e>
                    </m:d>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𝜃</m:t>
                        </m:r>
                      </m:sub>
                    </m:sSub>
                    <m:r>
                      <a:rPr lang="en-US" sz="2000" b="0" i="0" smtClean="0">
                        <a:latin typeface="Cambria Math" panose="02040503050406030204" pitchFamily="18" charset="0"/>
                      </a:rPr>
                      <m:t>(</m:t>
                    </m:r>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US" sz="2000" dirty="0"/>
                  <a:t> </a:t>
                </a:r>
              </a:p>
            </p:txBody>
          </p:sp>
        </mc:Choice>
        <mc:Fallback xmlns="">
          <p:sp>
            <p:nvSpPr>
              <p:cNvPr id="204" name="TextBox 203">
                <a:extLst>
                  <a:ext uri="{FF2B5EF4-FFF2-40B4-BE49-F238E27FC236}">
                    <a16:creationId xmlns:a16="http://schemas.microsoft.com/office/drawing/2014/main" id="{3BB05624-058D-7C49-9F2A-BD7A41E9168A}"/>
                  </a:ext>
                </a:extLst>
              </p:cNvPr>
              <p:cNvSpPr txBox="1">
                <a:spLocks noRot="1" noChangeAspect="1" noMove="1" noResize="1" noEditPoints="1" noAdjustHandles="1" noChangeArrowheads="1" noChangeShapeType="1" noTextEdit="1"/>
              </p:cNvSpPr>
              <p:nvPr/>
            </p:nvSpPr>
            <p:spPr>
              <a:xfrm>
                <a:off x="5040827" y="2162816"/>
                <a:ext cx="2102070" cy="1015663"/>
              </a:xfrm>
              <a:prstGeom prst="rect">
                <a:avLst/>
              </a:prstGeom>
              <a:blipFill>
                <a:blip r:embed="rId6"/>
                <a:stretch>
                  <a:fillRect l="-3188" t="-3614" r="-580" b="-5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FF0095-B97A-B906-7B41-EFE9674DC8E3}"/>
                  </a:ext>
                </a:extLst>
              </p:cNvPr>
              <p:cNvSpPr txBox="1"/>
              <p:nvPr/>
            </p:nvSpPr>
            <p:spPr>
              <a:xfrm>
                <a:off x="7499471" y="1990792"/>
                <a:ext cx="2280138" cy="1360309"/>
              </a:xfrm>
              <a:prstGeom prst="rect">
                <a:avLst/>
              </a:prstGeom>
              <a:noFill/>
            </p:spPr>
            <p:txBody>
              <a:bodyPr wrap="square" rtlCol="0">
                <a:spAutoFit/>
              </a:bodyPr>
              <a:lstStyle/>
              <a:p>
                <a:r>
                  <a:rPr lang="en-US" sz="2000" dirty="0"/>
                  <a:t>Task-specific head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𝑌</m:t>
                        </m:r>
                      </m:e>
                    </m:acc>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ea typeface="Cambria Math" panose="02040503050406030204" pitchFamily="18" charset="0"/>
                          </a:rPr>
                          <m:t>𝜗</m:t>
                        </m:r>
                      </m:sub>
                    </m:sSub>
                    <m:r>
                      <a:rPr lang="en-US" sz="2000" b="0" i="0" smtClean="0">
                        <a:latin typeface="Cambria Math" panose="02040503050406030204" pitchFamily="18" charset="0"/>
                      </a:rPr>
                      <m:t>(</m:t>
                    </m:r>
                    <m:r>
                      <a:rPr lang="en-US" sz="2000" b="0" i="1" smtClean="0">
                        <a:latin typeface="Cambria Math" panose="02040503050406030204" pitchFamily="18" charset="0"/>
                      </a:rPr>
                      <m:t>𝑍</m:t>
                    </m:r>
                    <m:r>
                      <a:rPr lang="en-US" sz="2000" b="0" i="1" smtClean="0">
                        <a:latin typeface="Cambria Math" panose="02040503050406030204" pitchFamily="18" charset="0"/>
                      </a:rPr>
                      <m:t>)</m:t>
                    </m:r>
                  </m:oMath>
                </a14:m>
                <a:r>
                  <a:rPr lang="en-US" sz="2000" dirty="0"/>
                  <a:t> with learnable parameters </a:t>
                </a:r>
                <a14:m>
                  <m:oMath xmlns:m="http://schemas.openxmlformats.org/officeDocument/2006/math">
                    <m:r>
                      <a:rPr lang="en-US" sz="2000" i="1">
                        <a:latin typeface="Cambria Math" panose="02040503050406030204" pitchFamily="18" charset="0"/>
                        <a:ea typeface="Cambria Math" panose="02040503050406030204" pitchFamily="18" charset="0"/>
                      </a:rPr>
                      <m:t>𝜗</m:t>
                    </m:r>
                  </m:oMath>
                </a14:m>
                <a:endParaRPr lang="en-US" sz="2000" dirty="0"/>
              </a:p>
            </p:txBody>
          </p:sp>
        </mc:Choice>
        <mc:Fallback xmlns="">
          <p:sp>
            <p:nvSpPr>
              <p:cNvPr id="3" name="TextBox 2">
                <a:extLst>
                  <a:ext uri="{FF2B5EF4-FFF2-40B4-BE49-F238E27FC236}">
                    <a16:creationId xmlns:a16="http://schemas.microsoft.com/office/drawing/2014/main" id="{95FF0095-B97A-B906-7B41-EFE9674DC8E3}"/>
                  </a:ext>
                </a:extLst>
              </p:cNvPr>
              <p:cNvSpPr txBox="1">
                <a:spLocks noRot="1" noChangeAspect="1" noMove="1" noResize="1" noEditPoints="1" noAdjustHandles="1" noChangeArrowheads="1" noChangeShapeType="1" noTextEdit="1"/>
              </p:cNvSpPr>
              <p:nvPr/>
            </p:nvSpPr>
            <p:spPr>
              <a:xfrm>
                <a:off x="7499471" y="1990792"/>
                <a:ext cx="2280138" cy="1360309"/>
              </a:xfrm>
              <a:prstGeom prst="rect">
                <a:avLst/>
              </a:prstGeom>
              <a:blipFill>
                <a:blip r:embed="rId7"/>
                <a:stretch>
                  <a:fillRect l="-2674" t="-2691" r="-267" b="-49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Rectangle: Rounded Corners 154">
                <a:extLst>
                  <a:ext uri="{FF2B5EF4-FFF2-40B4-BE49-F238E27FC236}">
                    <a16:creationId xmlns:a16="http://schemas.microsoft.com/office/drawing/2014/main" id="{4F14B02D-0FCE-3412-F17E-F649A0B6EEDD}"/>
                  </a:ext>
                </a:extLst>
              </p:cNvPr>
              <p:cNvSpPr/>
              <p:nvPr/>
            </p:nvSpPr>
            <p:spPr>
              <a:xfrm>
                <a:off x="2581090" y="3314231"/>
                <a:ext cx="1876647" cy="17070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𝑓</m:t>
                          </m:r>
                        </m:e>
                        <m:sub>
                          <m:r>
                            <a:rPr lang="en-US" sz="2800" i="1">
                              <a:solidFill>
                                <a:schemeClr val="tx1"/>
                              </a:solidFill>
                              <a:latin typeface="Cambria Math" panose="02040503050406030204" pitchFamily="18" charset="0"/>
                              <a:ea typeface="Cambria Math" panose="02040503050406030204" pitchFamily="18" charset="0"/>
                            </a:rPr>
                            <m:t>𝜃</m:t>
                          </m:r>
                        </m:sub>
                      </m:sSub>
                      <m:r>
                        <a:rPr lang="en-US" sz="280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𝑝</m:t>
                      </m:r>
                      <m:d>
                        <m:dPr>
                          <m:ctrlPr>
                            <a:rPr lang="en-US" sz="2800" i="1">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e>
                      </m:d>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155" name="Rectangle: Rounded Corners 154">
                <a:extLst>
                  <a:ext uri="{FF2B5EF4-FFF2-40B4-BE49-F238E27FC236}">
                    <a16:creationId xmlns:a16="http://schemas.microsoft.com/office/drawing/2014/main" id="{4F14B02D-0FCE-3412-F17E-F649A0B6EEDD}"/>
                  </a:ext>
                </a:extLst>
              </p:cNvPr>
              <p:cNvSpPr>
                <a:spLocks noRot="1" noChangeAspect="1" noMove="1" noResize="1" noEditPoints="1" noAdjustHandles="1" noChangeArrowheads="1" noChangeShapeType="1" noTextEdit="1"/>
              </p:cNvSpPr>
              <p:nvPr/>
            </p:nvSpPr>
            <p:spPr>
              <a:xfrm>
                <a:off x="2581090" y="3314231"/>
                <a:ext cx="1876647" cy="1707017"/>
              </a:xfrm>
              <a:prstGeom prst="roundRect">
                <a:avLst/>
              </a:prstGeom>
              <a:blipFill>
                <a:blip r:embed="rId8"/>
                <a:stretch>
                  <a:fillRect/>
                </a:stretch>
              </a:blipFill>
            </p:spPr>
            <p:txBody>
              <a:bodyPr/>
              <a:lstStyle/>
              <a:p>
                <a:r>
                  <a:rPr lang="en-US">
                    <a:noFill/>
                  </a:rPr>
                  <a:t> </a:t>
                </a:r>
              </a:p>
            </p:txBody>
          </p:sp>
        </mc:Fallback>
      </mc:AlternateContent>
      <p:sp>
        <p:nvSpPr>
          <p:cNvPr id="156" name="Rectangle: Rounded Corners 155">
            <a:extLst>
              <a:ext uri="{FF2B5EF4-FFF2-40B4-BE49-F238E27FC236}">
                <a16:creationId xmlns:a16="http://schemas.microsoft.com/office/drawing/2014/main" id="{1C705208-2792-35C1-FC37-AF7B9EA6B697}"/>
              </a:ext>
            </a:extLst>
          </p:cNvPr>
          <p:cNvSpPr/>
          <p:nvPr/>
        </p:nvSpPr>
        <p:spPr>
          <a:xfrm>
            <a:off x="5107248" y="3314231"/>
            <a:ext cx="1876647" cy="1707017"/>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z</a:t>
            </a:r>
          </a:p>
        </p:txBody>
      </p:sp>
      <mc:AlternateContent xmlns:mc="http://schemas.openxmlformats.org/markup-compatibility/2006" xmlns:a14="http://schemas.microsoft.com/office/drawing/2010/main">
        <mc:Choice Requires="a14">
          <p:sp>
            <p:nvSpPr>
              <p:cNvPr id="157" name="Rectangle: Rounded Corners 156">
                <a:extLst>
                  <a:ext uri="{FF2B5EF4-FFF2-40B4-BE49-F238E27FC236}">
                    <a16:creationId xmlns:a16="http://schemas.microsoft.com/office/drawing/2014/main" id="{28F8B0C8-8570-C5FE-C4B2-75702BD50EF1}"/>
                  </a:ext>
                </a:extLst>
              </p:cNvPr>
              <p:cNvSpPr/>
              <p:nvPr/>
            </p:nvSpPr>
            <p:spPr>
              <a:xfrm>
                <a:off x="7679464" y="3314231"/>
                <a:ext cx="1876647" cy="17070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h</m:t>
                          </m:r>
                        </m:e>
                        <m:sub>
                          <m:r>
                            <a:rPr lang="en-US" sz="2800" i="1">
                              <a:solidFill>
                                <a:schemeClr val="tx1"/>
                              </a:solidFill>
                              <a:latin typeface="Cambria Math" panose="02040503050406030204" pitchFamily="18" charset="0"/>
                              <a:ea typeface="Cambria Math" panose="02040503050406030204" pitchFamily="18" charset="0"/>
                            </a:rPr>
                            <m:t>𝜗</m:t>
                          </m:r>
                        </m:sub>
                      </m:sSub>
                      <m:r>
                        <a:rPr lang="en-US" sz="280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𝑧</m:t>
                      </m:r>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157" name="Rectangle: Rounded Corners 156">
                <a:extLst>
                  <a:ext uri="{FF2B5EF4-FFF2-40B4-BE49-F238E27FC236}">
                    <a16:creationId xmlns:a16="http://schemas.microsoft.com/office/drawing/2014/main" id="{28F8B0C8-8570-C5FE-C4B2-75702BD50EF1}"/>
                  </a:ext>
                </a:extLst>
              </p:cNvPr>
              <p:cNvSpPr>
                <a:spLocks noRot="1" noChangeAspect="1" noMove="1" noResize="1" noEditPoints="1" noAdjustHandles="1" noChangeArrowheads="1" noChangeShapeType="1" noTextEdit="1"/>
              </p:cNvSpPr>
              <p:nvPr/>
            </p:nvSpPr>
            <p:spPr>
              <a:xfrm>
                <a:off x="7679464" y="3314231"/>
                <a:ext cx="1876647" cy="1707017"/>
              </a:xfrm>
              <a:prstGeom prst="round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8" name="Rectangle: Rounded Corners 157">
                <a:extLst>
                  <a:ext uri="{FF2B5EF4-FFF2-40B4-BE49-F238E27FC236}">
                    <a16:creationId xmlns:a16="http://schemas.microsoft.com/office/drawing/2014/main" id="{A1BA288B-6702-4843-1615-6D33CA8EB104}"/>
                  </a:ext>
                </a:extLst>
              </p:cNvPr>
              <p:cNvSpPr/>
              <p:nvPr/>
            </p:nvSpPr>
            <p:spPr>
              <a:xfrm>
                <a:off x="10229891" y="3293164"/>
                <a:ext cx="1876647" cy="1707017"/>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2400" i="1" smtClean="0">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𝑦</m:t>
                        </m:r>
                      </m:e>
                    </m:acc>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 </m:t>
                    </m:r>
                  </m:oMath>
                </a14:m>
                <a:r>
                  <a:rPr lang="en-US" sz="2400" i="1" dirty="0">
                    <a:solidFill>
                      <a:schemeClr val="tx1"/>
                    </a:solidFill>
                  </a:rPr>
                  <a:t>Truck in arid landscape with lake</a:t>
                </a:r>
              </a:p>
            </p:txBody>
          </p:sp>
        </mc:Choice>
        <mc:Fallback xmlns="">
          <p:sp>
            <p:nvSpPr>
              <p:cNvPr id="158" name="Rectangle: Rounded Corners 157">
                <a:extLst>
                  <a:ext uri="{FF2B5EF4-FFF2-40B4-BE49-F238E27FC236}">
                    <a16:creationId xmlns:a16="http://schemas.microsoft.com/office/drawing/2014/main" id="{A1BA288B-6702-4843-1615-6D33CA8EB104}"/>
                  </a:ext>
                </a:extLst>
              </p:cNvPr>
              <p:cNvSpPr>
                <a:spLocks noRot="1" noChangeAspect="1" noMove="1" noResize="1" noEditPoints="1" noAdjustHandles="1" noChangeArrowheads="1" noChangeShapeType="1" noTextEdit="1"/>
              </p:cNvSpPr>
              <p:nvPr/>
            </p:nvSpPr>
            <p:spPr>
              <a:xfrm>
                <a:off x="10229891" y="3293164"/>
                <a:ext cx="1876647" cy="1707017"/>
              </a:xfrm>
              <a:prstGeom prst="roundRect">
                <a:avLst/>
              </a:prstGeom>
              <a:blipFill>
                <a:blip r:embed="rId10"/>
                <a:stretch>
                  <a:fillRect r="-3571" b="-392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1414E131-F63F-9069-0843-CFDAC83790EA}"/>
                  </a:ext>
                </a:extLst>
              </p:cNvPr>
              <p:cNvSpPr txBox="1"/>
              <p:nvPr/>
            </p:nvSpPr>
            <p:spPr>
              <a:xfrm>
                <a:off x="2487716" y="1942398"/>
                <a:ext cx="2402636" cy="1323439"/>
              </a:xfrm>
              <a:prstGeom prst="rect">
                <a:avLst/>
              </a:prstGeom>
              <a:noFill/>
            </p:spPr>
            <p:txBody>
              <a:bodyPr wrap="square" rtlCol="0">
                <a:spAutoFit/>
              </a:bodyPr>
              <a:lstStyle/>
              <a:p>
                <a:r>
                  <a:rPr lang="en-US" sz="2000" dirty="0"/>
                  <a:t>Encoder for embedding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𝜃</m:t>
                        </m:r>
                      </m:sub>
                    </m:sSub>
                    <m:r>
                      <a:rPr lang="en-US" sz="2000" b="0" i="0" smtClean="0">
                        <a:latin typeface="Cambria Math" panose="02040503050406030204" pitchFamily="18" charset="0"/>
                      </a:rPr>
                      <m:t>(</m:t>
                    </m:r>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US" sz="2000" dirty="0"/>
                  <a:t>  with learnable parameters </a:t>
                </a:r>
                <a14:m>
                  <m:oMath xmlns:m="http://schemas.openxmlformats.org/officeDocument/2006/math">
                    <m:r>
                      <a:rPr lang="en-US" sz="2000" i="1" smtClean="0">
                        <a:latin typeface="Cambria Math" panose="02040503050406030204" pitchFamily="18" charset="0"/>
                        <a:ea typeface="Cambria Math" panose="02040503050406030204" pitchFamily="18" charset="0"/>
                      </a:rPr>
                      <m:t>𝜃</m:t>
                    </m:r>
                  </m:oMath>
                </a14:m>
                <a:endParaRPr lang="en-US" sz="2000" dirty="0"/>
              </a:p>
            </p:txBody>
          </p:sp>
        </mc:Choice>
        <mc:Fallback xmlns="">
          <p:sp>
            <p:nvSpPr>
              <p:cNvPr id="159" name="TextBox 158">
                <a:extLst>
                  <a:ext uri="{FF2B5EF4-FFF2-40B4-BE49-F238E27FC236}">
                    <a16:creationId xmlns:a16="http://schemas.microsoft.com/office/drawing/2014/main" id="{1414E131-F63F-9069-0843-CFDAC83790EA}"/>
                  </a:ext>
                </a:extLst>
              </p:cNvPr>
              <p:cNvSpPr txBox="1">
                <a:spLocks noRot="1" noChangeAspect="1" noMove="1" noResize="1" noEditPoints="1" noAdjustHandles="1" noChangeArrowheads="1" noChangeShapeType="1" noTextEdit="1"/>
              </p:cNvSpPr>
              <p:nvPr/>
            </p:nvSpPr>
            <p:spPr>
              <a:xfrm>
                <a:off x="2487716" y="1942398"/>
                <a:ext cx="2402636" cy="1323439"/>
              </a:xfrm>
              <a:prstGeom prst="rect">
                <a:avLst/>
              </a:prstGeom>
              <a:blipFill>
                <a:blip r:embed="rId11"/>
                <a:stretch>
                  <a:fillRect l="-2538" t="-2765" r="-254" b="-7373"/>
                </a:stretch>
              </a:blipFill>
            </p:spPr>
            <p:txBody>
              <a:bodyPr/>
              <a:lstStyle/>
              <a:p>
                <a:r>
                  <a:rPr lang="en-US">
                    <a:noFill/>
                  </a:rPr>
                  <a:t> </a:t>
                </a:r>
              </a:p>
            </p:txBody>
          </p:sp>
        </mc:Fallback>
      </mc:AlternateContent>
      <p:sp>
        <p:nvSpPr>
          <p:cNvPr id="160" name="TextBox 159">
            <a:extLst>
              <a:ext uri="{FF2B5EF4-FFF2-40B4-BE49-F238E27FC236}">
                <a16:creationId xmlns:a16="http://schemas.microsoft.com/office/drawing/2014/main" id="{22DFEB53-C53F-29C2-3130-D0CF5937F44E}"/>
              </a:ext>
            </a:extLst>
          </p:cNvPr>
          <p:cNvSpPr txBox="1"/>
          <p:nvPr/>
        </p:nvSpPr>
        <p:spPr>
          <a:xfrm>
            <a:off x="10110414" y="2702977"/>
            <a:ext cx="1904514" cy="400110"/>
          </a:xfrm>
          <a:prstGeom prst="rect">
            <a:avLst/>
          </a:prstGeom>
          <a:noFill/>
        </p:spPr>
        <p:txBody>
          <a:bodyPr wrap="square" rtlCol="0">
            <a:spAutoFit/>
          </a:bodyPr>
          <a:lstStyle/>
          <a:p>
            <a:r>
              <a:rPr lang="en-US" sz="2000" dirty="0"/>
              <a:t>Prediction</a:t>
            </a:r>
          </a:p>
        </p:txBody>
      </p:sp>
      <p:sp>
        <p:nvSpPr>
          <p:cNvPr id="165" name="Arrow: Right 164">
            <a:extLst>
              <a:ext uri="{FF2B5EF4-FFF2-40B4-BE49-F238E27FC236}">
                <a16:creationId xmlns:a16="http://schemas.microsoft.com/office/drawing/2014/main" id="{6A9CC370-DFE5-DB8E-373F-3D38AA8DC853}"/>
              </a:ext>
            </a:extLst>
          </p:cNvPr>
          <p:cNvSpPr/>
          <p:nvPr/>
        </p:nvSpPr>
        <p:spPr>
          <a:xfrm>
            <a:off x="4506183" y="3930485"/>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6" name="Arrow: Right 165">
            <a:extLst>
              <a:ext uri="{FF2B5EF4-FFF2-40B4-BE49-F238E27FC236}">
                <a16:creationId xmlns:a16="http://schemas.microsoft.com/office/drawing/2014/main" id="{9DB614BF-693D-CC7A-99C2-35031E6BD00D}"/>
              </a:ext>
            </a:extLst>
          </p:cNvPr>
          <p:cNvSpPr/>
          <p:nvPr/>
        </p:nvSpPr>
        <p:spPr>
          <a:xfrm>
            <a:off x="7028713" y="3930485"/>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Arrow: Right 167">
            <a:extLst>
              <a:ext uri="{FF2B5EF4-FFF2-40B4-BE49-F238E27FC236}">
                <a16:creationId xmlns:a16="http://schemas.microsoft.com/office/drawing/2014/main" id="{CD24A65E-4CA4-1500-C169-8BB701D3DDA4}"/>
              </a:ext>
            </a:extLst>
          </p:cNvPr>
          <p:cNvSpPr/>
          <p:nvPr/>
        </p:nvSpPr>
        <p:spPr>
          <a:xfrm>
            <a:off x="9625455" y="3930484"/>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006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204" grpId="0"/>
      <p:bldP spid="3" grpId="0"/>
      <p:bldP spid="155" grpId="0" animBg="1"/>
      <p:bldP spid="156" grpId="0" animBg="1"/>
      <p:bldP spid="157" grpId="0" animBg="1"/>
      <p:bldP spid="158" grpId="0" animBg="1"/>
      <p:bldP spid="159" grpId="0"/>
      <p:bldP spid="160" grpId="0"/>
      <p:bldP spid="165" grpId="0" animBg="1"/>
      <p:bldP spid="166" grpId="0" animBg="1"/>
      <p:bldP spid="16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46032-EDF2-D281-C040-3C044D96B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A9D56-4FB3-8A61-BEE9-F0780EDBFEE6}"/>
              </a:ext>
            </a:extLst>
          </p:cNvPr>
          <p:cNvSpPr>
            <a:spLocks noGrp="1"/>
          </p:cNvSpPr>
          <p:nvPr>
            <p:ph type="title"/>
          </p:nvPr>
        </p:nvSpPr>
        <p:spPr>
          <a:xfrm>
            <a:off x="144077" y="328838"/>
            <a:ext cx="11903845" cy="683617"/>
          </a:xfrm>
        </p:spPr>
        <p:txBody>
          <a:bodyPr>
            <a:normAutofit/>
          </a:bodyPr>
          <a:lstStyle/>
          <a:p>
            <a:r>
              <a:rPr lang="en-US" sz="4000" dirty="0">
                <a:latin typeface="Segoe"/>
              </a:rPr>
              <a:t>Predictive Models for CV</a:t>
            </a:r>
          </a:p>
        </p:txBody>
      </p:sp>
      <mc:AlternateContent xmlns:mc="http://schemas.openxmlformats.org/markup-compatibility/2006" xmlns:a14="http://schemas.microsoft.com/office/drawing/2010/main">
        <mc:Choice Requires="a14">
          <p:sp>
            <p:nvSpPr>
              <p:cNvPr id="330" name="TextBox 329">
                <a:extLst>
                  <a:ext uri="{FF2B5EF4-FFF2-40B4-BE49-F238E27FC236}">
                    <a16:creationId xmlns:a16="http://schemas.microsoft.com/office/drawing/2014/main" id="{6C48C3EC-8EBA-F0E5-9145-6A579FB9A119}"/>
                  </a:ext>
                </a:extLst>
              </p:cNvPr>
              <p:cNvSpPr txBox="1"/>
              <p:nvPr/>
            </p:nvSpPr>
            <p:spPr>
              <a:xfrm>
                <a:off x="144077" y="922098"/>
                <a:ext cx="11163815" cy="1139864"/>
              </a:xfrm>
              <a:prstGeom prst="rect">
                <a:avLst/>
              </a:prstGeom>
              <a:noFill/>
            </p:spPr>
            <p:txBody>
              <a:bodyPr wrap="square" rtlCol="0">
                <a:spAutoFit/>
              </a:bodyPr>
              <a:lstStyle/>
              <a:p>
                <a:r>
                  <a:rPr lang="en-US" sz="2800" dirty="0"/>
                  <a:t>Generative CV task applies </a:t>
                </a:r>
                <a:r>
                  <a:rPr lang="en-US" sz="2800" dirty="0" err="1"/>
                  <a:t>gnererator</a:t>
                </a:r>
                <a:r>
                  <a:rPr lang="en-US" sz="2800" dirty="0"/>
                  <a:t>,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𝑄</m:t>
                        </m:r>
                      </m:e>
                    </m:acc>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ea typeface="Cambria Math" panose="02040503050406030204" pitchFamily="18" charset="0"/>
                          </a:rPr>
                          <m:t>𝜑</m:t>
                        </m:r>
                      </m:sub>
                    </m:sSub>
                    <m:r>
                      <a:rPr lang="en-US" sz="2800">
                        <a:latin typeface="Cambria Math" panose="02040503050406030204" pitchFamily="18" charset="0"/>
                      </a:rPr>
                      <m:t>(</m:t>
                    </m:r>
                    <m:r>
                      <a:rPr lang="en-US" sz="2800" i="1">
                        <a:latin typeface="Cambria Math" panose="02040503050406030204" pitchFamily="18" charset="0"/>
                      </a:rPr>
                      <m:t>𝑍</m:t>
                    </m:r>
                    <m:r>
                      <a:rPr lang="en-US" sz="2800" i="1">
                        <a:latin typeface="Cambria Math" panose="02040503050406030204" pitchFamily="18" charset="0"/>
                      </a:rPr>
                      <m:t>)</m:t>
                    </m:r>
                  </m:oMath>
                </a14:m>
                <a:r>
                  <a:rPr lang="en-US" sz="2800" dirty="0"/>
                  <a:t>, to learned latent space or feature map, </a:t>
                </a:r>
                <a14:m>
                  <m:oMath xmlns:m="http://schemas.openxmlformats.org/officeDocument/2006/math">
                    <m:r>
                      <m:rPr>
                        <m:sty m:val="p"/>
                      </m:rPr>
                      <a:rPr lang="en-US" sz="2800">
                        <a:latin typeface="Cambria Math" panose="02040503050406030204" pitchFamily="18" charset="0"/>
                      </a:rPr>
                      <m:t>p</m:t>
                    </m:r>
                    <m:d>
                      <m:dPr>
                        <m:ctrlPr>
                          <a:rPr lang="en-US" sz="2800" i="1">
                            <a:latin typeface="Cambria Math" panose="02040503050406030204" pitchFamily="18" charset="0"/>
                          </a:rPr>
                        </m:ctrlPr>
                      </m:dPr>
                      <m:e>
                        <m:r>
                          <m:rPr>
                            <m:sty m:val="p"/>
                          </m:rPr>
                          <a:rPr lang="en-US" sz="2800">
                            <a:latin typeface="Cambria Math" panose="02040503050406030204" pitchFamily="18" charset="0"/>
                          </a:rPr>
                          <m:t>Z</m:t>
                        </m:r>
                      </m:e>
                    </m:d>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ea typeface="Cambria Math" panose="02040503050406030204" pitchFamily="18" charset="0"/>
                          </a:rPr>
                          <m:t>𝜃</m:t>
                        </m:r>
                      </m:sub>
                    </m:sSub>
                    <m:r>
                      <a:rPr lang="en-US" sz="2800">
                        <a:latin typeface="Cambria Math" panose="02040503050406030204" pitchFamily="18" charset="0"/>
                      </a:rPr>
                      <m:t>(</m:t>
                    </m:r>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𝑋</m:t>
                        </m:r>
                      </m:e>
                    </m:d>
                  </m:oMath>
                </a14:m>
                <a:r>
                  <a:rPr lang="en-US" sz="3600" dirty="0"/>
                  <a:t> </a:t>
                </a:r>
              </a:p>
            </p:txBody>
          </p:sp>
        </mc:Choice>
        <mc:Fallback xmlns="">
          <p:sp>
            <p:nvSpPr>
              <p:cNvPr id="330" name="TextBox 329">
                <a:extLst>
                  <a:ext uri="{FF2B5EF4-FFF2-40B4-BE49-F238E27FC236}">
                    <a16:creationId xmlns:a16="http://schemas.microsoft.com/office/drawing/2014/main" id="{6C48C3EC-8EBA-F0E5-9145-6A579FB9A119}"/>
                  </a:ext>
                </a:extLst>
              </p:cNvPr>
              <p:cNvSpPr txBox="1">
                <a:spLocks noRot="1" noChangeAspect="1" noMove="1" noResize="1" noEditPoints="1" noAdjustHandles="1" noChangeArrowheads="1" noChangeShapeType="1" noTextEdit="1"/>
              </p:cNvSpPr>
              <p:nvPr/>
            </p:nvSpPr>
            <p:spPr>
              <a:xfrm>
                <a:off x="144077" y="922098"/>
                <a:ext cx="11163815" cy="1139864"/>
              </a:xfrm>
              <a:prstGeom prst="rect">
                <a:avLst/>
              </a:prstGeom>
              <a:blipFill>
                <a:blip r:embed="rId3"/>
                <a:stretch>
                  <a:fillRect l="-1147" t="-2674" r="-1038" b="-1176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F378284-F3D2-8115-3AC8-498E365F92C6}"/>
              </a:ext>
            </a:extLst>
          </p:cNvPr>
          <p:cNvPicPr preferRelativeResize="0">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960" y="4067324"/>
            <a:ext cx="1483778" cy="1217092"/>
          </a:xfrm>
          <a:prstGeom prst="rect">
            <a:avLst/>
          </a:prstGeom>
        </p:spPr>
      </p:pic>
      <p:sp>
        <p:nvSpPr>
          <p:cNvPr id="5" name="TextBox 4">
            <a:extLst>
              <a:ext uri="{FF2B5EF4-FFF2-40B4-BE49-F238E27FC236}">
                <a16:creationId xmlns:a16="http://schemas.microsoft.com/office/drawing/2014/main" id="{9859D0A5-DFE5-51C5-CE76-59DE8C65DF25}"/>
              </a:ext>
            </a:extLst>
          </p:cNvPr>
          <p:cNvSpPr txBox="1"/>
          <p:nvPr/>
        </p:nvSpPr>
        <p:spPr>
          <a:xfrm>
            <a:off x="360508" y="5374732"/>
            <a:ext cx="1055270" cy="830997"/>
          </a:xfrm>
          <a:prstGeom prst="rect">
            <a:avLst/>
          </a:prstGeom>
          <a:noFill/>
        </p:spPr>
        <p:txBody>
          <a:bodyPr wrap="square" rtlCol="0">
            <a:spAutoFit/>
          </a:bodyPr>
          <a:lstStyle/>
          <a:p>
            <a:pPr algn="ctr"/>
            <a:r>
              <a:rPr lang="en-US" sz="2400" dirty="0"/>
              <a:t>Input Image</a:t>
            </a:r>
            <a:endParaRPr lang="en-US" sz="2400" b="1" dirty="0"/>
          </a:p>
        </p:txBody>
      </p:sp>
      <p:sp>
        <p:nvSpPr>
          <p:cNvPr id="6" name="Arrow: Right 5">
            <a:extLst>
              <a:ext uri="{FF2B5EF4-FFF2-40B4-BE49-F238E27FC236}">
                <a16:creationId xmlns:a16="http://schemas.microsoft.com/office/drawing/2014/main" id="{01D469E0-53B8-D8C1-AD42-FB3E964B4312}"/>
              </a:ext>
            </a:extLst>
          </p:cNvPr>
          <p:cNvSpPr/>
          <p:nvPr/>
        </p:nvSpPr>
        <p:spPr>
          <a:xfrm>
            <a:off x="1845204" y="4417550"/>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37C8FE-A2D4-F7B9-7F4F-EDF706082EFD}"/>
                  </a:ext>
                </a:extLst>
              </p:cNvPr>
              <p:cNvSpPr txBox="1"/>
              <p:nvPr/>
            </p:nvSpPr>
            <p:spPr>
              <a:xfrm>
                <a:off x="339353" y="2903331"/>
                <a:ext cx="1904514" cy="1015663"/>
              </a:xfrm>
              <a:prstGeom prst="rect">
                <a:avLst/>
              </a:prstGeom>
              <a:noFill/>
            </p:spPr>
            <p:txBody>
              <a:bodyPr wrap="square" rtlCol="0">
                <a:spAutoFit/>
              </a:bodyPr>
              <a:lstStyle/>
              <a:p>
                <a:r>
                  <a:rPr lang="en-US" sz="2000" dirty="0"/>
                  <a:t>Image, </a:t>
                </a:r>
                <a14:m>
                  <m:oMath xmlns:m="http://schemas.openxmlformats.org/officeDocument/2006/math">
                    <m:r>
                      <a:rPr lang="en-US" sz="2000" b="0" i="1" smtClean="0">
                        <a:latin typeface="Cambria Math" panose="02040503050406030204" pitchFamily="18" charset="0"/>
                      </a:rPr>
                      <m:t>𝑥</m:t>
                    </m:r>
                  </m:oMath>
                </a14:m>
                <a:r>
                  <a:rPr lang="en-US" sz="2000" dirty="0"/>
                  <a:t>, with distribution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oMath>
                </a14:m>
                <a:r>
                  <a:rPr lang="en-US" sz="2000" dirty="0"/>
                  <a:t> </a:t>
                </a:r>
              </a:p>
            </p:txBody>
          </p:sp>
        </mc:Choice>
        <mc:Fallback xmlns="">
          <p:sp>
            <p:nvSpPr>
              <p:cNvPr id="7" name="TextBox 6">
                <a:extLst>
                  <a:ext uri="{FF2B5EF4-FFF2-40B4-BE49-F238E27FC236}">
                    <a16:creationId xmlns:a16="http://schemas.microsoft.com/office/drawing/2014/main" id="{5837C8FE-A2D4-F7B9-7F4F-EDF706082EFD}"/>
                  </a:ext>
                </a:extLst>
              </p:cNvPr>
              <p:cNvSpPr txBox="1">
                <a:spLocks noRot="1" noChangeAspect="1" noMove="1" noResize="1" noEditPoints="1" noAdjustHandles="1" noChangeArrowheads="1" noChangeShapeType="1" noTextEdit="1"/>
              </p:cNvSpPr>
              <p:nvPr/>
            </p:nvSpPr>
            <p:spPr>
              <a:xfrm>
                <a:off x="339353" y="2903331"/>
                <a:ext cx="1904514" cy="1015663"/>
              </a:xfrm>
              <a:prstGeom prst="rect">
                <a:avLst/>
              </a:prstGeom>
              <a:blipFill>
                <a:blip r:embed="rId5"/>
                <a:stretch>
                  <a:fillRect l="-3526" t="-2994" b="-5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256E9358-4E9E-B832-7D80-9CF8E620ACA2}"/>
                  </a:ext>
                </a:extLst>
              </p:cNvPr>
              <p:cNvSpPr txBox="1"/>
              <p:nvPr/>
            </p:nvSpPr>
            <p:spPr>
              <a:xfrm>
                <a:off x="4947453" y="2670946"/>
                <a:ext cx="2102070" cy="1015663"/>
              </a:xfrm>
              <a:prstGeom prst="rect">
                <a:avLst/>
              </a:prstGeom>
              <a:noFill/>
            </p:spPr>
            <p:txBody>
              <a:bodyPr wrap="square" rtlCol="0">
                <a:spAutoFit/>
              </a:bodyPr>
              <a:lstStyle/>
              <a:p>
                <a:r>
                  <a:rPr lang="en-US" sz="2000" dirty="0"/>
                  <a:t>Multidimensional latent space  </a:t>
                </a:r>
                <a14:m>
                  <m:oMath xmlns:m="http://schemas.openxmlformats.org/officeDocument/2006/math">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Z</m:t>
                        </m:r>
                      </m:e>
                    </m:d>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𝜃</m:t>
                        </m:r>
                      </m:sub>
                    </m:sSub>
                    <m:r>
                      <a:rPr lang="en-US" sz="2000" b="0" i="0" smtClean="0">
                        <a:latin typeface="Cambria Math" panose="02040503050406030204" pitchFamily="18" charset="0"/>
                      </a:rPr>
                      <m:t>(</m:t>
                    </m:r>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US" sz="2000" dirty="0"/>
                  <a:t> </a:t>
                </a:r>
              </a:p>
            </p:txBody>
          </p:sp>
        </mc:Choice>
        <mc:Fallback xmlns="">
          <p:sp>
            <p:nvSpPr>
              <p:cNvPr id="204" name="TextBox 203">
                <a:extLst>
                  <a:ext uri="{FF2B5EF4-FFF2-40B4-BE49-F238E27FC236}">
                    <a16:creationId xmlns:a16="http://schemas.microsoft.com/office/drawing/2014/main" id="{256E9358-4E9E-B832-7D80-9CF8E620ACA2}"/>
                  </a:ext>
                </a:extLst>
              </p:cNvPr>
              <p:cNvSpPr txBox="1">
                <a:spLocks noRot="1" noChangeAspect="1" noMove="1" noResize="1" noEditPoints="1" noAdjustHandles="1" noChangeArrowheads="1" noChangeShapeType="1" noTextEdit="1"/>
              </p:cNvSpPr>
              <p:nvPr/>
            </p:nvSpPr>
            <p:spPr>
              <a:xfrm>
                <a:off x="4947453" y="2670946"/>
                <a:ext cx="2102070" cy="1015663"/>
              </a:xfrm>
              <a:prstGeom prst="rect">
                <a:avLst/>
              </a:prstGeom>
              <a:blipFill>
                <a:blip r:embed="rId6"/>
                <a:stretch>
                  <a:fillRect l="-3198" t="-2994" r="-872" b="-9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44F3681-422C-F72D-954E-0AB6F4B06D12}"/>
                  </a:ext>
                </a:extLst>
              </p:cNvPr>
              <p:cNvSpPr txBox="1"/>
              <p:nvPr/>
            </p:nvSpPr>
            <p:spPr>
              <a:xfrm>
                <a:off x="7343131" y="2438076"/>
                <a:ext cx="2362563" cy="1350754"/>
              </a:xfrm>
              <a:prstGeom prst="rect">
                <a:avLst/>
              </a:prstGeom>
              <a:noFill/>
            </p:spPr>
            <p:txBody>
              <a:bodyPr wrap="square" rtlCol="0">
                <a:spAutoFit/>
              </a:bodyPr>
              <a:lstStyle/>
              <a:p>
                <a:r>
                  <a:rPr lang="en-US" sz="2000" dirty="0"/>
                  <a:t>Generator or decoder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𝑞</m:t>
                        </m:r>
                      </m:e>
                    </m:acc>
                    <m:r>
                      <a:rPr lang="en-US" sz="2000" b="0" i="0" smtClean="0">
                        <a:latin typeface="Cambria Math" panose="02040503050406030204" pitchFamily="18" charset="0"/>
                      </a:rPr>
                      <m:t>=</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𝜑</m:t>
                        </m:r>
                      </m:sub>
                    </m:sSub>
                    <m:r>
                      <a:rPr lang="en-US" sz="2000" b="0" i="0" smtClean="0">
                        <a:latin typeface="Cambria Math" panose="02040503050406030204" pitchFamily="18" charset="0"/>
                      </a:rPr>
                      <m:t>(</m:t>
                    </m:r>
                    <m:r>
                      <a:rPr lang="en-US" sz="2000" b="0" i="1" smtClean="0">
                        <a:latin typeface="Cambria Math" panose="02040503050406030204" pitchFamily="18" charset="0"/>
                      </a:rPr>
                      <m:t>𝑍</m:t>
                    </m:r>
                    <m:r>
                      <a:rPr lang="en-US" sz="2000" b="0" i="1" smtClean="0">
                        <a:latin typeface="Cambria Math" panose="02040503050406030204" pitchFamily="18" charset="0"/>
                      </a:rPr>
                      <m:t>)</m:t>
                    </m:r>
                  </m:oMath>
                </a14:m>
                <a:r>
                  <a:rPr lang="en-US" sz="2000" dirty="0"/>
                  <a:t> with learnable parameters </a:t>
                </a:r>
                <a14:m>
                  <m:oMath xmlns:m="http://schemas.openxmlformats.org/officeDocument/2006/math">
                    <m:r>
                      <a:rPr lang="en-US" sz="2000" i="1" smtClean="0">
                        <a:latin typeface="Cambria Math" panose="02040503050406030204" pitchFamily="18" charset="0"/>
                        <a:ea typeface="Cambria Math" panose="02040503050406030204" pitchFamily="18" charset="0"/>
                      </a:rPr>
                      <m:t>𝜑</m:t>
                    </m:r>
                  </m:oMath>
                </a14:m>
                <a:endParaRPr lang="en-US" sz="2000" dirty="0"/>
              </a:p>
            </p:txBody>
          </p:sp>
        </mc:Choice>
        <mc:Fallback xmlns="">
          <p:sp>
            <p:nvSpPr>
              <p:cNvPr id="3" name="TextBox 2">
                <a:extLst>
                  <a:ext uri="{FF2B5EF4-FFF2-40B4-BE49-F238E27FC236}">
                    <a16:creationId xmlns:a16="http://schemas.microsoft.com/office/drawing/2014/main" id="{344F3681-422C-F72D-954E-0AB6F4B06D12}"/>
                  </a:ext>
                </a:extLst>
              </p:cNvPr>
              <p:cNvSpPr txBox="1">
                <a:spLocks noRot="1" noChangeAspect="1" noMove="1" noResize="1" noEditPoints="1" noAdjustHandles="1" noChangeArrowheads="1" noChangeShapeType="1" noTextEdit="1"/>
              </p:cNvSpPr>
              <p:nvPr/>
            </p:nvSpPr>
            <p:spPr>
              <a:xfrm>
                <a:off x="7343131" y="2438076"/>
                <a:ext cx="2362563" cy="1350754"/>
              </a:xfrm>
              <a:prstGeom prst="rect">
                <a:avLst/>
              </a:prstGeom>
              <a:blipFill>
                <a:blip r:embed="rId7"/>
                <a:stretch>
                  <a:fillRect l="-2842" t="-2703" b="-72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Rectangle: Rounded Corners 154">
                <a:extLst>
                  <a:ext uri="{FF2B5EF4-FFF2-40B4-BE49-F238E27FC236}">
                    <a16:creationId xmlns:a16="http://schemas.microsoft.com/office/drawing/2014/main" id="{D9CE59BB-4A32-8E86-0506-DC462B5CFB66}"/>
                  </a:ext>
                </a:extLst>
              </p:cNvPr>
              <p:cNvSpPr/>
              <p:nvPr/>
            </p:nvSpPr>
            <p:spPr>
              <a:xfrm>
                <a:off x="2487716" y="3822361"/>
                <a:ext cx="1876647" cy="17070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𝑓</m:t>
                          </m:r>
                        </m:e>
                        <m:sub>
                          <m:r>
                            <a:rPr lang="en-US" sz="2800" i="1">
                              <a:solidFill>
                                <a:schemeClr val="tx1"/>
                              </a:solidFill>
                              <a:latin typeface="Cambria Math" panose="02040503050406030204" pitchFamily="18" charset="0"/>
                              <a:ea typeface="Cambria Math" panose="02040503050406030204" pitchFamily="18" charset="0"/>
                            </a:rPr>
                            <m:t>𝜃</m:t>
                          </m:r>
                        </m:sub>
                      </m:sSub>
                      <m:r>
                        <a:rPr lang="en-US" sz="280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𝑝</m:t>
                      </m:r>
                      <m:d>
                        <m:dPr>
                          <m:ctrlPr>
                            <a:rPr lang="en-US" sz="2800" i="1">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e>
                      </m:d>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155" name="Rectangle: Rounded Corners 154">
                <a:extLst>
                  <a:ext uri="{FF2B5EF4-FFF2-40B4-BE49-F238E27FC236}">
                    <a16:creationId xmlns:a16="http://schemas.microsoft.com/office/drawing/2014/main" id="{D9CE59BB-4A32-8E86-0506-DC462B5CFB66}"/>
                  </a:ext>
                </a:extLst>
              </p:cNvPr>
              <p:cNvSpPr>
                <a:spLocks noRot="1" noChangeAspect="1" noMove="1" noResize="1" noEditPoints="1" noAdjustHandles="1" noChangeArrowheads="1" noChangeShapeType="1" noTextEdit="1"/>
              </p:cNvSpPr>
              <p:nvPr/>
            </p:nvSpPr>
            <p:spPr>
              <a:xfrm>
                <a:off x="2487716" y="3822361"/>
                <a:ext cx="1876647" cy="1707017"/>
              </a:xfrm>
              <a:prstGeom prst="roundRect">
                <a:avLst/>
              </a:prstGeom>
              <a:blipFill>
                <a:blip r:embed="rId8"/>
                <a:stretch>
                  <a:fillRect/>
                </a:stretch>
              </a:blipFill>
            </p:spPr>
            <p:txBody>
              <a:bodyPr/>
              <a:lstStyle/>
              <a:p>
                <a:r>
                  <a:rPr lang="en-US">
                    <a:noFill/>
                  </a:rPr>
                  <a:t> </a:t>
                </a:r>
              </a:p>
            </p:txBody>
          </p:sp>
        </mc:Fallback>
      </mc:AlternateContent>
      <p:sp>
        <p:nvSpPr>
          <p:cNvPr id="156" name="Rectangle: Rounded Corners 155">
            <a:extLst>
              <a:ext uri="{FF2B5EF4-FFF2-40B4-BE49-F238E27FC236}">
                <a16:creationId xmlns:a16="http://schemas.microsoft.com/office/drawing/2014/main" id="{CE0743C6-6ABD-12F4-DC7A-7331B1FA86BE}"/>
              </a:ext>
            </a:extLst>
          </p:cNvPr>
          <p:cNvSpPr/>
          <p:nvPr/>
        </p:nvSpPr>
        <p:spPr>
          <a:xfrm>
            <a:off x="5013874" y="3822361"/>
            <a:ext cx="1876647" cy="1707017"/>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z</a:t>
            </a:r>
          </a:p>
        </p:txBody>
      </p:sp>
      <mc:AlternateContent xmlns:mc="http://schemas.openxmlformats.org/markup-compatibility/2006" xmlns:a14="http://schemas.microsoft.com/office/drawing/2010/main">
        <mc:Choice Requires="a14">
          <p:sp>
            <p:nvSpPr>
              <p:cNvPr id="157" name="Rectangle: Rounded Corners 156">
                <a:extLst>
                  <a:ext uri="{FF2B5EF4-FFF2-40B4-BE49-F238E27FC236}">
                    <a16:creationId xmlns:a16="http://schemas.microsoft.com/office/drawing/2014/main" id="{AFF005A8-E475-49F3-D7C2-26B5DAC2BCCD}"/>
                  </a:ext>
                </a:extLst>
              </p:cNvPr>
              <p:cNvSpPr/>
              <p:nvPr/>
            </p:nvSpPr>
            <p:spPr>
              <a:xfrm>
                <a:off x="7586090" y="3822361"/>
                <a:ext cx="1876647" cy="17070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𝑔</m:t>
                          </m:r>
                        </m:e>
                        <m:sub>
                          <m:r>
                            <a:rPr lang="en-US" sz="2800" i="1">
                              <a:solidFill>
                                <a:schemeClr val="tx1"/>
                              </a:solidFill>
                              <a:latin typeface="Cambria Math" panose="02040503050406030204" pitchFamily="18" charset="0"/>
                              <a:ea typeface="Cambria Math" panose="02040503050406030204" pitchFamily="18" charset="0"/>
                            </a:rPr>
                            <m:t>𝜑</m:t>
                          </m:r>
                        </m:sub>
                      </m:sSub>
                      <m:r>
                        <a:rPr lang="en-US" sz="280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𝑧</m:t>
                      </m:r>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157" name="Rectangle: Rounded Corners 156">
                <a:extLst>
                  <a:ext uri="{FF2B5EF4-FFF2-40B4-BE49-F238E27FC236}">
                    <a16:creationId xmlns:a16="http://schemas.microsoft.com/office/drawing/2014/main" id="{AFF005A8-E475-49F3-D7C2-26B5DAC2BCCD}"/>
                  </a:ext>
                </a:extLst>
              </p:cNvPr>
              <p:cNvSpPr>
                <a:spLocks noRot="1" noChangeAspect="1" noMove="1" noResize="1" noEditPoints="1" noAdjustHandles="1" noChangeArrowheads="1" noChangeShapeType="1" noTextEdit="1"/>
              </p:cNvSpPr>
              <p:nvPr/>
            </p:nvSpPr>
            <p:spPr>
              <a:xfrm>
                <a:off x="7586090" y="3822361"/>
                <a:ext cx="1876647" cy="1707017"/>
              </a:xfrm>
              <a:prstGeom prst="round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110B2236-7695-7D31-C3EB-A84694D55031}"/>
                  </a:ext>
                </a:extLst>
              </p:cNvPr>
              <p:cNvSpPr txBox="1"/>
              <p:nvPr/>
            </p:nvSpPr>
            <p:spPr>
              <a:xfrm>
                <a:off x="2423860" y="2363170"/>
                <a:ext cx="2402636" cy="1323439"/>
              </a:xfrm>
              <a:prstGeom prst="rect">
                <a:avLst/>
              </a:prstGeom>
              <a:noFill/>
            </p:spPr>
            <p:txBody>
              <a:bodyPr wrap="square" rtlCol="0">
                <a:spAutoFit/>
              </a:bodyPr>
              <a:lstStyle/>
              <a:p>
                <a:r>
                  <a:rPr lang="en-US" sz="2000" dirty="0"/>
                  <a:t>Encoder for embedding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𝜃</m:t>
                        </m:r>
                      </m:sub>
                    </m:sSub>
                    <m:r>
                      <a:rPr lang="en-US" sz="2000" b="0" i="0" smtClean="0">
                        <a:latin typeface="Cambria Math" panose="02040503050406030204" pitchFamily="18" charset="0"/>
                      </a:rPr>
                      <m:t>(</m:t>
                    </m:r>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m:t>
                    </m:r>
                  </m:oMath>
                </a14:m>
                <a:r>
                  <a:rPr lang="en-US" sz="2000" dirty="0"/>
                  <a:t>  with learnable parameters </a:t>
                </a:r>
                <a14:m>
                  <m:oMath xmlns:m="http://schemas.openxmlformats.org/officeDocument/2006/math">
                    <m:r>
                      <a:rPr lang="en-US" sz="2000" i="1" smtClean="0">
                        <a:latin typeface="Cambria Math" panose="02040503050406030204" pitchFamily="18" charset="0"/>
                        <a:ea typeface="Cambria Math" panose="02040503050406030204" pitchFamily="18" charset="0"/>
                      </a:rPr>
                      <m:t>𝜃</m:t>
                    </m:r>
                  </m:oMath>
                </a14:m>
                <a:endParaRPr lang="en-US" sz="2000" dirty="0"/>
              </a:p>
            </p:txBody>
          </p:sp>
        </mc:Choice>
        <mc:Fallback xmlns="">
          <p:sp>
            <p:nvSpPr>
              <p:cNvPr id="159" name="TextBox 158">
                <a:extLst>
                  <a:ext uri="{FF2B5EF4-FFF2-40B4-BE49-F238E27FC236}">
                    <a16:creationId xmlns:a16="http://schemas.microsoft.com/office/drawing/2014/main" id="{110B2236-7695-7D31-C3EB-A84694D55031}"/>
                  </a:ext>
                </a:extLst>
              </p:cNvPr>
              <p:cNvSpPr txBox="1">
                <a:spLocks noRot="1" noChangeAspect="1" noMove="1" noResize="1" noEditPoints="1" noAdjustHandles="1" noChangeArrowheads="1" noChangeShapeType="1" noTextEdit="1"/>
              </p:cNvSpPr>
              <p:nvPr/>
            </p:nvSpPr>
            <p:spPr>
              <a:xfrm>
                <a:off x="2423860" y="2363170"/>
                <a:ext cx="2402636" cy="1323439"/>
              </a:xfrm>
              <a:prstGeom prst="rect">
                <a:avLst/>
              </a:prstGeom>
              <a:blipFill>
                <a:blip r:embed="rId10"/>
                <a:stretch>
                  <a:fillRect l="-2792" t="-2765" r="-254" b="-7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7296CE8D-C512-B44F-E201-E2E31D19EE1D}"/>
                  </a:ext>
                </a:extLst>
              </p:cNvPr>
              <p:cNvSpPr txBox="1"/>
              <p:nvPr/>
            </p:nvSpPr>
            <p:spPr>
              <a:xfrm>
                <a:off x="9948133" y="2494679"/>
                <a:ext cx="2041652" cy="1368195"/>
              </a:xfrm>
              <a:prstGeom prst="rect">
                <a:avLst/>
              </a:prstGeom>
              <a:noFill/>
            </p:spPr>
            <p:txBody>
              <a:bodyPr wrap="square" rtlCol="0">
                <a:spAutoFit/>
              </a:bodyPr>
              <a:lstStyle/>
              <a:p>
                <a:r>
                  <a:rPr lang="en-US" sz="2000" dirty="0"/>
                  <a:t>Generated image with learned distribution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𝑄</m:t>
                        </m:r>
                      </m:e>
                    </m:ac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𝜑</m:t>
                        </m:r>
                      </m:sub>
                    </m:sSub>
                    <m:r>
                      <a:rPr lang="en-US" sz="2000" b="0" i="1" smtClean="0">
                        <a:latin typeface="Cambria Math" panose="02040503050406030204" pitchFamily="18" charset="0"/>
                      </a:rPr>
                      <m:t>(</m:t>
                    </m:r>
                    <m:r>
                      <a:rPr lang="en-US" sz="2000" b="0" i="1" smtClean="0">
                        <a:latin typeface="Cambria Math" panose="02040503050406030204" pitchFamily="18" charset="0"/>
                      </a:rPr>
                      <m:t>𝑍</m:t>
                    </m:r>
                    <m:r>
                      <a:rPr lang="en-US" sz="2000" b="0" i="1" smtClean="0">
                        <a:latin typeface="Cambria Math" panose="02040503050406030204" pitchFamily="18" charset="0"/>
                      </a:rPr>
                      <m:t>)</m:t>
                    </m:r>
                  </m:oMath>
                </a14:m>
                <a:r>
                  <a:rPr lang="en-US" sz="2000" dirty="0"/>
                  <a:t> </a:t>
                </a:r>
              </a:p>
            </p:txBody>
          </p:sp>
        </mc:Choice>
        <mc:Fallback xmlns="">
          <p:sp>
            <p:nvSpPr>
              <p:cNvPr id="160" name="TextBox 159">
                <a:extLst>
                  <a:ext uri="{FF2B5EF4-FFF2-40B4-BE49-F238E27FC236}">
                    <a16:creationId xmlns:a16="http://schemas.microsoft.com/office/drawing/2014/main" id="{7296CE8D-C512-B44F-E201-E2E31D19EE1D}"/>
                  </a:ext>
                </a:extLst>
              </p:cNvPr>
              <p:cNvSpPr txBox="1">
                <a:spLocks noRot="1" noChangeAspect="1" noMove="1" noResize="1" noEditPoints="1" noAdjustHandles="1" noChangeArrowheads="1" noChangeShapeType="1" noTextEdit="1"/>
              </p:cNvSpPr>
              <p:nvPr/>
            </p:nvSpPr>
            <p:spPr>
              <a:xfrm>
                <a:off x="9948133" y="2494679"/>
                <a:ext cx="2041652" cy="1368195"/>
              </a:xfrm>
              <a:prstGeom prst="rect">
                <a:avLst/>
              </a:prstGeom>
              <a:blipFill>
                <a:blip r:embed="rId11"/>
                <a:stretch>
                  <a:fillRect l="-3284" t="-2222" r="-1791" b="-1778"/>
                </a:stretch>
              </a:blipFill>
            </p:spPr>
            <p:txBody>
              <a:bodyPr/>
              <a:lstStyle/>
              <a:p>
                <a:r>
                  <a:rPr lang="en-US">
                    <a:noFill/>
                  </a:rPr>
                  <a:t> </a:t>
                </a:r>
              </a:p>
            </p:txBody>
          </p:sp>
        </mc:Fallback>
      </mc:AlternateContent>
      <p:sp>
        <p:nvSpPr>
          <p:cNvPr id="165" name="Arrow: Right 164">
            <a:extLst>
              <a:ext uri="{FF2B5EF4-FFF2-40B4-BE49-F238E27FC236}">
                <a16:creationId xmlns:a16="http://schemas.microsoft.com/office/drawing/2014/main" id="{0D11DCEC-FB42-72B5-FCBA-7F8C8B42E943}"/>
              </a:ext>
            </a:extLst>
          </p:cNvPr>
          <p:cNvSpPr/>
          <p:nvPr/>
        </p:nvSpPr>
        <p:spPr>
          <a:xfrm>
            <a:off x="4412809" y="4438615"/>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6" name="Arrow: Right 165">
            <a:extLst>
              <a:ext uri="{FF2B5EF4-FFF2-40B4-BE49-F238E27FC236}">
                <a16:creationId xmlns:a16="http://schemas.microsoft.com/office/drawing/2014/main" id="{A3AAE706-9B10-05CC-E0F7-2E17A07E37AA}"/>
              </a:ext>
            </a:extLst>
          </p:cNvPr>
          <p:cNvSpPr/>
          <p:nvPr/>
        </p:nvSpPr>
        <p:spPr>
          <a:xfrm>
            <a:off x="6935339" y="4438615"/>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Arrow: Right 167">
            <a:extLst>
              <a:ext uri="{FF2B5EF4-FFF2-40B4-BE49-F238E27FC236}">
                <a16:creationId xmlns:a16="http://schemas.microsoft.com/office/drawing/2014/main" id="{3640927E-5C1D-0B77-A9B0-7717FEA192B1}"/>
              </a:ext>
            </a:extLst>
          </p:cNvPr>
          <p:cNvSpPr/>
          <p:nvPr/>
        </p:nvSpPr>
        <p:spPr>
          <a:xfrm>
            <a:off x="9532081" y="4438614"/>
            <a:ext cx="578656" cy="474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1E39F71-E2E1-8930-0FAD-A746E94515DF}"/>
              </a:ext>
            </a:extLst>
          </p:cNvPr>
          <p:cNvPicPr preferRelativeResize="0">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0110737" y="4067321"/>
            <a:ext cx="1483777" cy="1217092"/>
          </a:xfrm>
          <a:prstGeom prst="rect">
            <a:avLst/>
          </a:prstGeom>
        </p:spPr>
      </p:pic>
    </p:spTree>
    <p:extLst>
      <p:ext uri="{BB962C8B-B14F-4D97-AF65-F5344CB8AC3E}">
        <p14:creationId xmlns:p14="http://schemas.microsoft.com/office/powerpoint/2010/main" val="80513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204" grpId="0"/>
      <p:bldP spid="3" grpId="0"/>
      <p:bldP spid="155" grpId="0" animBg="1"/>
      <p:bldP spid="156" grpId="0" animBg="1"/>
      <p:bldP spid="157" grpId="0" animBg="1"/>
      <p:bldP spid="159" grpId="0"/>
      <p:bldP spid="160" grpId="0"/>
      <p:bldP spid="165" grpId="0" animBg="1"/>
      <p:bldP spid="166" grpId="0" animBg="1"/>
      <p:bldP spid="16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C777-AF74-8A14-A08D-25FED50C48B3}"/>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57103B7-E80E-8ABB-81CF-93A9AB07D4A7}"/>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An increasing number of CV tasks can be preformed with a predictive or generative framework </a:t>
            </a:r>
          </a:p>
          <a:p>
            <a:r>
              <a:rPr lang="en-GB" sz="2800" dirty="0">
                <a:latin typeface="+mn-lt"/>
                <a:ea typeface="Segoe UI" panose="020B0502040204020203" pitchFamily="34" charset="0"/>
                <a:cs typeface="Segoe UI" panose="020B0502040204020203" pitchFamily="34" charset="0"/>
              </a:rPr>
              <a:t>Image segmentation</a:t>
            </a:r>
          </a:p>
          <a:p>
            <a:r>
              <a:rPr lang="en-GB" sz="2800" dirty="0">
                <a:latin typeface="+mn-lt"/>
                <a:ea typeface="Segoe UI" panose="020B0502040204020203" pitchFamily="34" charset="0"/>
                <a:cs typeface="Segoe UI" panose="020B0502040204020203" pitchFamily="34" charset="0"/>
              </a:rPr>
              <a:t>Optical flow</a:t>
            </a:r>
          </a:p>
          <a:p>
            <a:r>
              <a:rPr lang="en-GB" sz="2800" dirty="0">
                <a:latin typeface="+mn-lt"/>
                <a:ea typeface="Segoe UI" panose="020B0502040204020203" pitchFamily="34" charset="0"/>
                <a:cs typeface="Segoe UI" panose="020B0502040204020203" pitchFamily="34" charset="0"/>
              </a:rPr>
              <a:t>Super resolution </a:t>
            </a:r>
          </a:p>
          <a:p>
            <a:r>
              <a:rPr lang="en-GB" sz="2800" dirty="0">
                <a:latin typeface="+mn-lt"/>
                <a:ea typeface="Segoe UI" panose="020B0502040204020203" pitchFamily="34" charset="0"/>
                <a:cs typeface="Segoe UI" panose="020B0502040204020203" pitchFamily="34" charset="0"/>
              </a:rPr>
              <a:t>3-D depth maps</a:t>
            </a:r>
          </a:p>
          <a:p>
            <a:r>
              <a:rPr lang="en-GB" sz="2800" dirty="0">
                <a:latin typeface="+mn-lt"/>
                <a:ea typeface="Segoe UI" panose="020B0502040204020203" pitchFamily="34" charset="0"/>
                <a:cs typeface="Segoe UI" panose="020B0502040204020203" pitchFamily="34" charset="0"/>
              </a:rPr>
              <a:t>…</a:t>
            </a: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2F8FBDE7-9A14-7E49-62D7-BE8777F9AD15}"/>
              </a:ext>
            </a:extLst>
          </p:cNvPr>
          <p:cNvSpPr>
            <a:spLocks noGrp="1"/>
          </p:cNvSpPr>
          <p:nvPr>
            <p:ph type="title"/>
          </p:nvPr>
        </p:nvSpPr>
        <p:spPr>
          <a:xfrm>
            <a:off x="0" y="1"/>
            <a:ext cx="11903845" cy="1196787"/>
          </a:xfrm>
        </p:spPr>
        <p:txBody>
          <a:bodyPr>
            <a:normAutofit/>
          </a:bodyPr>
          <a:lstStyle/>
          <a:p>
            <a:br>
              <a:rPr lang="en-US" dirty="0">
                <a:latin typeface="Segoe"/>
              </a:rPr>
            </a:br>
            <a:r>
              <a:rPr lang="en-US" dirty="0">
                <a:latin typeface="Segoe"/>
              </a:rPr>
              <a:t>   </a:t>
            </a:r>
            <a:r>
              <a:rPr lang="en-US" sz="4000" dirty="0">
                <a:latin typeface="+mn-lt"/>
              </a:rPr>
              <a:t>Predictive vs. Generative CV tasks</a:t>
            </a:r>
          </a:p>
        </p:txBody>
      </p:sp>
    </p:spTree>
    <p:extLst>
      <p:ext uri="{BB962C8B-B14F-4D97-AF65-F5344CB8AC3E}">
        <p14:creationId xmlns:p14="http://schemas.microsoft.com/office/powerpoint/2010/main" val="208801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5DE3C-FD7E-8191-85B8-8D7F5E62B7E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A30A1E7-C6DF-D80B-C606-DB0B755C2A42}"/>
              </a:ext>
            </a:extLst>
          </p:cNvPr>
          <p:cNvSpPr>
            <a:spLocks noGrp="1"/>
          </p:cNvSpPr>
          <p:nvPr>
            <p:ph type="subTitle" idx="1"/>
          </p:nvPr>
        </p:nvSpPr>
        <p:spPr>
          <a:xfrm>
            <a:off x="1719942" y="1827533"/>
            <a:ext cx="9364067" cy="2015419"/>
          </a:xfrm>
        </p:spPr>
        <p:txBody>
          <a:bodyPr>
            <a:normAutofit/>
          </a:bodyPr>
          <a:lstStyle/>
          <a:p>
            <a:r>
              <a:rPr lang="en-US" sz="4400" b="1" dirty="0" err="1"/>
              <a:t>Perceptrons</a:t>
            </a:r>
            <a:r>
              <a:rPr lang="en-US" sz="4400" b="1" dirty="0"/>
              <a:t> and Forward Propagation</a:t>
            </a:r>
          </a:p>
        </p:txBody>
      </p:sp>
    </p:spTree>
    <p:extLst>
      <p:ext uri="{BB962C8B-B14F-4D97-AF65-F5344CB8AC3E}">
        <p14:creationId xmlns:p14="http://schemas.microsoft.com/office/powerpoint/2010/main" val="420362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24E8-9EC0-4F0B-BA22-51332C204E64}"/>
              </a:ext>
            </a:extLst>
          </p:cNvPr>
          <p:cNvSpPr>
            <a:spLocks noGrp="1"/>
          </p:cNvSpPr>
          <p:nvPr>
            <p:ph type="title"/>
          </p:nvPr>
        </p:nvSpPr>
        <p:spPr/>
        <p:txBody>
          <a:bodyPr>
            <a:normAutofit/>
          </a:bodyPr>
          <a:lstStyle/>
          <a:p>
            <a:r>
              <a:rPr lang="en-US" sz="4000" dirty="0">
                <a:latin typeface="+mn-lt"/>
                <a:cs typeface="Segoe UI" panose="020B0502040204020203" pitchFamily="34" charset="0"/>
              </a:rPr>
              <a:t>Representation: Linear Neural Network</a:t>
            </a:r>
          </a:p>
        </p:txBody>
      </p:sp>
      <p:sp>
        <p:nvSpPr>
          <p:cNvPr id="3" name="Content Placeholder 2">
            <a:extLst>
              <a:ext uri="{FF2B5EF4-FFF2-40B4-BE49-F238E27FC236}">
                <a16:creationId xmlns:a16="http://schemas.microsoft.com/office/drawing/2014/main" id="{426CA33D-D2BF-447D-9AF0-5845105DE1F4}"/>
              </a:ext>
            </a:extLst>
          </p:cNvPr>
          <p:cNvSpPr>
            <a:spLocks noGrp="1"/>
          </p:cNvSpPr>
          <p:nvPr>
            <p:ph sz="quarter" idx="10"/>
          </p:nvPr>
        </p:nvSpPr>
        <p:spPr>
          <a:xfrm>
            <a:off x="379413" y="871200"/>
            <a:ext cx="11525250" cy="648000"/>
          </a:xfrm>
        </p:spPr>
        <p:txBody>
          <a:bodyPr/>
          <a:lstStyle/>
          <a:p>
            <a:pPr marL="0" indent="0">
              <a:buNone/>
            </a:pPr>
            <a:r>
              <a:rPr lang="en-US" sz="2800" dirty="0">
                <a:latin typeface="+mn-lt"/>
                <a:cs typeface="Segoe UI" panose="020B0502040204020203" pitchFamily="34" charset="0"/>
              </a:rPr>
              <a:t>Proposed by McCulloch and Pitts (1943)</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B8573F09-28DF-4DAD-9870-42A5DA3EDE9C}"/>
                  </a:ext>
                </a:extLst>
              </p:cNvPr>
              <p:cNvSpPr/>
              <p:nvPr/>
            </p:nvSpPr>
            <p:spPr>
              <a:xfrm>
                <a:off x="5125475" y="2208185"/>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solidFill>
                                <a:schemeClr val="tx1"/>
                              </a:solidFill>
                              <a:latin typeface="Cambria Math" panose="02040503050406030204" pitchFamily="18" charset="0"/>
                            </a:rPr>
                          </m:ctrlPr>
                        </m:naryPr>
                        <m:sub/>
                        <m:sup/>
                        <m:e>
                          <m:sSub>
                            <m:sSubPr>
                              <m:ctrlPr>
                                <a:rPr lang="en-US" sz="240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𝑖</m:t>
                              </m:r>
                            </m:sub>
                          </m:sSub>
                          <m:sSub>
                            <m:sSubPr>
                              <m:ctrlPr>
                                <a:rPr lang="en-US" sz="2400" i="1">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𝑥</m:t>
                              </m:r>
                            </m:e>
                            <m:sub>
                              <m:r>
                                <a:rPr lang="en-US" sz="2400" i="1">
                                  <a:solidFill>
                                    <a:schemeClr val="tx1"/>
                                  </a:solidFill>
                                  <a:latin typeface="Cambria Math" panose="02040503050406030204" pitchFamily="18" charset="0"/>
                                </a:rPr>
                                <m:t>𝑖</m:t>
                              </m:r>
                            </m:sub>
                          </m:sSub>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𝑏</m:t>
                          </m:r>
                        </m:e>
                      </m:nary>
                    </m:oMath>
                  </m:oMathPara>
                </a14:m>
                <a:endParaRPr lang="en-US" sz="2400" dirty="0">
                  <a:solidFill>
                    <a:schemeClr val="tx1"/>
                  </a:solidFill>
                </a:endParaRPr>
              </a:p>
            </p:txBody>
          </p:sp>
        </mc:Choice>
        <mc:Fallback xmlns="">
          <p:sp>
            <p:nvSpPr>
              <p:cNvPr id="4" name="Oval 3">
                <a:extLst>
                  <a:ext uri="{FF2B5EF4-FFF2-40B4-BE49-F238E27FC236}">
                    <a16:creationId xmlns:a16="http://schemas.microsoft.com/office/drawing/2014/main" id="{B8573F09-28DF-4DAD-9870-42A5DA3EDE9C}"/>
                  </a:ext>
                </a:extLst>
              </p:cNvPr>
              <p:cNvSpPr>
                <a:spLocks noRot="1" noChangeAspect="1" noMove="1" noResize="1" noEditPoints="1" noAdjustHandles="1" noChangeArrowheads="1" noChangeShapeType="1" noTextEdit="1"/>
              </p:cNvSpPr>
              <p:nvPr/>
            </p:nvSpPr>
            <p:spPr>
              <a:xfrm>
                <a:off x="5125475" y="2208185"/>
                <a:ext cx="2101442" cy="1941979"/>
              </a:xfrm>
              <a:prstGeom prst="ellipse">
                <a:avLst/>
              </a:prstGeom>
              <a:blipFill>
                <a:blip r:embed="rId2"/>
                <a:stretch>
                  <a:fillRect/>
                </a:stretch>
              </a:blipFill>
              <a:ln w="31750"/>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DBC09C72-742A-4579-9205-F7C07CC58B67}"/>
              </a:ext>
            </a:extLst>
          </p:cNvPr>
          <p:cNvCxnSpPr>
            <a:cxnSpLocks/>
            <a:stCxn id="4" idx="6"/>
          </p:cNvCxnSpPr>
          <p:nvPr/>
        </p:nvCxnSpPr>
        <p:spPr>
          <a:xfrm flipV="1">
            <a:off x="7226917" y="3179150"/>
            <a:ext cx="982656" cy="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FD6AAC6-39A4-46A0-884B-4A945A57C597}"/>
              </a:ext>
            </a:extLst>
          </p:cNvPr>
          <p:cNvSpPr txBox="1"/>
          <p:nvPr/>
        </p:nvSpPr>
        <p:spPr>
          <a:xfrm>
            <a:off x="3074321" y="1542383"/>
            <a:ext cx="643095" cy="584775"/>
          </a:xfrm>
          <a:prstGeom prst="rect">
            <a:avLst/>
          </a:prstGeom>
          <a:noFill/>
        </p:spPr>
        <p:txBody>
          <a:bodyPr wrap="square" rtlCol="0">
            <a:spAutoFit/>
          </a:bodyPr>
          <a:lstStyle/>
          <a:p>
            <a:r>
              <a:rPr lang="en-US" sz="3200" b="1" dirty="0"/>
              <a:t>X</a:t>
            </a:r>
            <a:r>
              <a:rPr lang="en-US" sz="3200" b="1" baseline="-25000" dirty="0"/>
              <a:t>1</a:t>
            </a:r>
          </a:p>
        </p:txBody>
      </p:sp>
      <p:cxnSp>
        <p:nvCxnSpPr>
          <p:cNvPr id="8" name="Straight Arrow Connector 7">
            <a:extLst>
              <a:ext uri="{FF2B5EF4-FFF2-40B4-BE49-F238E27FC236}">
                <a16:creationId xmlns:a16="http://schemas.microsoft.com/office/drawing/2014/main" id="{A5A7A38D-E569-4BBE-8115-A392AE695354}"/>
              </a:ext>
            </a:extLst>
          </p:cNvPr>
          <p:cNvCxnSpPr>
            <a:cxnSpLocks/>
            <a:endCxn id="4" idx="1"/>
          </p:cNvCxnSpPr>
          <p:nvPr/>
        </p:nvCxnSpPr>
        <p:spPr>
          <a:xfrm>
            <a:off x="3774848" y="1874963"/>
            <a:ext cx="1658376" cy="61761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3B2879-A85F-4683-9950-8DC5A0A332E0}"/>
              </a:ext>
            </a:extLst>
          </p:cNvPr>
          <p:cNvSpPr txBox="1"/>
          <p:nvPr/>
        </p:nvSpPr>
        <p:spPr>
          <a:xfrm>
            <a:off x="8184199" y="2886762"/>
            <a:ext cx="527999" cy="584775"/>
          </a:xfrm>
          <a:prstGeom prst="rect">
            <a:avLst/>
          </a:prstGeom>
          <a:noFill/>
        </p:spPr>
        <p:txBody>
          <a:bodyPr wrap="square" rtlCol="0">
            <a:spAutoFit/>
          </a:bodyPr>
          <a:lstStyle/>
          <a:p>
            <a:r>
              <a:rPr lang="en-US" sz="3200" b="1" dirty="0"/>
              <a:t>Y</a:t>
            </a:r>
          </a:p>
        </p:txBody>
      </p:sp>
      <p:sp>
        <p:nvSpPr>
          <p:cNvPr id="10" name="TextBox 9">
            <a:extLst>
              <a:ext uri="{FF2B5EF4-FFF2-40B4-BE49-F238E27FC236}">
                <a16:creationId xmlns:a16="http://schemas.microsoft.com/office/drawing/2014/main" id="{8597B1AA-9ADD-4598-B151-FC9BD659C907}"/>
              </a:ext>
            </a:extLst>
          </p:cNvPr>
          <p:cNvSpPr txBox="1"/>
          <p:nvPr/>
        </p:nvSpPr>
        <p:spPr>
          <a:xfrm>
            <a:off x="3256067" y="4372122"/>
            <a:ext cx="643095" cy="584775"/>
          </a:xfrm>
          <a:prstGeom prst="rect">
            <a:avLst/>
          </a:prstGeom>
          <a:noFill/>
        </p:spPr>
        <p:txBody>
          <a:bodyPr wrap="square" rtlCol="0">
            <a:spAutoFit/>
          </a:bodyPr>
          <a:lstStyle/>
          <a:p>
            <a:r>
              <a:rPr lang="en-US" sz="3200" b="1" dirty="0"/>
              <a:t>X</a:t>
            </a:r>
            <a:r>
              <a:rPr lang="en-US" sz="3200" b="1" baseline="-25000" dirty="0"/>
              <a:t>3</a:t>
            </a:r>
          </a:p>
        </p:txBody>
      </p:sp>
      <p:cxnSp>
        <p:nvCxnSpPr>
          <p:cNvPr id="11" name="Straight Arrow Connector 10">
            <a:extLst>
              <a:ext uri="{FF2B5EF4-FFF2-40B4-BE49-F238E27FC236}">
                <a16:creationId xmlns:a16="http://schemas.microsoft.com/office/drawing/2014/main" id="{61A4E519-57C9-4326-96E9-8820FFC90DF5}"/>
              </a:ext>
            </a:extLst>
          </p:cNvPr>
          <p:cNvCxnSpPr>
            <a:cxnSpLocks/>
            <a:stCxn id="10" idx="3"/>
            <a:endCxn id="4" idx="3"/>
          </p:cNvCxnSpPr>
          <p:nvPr/>
        </p:nvCxnSpPr>
        <p:spPr>
          <a:xfrm flipV="1">
            <a:off x="3899162" y="3865768"/>
            <a:ext cx="1534062" cy="79874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E6BA711-FB7F-46C2-8514-DCC7BEBEC27C}"/>
              </a:ext>
            </a:extLst>
          </p:cNvPr>
          <p:cNvSpPr txBox="1"/>
          <p:nvPr/>
        </p:nvSpPr>
        <p:spPr>
          <a:xfrm>
            <a:off x="2997099" y="2886763"/>
            <a:ext cx="643095" cy="584775"/>
          </a:xfrm>
          <a:prstGeom prst="rect">
            <a:avLst/>
          </a:prstGeom>
          <a:noFill/>
        </p:spPr>
        <p:txBody>
          <a:bodyPr wrap="square" rtlCol="0">
            <a:spAutoFit/>
          </a:bodyPr>
          <a:lstStyle/>
          <a:p>
            <a:r>
              <a:rPr lang="en-US" sz="3200" b="1"/>
              <a:t>X</a:t>
            </a:r>
            <a:r>
              <a:rPr lang="en-US" sz="3200" b="1" baseline="-25000" dirty="0"/>
              <a:t>2</a:t>
            </a:r>
          </a:p>
        </p:txBody>
      </p:sp>
      <p:cxnSp>
        <p:nvCxnSpPr>
          <p:cNvPr id="13" name="Straight Arrow Connector 12">
            <a:extLst>
              <a:ext uri="{FF2B5EF4-FFF2-40B4-BE49-F238E27FC236}">
                <a16:creationId xmlns:a16="http://schemas.microsoft.com/office/drawing/2014/main" id="{060150D0-B08A-4ABC-92C9-7CE341595DC6}"/>
              </a:ext>
            </a:extLst>
          </p:cNvPr>
          <p:cNvCxnSpPr>
            <a:cxnSpLocks/>
            <a:endCxn id="4" idx="2"/>
          </p:cNvCxnSpPr>
          <p:nvPr/>
        </p:nvCxnSpPr>
        <p:spPr>
          <a:xfrm flipV="1">
            <a:off x="3699010" y="3179175"/>
            <a:ext cx="1426465" cy="5884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125E7C-8898-4D38-B228-A6A66DCC146C}"/>
              </a:ext>
            </a:extLst>
          </p:cNvPr>
          <p:cNvSpPr txBox="1"/>
          <p:nvPr/>
        </p:nvSpPr>
        <p:spPr>
          <a:xfrm>
            <a:off x="4559602" y="1652772"/>
            <a:ext cx="643095" cy="584775"/>
          </a:xfrm>
          <a:prstGeom prst="rect">
            <a:avLst/>
          </a:prstGeom>
          <a:noFill/>
        </p:spPr>
        <p:txBody>
          <a:bodyPr wrap="square" rtlCol="0">
            <a:spAutoFit/>
          </a:bodyPr>
          <a:lstStyle/>
          <a:p>
            <a:r>
              <a:rPr lang="en-US" sz="3200" b="1" dirty="0"/>
              <a:t>w</a:t>
            </a:r>
            <a:r>
              <a:rPr lang="en-US" sz="3200" b="1" baseline="-25000" dirty="0"/>
              <a:t>1</a:t>
            </a:r>
          </a:p>
        </p:txBody>
      </p:sp>
      <p:sp>
        <p:nvSpPr>
          <p:cNvPr id="15" name="TextBox 14">
            <a:extLst>
              <a:ext uri="{FF2B5EF4-FFF2-40B4-BE49-F238E27FC236}">
                <a16:creationId xmlns:a16="http://schemas.microsoft.com/office/drawing/2014/main" id="{BBD4D334-E1BE-48A2-96BD-1B7DA1D04B8B}"/>
              </a:ext>
            </a:extLst>
          </p:cNvPr>
          <p:cNvSpPr txBox="1"/>
          <p:nvPr/>
        </p:nvSpPr>
        <p:spPr>
          <a:xfrm>
            <a:off x="4061287" y="2631753"/>
            <a:ext cx="643095" cy="584775"/>
          </a:xfrm>
          <a:prstGeom prst="rect">
            <a:avLst/>
          </a:prstGeom>
          <a:noFill/>
        </p:spPr>
        <p:txBody>
          <a:bodyPr wrap="square" rtlCol="0">
            <a:spAutoFit/>
          </a:bodyPr>
          <a:lstStyle/>
          <a:p>
            <a:r>
              <a:rPr lang="en-US" sz="3200" b="1" dirty="0"/>
              <a:t>w</a:t>
            </a:r>
            <a:r>
              <a:rPr lang="en-US" sz="3200" b="1" baseline="-25000" dirty="0"/>
              <a:t>2</a:t>
            </a:r>
          </a:p>
        </p:txBody>
      </p:sp>
      <p:sp>
        <p:nvSpPr>
          <p:cNvPr id="16" name="TextBox 15">
            <a:extLst>
              <a:ext uri="{FF2B5EF4-FFF2-40B4-BE49-F238E27FC236}">
                <a16:creationId xmlns:a16="http://schemas.microsoft.com/office/drawing/2014/main" id="{236C3725-CF53-4B75-895F-4B67678EB46A}"/>
              </a:ext>
            </a:extLst>
          </p:cNvPr>
          <p:cNvSpPr txBox="1"/>
          <p:nvPr/>
        </p:nvSpPr>
        <p:spPr>
          <a:xfrm>
            <a:off x="4412242" y="3517228"/>
            <a:ext cx="643095" cy="584775"/>
          </a:xfrm>
          <a:prstGeom prst="rect">
            <a:avLst/>
          </a:prstGeom>
          <a:noFill/>
        </p:spPr>
        <p:txBody>
          <a:bodyPr wrap="square" rtlCol="0">
            <a:spAutoFit/>
          </a:bodyPr>
          <a:lstStyle/>
          <a:p>
            <a:r>
              <a:rPr lang="en-US" sz="3200" b="1" dirty="0"/>
              <a:t>w</a:t>
            </a:r>
            <a:r>
              <a:rPr lang="en-US" sz="3200" b="1" baseline="-25000" dirty="0"/>
              <a:t>3</a:t>
            </a:r>
          </a:p>
        </p:txBody>
      </p:sp>
      <p:pic>
        <p:nvPicPr>
          <p:cNvPr id="17" name="Picture 16">
            <a:extLst>
              <a:ext uri="{FF2B5EF4-FFF2-40B4-BE49-F238E27FC236}">
                <a16:creationId xmlns:a16="http://schemas.microsoft.com/office/drawing/2014/main" id="{753C3C91-60A2-4574-A4F4-1A7AD4C1DF4D}"/>
              </a:ext>
            </a:extLst>
          </p:cNvPr>
          <p:cNvPicPr>
            <a:picLocks noChangeAspect="1"/>
          </p:cNvPicPr>
          <p:nvPr/>
        </p:nvPicPr>
        <p:blipFill>
          <a:blip r:embed="rId3"/>
          <a:stretch>
            <a:fillRect/>
          </a:stretch>
        </p:blipFill>
        <p:spPr>
          <a:xfrm>
            <a:off x="3774848" y="5237138"/>
            <a:ext cx="5013188" cy="1279050"/>
          </a:xfrm>
          <a:prstGeom prst="rect">
            <a:avLst/>
          </a:prstGeom>
        </p:spPr>
      </p:pic>
    </p:spTree>
    <p:extLst>
      <p:ext uri="{BB962C8B-B14F-4D97-AF65-F5344CB8AC3E}">
        <p14:creationId xmlns:p14="http://schemas.microsoft.com/office/powerpoint/2010/main" val="231395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p:bldP spid="9" grpId="0"/>
      <p:bldP spid="10" grpId="0"/>
      <p:bldP spid="12" grpId="0"/>
      <p:bldP spid="14"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24E8-9EC0-4F0B-BA22-51332C204E64}"/>
              </a:ext>
            </a:extLst>
          </p:cNvPr>
          <p:cNvSpPr>
            <a:spLocks noGrp="1"/>
          </p:cNvSpPr>
          <p:nvPr>
            <p:ph type="title"/>
          </p:nvPr>
        </p:nvSpPr>
        <p:spPr/>
        <p:txBody>
          <a:bodyPr>
            <a:normAutofit/>
          </a:bodyPr>
          <a:lstStyle/>
          <a:p>
            <a:r>
              <a:rPr lang="en-US" sz="4000" dirty="0">
                <a:latin typeface="+mn-lt"/>
                <a:cs typeface="Segoe UI" panose="020B0502040204020203" pitchFamily="34" charset="0"/>
              </a:rPr>
              <a:t>Representation: Linear Neural Network</a:t>
            </a:r>
          </a:p>
        </p:txBody>
      </p:sp>
      <p:sp>
        <p:nvSpPr>
          <p:cNvPr id="3" name="Content Placeholder 2">
            <a:extLst>
              <a:ext uri="{FF2B5EF4-FFF2-40B4-BE49-F238E27FC236}">
                <a16:creationId xmlns:a16="http://schemas.microsoft.com/office/drawing/2014/main" id="{426CA33D-D2BF-447D-9AF0-5845105DE1F4}"/>
              </a:ext>
            </a:extLst>
          </p:cNvPr>
          <p:cNvSpPr>
            <a:spLocks noGrp="1"/>
          </p:cNvSpPr>
          <p:nvPr>
            <p:ph sz="quarter" idx="10"/>
          </p:nvPr>
        </p:nvSpPr>
        <p:spPr>
          <a:xfrm>
            <a:off x="379413" y="871200"/>
            <a:ext cx="11525250" cy="648000"/>
          </a:xfrm>
        </p:spPr>
        <p:txBody>
          <a:bodyPr/>
          <a:lstStyle/>
          <a:p>
            <a:pPr marL="0" indent="0">
              <a:buNone/>
            </a:pPr>
            <a:r>
              <a:rPr lang="en-US" sz="2800" dirty="0">
                <a:latin typeface="+mn-lt"/>
                <a:cs typeface="Segoe UI" panose="020B0502040204020203" pitchFamily="34" charset="0"/>
              </a:rPr>
              <a:t>Early learning model for a neural network - </a:t>
            </a:r>
            <a:r>
              <a:rPr lang="en-US" sz="2800" dirty="0" err="1">
                <a:latin typeface="+mn-lt"/>
                <a:cs typeface="Segoe UI" panose="020B0502040204020203" pitchFamily="34" charset="0"/>
              </a:rPr>
              <a:t>Heeb</a:t>
            </a:r>
            <a:r>
              <a:rPr lang="en-US" sz="2800" dirty="0">
                <a:latin typeface="+mn-lt"/>
                <a:cs typeface="Segoe UI" panose="020B0502040204020203" pitchFamily="34" charset="0"/>
              </a:rPr>
              <a:t> (1949)</a:t>
            </a:r>
          </a:p>
        </p:txBody>
      </p:sp>
      <p:sp>
        <p:nvSpPr>
          <p:cNvPr id="4" name="Oval 3">
            <a:extLst>
              <a:ext uri="{FF2B5EF4-FFF2-40B4-BE49-F238E27FC236}">
                <a16:creationId xmlns:a16="http://schemas.microsoft.com/office/drawing/2014/main" id="{B8573F09-28DF-4DAD-9870-42A5DA3EDE9C}"/>
              </a:ext>
            </a:extLst>
          </p:cNvPr>
          <p:cNvSpPr/>
          <p:nvPr/>
        </p:nvSpPr>
        <p:spPr>
          <a:xfrm>
            <a:off x="2576585" y="2340259"/>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DBC09C72-742A-4579-9205-F7C07CC58B67}"/>
              </a:ext>
            </a:extLst>
          </p:cNvPr>
          <p:cNvCxnSpPr>
            <a:cxnSpLocks/>
            <a:stCxn id="4" idx="6"/>
          </p:cNvCxnSpPr>
          <p:nvPr/>
        </p:nvCxnSpPr>
        <p:spPr>
          <a:xfrm flipV="1">
            <a:off x="4678027" y="3311224"/>
            <a:ext cx="982656" cy="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FD6AAC6-39A4-46A0-884B-4A945A57C597}"/>
              </a:ext>
            </a:extLst>
          </p:cNvPr>
          <p:cNvSpPr txBox="1"/>
          <p:nvPr/>
        </p:nvSpPr>
        <p:spPr>
          <a:xfrm>
            <a:off x="525431" y="1674457"/>
            <a:ext cx="643095" cy="584775"/>
          </a:xfrm>
          <a:prstGeom prst="rect">
            <a:avLst/>
          </a:prstGeom>
          <a:noFill/>
        </p:spPr>
        <p:txBody>
          <a:bodyPr wrap="square" rtlCol="0">
            <a:spAutoFit/>
          </a:bodyPr>
          <a:lstStyle/>
          <a:p>
            <a:r>
              <a:rPr lang="en-US" sz="3200" b="1" dirty="0"/>
              <a:t>X</a:t>
            </a:r>
            <a:r>
              <a:rPr lang="en-US" sz="3200" b="1" baseline="-25000" dirty="0"/>
              <a:t>1</a:t>
            </a:r>
          </a:p>
        </p:txBody>
      </p:sp>
      <p:sp>
        <p:nvSpPr>
          <p:cNvPr id="7" name="TextBox 6">
            <a:extLst>
              <a:ext uri="{FF2B5EF4-FFF2-40B4-BE49-F238E27FC236}">
                <a16:creationId xmlns:a16="http://schemas.microsoft.com/office/drawing/2014/main" id="{4D4CECFA-F0E2-4184-8191-847371067E9D}"/>
              </a:ext>
            </a:extLst>
          </p:cNvPr>
          <p:cNvSpPr txBox="1"/>
          <p:nvPr/>
        </p:nvSpPr>
        <p:spPr>
          <a:xfrm>
            <a:off x="3024274" y="3018836"/>
            <a:ext cx="1115366" cy="584775"/>
          </a:xfrm>
          <a:prstGeom prst="rect">
            <a:avLst/>
          </a:prstGeom>
          <a:noFill/>
        </p:spPr>
        <p:txBody>
          <a:bodyPr wrap="square" rtlCol="0">
            <a:spAutoFit/>
          </a:bodyPr>
          <a:lstStyle/>
          <a:p>
            <a:r>
              <a:rPr lang="en-US" sz="3200" b="1" dirty="0">
                <a:latin typeface="Symbol" panose="05050102010706020507" pitchFamily="18" charset="2"/>
              </a:rPr>
              <a:t>S</a:t>
            </a:r>
            <a:r>
              <a:rPr lang="en-US" sz="3200" b="1" dirty="0"/>
              <a:t> + b</a:t>
            </a:r>
          </a:p>
        </p:txBody>
      </p:sp>
      <p:cxnSp>
        <p:nvCxnSpPr>
          <p:cNvPr id="8" name="Straight Arrow Connector 7">
            <a:extLst>
              <a:ext uri="{FF2B5EF4-FFF2-40B4-BE49-F238E27FC236}">
                <a16:creationId xmlns:a16="http://schemas.microsoft.com/office/drawing/2014/main" id="{A5A7A38D-E569-4BBE-8115-A392AE695354}"/>
              </a:ext>
            </a:extLst>
          </p:cNvPr>
          <p:cNvCxnSpPr>
            <a:cxnSpLocks/>
            <a:endCxn id="4" idx="1"/>
          </p:cNvCxnSpPr>
          <p:nvPr/>
        </p:nvCxnSpPr>
        <p:spPr>
          <a:xfrm>
            <a:off x="1225958" y="2007037"/>
            <a:ext cx="1658376" cy="61761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3B2879-A85F-4683-9950-8DC5A0A332E0}"/>
              </a:ext>
            </a:extLst>
          </p:cNvPr>
          <p:cNvSpPr txBox="1"/>
          <p:nvPr/>
        </p:nvSpPr>
        <p:spPr>
          <a:xfrm>
            <a:off x="5635309" y="3018836"/>
            <a:ext cx="527999" cy="584775"/>
          </a:xfrm>
          <a:prstGeom prst="rect">
            <a:avLst/>
          </a:prstGeom>
          <a:noFill/>
        </p:spPr>
        <p:txBody>
          <a:bodyPr wrap="square" rtlCol="0">
            <a:spAutoFit/>
          </a:bodyPr>
          <a:lstStyle/>
          <a:p>
            <a:r>
              <a:rPr lang="en-US" sz="3200" b="1" dirty="0"/>
              <a:t>Y</a:t>
            </a:r>
          </a:p>
        </p:txBody>
      </p:sp>
      <p:sp>
        <p:nvSpPr>
          <p:cNvPr id="10" name="TextBox 9">
            <a:extLst>
              <a:ext uri="{FF2B5EF4-FFF2-40B4-BE49-F238E27FC236}">
                <a16:creationId xmlns:a16="http://schemas.microsoft.com/office/drawing/2014/main" id="{8597B1AA-9ADD-4598-B151-FC9BD659C907}"/>
              </a:ext>
            </a:extLst>
          </p:cNvPr>
          <p:cNvSpPr txBox="1"/>
          <p:nvPr/>
        </p:nvSpPr>
        <p:spPr>
          <a:xfrm>
            <a:off x="707177" y="4504196"/>
            <a:ext cx="643095" cy="584775"/>
          </a:xfrm>
          <a:prstGeom prst="rect">
            <a:avLst/>
          </a:prstGeom>
          <a:noFill/>
        </p:spPr>
        <p:txBody>
          <a:bodyPr wrap="square" rtlCol="0">
            <a:spAutoFit/>
          </a:bodyPr>
          <a:lstStyle/>
          <a:p>
            <a:r>
              <a:rPr lang="en-US" sz="3200" b="1" dirty="0"/>
              <a:t>X</a:t>
            </a:r>
            <a:r>
              <a:rPr lang="en-US" sz="3200" b="1" baseline="-25000" dirty="0"/>
              <a:t>3</a:t>
            </a:r>
          </a:p>
        </p:txBody>
      </p:sp>
      <p:cxnSp>
        <p:nvCxnSpPr>
          <p:cNvPr id="11" name="Straight Arrow Connector 10">
            <a:extLst>
              <a:ext uri="{FF2B5EF4-FFF2-40B4-BE49-F238E27FC236}">
                <a16:creationId xmlns:a16="http://schemas.microsoft.com/office/drawing/2014/main" id="{61A4E519-57C9-4326-96E9-8820FFC90DF5}"/>
              </a:ext>
            </a:extLst>
          </p:cNvPr>
          <p:cNvCxnSpPr>
            <a:cxnSpLocks/>
            <a:stCxn id="10" idx="3"/>
            <a:endCxn id="4" idx="3"/>
          </p:cNvCxnSpPr>
          <p:nvPr/>
        </p:nvCxnSpPr>
        <p:spPr>
          <a:xfrm flipV="1">
            <a:off x="1350272" y="3997842"/>
            <a:ext cx="1534062" cy="79874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E6BA711-FB7F-46C2-8514-DCC7BEBEC27C}"/>
              </a:ext>
            </a:extLst>
          </p:cNvPr>
          <p:cNvSpPr txBox="1"/>
          <p:nvPr/>
        </p:nvSpPr>
        <p:spPr>
          <a:xfrm>
            <a:off x="448209" y="3018837"/>
            <a:ext cx="643095" cy="584775"/>
          </a:xfrm>
          <a:prstGeom prst="rect">
            <a:avLst/>
          </a:prstGeom>
          <a:noFill/>
        </p:spPr>
        <p:txBody>
          <a:bodyPr wrap="square" rtlCol="0">
            <a:spAutoFit/>
          </a:bodyPr>
          <a:lstStyle/>
          <a:p>
            <a:r>
              <a:rPr lang="en-US" sz="3200" b="1"/>
              <a:t>X</a:t>
            </a:r>
            <a:r>
              <a:rPr lang="en-US" sz="3200" b="1" baseline="-25000" dirty="0"/>
              <a:t>2</a:t>
            </a:r>
          </a:p>
        </p:txBody>
      </p:sp>
      <p:cxnSp>
        <p:nvCxnSpPr>
          <p:cNvPr id="13" name="Straight Arrow Connector 12">
            <a:extLst>
              <a:ext uri="{FF2B5EF4-FFF2-40B4-BE49-F238E27FC236}">
                <a16:creationId xmlns:a16="http://schemas.microsoft.com/office/drawing/2014/main" id="{060150D0-B08A-4ABC-92C9-7CE341595DC6}"/>
              </a:ext>
            </a:extLst>
          </p:cNvPr>
          <p:cNvCxnSpPr>
            <a:cxnSpLocks/>
            <a:endCxn id="4" idx="2"/>
          </p:cNvCxnSpPr>
          <p:nvPr/>
        </p:nvCxnSpPr>
        <p:spPr>
          <a:xfrm flipV="1">
            <a:off x="1150120" y="3311249"/>
            <a:ext cx="1426465" cy="5884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125E7C-8898-4D38-B228-A6A66DCC146C}"/>
              </a:ext>
            </a:extLst>
          </p:cNvPr>
          <p:cNvSpPr txBox="1"/>
          <p:nvPr/>
        </p:nvSpPr>
        <p:spPr>
          <a:xfrm>
            <a:off x="2010712" y="1784846"/>
            <a:ext cx="643095" cy="584775"/>
          </a:xfrm>
          <a:prstGeom prst="rect">
            <a:avLst/>
          </a:prstGeom>
          <a:noFill/>
        </p:spPr>
        <p:txBody>
          <a:bodyPr wrap="square" rtlCol="0">
            <a:spAutoFit/>
          </a:bodyPr>
          <a:lstStyle/>
          <a:p>
            <a:r>
              <a:rPr lang="en-US" sz="3200" b="1" dirty="0"/>
              <a:t>w</a:t>
            </a:r>
            <a:r>
              <a:rPr lang="en-US" sz="3200" b="1" baseline="-25000" dirty="0"/>
              <a:t>1</a:t>
            </a:r>
          </a:p>
        </p:txBody>
      </p:sp>
      <p:sp>
        <p:nvSpPr>
          <p:cNvPr id="15" name="TextBox 14">
            <a:extLst>
              <a:ext uri="{FF2B5EF4-FFF2-40B4-BE49-F238E27FC236}">
                <a16:creationId xmlns:a16="http://schemas.microsoft.com/office/drawing/2014/main" id="{BBD4D334-E1BE-48A2-96BD-1B7DA1D04B8B}"/>
              </a:ext>
            </a:extLst>
          </p:cNvPr>
          <p:cNvSpPr txBox="1"/>
          <p:nvPr/>
        </p:nvSpPr>
        <p:spPr>
          <a:xfrm>
            <a:off x="1512397" y="2763827"/>
            <a:ext cx="643095" cy="584775"/>
          </a:xfrm>
          <a:prstGeom prst="rect">
            <a:avLst/>
          </a:prstGeom>
          <a:noFill/>
        </p:spPr>
        <p:txBody>
          <a:bodyPr wrap="square" rtlCol="0">
            <a:spAutoFit/>
          </a:bodyPr>
          <a:lstStyle/>
          <a:p>
            <a:r>
              <a:rPr lang="en-US" sz="3200" b="1" dirty="0"/>
              <a:t>w</a:t>
            </a:r>
            <a:r>
              <a:rPr lang="en-US" sz="3200" b="1" baseline="-25000" dirty="0"/>
              <a:t>2</a:t>
            </a:r>
          </a:p>
        </p:txBody>
      </p:sp>
      <p:sp>
        <p:nvSpPr>
          <p:cNvPr id="16" name="TextBox 15">
            <a:extLst>
              <a:ext uri="{FF2B5EF4-FFF2-40B4-BE49-F238E27FC236}">
                <a16:creationId xmlns:a16="http://schemas.microsoft.com/office/drawing/2014/main" id="{236C3725-CF53-4B75-895F-4B67678EB46A}"/>
              </a:ext>
            </a:extLst>
          </p:cNvPr>
          <p:cNvSpPr txBox="1"/>
          <p:nvPr/>
        </p:nvSpPr>
        <p:spPr>
          <a:xfrm>
            <a:off x="1863352" y="3649302"/>
            <a:ext cx="643095" cy="584775"/>
          </a:xfrm>
          <a:prstGeom prst="rect">
            <a:avLst/>
          </a:prstGeom>
          <a:noFill/>
        </p:spPr>
        <p:txBody>
          <a:bodyPr wrap="square" rtlCol="0">
            <a:spAutoFit/>
          </a:bodyPr>
          <a:lstStyle/>
          <a:p>
            <a:r>
              <a:rPr lang="en-US" sz="3200" b="1" dirty="0"/>
              <a:t>w</a:t>
            </a:r>
            <a:r>
              <a:rPr lang="en-US" sz="3200" b="1" baseline="-25000" dirty="0"/>
              <a:t>3</a:t>
            </a:r>
          </a:p>
        </p:txBody>
      </p:sp>
      <p:pic>
        <p:nvPicPr>
          <p:cNvPr id="17" name="Picture 16">
            <a:extLst>
              <a:ext uri="{FF2B5EF4-FFF2-40B4-BE49-F238E27FC236}">
                <a16:creationId xmlns:a16="http://schemas.microsoft.com/office/drawing/2014/main" id="{753C3C91-60A2-4574-A4F4-1A7AD4C1DF4D}"/>
              </a:ext>
            </a:extLst>
          </p:cNvPr>
          <p:cNvPicPr>
            <a:picLocks noChangeAspect="1"/>
          </p:cNvPicPr>
          <p:nvPr/>
        </p:nvPicPr>
        <p:blipFill>
          <a:blip r:embed="rId2"/>
          <a:stretch>
            <a:fillRect/>
          </a:stretch>
        </p:blipFill>
        <p:spPr>
          <a:xfrm>
            <a:off x="6471635" y="4356395"/>
            <a:ext cx="5013188" cy="1279050"/>
          </a:xfrm>
          <a:prstGeom prst="rect">
            <a:avLst/>
          </a:prstGeom>
        </p:spPr>
      </p:pic>
      <p:sp>
        <p:nvSpPr>
          <p:cNvPr id="18" name="Content Placeholder 2">
            <a:extLst>
              <a:ext uri="{FF2B5EF4-FFF2-40B4-BE49-F238E27FC236}">
                <a16:creationId xmlns:a16="http://schemas.microsoft.com/office/drawing/2014/main" id="{B75097E2-A37B-447B-97E7-E16C68CE874E}"/>
              </a:ext>
            </a:extLst>
          </p:cNvPr>
          <p:cNvSpPr txBox="1">
            <a:spLocks/>
          </p:cNvSpPr>
          <p:nvPr/>
        </p:nvSpPr>
        <p:spPr>
          <a:xfrm>
            <a:off x="5503510" y="5610110"/>
            <a:ext cx="6400436" cy="75337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dirty="0">
                <a:latin typeface="Segoe UI" panose="020B0502040204020203" pitchFamily="34" charset="0"/>
                <a:cs typeface="Segoe UI" panose="020B0502040204020203" pitchFamily="34" charset="0"/>
              </a:rPr>
              <a:t>But, this is just </a:t>
            </a:r>
            <a:r>
              <a:rPr lang="en-US" sz="2800" b="1" dirty="0">
                <a:latin typeface="Segoe UI" panose="020B0502040204020203" pitchFamily="34" charset="0"/>
                <a:cs typeface="Segoe UI" panose="020B0502040204020203" pitchFamily="34" charset="0"/>
              </a:rPr>
              <a:t>linear regression!</a:t>
            </a:r>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A40D14AC-4BB8-4070-B373-641CB47E0D9A}"/>
                  </a:ext>
                </a:extLst>
              </p:cNvPr>
              <p:cNvSpPr txBox="1">
                <a:spLocks/>
              </p:cNvSpPr>
              <p:nvPr/>
            </p:nvSpPr>
            <p:spPr>
              <a:xfrm>
                <a:off x="5806405" y="2250155"/>
                <a:ext cx="5605678" cy="75337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oMath>
                  </m:oMathPara>
                </a14:m>
                <a:endParaRPr lang="en-US" sz="2800" b="1" dirty="0">
                  <a:latin typeface="Segoe UI" panose="020B0502040204020203" pitchFamily="34" charset="0"/>
                  <a:cs typeface="Segoe UI" panose="020B0502040204020203" pitchFamily="34" charset="0"/>
                </a:endParaRPr>
              </a:p>
            </p:txBody>
          </p:sp>
        </mc:Choice>
        <mc:Fallback xmlns="">
          <p:sp>
            <p:nvSpPr>
              <p:cNvPr id="19" name="Content Placeholder 2">
                <a:extLst>
                  <a:ext uri="{FF2B5EF4-FFF2-40B4-BE49-F238E27FC236}">
                    <a16:creationId xmlns:a16="http://schemas.microsoft.com/office/drawing/2014/main" id="{A40D14AC-4BB8-4070-B373-641CB47E0D9A}"/>
                  </a:ext>
                </a:extLst>
              </p:cNvPr>
              <p:cNvSpPr txBox="1">
                <a:spLocks noRot="1" noChangeAspect="1" noMove="1" noResize="1" noEditPoints="1" noAdjustHandles="1" noChangeArrowheads="1" noChangeShapeType="1" noTextEdit="1"/>
              </p:cNvSpPr>
              <p:nvPr/>
            </p:nvSpPr>
            <p:spPr>
              <a:xfrm>
                <a:off x="5806405" y="2250155"/>
                <a:ext cx="5605678" cy="75337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7B45046-B07A-4126-B978-436C2FCE939E}"/>
                  </a:ext>
                </a:extLst>
              </p:cNvPr>
              <p:cNvSpPr txBox="1">
                <a:spLocks/>
              </p:cNvSpPr>
              <p:nvPr/>
            </p:nvSpPr>
            <p:spPr>
              <a:xfrm>
                <a:off x="5387282" y="2975689"/>
                <a:ext cx="6400436" cy="75337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l-GR" sz="2800" i="1">
                          <a:latin typeface="Cambria Math" panose="02040503050406030204" pitchFamily="18" charset="0"/>
                          <a:ea typeface="Cambria Math" panose="02040503050406030204" pitchFamily="18" charset="0"/>
                        </a:rPr>
                        <m:t>Δ</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𝜂</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oMath>
                  </m:oMathPara>
                </a14:m>
                <a:endParaRPr lang="en-US" sz="2800" b="1" dirty="0">
                  <a:latin typeface="Segoe UI" panose="020B0502040204020203" pitchFamily="34" charset="0"/>
                  <a:cs typeface="Segoe UI" panose="020B0502040204020203" pitchFamily="34" charset="0"/>
                </a:endParaRPr>
              </a:p>
            </p:txBody>
          </p:sp>
        </mc:Choice>
        <mc:Fallback xmlns="">
          <p:sp>
            <p:nvSpPr>
              <p:cNvPr id="20" name="Content Placeholder 2">
                <a:extLst>
                  <a:ext uri="{FF2B5EF4-FFF2-40B4-BE49-F238E27FC236}">
                    <a16:creationId xmlns:a16="http://schemas.microsoft.com/office/drawing/2014/main" id="{07B45046-B07A-4126-B978-436C2FCE939E}"/>
                  </a:ext>
                </a:extLst>
              </p:cNvPr>
              <p:cNvSpPr txBox="1">
                <a:spLocks noRot="1" noChangeAspect="1" noMove="1" noResize="1" noEditPoints="1" noAdjustHandles="1" noChangeArrowheads="1" noChangeShapeType="1" noTextEdit="1"/>
              </p:cNvSpPr>
              <p:nvPr/>
            </p:nvSpPr>
            <p:spPr>
              <a:xfrm>
                <a:off x="5387282" y="2975689"/>
                <a:ext cx="6400436" cy="75337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FF285445-1E9A-4566-BDC0-692EB53A938A}"/>
                  </a:ext>
                </a:extLst>
              </p:cNvPr>
              <p:cNvSpPr txBox="1">
                <a:spLocks/>
              </p:cNvSpPr>
              <p:nvPr/>
            </p:nvSpPr>
            <p:spPr>
              <a:xfrm>
                <a:off x="5340995" y="3665838"/>
                <a:ext cx="6400436" cy="75337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𝑊h𝑒𝑟𝑒</m:t>
                      </m:r>
                      <m:r>
                        <a:rPr lang="en-U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𝜂</m:t>
                      </m:r>
                      <m:r>
                        <a:rPr lang="en-US" sz="2800" b="0" i="1" smtClean="0">
                          <a:latin typeface="Cambria Math" panose="02040503050406030204" pitchFamily="18" charset="0"/>
                        </a:rPr>
                        <m:t> </m:t>
                      </m:r>
                      <m:r>
                        <a:rPr lang="en-US" sz="2800" b="0" i="1" smtClean="0">
                          <a:latin typeface="Cambria Math" panose="02040503050406030204" pitchFamily="18" charset="0"/>
                        </a:rPr>
                        <m:t>𝑖𝑠</m:t>
                      </m:r>
                      <m:r>
                        <a:rPr lang="en-US" sz="2800" b="0" i="1" smtClean="0">
                          <a:latin typeface="Cambria Math" panose="02040503050406030204" pitchFamily="18" charset="0"/>
                        </a:rPr>
                        <m:t> </m:t>
                      </m:r>
                      <m:r>
                        <a:rPr lang="en-US" sz="2800" b="0" i="1" smtClean="0">
                          <a:latin typeface="Cambria Math" panose="02040503050406030204" pitchFamily="18" charset="0"/>
                        </a:rPr>
                        <m:t>𝑡h𝑒</m:t>
                      </m:r>
                      <m:r>
                        <a:rPr lang="en-US" sz="2800" b="0" i="1" smtClean="0">
                          <a:latin typeface="Cambria Math" panose="02040503050406030204" pitchFamily="18" charset="0"/>
                        </a:rPr>
                        <m:t> </m:t>
                      </m:r>
                      <m:r>
                        <a:rPr lang="en-US" sz="2800" b="0" i="1" smtClean="0">
                          <a:latin typeface="Cambria Math" panose="02040503050406030204" pitchFamily="18" charset="0"/>
                        </a:rPr>
                        <m:t>𝑙𝑒𝑎𝑟𝑛𝑖𝑛𝑔</m:t>
                      </m:r>
                      <m:r>
                        <a:rPr lang="en-US" sz="2800" b="0" i="1" smtClean="0">
                          <a:latin typeface="Cambria Math" panose="02040503050406030204" pitchFamily="18" charset="0"/>
                        </a:rPr>
                        <m:t> </m:t>
                      </m:r>
                      <m:r>
                        <a:rPr lang="en-US" sz="2800" b="0" i="1" smtClean="0">
                          <a:latin typeface="Cambria Math" panose="02040503050406030204" pitchFamily="18" charset="0"/>
                        </a:rPr>
                        <m:t>𝑟𝑎𝑡𝑒</m:t>
                      </m:r>
                    </m:oMath>
                  </m:oMathPara>
                </a14:m>
                <a:endParaRPr lang="en-US" sz="2800" b="1" dirty="0">
                  <a:latin typeface="Segoe UI" panose="020B0502040204020203" pitchFamily="34" charset="0"/>
                  <a:cs typeface="Segoe UI" panose="020B0502040204020203" pitchFamily="34" charset="0"/>
                </a:endParaRPr>
              </a:p>
            </p:txBody>
          </p:sp>
        </mc:Choice>
        <mc:Fallback xmlns="">
          <p:sp>
            <p:nvSpPr>
              <p:cNvPr id="21" name="Content Placeholder 2">
                <a:extLst>
                  <a:ext uri="{FF2B5EF4-FFF2-40B4-BE49-F238E27FC236}">
                    <a16:creationId xmlns:a16="http://schemas.microsoft.com/office/drawing/2014/main" id="{FF285445-1E9A-4566-BDC0-692EB53A938A}"/>
                  </a:ext>
                </a:extLst>
              </p:cNvPr>
              <p:cNvSpPr txBox="1">
                <a:spLocks noRot="1" noChangeAspect="1" noMove="1" noResize="1" noEditPoints="1" noAdjustHandles="1" noChangeArrowheads="1" noChangeShapeType="1" noTextEdit="1"/>
              </p:cNvSpPr>
              <p:nvPr/>
            </p:nvSpPr>
            <p:spPr>
              <a:xfrm>
                <a:off x="5340995" y="3665838"/>
                <a:ext cx="6400436" cy="7533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F5C8F1C0-94F8-4AEC-888F-8AD019DF47F8}"/>
                  </a:ext>
                </a:extLst>
              </p:cNvPr>
              <p:cNvSpPr txBox="1">
                <a:spLocks/>
              </p:cNvSpPr>
              <p:nvPr/>
            </p:nvSpPr>
            <p:spPr>
              <a:xfrm>
                <a:off x="5340995" y="1538090"/>
                <a:ext cx="6400436" cy="75337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𝐿𝑒𝑎𝑟𝑛𝑖𝑛𝑔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𝑚𝑜𝑑𝑒𝑙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𝑤𝑒𝑖𝑔h𝑡𝑠</m:t>
                      </m:r>
                    </m:oMath>
                  </m:oMathPara>
                </a14:m>
                <a:endParaRPr lang="en-US" b="1" dirty="0">
                  <a:latin typeface="Segoe UI" panose="020B0502040204020203" pitchFamily="34" charset="0"/>
                  <a:cs typeface="Segoe UI" panose="020B0502040204020203" pitchFamily="34" charset="0"/>
                </a:endParaRPr>
              </a:p>
            </p:txBody>
          </p:sp>
        </mc:Choice>
        <mc:Fallback xmlns="">
          <p:sp>
            <p:nvSpPr>
              <p:cNvPr id="22" name="Content Placeholder 2">
                <a:extLst>
                  <a:ext uri="{FF2B5EF4-FFF2-40B4-BE49-F238E27FC236}">
                    <a16:creationId xmlns:a16="http://schemas.microsoft.com/office/drawing/2014/main" id="{F5C8F1C0-94F8-4AEC-888F-8AD019DF47F8}"/>
                  </a:ext>
                </a:extLst>
              </p:cNvPr>
              <p:cNvSpPr txBox="1">
                <a:spLocks noRot="1" noChangeAspect="1" noMove="1" noResize="1" noEditPoints="1" noAdjustHandles="1" noChangeArrowheads="1" noChangeShapeType="1" noTextEdit="1"/>
              </p:cNvSpPr>
              <p:nvPr/>
            </p:nvSpPr>
            <p:spPr>
              <a:xfrm>
                <a:off x="5340995" y="1538090"/>
                <a:ext cx="6400436" cy="75337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5322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p:bldP spid="7" grpId="0"/>
      <p:bldP spid="9" grpId="0"/>
      <p:bldP spid="10" grpId="0"/>
      <p:bldP spid="12" grpId="0"/>
      <p:bldP spid="14" grpId="0"/>
      <p:bldP spid="15" grpId="0"/>
      <p:bldP spid="16" grpId="0"/>
      <p:bldP spid="18" grpId="0" build="p"/>
      <p:bldP spid="19" grpId="0" build="p"/>
      <p:bldP spid="20" grpId="0" build="p"/>
      <p:bldP spid="21" grpId="0" build="p"/>
      <p:bldP spid="2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C9D6-7021-4220-8EB8-6D68DA1816E6}"/>
              </a:ext>
            </a:extLst>
          </p:cNvPr>
          <p:cNvSpPr>
            <a:spLocks noGrp="1"/>
          </p:cNvSpPr>
          <p:nvPr>
            <p:ph type="title"/>
          </p:nvPr>
        </p:nvSpPr>
        <p:spPr>
          <a:xfrm>
            <a:off x="379514" y="182215"/>
            <a:ext cx="11524432" cy="760985"/>
          </a:xfrm>
        </p:spPr>
        <p:txBody>
          <a:bodyPr>
            <a:normAutofit/>
          </a:bodyPr>
          <a:lstStyle/>
          <a:p>
            <a:r>
              <a:rPr lang="en-US" sz="4000" dirty="0">
                <a:latin typeface="+mn-lt"/>
                <a:cs typeface="Segoe UI" panose="020B0502040204020203" pitchFamily="34" charset="0"/>
              </a:rPr>
              <a:t>Representation: Perceptron </a:t>
            </a:r>
          </a:p>
        </p:txBody>
      </p:sp>
      <p:sp>
        <p:nvSpPr>
          <p:cNvPr id="3" name="Content Placeholder 2">
            <a:extLst>
              <a:ext uri="{FF2B5EF4-FFF2-40B4-BE49-F238E27FC236}">
                <a16:creationId xmlns:a16="http://schemas.microsoft.com/office/drawing/2014/main" id="{91E608EE-1C1E-48E9-BE71-C8E0E757BDEF}"/>
              </a:ext>
            </a:extLst>
          </p:cNvPr>
          <p:cNvSpPr>
            <a:spLocks noGrp="1"/>
          </p:cNvSpPr>
          <p:nvPr>
            <p:ph sz="quarter" idx="10"/>
          </p:nvPr>
        </p:nvSpPr>
        <p:spPr>
          <a:xfrm>
            <a:off x="379514" y="854772"/>
            <a:ext cx="11525250" cy="633600"/>
          </a:xfrm>
        </p:spPr>
        <p:txBody>
          <a:bodyPr/>
          <a:lstStyle/>
          <a:p>
            <a:pPr marL="0" indent="0">
              <a:buNone/>
            </a:pPr>
            <a:r>
              <a:rPr lang="en-US" sz="2800" dirty="0">
                <a:latin typeface="Segoe UI" panose="020B0502040204020203" pitchFamily="34" charset="0"/>
                <a:cs typeface="Segoe UI" panose="020B0502040204020203" pitchFamily="34" charset="0"/>
              </a:rPr>
              <a:t>Use of </a:t>
            </a:r>
            <a:r>
              <a:rPr lang="en-US" sz="2800" b="1" dirty="0">
                <a:latin typeface="Segoe UI" panose="020B0502040204020203" pitchFamily="34" charset="0"/>
                <a:cs typeface="Segoe UI" panose="020B0502040204020203" pitchFamily="34" charset="0"/>
              </a:rPr>
              <a:t>nonlinear activation</a:t>
            </a:r>
            <a:r>
              <a:rPr lang="en-US" sz="2800" dirty="0">
                <a:latin typeface="Segoe UI" panose="020B0502040204020203" pitchFamily="34" charset="0"/>
                <a:cs typeface="Segoe UI" panose="020B0502040204020203" pitchFamily="34" charset="0"/>
              </a:rPr>
              <a:t> proposed by Rosenblatt (1962)</a:t>
            </a:r>
          </a:p>
          <a:p>
            <a:pPr marL="0" indent="0">
              <a:buNone/>
            </a:pPr>
            <a:endParaRPr lang="en-US"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CD3CCBD-B03B-47C8-A3A1-5D08F1EDCCAA}"/>
                  </a:ext>
                </a:extLst>
              </p:cNvPr>
              <p:cNvSpPr/>
              <p:nvPr/>
            </p:nvSpPr>
            <p:spPr>
              <a:xfrm>
                <a:off x="5045279" y="1914335"/>
                <a:ext cx="2392196" cy="235559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𝜎</m:t>
                      </m:r>
                      <m:d>
                        <m:dPr>
                          <m:ctrlPr>
                            <a:rPr lang="en-US" sz="2400" i="1" smtClean="0">
                              <a:solidFill>
                                <a:schemeClr val="tx1"/>
                              </a:solidFill>
                              <a:latin typeface="Cambria Math" panose="02040503050406030204" pitchFamily="18" charset="0"/>
                              <a:ea typeface="Cambria Math" panose="02040503050406030204" pitchFamily="18" charset="0"/>
                            </a:rPr>
                          </m:ctrlPr>
                        </m:dPr>
                        <m:e>
                          <m:nary>
                            <m:naryPr>
                              <m:chr m:val="∑"/>
                              <m:subHide m:val="on"/>
                              <m:supHide m:val="on"/>
                              <m:ctrlPr>
                                <a:rPr lang="en-US" sz="2400" i="1">
                                  <a:solidFill>
                                    <a:schemeClr val="tx1"/>
                                  </a:solidFill>
                                  <a:latin typeface="Cambria Math" panose="02040503050406030204" pitchFamily="18" charset="0"/>
                                </a:rPr>
                              </m:ctrlPr>
                            </m:naryPr>
                            <m:sub/>
                            <m:sup/>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𝑤</m:t>
                                  </m:r>
                                </m:e>
                                <m:sub>
                                  <m:r>
                                    <a:rPr lang="en-US" sz="2400" i="1">
                                      <a:solidFill>
                                        <a:schemeClr val="tx1"/>
                                      </a:solidFill>
                                      <a:latin typeface="Cambria Math" panose="02040503050406030204" pitchFamily="18" charset="0"/>
                                    </a:rPr>
                                    <m:t>𝑖</m:t>
                                  </m:r>
                                </m:sub>
                              </m:sSub>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𝑥</m:t>
                                  </m:r>
                                </m:e>
                                <m:sub>
                                  <m:r>
                                    <a:rPr lang="en-US" sz="2400" i="1">
                                      <a:solidFill>
                                        <a:schemeClr val="tx1"/>
                                      </a:solidFill>
                                      <a:latin typeface="Cambria Math" panose="02040503050406030204" pitchFamily="18" charset="0"/>
                                    </a:rPr>
                                    <m:t>𝑖</m:t>
                                  </m:r>
                                </m:sub>
                              </m:sSub>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𝑏</m:t>
                              </m:r>
                            </m:e>
                          </m:nary>
                        </m:e>
                      </m:d>
                    </m:oMath>
                  </m:oMathPara>
                </a14:m>
                <a:endParaRPr lang="en-US" sz="2400" dirty="0">
                  <a:solidFill>
                    <a:schemeClr val="tx1"/>
                  </a:solidFill>
                </a:endParaRPr>
              </a:p>
            </p:txBody>
          </p:sp>
        </mc:Choice>
        <mc:Fallback xmlns="">
          <p:sp>
            <p:nvSpPr>
              <p:cNvPr id="4" name="Oval 3">
                <a:extLst>
                  <a:ext uri="{FF2B5EF4-FFF2-40B4-BE49-F238E27FC236}">
                    <a16:creationId xmlns:a16="http://schemas.microsoft.com/office/drawing/2014/main" id="{2CD3CCBD-B03B-47C8-A3A1-5D08F1EDCCAA}"/>
                  </a:ext>
                </a:extLst>
              </p:cNvPr>
              <p:cNvSpPr>
                <a:spLocks noRot="1" noChangeAspect="1" noMove="1" noResize="1" noEditPoints="1" noAdjustHandles="1" noChangeArrowheads="1" noChangeShapeType="1" noTextEdit="1"/>
              </p:cNvSpPr>
              <p:nvPr/>
            </p:nvSpPr>
            <p:spPr>
              <a:xfrm>
                <a:off x="5045279" y="1914335"/>
                <a:ext cx="2392196" cy="2355599"/>
              </a:xfrm>
              <a:prstGeom prst="ellipse">
                <a:avLst/>
              </a:prstGeom>
              <a:blipFill>
                <a:blip r:embed="rId2"/>
                <a:stretch>
                  <a:fillRect/>
                </a:stretch>
              </a:blipFill>
              <a:ln w="31750"/>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BD797F3E-B24D-4A5B-A11F-1B515D66482C}"/>
              </a:ext>
            </a:extLst>
          </p:cNvPr>
          <p:cNvCxnSpPr>
            <a:cxnSpLocks/>
          </p:cNvCxnSpPr>
          <p:nvPr/>
        </p:nvCxnSpPr>
        <p:spPr>
          <a:xfrm flipV="1">
            <a:off x="7437475" y="3092135"/>
            <a:ext cx="982656" cy="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E2A8FB2-4F41-462C-8C21-B2442EC687D0}"/>
              </a:ext>
            </a:extLst>
          </p:cNvPr>
          <p:cNvSpPr txBox="1"/>
          <p:nvPr/>
        </p:nvSpPr>
        <p:spPr>
          <a:xfrm>
            <a:off x="2994125" y="1488372"/>
            <a:ext cx="643095" cy="584775"/>
          </a:xfrm>
          <a:prstGeom prst="rect">
            <a:avLst/>
          </a:prstGeom>
          <a:noFill/>
        </p:spPr>
        <p:txBody>
          <a:bodyPr wrap="square" rtlCol="0">
            <a:spAutoFit/>
          </a:bodyPr>
          <a:lstStyle/>
          <a:p>
            <a:r>
              <a:rPr lang="en-US" sz="3200" b="1" dirty="0"/>
              <a:t>X</a:t>
            </a:r>
            <a:r>
              <a:rPr lang="en-US" sz="3200" b="1" baseline="-25000" dirty="0"/>
              <a:t>1</a:t>
            </a:r>
          </a:p>
        </p:txBody>
      </p:sp>
      <p:cxnSp>
        <p:nvCxnSpPr>
          <p:cNvPr id="8" name="Straight Arrow Connector 7">
            <a:extLst>
              <a:ext uri="{FF2B5EF4-FFF2-40B4-BE49-F238E27FC236}">
                <a16:creationId xmlns:a16="http://schemas.microsoft.com/office/drawing/2014/main" id="{7B816F84-6D41-4E1D-B8A8-B9D480EEBD3B}"/>
              </a:ext>
            </a:extLst>
          </p:cNvPr>
          <p:cNvCxnSpPr>
            <a:cxnSpLocks/>
            <a:endCxn id="4" idx="1"/>
          </p:cNvCxnSpPr>
          <p:nvPr/>
        </p:nvCxnSpPr>
        <p:spPr>
          <a:xfrm>
            <a:off x="3694652" y="1820952"/>
            <a:ext cx="1700956" cy="43835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162CC81-4351-409E-AABF-69F3DC244DD5}"/>
              </a:ext>
            </a:extLst>
          </p:cNvPr>
          <p:cNvSpPr txBox="1"/>
          <p:nvPr/>
        </p:nvSpPr>
        <p:spPr>
          <a:xfrm>
            <a:off x="8394757" y="2799747"/>
            <a:ext cx="527999" cy="584775"/>
          </a:xfrm>
          <a:prstGeom prst="rect">
            <a:avLst/>
          </a:prstGeom>
          <a:noFill/>
        </p:spPr>
        <p:txBody>
          <a:bodyPr wrap="square" rtlCol="0">
            <a:spAutoFit/>
          </a:bodyPr>
          <a:lstStyle/>
          <a:p>
            <a:r>
              <a:rPr lang="en-US" sz="3200" b="1" dirty="0"/>
              <a:t>Y</a:t>
            </a:r>
          </a:p>
        </p:txBody>
      </p:sp>
      <p:sp>
        <p:nvSpPr>
          <p:cNvPr id="10" name="TextBox 9">
            <a:extLst>
              <a:ext uri="{FF2B5EF4-FFF2-40B4-BE49-F238E27FC236}">
                <a16:creationId xmlns:a16="http://schemas.microsoft.com/office/drawing/2014/main" id="{4BE4C917-06A8-47DD-AA1A-BD7B50208D28}"/>
              </a:ext>
            </a:extLst>
          </p:cNvPr>
          <p:cNvSpPr txBox="1"/>
          <p:nvPr/>
        </p:nvSpPr>
        <p:spPr>
          <a:xfrm>
            <a:off x="3175871" y="4318111"/>
            <a:ext cx="643095" cy="584775"/>
          </a:xfrm>
          <a:prstGeom prst="rect">
            <a:avLst/>
          </a:prstGeom>
          <a:noFill/>
        </p:spPr>
        <p:txBody>
          <a:bodyPr wrap="square" rtlCol="0">
            <a:spAutoFit/>
          </a:bodyPr>
          <a:lstStyle/>
          <a:p>
            <a:r>
              <a:rPr lang="en-US" sz="3200" b="1" dirty="0"/>
              <a:t>X</a:t>
            </a:r>
            <a:r>
              <a:rPr lang="en-US" sz="3200" b="1" baseline="-25000" dirty="0"/>
              <a:t>3</a:t>
            </a:r>
          </a:p>
        </p:txBody>
      </p:sp>
      <p:cxnSp>
        <p:nvCxnSpPr>
          <p:cNvPr id="11" name="Straight Arrow Connector 10">
            <a:extLst>
              <a:ext uri="{FF2B5EF4-FFF2-40B4-BE49-F238E27FC236}">
                <a16:creationId xmlns:a16="http://schemas.microsoft.com/office/drawing/2014/main" id="{94FEF06C-A2D1-4AF7-A44D-765E0099E843}"/>
              </a:ext>
            </a:extLst>
          </p:cNvPr>
          <p:cNvCxnSpPr>
            <a:cxnSpLocks/>
            <a:stCxn id="10" idx="3"/>
            <a:endCxn id="4" idx="3"/>
          </p:cNvCxnSpPr>
          <p:nvPr/>
        </p:nvCxnSpPr>
        <p:spPr>
          <a:xfrm flipV="1">
            <a:off x="3818966" y="3924965"/>
            <a:ext cx="1576642" cy="68553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49AD52-1CDF-43F1-BED2-85BA46C5BBD6}"/>
              </a:ext>
            </a:extLst>
          </p:cNvPr>
          <p:cNvSpPr txBox="1"/>
          <p:nvPr/>
        </p:nvSpPr>
        <p:spPr>
          <a:xfrm>
            <a:off x="2916903" y="2832752"/>
            <a:ext cx="643095" cy="584775"/>
          </a:xfrm>
          <a:prstGeom prst="rect">
            <a:avLst/>
          </a:prstGeom>
          <a:noFill/>
        </p:spPr>
        <p:txBody>
          <a:bodyPr wrap="square" rtlCol="0">
            <a:spAutoFit/>
          </a:bodyPr>
          <a:lstStyle/>
          <a:p>
            <a:r>
              <a:rPr lang="en-US" sz="3200" b="1"/>
              <a:t>X</a:t>
            </a:r>
            <a:r>
              <a:rPr lang="en-US" sz="3200" b="1" baseline="-25000" dirty="0"/>
              <a:t>2</a:t>
            </a:r>
          </a:p>
        </p:txBody>
      </p:sp>
      <p:cxnSp>
        <p:nvCxnSpPr>
          <p:cNvPr id="13" name="Straight Arrow Connector 12">
            <a:extLst>
              <a:ext uri="{FF2B5EF4-FFF2-40B4-BE49-F238E27FC236}">
                <a16:creationId xmlns:a16="http://schemas.microsoft.com/office/drawing/2014/main" id="{6ECBF714-F189-44D3-A89D-80E3D14B2632}"/>
              </a:ext>
            </a:extLst>
          </p:cNvPr>
          <p:cNvCxnSpPr>
            <a:cxnSpLocks/>
            <a:endCxn id="4" idx="2"/>
          </p:cNvCxnSpPr>
          <p:nvPr/>
        </p:nvCxnSpPr>
        <p:spPr>
          <a:xfrm flipV="1">
            <a:off x="3618814" y="3092135"/>
            <a:ext cx="1426465" cy="9187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8412AAD-339D-4D78-97E4-CC843EBBC57E}"/>
              </a:ext>
            </a:extLst>
          </p:cNvPr>
          <p:cNvSpPr txBox="1"/>
          <p:nvPr/>
        </p:nvSpPr>
        <p:spPr>
          <a:xfrm>
            <a:off x="4479406" y="1598761"/>
            <a:ext cx="643095" cy="584775"/>
          </a:xfrm>
          <a:prstGeom prst="rect">
            <a:avLst/>
          </a:prstGeom>
          <a:noFill/>
        </p:spPr>
        <p:txBody>
          <a:bodyPr wrap="square" rtlCol="0">
            <a:spAutoFit/>
          </a:bodyPr>
          <a:lstStyle/>
          <a:p>
            <a:r>
              <a:rPr lang="en-US" sz="3200" b="1" dirty="0"/>
              <a:t>w</a:t>
            </a:r>
            <a:r>
              <a:rPr lang="en-US" sz="3200" b="1" baseline="-25000" dirty="0"/>
              <a:t>1</a:t>
            </a:r>
          </a:p>
        </p:txBody>
      </p:sp>
      <p:sp>
        <p:nvSpPr>
          <p:cNvPr id="15" name="TextBox 14">
            <a:extLst>
              <a:ext uri="{FF2B5EF4-FFF2-40B4-BE49-F238E27FC236}">
                <a16:creationId xmlns:a16="http://schemas.microsoft.com/office/drawing/2014/main" id="{AC63CDEE-A91D-4DA1-B469-FDE4E7333CEC}"/>
              </a:ext>
            </a:extLst>
          </p:cNvPr>
          <p:cNvSpPr txBox="1"/>
          <p:nvPr/>
        </p:nvSpPr>
        <p:spPr>
          <a:xfrm>
            <a:off x="3981091" y="2577742"/>
            <a:ext cx="643095" cy="584775"/>
          </a:xfrm>
          <a:prstGeom prst="rect">
            <a:avLst/>
          </a:prstGeom>
          <a:noFill/>
        </p:spPr>
        <p:txBody>
          <a:bodyPr wrap="square" rtlCol="0">
            <a:spAutoFit/>
          </a:bodyPr>
          <a:lstStyle/>
          <a:p>
            <a:r>
              <a:rPr lang="en-US" sz="3200" b="1" dirty="0"/>
              <a:t>w</a:t>
            </a:r>
            <a:r>
              <a:rPr lang="en-US" sz="3200" b="1" baseline="-25000" dirty="0"/>
              <a:t>2</a:t>
            </a:r>
          </a:p>
        </p:txBody>
      </p:sp>
      <p:sp>
        <p:nvSpPr>
          <p:cNvPr id="16" name="TextBox 15">
            <a:extLst>
              <a:ext uri="{FF2B5EF4-FFF2-40B4-BE49-F238E27FC236}">
                <a16:creationId xmlns:a16="http://schemas.microsoft.com/office/drawing/2014/main" id="{E3CCA4B2-C2D4-4F28-947E-33DA56F7A3A1}"/>
              </a:ext>
            </a:extLst>
          </p:cNvPr>
          <p:cNvSpPr txBox="1"/>
          <p:nvPr/>
        </p:nvSpPr>
        <p:spPr>
          <a:xfrm>
            <a:off x="4332046" y="3463217"/>
            <a:ext cx="643095" cy="584775"/>
          </a:xfrm>
          <a:prstGeom prst="rect">
            <a:avLst/>
          </a:prstGeom>
          <a:noFill/>
        </p:spPr>
        <p:txBody>
          <a:bodyPr wrap="square" rtlCol="0">
            <a:spAutoFit/>
          </a:bodyPr>
          <a:lstStyle/>
          <a:p>
            <a:r>
              <a:rPr lang="en-US" sz="3200" b="1" dirty="0"/>
              <a:t>w</a:t>
            </a:r>
            <a:r>
              <a:rPr lang="en-US" sz="3200" b="1" baseline="-25000" dirty="0"/>
              <a:t>3</a:t>
            </a:r>
          </a:p>
        </p:txBody>
      </p:sp>
      <p:pic>
        <p:nvPicPr>
          <p:cNvPr id="17" name="Picture 16">
            <a:extLst>
              <a:ext uri="{FF2B5EF4-FFF2-40B4-BE49-F238E27FC236}">
                <a16:creationId xmlns:a16="http://schemas.microsoft.com/office/drawing/2014/main" id="{61EDBD8C-1D9D-414F-AC36-160CD7B4F11C}"/>
              </a:ext>
            </a:extLst>
          </p:cNvPr>
          <p:cNvPicPr>
            <a:picLocks noChangeAspect="1"/>
          </p:cNvPicPr>
          <p:nvPr/>
        </p:nvPicPr>
        <p:blipFill>
          <a:blip r:embed="rId3"/>
          <a:stretch>
            <a:fillRect/>
          </a:stretch>
        </p:blipFill>
        <p:spPr>
          <a:xfrm>
            <a:off x="464902" y="5100758"/>
            <a:ext cx="5421938" cy="1201408"/>
          </a:xfrm>
          <a:prstGeom prst="rect">
            <a:avLst/>
          </a:prstGeom>
        </p:spPr>
      </p:pic>
      <p:sp>
        <p:nvSpPr>
          <p:cNvPr id="18" name="Content Placeholder 2">
            <a:extLst>
              <a:ext uri="{FF2B5EF4-FFF2-40B4-BE49-F238E27FC236}">
                <a16:creationId xmlns:a16="http://schemas.microsoft.com/office/drawing/2014/main" id="{5323ED39-C5AD-481A-ADFF-6C158D1AEA41}"/>
              </a:ext>
            </a:extLst>
          </p:cNvPr>
          <p:cNvSpPr txBox="1">
            <a:spLocks/>
          </p:cNvSpPr>
          <p:nvPr/>
        </p:nvSpPr>
        <p:spPr>
          <a:xfrm>
            <a:off x="239892" y="6141303"/>
            <a:ext cx="6151560" cy="633600"/>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dirty="0">
                <a:latin typeface="+mj-lt"/>
                <a:cs typeface="Segoe UI" panose="020B0502040204020203" pitchFamily="34" charset="0"/>
              </a:rPr>
              <a:t>This is just </a:t>
            </a:r>
            <a:r>
              <a:rPr lang="en-US" sz="2800" b="1" dirty="0">
                <a:latin typeface="+mj-lt"/>
                <a:cs typeface="Segoe UI" panose="020B0502040204020203" pitchFamily="34" charset="0"/>
              </a:rPr>
              <a:t>logistic regression</a:t>
            </a:r>
            <a:r>
              <a:rPr lang="en-US" sz="2800" dirty="0">
                <a:latin typeface="+mj-lt"/>
                <a:cs typeface="Segoe UI" panose="020B0502040204020203" pitchFamily="34" charset="0"/>
              </a:rPr>
              <a:t>!</a:t>
            </a:r>
          </a:p>
          <a:p>
            <a:pPr marL="0" indent="0">
              <a:buFont typeface="Arial" pitchFamily="34" charset="0"/>
              <a:buNone/>
            </a:pPr>
            <a:endParaRPr lang="en-US" dirty="0"/>
          </a:p>
        </p:txBody>
      </p:sp>
      <p:sp>
        <p:nvSpPr>
          <p:cNvPr id="19" name="Content Placeholder 2">
            <a:extLst>
              <a:ext uri="{FF2B5EF4-FFF2-40B4-BE49-F238E27FC236}">
                <a16:creationId xmlns:a16="http://schemas.microsoft.com/office/drawing/2014/main" id="{09557FE6-A996-4E89-ACF7-52B2063F82DB}"/>
              </a:ext>
            </a:extLst>
          </p:cNvPr>
          <p:cNvSpPr txBox="1">
            <a:spLocks/>
          </p:cNvSpPr>
          <p:nvPr/>
        </p:nvSpPr>
        <p:spPr>
          <a:xfrm>
            <a:off x="5937240" y="4815281"/>
            <a:ext cx="6151560" cy="1267496"/>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mn-lt"/>
                <a:cs typeface="Segoe UI" panose="020B0502040204020203" pitchFamily="34" charset="0"/>
              </a:rPr>
              <a:t>Minsky and </a:t>
            </a:r>
            <a:r>
              <a:rPr lang="en-US" sz="2800" dirty="0" err="1">
                <a:latin typeface="+mn-lt"/>
                <a:cs typeface="Segoe UI" panose="020B0502040204020203" pitchFamily="34" charset="0"/>
              </a:rPr>
              <a:t>Papert</a:t>
            </a:r>
            <a:r>
              <a:rPr lang="en-US" sz="2800" dirty="0">
                <a:latin typeface="+mn-lt"/>
                <a:cs typeface="Segoe UI" panose="020B0502040204020203" pitchFamily="34" charset="0"/>
              </a:rPr>
              <a:t> (1969) showed the perceptron cannot represent an </a:t>
            </a:r>
            <a:r>
              <a:rPr lang="en-US" sz="2800" b="1" dirty="0">
                <a:latin typeface="+mn-lt"/>
                <a:cs typeface="Segoe UI" panose="020B0502040204020203" pitchFamily="34" charset="0"/>
              </a:rPr>
              <a:t>exclusive OR (XOR</a:t>
            </a:r>
            <a:r>
              <a:rPr lang="en-US" sz="2800" b="1" dirty="0">
                <a:latin typeface="+mn-lt"/>
              </a:rPr>
              <a:t>)</a:t>
            </a:r>
          </a:p>
        </p:txBody>
      </p:sp>
    </p:spTree>
    <p:extLst>
      <p:ext uri="{BB962C8B-B14F-4D97-AF65-F5344CB8AC3E}">
        <p14:creationId xmlns:p14="http://schemas.microsoft.com/office/powerpoint/2010/main" val="292320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p:bldP spid="9" grpId="0"/>
      <p:bldP spid="10" grpId="0"/>
      <p:bldP spid="12" grpId="0"/>
      <p:bldP spid="14" grpId="0"/>
      <p:bldP spid="15" grpId="0"/>
      <p:bldP spid="16" grpId="0"/>
      <p:bldP spid="18" grpId="0" build="p"/>
      <p:bldP spid="1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E386-DDF8-4AE5-9C6D-3030DB628CF6}"/>
              </a:ext>
            </a:extLst>
          </p:cNvPr>
          <p:cNvSpPr>
            <a:spLocks noGrp="1"/>
          </p:cNvSpPr>
          <p:nvPr>
            <p:ph type="title"/>
          </p:nvPr>
        </p:nvSpPr>
        <p:spPr>
          <a:xfrm>
            <a:off x="379514" y="182216"/>
            <a:ext cx="11524432" cy="726960"/>
          </a:xfrm>
        </p:spPr>
        <p:txBody>
          <a:bodyPr>
            <a:normAutofit/>
          </a:bodyPr>
          <a:lstStyle/>
          <a:p>
            <a:r>
              <a:rPr lang="en-US" sz="4000" dirty="0">
                <a:latin typeface="Segoe UI" panose="020B0502040204020203" pitchFamily="34" charset="0"/>
                <a:cs typeface="Segoe UI" panose="020B0502040204020203" pitchFamily="34" charset="0"/>
              </a:rPr>
              <a:t>We Need a Better Deep Representation</a:t>
            </a:r>
          </a:p>
        </p:txBody>
      </p:sp>
      <p:sp>
        <p:nvSpPr>
          <p:cNvPr id="3" name="Content Placeholder 2">
            <a:extLst>
              <a:ext uri="{FF2B5EF4-FFF2-40B4-BE49-F238E27FC236}">
                <a16:creationId xmlns:a16="http://schemas.microsoft.com/office/drawing/2014/main" id="{E20CBBCA-E46E-424E-A1A3-B0156EAC44A8}"/>
              </a:ext>
            </a:extLst>
          </p:cNvPr>
          <p:cNvSpPr>
            <a:spLocks noGrp="1"/>
          </p:cNvSpPr>
          <p:nvPr>
            <p:ph sz="quarter" idx="10"/>
          </p:nvPr>
        </p:nvSpPr>
        <p:spPr>
          <a:xfrm>
            <a:off x="333375" y="1154755"/>
            <a:ext cx="11525250" cy="5363319"/>
          </a:xfrm>
        </p:spPr>
        <p:txBody>
          <a:bodyPr/>
          <a:lstStyle/>
          <a:p>
            <a:pPr marL="0" indent="0">
              <a:buNone/>
            </a:pPr>
            <a:r>
              <a:rPr lang="en-US" sz="2800" dirty="0">
                <a:latin typeface="+mn-lt"/>
                <a:cs typeface="Segoe UI" panose="020B0502040204020203" pitchFamily="34" charset="0"/>
              </a:rPr>
              <a:t>By mid-1980s need for architecture with </a:t>
            </a:r>
            <a:r>
              <a:rPr lang="en-US" sz="2800" b="1" dirty="0">
                <a:latin typeface="+mn-lt"/>
                <a:cs typeface="Segoe UI" panose="020B0502040204020203" pitchFamily="34" charset="0"/>
              </a:rPr>
              <a:t>hidden layers </a:t>
            </a:r>
            <a:r>
              <a:rPr lang="en-US" sz="2800" dirty="0">
                <a:latin typeface="+mn-lt"/>
                <a:cs typeface="Segoe UI" panose="020B0502040204020203" pitchFamily="34" charset="0"/>
              </a:rPr>
              <a:t>for</a:t>
            </a:r>
            <a:r>
              <a:rPr lang="en-US" sz="2800" b="1" dirty="0">
                <a:latin typeface="+mn-lt"/>
                <a:cs typeface="Segoe UI" panose="020B0502040204020203" pitchFamily="34" charset="0"/>
              </a:rPr>
              <a:t> greater model capacity</a:t>
            </a:r>
            <a:r>
              <a:rPr lang="en-US" sz="2800" dirty="0">
                <a:latin typeface="+mn-lt"/>
                <a:cs typeface="Segoe UI" panose="020B0502040204020203" pitchFamily="34" charset="0"/>
              </a:rPr>
              <a:t> was recognized, the </a:t>
            </a:r>
            <a:r>
              <a:rPr lang="en-US" sz="2800" b="1" dirty="0">
                <a:latin typeface="+mn-lt"/>
                <a:cs typeface="Segoe UI" panose="020B0502040204020203" pitchFamily="34" charset="0"/>
              </a:rPr>
              <a:t>multi-layer perceptron (MLP)</a:t>
            </a:r>
            <a:endParaRPr lang="en-US" sz="2800" dirty="0">
              <a:latin typeface="+mn-lt"/>
              <a:cs typeface="Segoe UI" panose="020B0502040204020203" pitchFamily="34" charset="0"/>
            </a:endParaRPr>
          </a:p>
          <a:p>
            <a:pPr marL="514350" indent="-514350">
              <a:buFont typeface="+mj-lt"/>
              <a:buAutoNum type="arabicPeriod"/>
            </a:pPr>
            <a:r>
              <a:rPr lang="en-US" sz="2800" b="1" dirty="0">
                <a:latin typeface="+mn-lt"/>
                <a:cs typeface="Segoe UI" panose="020B0502040204020203" pitchFamily="34" charset="0"/>
              </a:rPr>
              <a:t>Multiple units in hidden layers</a:t>
            </a:r>
            <a:endParaRPr lang="en-US" sz="2800" dirty="0">
              <a:latin typeface="+mn-lt"/>
              <a:cs typeface="Segoe UI" panose="020B0502040204020203" pitchFamily="34" charset="0"/>
            </a:endParaRPr>
          </a:p>
          <a:p>
            <a:pPr lvl="1">
              <a:buFont typeface="Wingdings" panose="05000000000000000000" pitchFamily="2" charset="2"/>
              <a:buChar char="§"/>
            </a:pPr>
            <a:r>
              <a:rPr lang="en-US" sz="2400" b="1" dirty="0">
                <a:latin typeface="+mn-lt"/>
                <a:cs typeface="Segoe UI" panose="020B0502040204020203" pitchFamily="34" charset="0"/>
              </a:rPr>
              <a:t>Input layer</a:t>
            </a:r>
          </a:p>
          <a:p>
            <a:pPr lvl="1">
              <a:buFont typeface="Wingdings" panose="05000000000000000000" pitchFamily="2" charset="2"/>
              <a:buChar char="§"/>
            </a:pPr>
            <a:r>
              <a:rPr lang="en-US" sz="2400" dirty="0">
                <a:latin typeface="+mn-lt"/>
                <a:cs typeface="Segoe UI" panose="020B0502040204020203" pitchFamily="34" charset="0"/>
              </a:rPr>
              <a:t>Multiple</a:t>
            </a:r>
            <a:r>
              <a:rPr lang="en-US" sz="2400" b="1" dirty="0">
                <a:latin typeface="+mn-lt"/>
                <a:cs typeface="Segoe UI" panose="020B0502040204020203" pitchFamily="34" charset="0"/>
              </a:rPr>
              <a:t> hidden layers</a:t>
            </a:r>
          </a:p>
          <a:p>
            <a:pPr lvl="1">
              <a:buFont typeface="Wingdings" panose="05000000000000000000" pitchFamily="2" charset="2"/>
              <a:buChar char="§"/>
            </a:pPr>
            <a:r>
              <a:rPr lang="en-US" sz="2400" b="1" dirty="0">
                <a:latin typeface="+mn-lt"/>
                <a:cs typeface="Segoe UI" panose="020B0502040204020203" pitchFamily="34" charset="0"/>
              </a:rPr>
              <a:t>Output layer</a:t>
            </a:r>
            <a:endParaRPr lang="en-US" sz="2800" b="1" dirty="0">
              <a:latin typeface="+mn-lt"/>
              <a:cs typeface="Segoe UI" panose="020B0502040204020203" pitchFamily="34" charset="0"/>
            </a:endParaRPr>
          </a:p>
          <a:p>
            <a:pPr marL="514350" indent="-514350">
              <a:buFont typeface="+mj-lt"/>
              <a:buAutoNum type="arabicPeriod"/>
            </a:pPr>
            <a:r>
              <a:rPr lang="en-US" sz="2800" b="1" dirty="0">
                <a:latin typeface="+mn-lt"/>
                <a:cs typeface="Segoe UI" panose="020B0502040204020203" pitchFamily="34" charset="0"/>
              </a:rPr>
              <a:t>Nonlinear activations </a:t>
            </a:r>
            <a:r>
              <a:rPr lang="en-US" sz="2800" dirty="0">
                <a:latin typeface="+mn-lt"/>
                <a:cs typeface="Segoe UI" panose="020B0502040204020203" pitchFamily="34" charset="0"/>
              </a:rPr>
              <a:t>in</a:t>
            </a:r>
            <a:r>
              <a:rPr lang="en-US" sz="2800" b="1" dirty="0">
                <a:latin typeface="+mn-lt"/>
                <a:cs typeface="Segoe UI" panose="020B0502040204020203" pitchFamily="34" charset="0"/>
              </a:rPr>
              <a:t> </a:t>
            </a:r>
            <a:r>
              <a:rPr lang="en-US" sz="2800" dirty="0">
                <a:latin typeface="+mn-lt"/>
                <a:cs typeface="Segoe UI" panose="020B0502040204020203" pitchFamily="34" charset="0"/>
              </a:rPr>
              <a:t>units</a:t>
            </a:r>
          </a:p>
          <a:p>
            <a:pPr marL="514350" indent="-514350">
              <a:buFont typeface="+mj-lt"/>
              <a:buAutoNum type="arabicPeriod"/>
            </a:pPr>
            <a:r>
              <a:rPr lang="en-US" sz="2800" b="1" dirty="0">
                <a:latin typeface="+mn-lt"/>
                <a:cs typeface="Segoe UI" panose="020B0502040204020203" pitchFamily="34" charset="0"/>
              </a:rPr>
              <a:t>Learned weights </a:t>
            </a:r>
            <a:r>
              <a:rPr lang="en-US" sz="2800" dirty="0">
                <a:latin typeface="+mn-lt"/>
                <a:cs typeface="Segoe UI" panose="020B0502040204020203" pitchFamily="34" charset="0"/>
              </a:rPr>
              <a:t>for complex function approximation</a:t>
            </a:r>
          </a:p>
          <a:p>
            <a:r>
              <a:rPr lang="en-US" sz="2800" dirty="0">
                <a:latin typeface="+mn-lt"/>
                <a:cs typeface="Segoe UI" panose="020B0502040204020203" pitchFamily="34" charset="0"/>
              </a:rPr>
              <a:t>Fully connected between units in adjacent layers</a:t>
            </a:r>
          </a:p>
          <a:p>
            <a:r>
              <a:rPr lang="en-US" sz="2800" dirty="0">
                <a:latin typeface="+mn-lt"/>
                <a:cs typeface="Segoe UI" panose="020B0502040204020203" pitchFamily="34" charset="0"/>
              </a:rPr>
              <a:t>Can solve XOR problem and much more!</a:t>
            </a:r>
          </a:p>
        </p:txBody>
      </p:sp>
    </p:spTree>
    <p:extLst>
      <p:ext uri="{BB962C8B-B14F-4D97-AF65-F5344CB8AC3E}">
        <p14:creationId xmlns:p14="http://schemas.microsoft.com/office/powerpoint/2010/main" val="685422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E386-DDF8-4AE5-9C6D-3030DB628CF6}"/>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We Need a Better Deep Representation</a:t>
            </a:r>
          </a:p>
        </p:txBody>
      </p:sp>
      <p:sp>
        <p:nvSpPr>
          <p:cNvPr id="4" name="Oval 3">
            <a:extLst>
              <a:ext uri="{FF2B5EF4-FFF2-40B4-BE49-F238E27FC236}">
                <a16:creationId xmlns:a16="http://schemas.microsoft.com/office/drawing/2014/main" id="{14BF2947-CE45-4C47-9A3F-979B4CDACAD8}"/>
              </a:ext>
            </a:extLst>
          </p:cNvPr>
          <p:cNvSpPr/>
          <p:nvPr/>
        </p:nvSpPr>
        <p:spPr>
          <a:xfrm>
            <a:off x="8055391" y="2285677"/>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031D99E7-919E-4084-96B1-DAE35F7220F4}"/>
              </a:ext>
            </a:extLst>
          </p:cNvPr>
          <p:cNvCxnSpPr>
            <a:cxnSpLocks/>
            <a:stCxn id="4" idx="6"/>
          </p:cNvCxnSpPr>
          <p:nvPr/>
        </p:nvCxnSpPr>
        <p:spPr>
          <a:xfrm flipV="1">
            <a:off x="10156833" y="3249806"/>
            <a:ext cx="756397" cy="686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35191ED-08DF-422E-9C96-10B2024FFD91}"/>
              </a:ext>
            </a:extLst>
          </p:cNvPr>
          <p:cNvSpPr txBox="1"/>
          <p:nvPr/>
        </p:nvSpPr>
        <p:spPr>
          <a:xfrm>
            <a:off x="1566415" y="1957264"/>
            <a:ext cx="643095" cy="584775"/>
          </a:xfrm>
          <a:prstGeom prst="rect">
            <a:avLst/>
          </a:prstGeom>
          <a:noFill/>
        </p:spPr>
        <p:txBody>
          <a:bodyPr wrap="square" rtlCol="0">
            <a:spAutoFit/>
          </a:bodyPr>
          <a:lstStyle/>
          <a:p>
            <a:r>
              <a:rPr lang="en-US" sz="3200" b="1" dirty="0"/>
              <a:t>X</a:t>
            </a:r>
            <a:r>
              <a:rPr lang="en-US" sz="3200" b="1" baseline="-25000" dirty="0"/>
              <a:t>1</a:t>
            </a:r>
          </a:p>
        </p:txBody>
      </p:sp>
      <p:sp>
        <p:nvSpPr>
          <p:cNvPr id="7" name="TextBox 6">
            <a:extLst>
              <a:ext uri="{FF2B5EF4-FFF2-40B4-BE49-F238E27FC236}">
                <a16:creationId xmlns:a16="http://schemas.microsoft.com/office/drawing/2014/main" id="{D8874639-84FA-412F-9C8F-088340ACFC81}"/>
              </a:ext>
            </a:extLst>
          </p:cNvPr>
          <p:cNvSpPr txBox="1"/>
          <p:nvPr/>
        </p:nvSpPr>
        <p:spPr>
          <a:xfrm>
            <a:off x="8143935" y="2980160"/>
            <a:ext cx="1957555"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3</a:t>
            </a:r>
            <a:r>
              <a:rPr lang="en-US" sz="3200" b="1" dirty="0">
                <a:latin typeface="Symbol" panose="05050102010706020507" pitchFamily="18" charset="2"/>
              </a:rPr>
              <a:t> = S</a:t>
            </a:r>
            <a:r>
              <a:rPr lang="en-US" sz="3200" b="1" dirty="0"/>
              <a:t> </a:t>
            </a:r>
            <a:endParaRPr lang="en-US" sz="2800" b="1" dirty="0">
              <a:latin typeface="Symbol" panose="05050102010706020507" pitchFamily="18" charset="2"/>
            </a:endParaRPr>
          </a:p>
        </p:txBody>
      </p:sp>
      <p:cxnSp>
        <p:nvCxnSpPr>
          <p:cNvPr id="8" name="Straight Arrow Connector 7">
            <a:extLst>
              <a:ext uri="{FF2B5EF4-FFF2-40B4-BE49-F238E27FC236}">
                <a16:creationId xmlns:a16="http://schemas.microsoft.com/office/drawing/2014/main" id="{5B4D47F2-8822-47B8-B7A7-0E7B8FC0BF67}"/>
              </a:ext>
            </a:extLst>
          </p:cNvPr>
          <p:cNvCxnSpPr>
            <a:cxnSpLocks/>
            <a:stCxn id="6" idx="3"/>
          </p:cNvCxnSpPr>
          <p:nvPr/>
        </p:nvCxnSpPr>
        <p:spPr>
          <a:xfrm flipV="1">
            <a:off x="2209510" y="1585969"/>
            <a:ext cx="2499720" cy="66368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7CFFCDF-A2D7-44FE-9B1B-B96E9775DDB7}"/>
              </a:ext>
            </a:extLst>
          </p:cNvPr>
          <p:cNvSpPr txBox="1"/>
          <p:nvPr/>
        </p:nvSpPr>
        <p:spPr>
          <a:xfrm>
            <a:off x="1621991" y="3526549"/>
            <a:ext cx="643095" cy="584775"/>
          </a:xfrm>
          <a:prstGeom prst="rect">
            <a:avLst/>
          </a:prstGeom>
          <a:noFill/>
        </p:spPr>
        <p:txBody>
          <a:bodyPr wrap="square" rtlCol="0">
            <a:spAutoFit/>
          </a:bodyPr>
          <a:lstStyle/>
          <a:p>
            <a:r>
              <a:rPr lang="en-US" sz="3200" b="1" dirty="0"/>
              <a:t>X</a:t>
            </a:r>
            <a:r>
              <a:rPr lang="en-US" sz="3200" b="1" baseline="-25000" dirty="0"/>
              <a:t>2</a:t>
            </a:r>
          </a:p>
        </p:txBody>
      </p:sp>
      <p:cxnSp>
        <p:nvCxnSpPr>
          <p:cNvPr id="10" name="Straight Arrow Connector 9">
            <a:extLst>
              <a:ext uri="{FF2B5EF4-FFF2-40B4-BE49-F238E27FC236}">
                <a16:creationId xmlns:a16="http://schemas.microsoft.com/office/drawing/2014/main" id="{E945E33E-685D-4F56-BA23-DFFC2208E23C}"/>
              </a:ext>
            </a:extLst>
          </p:cNvPr>
          <p:cNvCxnSpPr>
            <a:cxnSpLocks/>
          </p:cNvCxnSpPr>
          <p:nvPr/>
        </p:nvCxnSpPr>
        <p:spPr>
          <a:xfrm>
            <a:off x="2192500" y="2365090"/>
            <a:ext cx="2714215" cy="158328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763A75-3819-46F7-A595-732528ACFFB9}"/>
              </a:ext>
            </a:extLst>
          </p:cNvPr>
          <p:cNvSpPr txBox="1"/>
          <p:nvPr/>
        </p:nvSpPr>
        <p:spPr>
          <a:xfrm>
            <a:off x="7133080" y="1638546"/>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1</a:t>
            </a:r>
          </a:p>
        </p:txBody>
      </p:sp>
      <p:sp>
        <p:nvSpPr>
          <p:cNvPr id="12" name="Oval 11">
            <a:extLst>
              <a:ext uri="{FF2B5EF4-FFF2-40B4-BE49-F238E27FC236}">
                <a16:creationId xmlns:a16="http://schemas.microsoft.com/office/drawing/2014/main" id="{75B3B75A-2714-4FA2-9370-F5A2D75FECE9}"/>
              </a:ext>
            </a:extLst>
          </p:cNvPr>
          <p:cNvSpPr/>
          <p:nvPr/>
        </p:nvSpPr>
        <p:spPr>
          <a:xfrm>
            <a:off x="4631737" y="972157"/>
            <a:ext cx="2134679" cy="2008507"/>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BC41E7A-D5B2-45B7-886E-6AAB7A8B02A9}"/>
              </a:ext>
            </a:extLst>
          </p:cNvPr>
          <p:cNvSpPr txBox="1"/>
          <p:nvPr/>
        </p:nvSpPr>
        <p:spPr>
          <a:xfrm>
            <a:off x="4631738" y="1732664"/>
            <a:ext cx="2067656"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1</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 </a:t>
            </a:r>
          </a:p>
        </p:txBody>
      </p:sp>
      <p:sp>
        <p:nvSpPr>
          <p:cNvPr id="14" name="Oval 13">
            <a:extLst>
              <a:ext uri="{FF2B5EF4-FFF2-40B4-BE49-F238E27FC236}">
                <a16:creationId xmlns:a16="http://schemas.microsoft.com/office/drawing/2014/main" id="{23FC5838-E7CE-4BC1-B457-293CA0EC036D}"/>
              </a:ext>
            </a:extLst>
          </p:cNvPr>
          <p:cNvSpPr/>
          <p:nvPr/>
        </p:nvSpPr>
        <p:spPr>
          <a:xfrm>
            <a:off x="4709230" y="3494681"/>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BAC44F0-9D85-4056-90F1-FAA7DA733A1A}"/>
              </a:ext>
            </a:extLst>
          </p:cNvPr>
          <p:cNvSpPr txBox="1"/>
          <p:nvPr/>
        </p:nvSpPr>
        <p:spPr>
          <a:xfrm>
            <a:off x="4766400" y="4189164"/>
            <a:ext cx="1988929"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2</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a:t>
            </a:r>
          </a:p>
        </p:txBody>
      </p:sp>
      <p:cxnSp>
        <p:nvCxnSpPr>
          <p:cNvPr id="16" name="Straight Arrow Connector 15">
            <a:extLst>
              <a:ext uri="{FF2B5EF4-FFF2-40B4-BE49-F238E27FC236}">
                <a16:creationId xmlns:a16="http://schemas.microsoft.com/office/drawing/2014/main" id="{25FA5E2F-197C-42C4-8CB9-3AC6924C20C3}"/>
              </a:ext>
            </a:extLst>
          </p:cNvPr>
          <p:cNvCxnSpPr>
            <a:cxnSpLocks/>
          </p:cNvCxnSpPr>
          <p:nvPr/>
        </p:nvCxnSpPr>
        <p:spPr>
          <a:xfrm>
            <a:off x="6699393" y="2214342"/>
            <a:ext cx="1512683" cy="62428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C14AEB5-B715-4A92-A6C9-24A8016AE1A8}"/>
              </a:ext>
            </a:extLst>
          </p:cNvPr>
          <p:cNvCxnSpPr>
            <a:cxnSpLocks/>
          </p:cNvCxnSpPr>
          <p:nvPr/>
        </p:nvCxnSpPr>
        <p:spPr>
          <a:xfrm flipV="1">
            <a:off x="6843873" y="3751111"/>
            <a:ext cx="1368203" cy="69480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08C36E3-FBBF-4D5A-9754-ADB57F6AD3B4}"/>
              </a:ext>
            </a:extLst>
          </p:cNvPr>
          <p:cNvSpPr txBox="1"/>
          <p:nvPr/>
        </p:nvSpPr>
        <p:spPr>
          <a:xfrm>
            <a:off x="6994578" y="3399482"/>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2</a:t>
            </a:r>
          </a:p>
        </p:txBody>
      </p:sp>
      <p:cxnSp>
        <p:nvCxnSpPr>
          <p:cNvPr id="19" name="Straight Arrow Connector 18">
            <a:extLst>
              <a:ext uri="{FF2B5EF4-FFF2-40B4-BE49-F238E27FC236}">
                <a16:creationId xmlns:a16="http://schemas.microsoft.com/office/drawing/2014/main" id="{397C31AA-E53B-4B72-A013-28862DB68B97}"/>
              </a:ext>
            </a:extLst>
          </p:cNvPr>
          <p:cNvCxnSpPr>
            <a:cxnSpLocks/>
            <a:stCxn id="9" idx="3"/>
          </p:cNvCxnSpPr>
          <p:nvPr/>
        </p:nvCxnSpPr>
        <p:spPr>
          <a:xfrm flipV="1">
            <a:off x="2265086" y="2633822"/>
            <a:ext cx="2551648" cy="118511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5F9DC92-FB07-41F4-A890-C6633E2F0473}"/>
              </a:ext>
            </a:extLst>
          </p:cNvPr>
          <p:cNvCxnSpPr>
            <a:cxnSpLocks/>
          </p:cNvCxnSpPr>
          <p:nvPr/>
        </p:nvCxnSpPr>
        <p:spPr>
          <a:xfrm>
            <a:off x="2346176" y="4061661"/>
            <a:ext cx="2470558" cy="89567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7063071-0B92-4A94-8931-8FD98582BD28}"/>
              </a:ext>
            </a:extLst>
          </p:cNvPr>
          <p:cNvSpPr txBox="1"/>
          <p:nvPr/>
        </p:nvSpPr>
        <p:spPr>
          <a:xfrm>
            <a:off x="2833872" y="1022905"/>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11</a:t>
            </a:r>
          </a:p>
        </p:txBody>
      </p:sp>
      <p:sp>
        <p:nvSpPr>
          <p:cNvPr id="22" name="TextBox 21">
            <a:extLst>
              <a:ext uri="{FF2B5EF4-FFF2-40B4-BE49-F238E27FC236}">
                <a16:creationId xmlns:a16="http://schemas.microsoft.com/office/drawing/2014/main" id="{590E2113-85B6-4319-A9FD-5B63238E9EEF}"/>
              </a:ext>
            </a:extLst>
          </p:cNvPr>
          <p:cNvSpPr txBox="1"/>
          <p:nvPr/>
        </p:nvSpPr>
        <p:spPr>
          <a:xfrm>
            <a:off x="2912041" y="1947947"/>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12</a:t>
            </a:r>
          </a:p>
        </p:txBody>
      </p:sp>
      <p:sp>
        <p:nvSpPr>
          <p:cNvPr id="23" name="TextBox 22">
            <a:extLst>
              <a:ext uri="{FF2B5EF4-FFF2-40B4-BE49-F238E27FC236}">
                <a16:creationId xmlns:a16="http://schemas.microsoft.com/office/drawing/2014/main" id="{39936F98-E4C0-4B35-9F81-1082EB4715D8}"/>
              </a:ext>
            </a:extLst>
          </p:cNvPr>
          <p:cNvSpPr txBox="1"/>
          <p:nvPr/>
        </p:nvSpPr>
        <p:spPr>
          <a:xfrm>
            <a:off x="2325999" y="2864342"/>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21</a:t>
            </a:r>
          </a:p>
        </p:txBody>
      </p:sp>
      <p:sp>
        <p:nvSpPr>
          <p:cNvPr id="24" name="TextBox 23">
            <a:extLst>
              <a:ext uri="{FF2B5EF4-FFF2-40B4-BE49-F238E27FC236}">
                <a16:creationId xmlns:a16="http://schemas.microsoft.com/office/drawing/2014/main" id="{36150562-6D83-428B-87A1-1434F6324230}"/>
              </a:ext>
            </a:extLst>
          </p:cNvPr>
          <p:cNvSpPr txBox="1"/>
          <p:nvPr/>
        </p:nvSpPr>
        <p:spPr>
          <a:xfrm>
            <a:off x="2711259" y="3609656"/>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22</a:t>
            </a:r>
          </a:p>
        </p:txBody>
      </p:sp>
      <p:sp>
        <p:nvSpPr>
          <p:cNvPr id="25" name="Right Brace 24">
            <a:extLst>
              <a:ext uri="{FF2B5EF4-FFF2-40B4-BE49-F238E27FC236}">
                <a16:creationId xmlns:a16="http://schemas.microsoft.com/office/drawing/2014/main" id="{EB1286EE-BCEA-4EC4-912D-2735BA2B1FA4}"/>
              </a:ext>
            </a:extLst>
          </p:cNvPr>
          <p:cNvSpPr/>
          <p:nvPr/>
        </p:nvSpPr>
        <p:spPr>
          <a:xfrm rot="5400000">
            <a:off x="5597601" y="4643600"/>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E2421A58-B2CE-43A5-81FC-C7411CDDBCF4}"/>
              </a:ext>
            </a:extLst>
          </p:cNvPr>
          <p:cNvSpPr txBox="1"/>
          <p:nvPr/>
        </p:nvSpPr>
        <p:spPr>
          <a:xfrm>
            <a:off x="4902824" y="6134740"/>
            <a:ext cx="1860064" cy="420628"/>
          </a:xfrm>
          <a:prstGeom prst="rect">
            <a:avLst/>
          </a:prstGeom>
          <a:noFill/>
        </p:spPr>
        <p:txBody>
          <a:bodyPr wrap="square" rtlCol="0">
            <a:spAutoFit/>
          </a:bodyPr>
          <a:lstStyle/>
          <a:p>
            <a:pPr algn="ctr"/>
            <a:r>
              <a:rPr lang="en-US" sz="3200" b="1" baseline="-25000" dirty="0"/>
              <a:t>Hidden Layer</a:t>
            </a:r>
          </a:p>
        </p:txBody>
      </p:sp>
      <p:sp>
        <p:nvSpPr>
          <p:cNvPr id="27" name="Right Brace 26">
            <a:extLst>
              <a:ext uri="{FF2B5EF4-FFF2-40B4-BE49-F238E27FC236}">
                <a16:creationId xmlns:a16="http://schemas.microsoft.com/office/drawing/2014/main" id="{CBEB4BD3-CF5F-4061-BE4A-3AA599CC4B2A}"/>
              </a:ext>
            </a:extLst>
          </p:cNvPr>
          <p:cNvSpPr/>
          <p:nvPr/>
        </p:nvSpPr>
        <p:spPr>
          <a:xfrm rot="5400000">
            <a:off x="8839869" y="4643137"/>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6CBCC20A-8521-4431-AAAC-A604A102A0F0}"/>
              </a:ext>
            </a:extLst>
          </p:cNvPr>
          <p:cNvSpPr txBox="1"/>
          <p:nvPr/>
        </p:nvSpPr>
        <p:spPr>
          <a:xfrm>
            <a:off x="8145092" y="6134277"/>
            <a:ext cx="1860064" cy="420628"/>
          </a:xfrm>
          <a:prstGeom prst="rect">
            <a:avLst/>
          </a:prstGeom>
          <a:noFill/>
        </p:spPr>
        <p:txBody>
          <a:bodyPr wrap="square" rtlCol="0">
            <a:spAutoFit/>
          </a:bodyPr>
          <a:lstStyle/>
          <a:p>
            <a:pPr algn="ctr"/>
            <a:r>
              <a:rPr lang="en-US" sz="3200" b="1" baseline="-25000" dirty="0"/>
              <a:t>Output Layer</a:t>
            </a:r>
          </a:p>
        </p:txBody>
      </p:sp>
      <p:sp>
        <p:nvSpPr>
          <p:cNvPr id="29" name="Right Brace 28">
            <a:extLst>
              <a:ext uri="{FF2B5EF4-FFF2-40B4-BE49-F238E27FC236}">
                <a16:creationId xmlns:a16="http://schemas.microsoft.com/office/drawing/2014/main" id="{CBA3FEE0-FF7E-436D-8DBF-A03B3B7B2E00}"/>
              </a:ext>
            </a:extLst>
          </p:cNvPr>
          <p:cNvSpPr/>
          <p:nvPr/>
        </p:nvSpPr>
        <p:spPr>
          <a:xfrm rot="5400000">
            <a:off x="2112795" y="5345594"/>
            <a:ext cx="426408" cy="1015746"/>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0A52577C-136C-4799-82A0-2F219737C76F}"/>
              </a:ext>
            </a:extLst>
          </p:cNvPr>
          <p:cNvSpPr txBox="1"/>
          <p:nvPr/>
        </p:nvSpPr>
        <p:spPr>
          <a:xfrm>
            <a:off x="1490382" y="6107483"/>
            <a:ext cx="1671234" cy="420628"/>
          </a:xfrm>
          <a:prstGeom prst="rect">
            <a:avLst/>
          </a:prstGeom>
          <a:noFill/>
        </p:spPr>
        <p:txBody>
          <a:bodyPr wrap="square" rtlCol="0">
            <a:spAutoFit/>
          </a:bodyPr>
          <a:lstStyle/>
          <a:p>
            <a:pPr algn="ctr"/>
            <a:r>
              <a:rPr lang="en-US" sz="3200" b="1" baseline="-25000" dirty="0"/>
              <a:t>Input Layer</a:t>
            </a:r>
          </a:p>
        </p:txBody>
      </p:sp>
    </p:spTree>
    <p:extLst>
      <p:ext uri="{BB962C8B-B14F-4D97-AF65-F5344CB8AC3E}">
        <p14:creationId xmlns:p14="http://schemas.microsoft.com/office/powerpoint/2010/main" val="393474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9" grpId="0"/>
      <p:bldP spid="11" grpId="0"/>
      <p:bldP spid="12" grpId="0" animBg="1"/>
      <p:bldP spid="13" grpId="0"/>
      <p:bldP spid="14" grpId="0" animBg="1"/>
      <p:bldP spid="15" grpId="0"/>
      <p:bldP spid="18" grpId="0"/>
      <p:bldP spid="21" grpId="0"/>
      <p:bldP spid="22" grpId="0"/>
      <p:bldP spid="23" grpId="0"/>
      <p:bldP spid="24" grpId="0"/>
      <p:bldP spid="25" grpId="0" animBg="1"/>
      <p:bldP spid="26" grpId="0"/>
      <p:bldP spid="27" grpId="0" animBg="1"/>
      <p:bldP spid="28" grpId="0"/>
      <p:bldP spid="29" grpId="0" animBg="1"/>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E386-DDF8-4AE5-9C6D-3030DB628CF6}"/>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We Need a Better Deep Representation</a:t>
            </a:r>
          </a:p>
        </p:txBody>
      </p:sp>
      <p:sp>
        <p:nvSpPr>
          <p:cNvPr id="3" name="Content Placeholder 2">
            <a:extLst>
              <a:ext uri="{FF2B5EF4-FFF2-40B4-BE49-F238E27FC236}">
                <a16:creationId xmlns:a16="http://schemas.microsoft.com/office/drawing/2014/main" id="{E20CBBCA-E46E-424E-A1A3-B0156EAC44A8}"/>
              </a:ext>
            </a:extLst>
          </p:cNvPr>
          <p:cNvSpPr>
            <a:spLocks noGrp="1"/>
          </p:cNvSpPr>
          <p:nvPr>
            <p:ph sz="quarter" idx="10"/>
          </p:nvPr>
        </p:nvSpPr>
        <p:spPr>
          <a:xfrm>
            <a:off x="333375" y="1045326"/>
            <a:ext cx="11525250" cy="5290388"/>
          </a:xfrm>
        </p:spPr>
        <p:txBody>
          <a:bodyPr/>
          <a:lstStyle/>
          <a:p>
            <a:pPr marL="0" indent="0">
              <a:buNone/>
            </a:pPr>
            <a:r>
              <a:rPr lang="en-US" sz="2800" dirty="0">
                <a:latin typeface="Segoe UI" panose="020B0502040204020203" pitchFamily="34" charset="0"/>
                <a:cs typeface="Segoe UI" panose="020B0502040204020203" pitchFamily="34" charset="0"/>
              </a:rPr>
              <a:t>What is the output of the simple network?</a:t>
            </a:r>
          </a:p>
          <a:p>
            <a:r>
              <a:rPr lang="en-US" sz="2800" dirty="0">
                <a:latin typeface="Segoe UI" panose="020B0502040204020203" pitchFamily="34" charset="0"/>
                <a:cs typeface="Segoe UI" panose="020B0502040204020203" pitchFamily="34" charset="0"/>
              </a:rPr>
              <a:t>Process called</a:t>
            </a:r>
            <a:r>
              <a:rPr lang="en-US" sz="2800" b="1" dirty="0">
                <a:latin typeface="Segoe UI" panose="020B0502040204020203" pitchFamily="34" charset="0"/>
                <a:cs typeface="Segoe UI" panose="020B0502040204020203" pitchFamily="34" charset="0"/>
              </a:rPr>
              <a:t> forward propagation</a:t>
            </a:r>
          </a:p>
          <a:p>
            <a:r>
              <a:rPr lang="en-US" sz="2800" dirty="0">
                <a:latin typeface="Segoe UI" panose="020B0502040204020203" pitchFamily="34" charset="0"/>
                <a:cs typeface="Segoe UI" panose="020B0502040204020203" pitchFamily="34" charset="0"/>
              </a:rPr>
              <a:t>Start with the output of the hidden layer:</a:t>
            </a:r>
          </a:p>
          <a:p>
            <a:pPr marL="0" indent="0">
              <a:buNone/>
            </a:pPr>
            <a:r>
              <a:rPr lang="en-US" sz="2800" dirty="0">
                <a:latin typeface="Segoe UI" panose="020B0502040204020203" pitchFamily="34" charset="0"/>
                <a:cs typeface="Segoe UI" panose="020B0502040204020203" pitchFamily="34" charset="0"/>
              </a:rPr>
              <a:t>              S</a:t>
            </a:r>
            <a:r>
              <a:rPr lang="en-US" sz="2800" baseline="-25000" dirty="0">
                <a:latin typeface="Segoe UI" panose="020B0502040204020203" pitchFamily="34" charset="0"/>
                <a:cs typeface="Segoe UI" panose="020B0502040204020203" pitchFamily="34" charset="0"/>
              </a:rPr>
              <a:t>1</a:t>
            </a:r>
            <a:r>
              <a:rPr lang="en-US" sz="2800" dirty="0">
                <a:latin typeface="Segoe UI" panose="020B0502040204020203" pitchFamily="34" charset="0"/>
                <a:cs typeface="Segoe UI" panose="020B0502040204020203" pitchFamily="34" charset="0"/>
              </a:rPr>
              <a:t> = </a:t>
            </a:r>
            <a:r>
              <a:rPr lang="en-US" sz="2800" dirty="0">
                <a:latin typeface="Symbol" panose="05050102010706020507" pitchFamily="18" charset="2"/>
                <a:cs typeface="Segoe UI" panose="020B0502040204020203" pitchFamily="34" charset="0"/>
              </a:rPr>
              <a:t>s</a:t>
            </a:r>
            <a:r>
              <a:rPr lang="en-US" sz="2800" dirty="0">
                <a:latin typeface="Segoe UI" panose="020B0502040204020203" pitchFamily="34" charset="0"/>
                <a:cs typeface="Segoe UI" panose="020B0502040204020203" pitchFamily="34" charset="0"/>
              </a:rPr>
              <a:t>(</a:t>
            </a:r>
            <a:r>
              <a:rPr lang="en-US" sz="2800" dirty="0">
                <a:latin typeface="Symbol" panose="05050102010706020507" pitchFamily="18" charset="2"/>
                <a:cs typeface="Segoe UI" panose="020B0502040204020203" pitchFamily="34" charset="0"/>
              </a:rPr>
              <a:t>S</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x</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 W</a:t>
            </a:r>
            <a:r>
              <a:rPr lang="en-US" sz="2800" baseline="30000" dirty="0">
                <a:latin typeface="Segoe UI" panose="020B0502040204020203" pitchFamily="34" charset="0"/>
                <a:cs typeface="Segoe UI" panose="020B0502040204020203" pitchFamily="34" charset="0"/>
              </a:rPr>
              <a:t>1</a:t>
            </a:r>
            <a:r>
              <a:rPr lang="en-US" sz="2800" baseline="-25000" dirty="0">
                <a:latin typeface="Segoe UI" panose="020B0502040204020203" pitchFamily="34" charset="0"/>
                <a:cs typeface="Segoe UI" panose="020B0502040204020203" pitchFamily="34" charset="0"/>
              </a:rPr>
              <a:t>1i</a:t>
            </a:r>
            <a:r>
              <a:rPr lang="en-US" sz="2800" dirty="0">
                <a:latin typeface="Segoe UI" panose="020B0502040204020203" pitchFamily="34" charset="0"/>
                <a:cs typeface="Segoe UI" panose="020B0502040204020203" pitchFamily="34" charset="0"/>
              </a:rPr>
              <a:t>) </a:t>
            </a:r>
          </a:p>
          <a:p>
            <a:pPr marL="0" indent="0">
              <a:buNone/>
            </a:pPr>
            <a:r>
              <a:rPr lang="en-US" sz="2800" dirty="0">
                <a:latin typeface="Segoe UI" panose="020B0502040204020203" pitchFamily="34" charset="0"/>
                <a:cs typeface="Segoe UI" panose="020B0502040204020203" pitchFamily="34" charset="0"/>
              </a:rPr>
              <a:t>              S</a:t>
            </a:r>
            <a:r>
              <a:rPr lang="en-US" sz="2800" baseline="-25000" dirty="0">
                <a:latin typeface="Segoe UI" panose="020B0502040204020203" pitchFamily="34" charset="0"/>
                <a:cs typeface="Segoe UI" panose="020B0502040204020203" pitchFamily="34" charset="0"/>
              </a:rPr>
              <a:t>2</a:t>
            </a:r>
            <a:r>
              <a:rPr lang="en-US" sz="2800" dirty="0">
                <a:latin typeface="Segoe UI" panose="020B0502040204020203" pitchFamily="34" charset="0"/>
                <a:cs typeface="Segoe UI" panose="020B0502040204020203" pitchFamily="34" charset="0"/>
              </a:rPr>
              <a:t> = </a:t>
            </a:r>
            <a:r>
              <a:rPr lang="en-US" sz="2800" dirty="0">
                <a:latin typeface="Symbol" panose="05050102010706020507" pitchFamily="18" charset="2"/>
                <a:cs typeface="Segoe UI" panose="020B0502040204020203" pitchFamily="34" charset="0"/>
              </a:rPr>
              <a:t>s</a:t>
            </a:r>
            <a:r>
              <a:rPr lang="en-US" sz="2800" dirty="0">
                <a:latin typeface="Segoe UI" panose="020B0502040204020203" pitchFamily="34" charset="0"/>
                <a:cs typeface="Segoe UI" panose="020B0502040204020203" pitchFamily="34" charset="0"/>
              </a:rPr>
              <a:t>(</a:t>
            </a:r>
            <a:r>
              <a:rPr lang="en-US" sz="2800" dirty="0">
                <a:latin typeface="Symbol" panose="05050102010706020507" pitchFamily="18" charset="2"/>
                <a:cs typeface="Segoe UI" panose="020B0502040204020203" pitchFamily="34" charset="0"/>
              </a:rPr>
              <a:t>S</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x</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 W</a:t>
            </a:r>
            <a:r>
              <a:rPr lang="en-US" sz="2800" baseline="30000" dirty="0">
                <a:latin typeface="Segoe UI" panose="020B0502040204020203" pitchFamily="34" charset="0"/>
                <a:cs typeface="Segoe UI" panose="020B0502040204020203" pitchFamily="34" charset="0"/>
              </a:rPr>
              <a:t>1</a:t>
            </a:r>
            <a:r>
              <a:rPr lang="en-US" sz="2800" baseline="-25000" dirty="0">
                <a:latin typeface="Segoe UI" panose="020B0502040204020203" pitchFamily="34" charset="0"/>
                <a:cs typeface="Segoe UI" panose="020B0502040204020203" pitchFamily="34" charset="0"/>
              </a:rPr>
              <a:t>2i</a:t>
            </a:r>
            <a:r>
              <a:rPr lang="en-US" sz="2800" dirty="0">
                <a:latin typeface="Segoe UI" panose="020B0502040204020203" pitchFamily="34" charset="0"/>
                <a:cs typeface="Segoe UI" panose="020B0502040204020203" pitchFamily="34" charset="0"/>
              </a:rPr>
              <a:t>) </a:t>
            </a:r>
          </a:p>
          <a:p>
            <a:r>
              <a:rPr lang="en-US" sz="2800" dirty="0">
                <a:latin typeface="Segoe UI" panose="020B0502040204020203" pitchFamily="34" charset="0"/>
                <a:cs typeface="Segoe UI" panose="020B0502040204020203" pitchFamily="34" charset="0"/>
              </a:rPr>
              <a:t>Next, compute the output of the output layer</a:t>
            </a:r>
          </a:p>
          <a:p>
            <a:pPr marL="0" indent="0">
              <a:buNone/>
            </a:pPr>
            <a:r>
              <a:rPr lang="en-US" sz="2800" dirty="0">
                <a:latin typeface="Segoe UI" panose="020B0502040204020203" pitchFamily="34" charset="0"/>
                <a:cs typeface="Segoe UI" panose="020B0502040204020203" pitchFamily="34" charset="0"/>
              </a:rPr>
              <a:t>              S</a:t>
            </a:r>
            <a:r>
              <a:rPr lang="en-US" sz="2800" baseline="-25000" dirty="0">
                <a:latin typeface="Segoe UI" panose="020B0502040204020203" pitchFamily="34" charset="0"/>
                <a:cs typeface="Segoe UI" panose="020B0502040204020203" pitchFamily="34" charset="0"/>
              </a:rPr>
              <a:t>3</a:t>
            </a:r>
            <a:r>
              <a:rPr lang="en-US" sz="2800" dirty="0">
                <a:latin typeface="Segoe UI" panose="020B0502040204020203" pitchFamily="34" charset="0"/>
                <a:cs typeface="Segoe UI" panose="020B0502040204020203" pitchFamily="34" charset="0"/>
              </a:rPr>
              <a:t> = </a:t>
            </a:r>
            <a:r>
              <a:rPr lang="en-US" sz="2800" dirty="0" err="1">
                <a:latin typeface="Symbol" panose="05050102010706020507" pitchFamily="18" charset="2"/>
                <a:cs typeface="Segoe UI" panose="020B0502040204020203" pitchFamily="34" charset="0"/>
              </a:rPr>
              <a:t>S</a:t>
            </a:r>
            <a:r>
              <a:rPr lang="en-US" sz="2800" baseline="-25000" dirty="0" err="1">
                <a:latin typeface="Segoe UI" panose="020B0502040204020203" pitchFamily="34" charset="0"/>
                <a:cs typeface="Segoe UI" panose="020B0502040204020203" pitchFamily="34" charset="0"/>
              </a:rPr>
              <a:t>j</a:t>
            </a:r>
            <a:r>
              <a:rPr lang="en-US" sz="2800" dirty="0">
                <a:latin typeface="Segoe UI" panose="020B0502040204020203" pitchFamily="34" charset="0"/>
                <a:cs typeface="Segoe UI" panose="020B0502040204020203" pitchFamily="34" charset="0"/>
              </a:rPr>
              <a:t> W</a:t>
            </a:r>
            <a:r>
              <a:rPr lang="en-US" sz="2800" baseline="30000" dirty="0">
                <a:latin typeface="Segoe UI" panose="020B0502040204020203" pitchFamily="34" charset="0"/>
                <a:cs typeface="Segoe UI" panose="020B0502040204020203" pitchFamily="34" charset="0"/>
              </a:rPr>
              <a:t>2</a:t>
            </a:r>
            <a:r>
              <a:rPr lang="en-US" sz="2800" baseline="-25000" dirty="0">
                <a:latin typeface="Segoe UI" panose="020B0502040204020203" pitchFamily="34" charset="0"/>
                <a:cs typeface="Segoe UI" panose="020B0502040204020203" pitchFamily="34" charset="0"/>
              </a:rPr>
              <a:t>j</a:t>
            </a:r>
            <a:r>
              <a:rPr lang="en-US" sz="2800" dirty="0">
                <a:latin typeface="Segoe UI" panose="020B0502040204020203" pitchFamily="34" charset="0"/>
                <a:cs typeface="Segoe UI" panose="020B0502040204020203" pitchFamily="34" charset="0"/>
              </a:rPr>
              <a:t> * </a:t>
            </a:r>
            <a:r>
              <a:rPr lang="en-US" sz="2800" dirty="0">
                <a:latin typeface="Symbol" panose="05050102010706020507" pitchFamily="18" charset="2"/>
                <a:cs typeface="Segoe UI" panose="020B0502040204020203" pitchFamily="34" charset="0"/>
              </a:rPr>
              <a:t>s</a:t>
            </a:r>
            <a:r>
              <a:rPr lang="en-US" sz="2800" dirty="0">
                <a:latin typeface="Segoe UI" panose="020B0502040204020203" pitchFamily="34" charset="0"/>
                <a:cs typeface="Segoe UI" panose="020B0502040204020203" pitchFamily="34" charset="0"/>
              </a:rPr>
              <a:t>(</a:t>
            </a:r>
            <a:r>
              <a:rPr lang="en-US" sz="2800" dirty="0">
                <a:latin typeface="Symbol" panose="05050102010706020507" pitchFamily="18" charset="2"/>
                <a:cs typeface="Segoe UI" panose="020B0502040204020203" pitchFamily="34" charset="0"/>
              </a:rPr>
              <a:t>S</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x</a:t>
            </a:r>
            <a:r>
              <a:rPr lang="en-US" sz="2800" baseline="-25000" dirty="0">
                <a:latin typeface="Segoe UI" panose="020B0502040204020203" pitchFamily="34" charset="0"/>
                <a:cs typeface="Segoe UI" panose="020B0502040204020203" pitchFamily="34" charset="0"/>
              </a:rPr>
              <a:t>i</a:t>
            </a:r>
            <a:r>
              <a:rPr lang="en-US" sz="2800" dirty="0">
                <a:latin typeface="Segoe UI" panose="020B0502040204020203" pitchFamily="34" charset="0"/>
                <a:cs typeface="Segoe UI" panose="020B0502040204020203" pitchFamily="34" charset="0"/>
              </a:rPr>
              <a:t> * W</a:t>
            </a:r>
            <a:r>
              <a:rPr lang="en-US" sz="2800" baseline="30000" dirty="0">
                <a:latin typeface="Segoe UI" panose="020B0502040204020203" pitchFamily="34" charset="0"/>
                <a:cs typeface="Segoe UI" panose="020B0502040204020203" pitchFamily="34" charset="0"/>
              </a:rPr>
              <a:t>1</a:t>
            </a:r>
            <a:r>
              <a:rPr lang="en-US" sz="2800" baseline="-25000" dirty="0">
                <a:latin typeface="Segoe UI" panose="020B0502040204020203" pitchFamily="34" charset="0"/>
                <a:cs typeface="Segoe UI" panose="020B0502040204020203" pitchFamily="34" charset="0"/>
              </a:rPr>
              <a:t>ji</a:t>
            </a:r>
            <a:r>
              <a:rPr lang="en-US" sz="2800" dirty="0">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1115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2010327" y="1784284"/>
            <a:ext cx="8409867" cy="2015419"/>
          </a:xfrm>
        </p:spPr>
        <p:txBody>
          <a:bodyPr>
            <a:normAutofit/>
          </a:bodyPr>
          <a:lstStyle/>
          <a:p>
            <a:r>
              <a:rPr lang="en-US" sz="4400" b="1" dirty="0"/>
              <a:t>Model Depth, Width and Capacity</a:t>
            </a:r>
          </a:p>
        </p:txBody>
      </p:sp>
    </p:spTree>
    <p:extLst>
      <p:ext uri="{BB962C8B-B14F-4D97-AF65-F5344CB8AC3E}">
        <p14:creationId xmlns:p14="http://schemas.microsoft.com/office/powerpoint/2010/main" val="333243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F235-236D-45E8-B064-BA5D7AA4111B}"/>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Model Capacity</a:t>
            </a:r>
          </a:p>
        </p:txBody>
      </p:sp>
      <p:sp>
        <p:nvSpPr>
          <p:cNvPr id="3" name="Content Placeholder 2">
            <a:extLst>
              <a:ext uri="{FF2B5EF4-FFF2-40B4-BE49-F238E27FC236}">
                <a16:creationId xmlns:a16="http://schemas.microsoft.com/office/drawing/2014/main" id="{2ABA89F8-6170-454A-BA2B-47EDE89178EC}"/>
              </a:ext>
            </a:extLst>
          </p:cNvPr>
          <p:cNvSpPr>
            <a:spLocks noGrp="1"/>
          </p:cNvSpPr>
          <p:nvPr>
            <p:ph sz="quarter" idx="10"/>
          </p:nvPr>
        </p:nvSpPr>
        <p:spPr/>
        <p:txBody>
          <a:bodyPr/>
          <a:lstStyle/>
          <a:p>
            <a:pPr marL="0" indent="0">
              <a:buNone/>
            </a:pPr>
            <a:r>
              <a:rPr lang="en-US" sz="2800" dirty="0">
                <a:latin typeface="Segoe UI" panose="020B0502040204020203" pitchFamily="34" charset="0"/>
                <a:cs typeface="Segoe UI" panose="020B0502040204020203" pitchFamily="34" charset="0"/>
              </a:rPr>
              <a:t>The </a:t>
            </a:r>
            <a:r>
              <a:rPr lang="en-US" sz="2800" b="1" dirty="0">
                <a:latin typeface="Segoe UI" panose="020B0502040204020203" pitchFamily="34" charset="0"/>
                <a:cs typeface="Segoe UI" panose="020B0502040204020203" pitchFamily="34" charset="0"/>
              </a:rPr>
              <a:t>universal approximation theorem</a:t>
            </a:r>
            <a:r>
              <a:rPr lang="en-US" sz="2800" dirty="0">
                <a:latin typeface="Segoe UI" panose="020B0502040204020203" pitchFamily="34" charset="0"/>
                <a:cs typeface="Segoe UI" panose="020B0502040204020203" pitchFamily="34" charset="0"/>
              </a:rPr>
              <a:t>, </a:t>
            </a:r>
            <a:r>
              <a:rPr lang="en-US" sz="2800" dirty="0" err="1">
                <a:latin typeface="Segoe UI" panose="020B0502040204020203" pitchFamily="34" charset="0"/>
                <a:cs typeface="Segoe UI" panose="020B0502040204020203" pitchFamily="34" charset="0"/>
              </a:rPr>
              <a:t>Hornik</a:t>
            </a:r>
            <a:r>
              <a:rPr lang="en-US" sz="2800" dirty="0">
                <a:latin typeface="Segoe UI" panose="020B0502040204020203" pitchFamily="34" charset="0"/>
                <a:cs typeface="Segoe UI" panose="020B0502040204020203" pitchFamily="34" charset="0"/>
              </a:rPr>
              <a:t> (1991), tells us that an </a:t>
            </a:r>
            <a:r>
              <a:rPr lang="en-US" sz="2800" b="1" dirty="0">
                <a:latin typeface="Segoe UI" panose="020B0502040204020203" pitchFamily="34" charset="0"/>
                <a:cs typeface="Segoe UI" panose="020B0502040204020203" pitchFamily="34" charset="0"/>
              </a:rPr>
              <a:t>infinitely wide hidden layer can represent any function</a:t>
            </a:r>
            <a:r>
              <a:rPr lang="en-US" sz="2800" dirty="0">
                <a:latin typeface="Segoe UI" panose="020B0502040204020203" pitchFamily="34" charset="0"/>
                <a:cs typeface="Segoe UI" panose="020B0502040204020203" pitchFamily="34" charset="0"/>
              </a:rPr>
              <a:t> </a:t>
            </a:r>
          </a:p>
          <a:p>
            <a:r>
              <a:rPr lang="en-US" sz="2800" dirty="0">
                <a:latin typeface="+mn-lt"/>
                <a:cs typeface="Segoe UI" panose="020B0502040204020203" pitchFamily="34" charset="0"/>
              </a:rPr>
              <a:t>Usefulness limited:</a:t>
            </a:r>
          </a:p>
          <a:p>
            <a:pPr lvl="1">
              <a:buFont typeface="Wingdings" panose="05000000000000000000" pitchFamily="2" charset="2"/>
              <a:buChar char="§"/>
            </a:pPr>
            <a:r>
              <a:rPr lang="en-US" dirty="0">
                <a:latin typeface="+mn-lt"/>
                <a:cs typeface="Segoe UI" panose="020B0502040204020203" pitchFamily="34" charset="0"/>
              </a:rPr>
              <a:t>It’s nice to know we can represent complex functions</a:t>
            </a:r>
          </a:p>
          <a:p>
            <a:pPr lvl="1">
              <a:buFont typeface="Wingdings" panose="05000000000000000000" pitchFamily="2" charset="2"/>
              <a:buChar char="§"/>
            </a:pPr>
            <a:r>
              <a:rPr lang="en-US" dirty="0">
                <a:latin typeface="+mn-lt"/>
                <a:cs typeface="Segoe UI" panose="020B0502040204020203" pitchFamily="34" charset="0"/>
              </a:rPr>
              <a:t>But, completely </a:t>
            </a:r>
            <a:r>
              <a:rPr lang="en-US" b="1" dirty="0">
                <a:latin typeface="+mn-lt"/>
                <a:cs typeface="Segoe UI" panose="020B0502040204020203" pitchFamily="34" charset="0"/>
              </a:rPr>
              <a:t>infeasible</a:t>
            </a:r>
            <a:r>
              <a:rPr lang="en-US" dirty="0">
                <a:latin typeface="+mn-lt"/>
                <a:cs typeface="Segoe UI" panose="020B0502040204020203" pitchFamily="34" charset="0"/>
              </a:rPr>
              <a:t> in practice</a:t>
            </a:r>
          </a:p>
          <a:p>
            <a:pPr>
              <a:buFont typeface="Wingdings" panose="05000000000000000000" pitchFamily="2" charset="2"/>
              <a:buChar char="§"/>
            </a:pPr>
            <a:r>
              <a:rPr lang="en-US" sz="2800" dirty="0">
                <a:latin typeface="+mn-lt"/>
                <a:cs typeface="Segoe UI" panose="020B0502040204020203" pitchFamily="34" charset="0"/>
              </a:rPr>
              <a:t>What can we do?</a:t>
            </a:r>
          </a:p>
          <a:p>
            <a:pPr lvl="1">
              <a:buFont typeface="Wingdings" panose="05000000000000000000" pitchFamily="2" charset="2"/>
              <a:buChar char="§"/>
            </a:pPr>
            <a:r>
              <a:rPr lang="en-US" dirty="0">
                <a:latin typeface="+mn-lt"/>
                <a:cs typeface="Segoe UI" panose="020B0502040204020203" pitchFamily="34" charset="0"/>
              </a:rPr>
              <a:t>Trade depth for breath</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332027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F235-236D-45E8-B064-BA5D7AA4111B}"/>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Model Capacity</a:t>
            </a:r>
          </a:p>
        </p:txBody>
      </p:sp>
      <p:sp>
        <p:nvSpPr>
          <p:cNvPr id="3" name="Content Placeholder 2">
            <a:extLst>
              <a:ext uri="{FF2B5EF4-FFF2-40B4-BE49-F238E27FC236}">
                <a16:creationId xmlns:a16="http://schemas.microsoft.com/office/drawing/2014/main" id="{2ABA89F8-6170-454A-BA2B-47EDE89178EC}"/>
              </a:ext>
            </a:extLst>
          </p:cNvPr>
          <p:cNvSpPr>
            <a:spLocks noGrp="1"/>
          </p:cNvSpPr>
          <p:nvPr>
            <p:ph sz="quarter" idx="10"/>
          </p:nvPr>
        </p:nvSpPr>
        <p:spPr/>
        <p:txBody>
          <a:bodyPr/>
          <a:lstStyle/>
          <a:p>
            <a:pPr marL="0" indent="0">
              <a:buNone/>
            </a:pPr>
            <a:r>
              <a:rPr lang="en-US" sz="2800" dirty="0">
                <a:latin typeface="+mn-lt"/>
                <a:cs typeface="Segoe UI" panose="020B0502040204020203" pitchFamily="34" charset="0"/>
              </a:rPr>
              <a:t>Model capacity is fundamentally related to the</a:t>
            </a:r>
            <a:r>
              <a:rPr lang="en-US" sz="2800" b="1" dirty="0">
                <a:latin typeface="+mn-lt"/>
                <a:cs typeface="Segoe UI" panose="020B0502040204020203" pitchFamily="34" charset="0"/>
              </a:rPr>
              <a:t> bias-variance trade-off </a:t>
            </a:r>
            <a:r>
              <a:rPr lang="en-US" sz="2800" dirty="0">
                <a:latin typeface="+mn-lt"/>
                <a:cs typeface="Segoe UI" panose="020B0502040204020203" pitchFamily="34" charset="0"/>
              </a:rPr>
              <a:t>of machine learning</a:t>
            </a:r>
          </a:p>
          <a:p>
            <a:pPr lvl="1"/>
            <a:r>
              <a:rPr lang="en-US" b="1" dirty="0">
                <a:latin typeface="+mn-lt"/>
                <a:cs typeface="Segoe UI" panose="020B0502040204020203" pitchFamily="34" charset="0"/>
              </a:rPr>
              <a:t>Low-capacity </a:t>
            </a:r>
            <a:r>
              <a:rPr lang="en-US" dirty="0">
                <a:latin typeface="+mn-lt"/>
                <a:cs typeface="Segoe UI" panose="020B0502040204020203" pitchFamily="34" charset="0"/>
              </a:rPr>
              <a:t>models have </a:t>
            </a:r>
            <a:r>
              <a:rPr lang="en-US" b="1" dirty="0">
                <a:latin typeface="+mn-lt"/>
                <a:cs typeface="Segoe UI" panose="020B0502040204020203" pitchFamily="34" charset="0"/>
              </a:rPr>
              <a:t>high bias but low variance</a:t>
            </a:r>
          </a:p>
          <a:p>
            <a:pPr lvl="1"/>
            <a:r>
              <a:rPr lang="en-US" b="1" dirty="0">
                <a:latin typeface="+mn-lt"/>
                <a:cs typeface="Segoe UI" panose="020B0502040204020203" pitchFamily="34" charset="0"/>
              </a:rPr>
              <a:t>High-capacity </a:t>
            </a:r>
            <a:r>
              <a:rPr lang="en-US" dirty="0">
                <a:latin typeface="+mn-lt"/>
                <a:cs typeface="Segoe UI" panose="020B0502040204020203" pitchFamily="34" charset="0"/>
              </a:rPr>
              <a:t>models have </a:t>
            </a:r>
            <a:r>
              <a:rPr lang="en-US" b="1" dirty="0">
                <a:latin typeface="+mn-lt"/>
                <a:cs typeface="Segoe UI" panose="020B0502040204020203" pitchFamily="34" charset="0"/>
              </a:rPr>
              <a:t>low bias but high variance</a:t>
            </a:r>
          </a:p>
          <a:p>
            <a:r>
              <a:rPr lang="en-US" sz="2800" dirty="0">
                <a:latin typeface="+mn-lt"/>
                <a:cs typeface="Segoe UI" panose="020B0502040204020203" pitchFamily="34" charset="0"/>
              </a:rPr>
              <a:t>High-capacity models have a tendency to be overfit</a:t>
            </a:r>
          </a:p>
          <a:p>
            <a:r>
              <a:rPr lang="en-US" sz="2800" dirty="0">
                <a:latin typeface="+mn-lt"/>
                <a:cs typeface="Segoe UI" panose="020B0502040204020203" pitchFamily="34" charset="0"/>
              </a:rPr>
              <a:t>We have more to say about this problem in another lesson</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126828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F235-236D-45E8-B064-BA5D7AA4111B}"/>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Model Capacity</a:t>
            </a:r>
          </a:p>
        </p:txBody>
      </p:sp>
      <p:sp>
        <p:nvSpPr>
          <p:cNvPr id="3" name="Content Placeholder 2">
            <a:extLst>
              <a:ext uri="{FF2B5EF4-FFF2-40B4-BE49-F238E27FC236}">
                <a16:creationId xmlns:a16="http://schemas.microsoft.com/office/drawing/2014/main" id="{2ABA89F8-6170-454A-BA2B-47EDE89178EC}"/>
              </a:ext>
            </a:extLst>
          </p:cNvPr>
          <p:cNvSpPr>
            <a:spLocks noGrp="1"/>
          </p:cNvSpPr>
          <p:nvPr>
            <p:ph sz="quarter" idx="10"/>
          </p:nvPr>
        </p:nvSpPr>
        <p:spPr>
          <a:xfrm>
            <a:off x="264442" y="6067621"/>
            <a:ext cx="11525250" cy="630614"/>
          </a:xfrm>
        </p:spPr>
        <p:txBody>
          <a:bodyPr/>
          <a:lstStyle/>
          <a:p>
            <a:pPr marL="457046" lvl="1" indent="0">
              <a:buNone/>
            </a:pPr>
            <a:r>
              <a:rPr lang="en-US" dirty="0">
                <a:latin typeface="+mn-lt"/>
                <a:cs typeface="Segoe UI" panose="020B0502040204020203" pitchFamily="34" charset="0"/>
              </a:rPr>
              <a:t>Model capacity with increasing depth. </a:t>
            </a:r>
            <a:r>
              <a:rPr lang="en-US" dirty="0">
                <a:latin typeface="+mn-lt"/>
              </a:rPr>
              <a:t>From Goodfellow et. al. 2014.</a:t>
            </a:r>
          </a:p>
        </p:txBody>
      </p:sp>
      <p:pic>
        <p:nvPicPr>
          <p:cNvPr id="8" name="Picture 7">
            <a:extLst>
              <a:ext uri="{FF2B5EF4-FFF2-40B4-BE49-F238E27FC236}">
                <a16:creationId xmlns:a16="http://schemas.microsoft.com/office/drawing/2014/main" id="{6BF47024-A403-4084-97AD-5D41108DA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337" y="570508"/>
            <a:ext cx="9315461" cy="5424127"/>
          </a:xfrm>
          <a:prstGeom prst="rect">
            <a:avLst/>
          </a:prstGeom>
        </p:spPr>
      </p:pic>
    </p:spTree>
    <p:extLst>
      <p:ext uri="{BB962C8B-B14F-4D97-AF65-F5344CB8AC3E}">
        <p14:creationId xmlns:p14="http://schemas.microsoft.com/office/powerpoint/2010/main" val="2807434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398668" y="1889317"/>
            <a:ext cx="9191073" cy="2015419"/>
          </a:xfrm>
        </p:spPr>
        <p:txBody>
          <a:bodyPr>
            <a:normAutofit/>
          </a:bodyPr>
          <a:lstStyle/>
          <a:p>
            <a:r>
              <a:rPr lang="en-US" sz="4400" b="1" dirty="0"/>
              <a:t>Nonlinearity and Activation Functions </a:t>
            </a:r>
          </a:p>
        </p:txBody>
      </p:sp>
    </p:spTree>
    <p:extLst>
      <p:ext uri="{BB962C8B-B14F-4D97-AF65-F5344CB8AC3E}">
        <p14:creationId xmlns:p14="http://schemas.microsoft.com/office/powerpoint/2010/main" val="715605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1C73-4CF5-4583-A3C0-DDAAA4C1D24B}"/>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Activation functions</a:t>
            </a:r>
          </a:p>
        </p:txBody>
      </p:sp>
      <p:sp>
        <p:nvSpPr>
          <p:cNvPr id="3" name="Content Placeholder 2">
            <a:extLst>
              <a:ext uri="{FF2B5EF4-FFF2-40B4-BE49-F238E27FC236}">
                <a16:creationId xmlns:a16="http://schemas.microsoft.com/office/drawing/2014/main" id="{EC2BB283-CA11-4C81-8FB9-74C5DA7CB539}"/>
              </a:ext>
            </a:extLst>
          </p:cNvPr>
          <p:cNvSpPr>
            <a:spLocks noGrp="1"/>
          </p:cNvSpPr>
          <p:nvPr>
            <p:ph sz="quarter" idx="10"/>
          </p:nvPr>
        </p:nvSpPr>
        <p:spPr>
          <a:xfrm>
            <a:off x="379514" y="1006330"/>
            <a:ext cx="11525250" cy="1246637"/>
          </a:xfrm>
        </p:spPr>
        <p:txBody>
          <a:bodyPr/>
          <a:lstStyle/>
          <a:p>
            <a:r>
              <a:rPr lang="en-US" sz="2800" dirty="0">
                <a:latin typeface="Segoe UI" panose="020B0502040204020203" pitchFamily="34" charset="0"/>
                <a:cs typeface="Segoe UI" panose="020B0502040204020203" pitchFamily="34" charset="0"/>
              </a:rPr>
              <a:t>Nonlinear activation is key to achieving good function approximation.</a:t>
            </a:r>
          </a:p>
          <a:p>
            <a:r>
              <a:rPr lang="en-US" sz="2800" dirty="0">
                <a:latin typeface="Segoe UI" panose="020B0502040204020203" pitchFamily="34" charset="0"/>
                <a:cs typeface="Segoe UI" panose="020B0502040204020203" pitchFamily="34" charset="0"/>
              </a:rPr>
              <a:t>Many activation functions have been tried, here are a few:</a:t>
            </a:r>
          </a:p>
          <a:p>
            <a:endParaRPr lang="en-US" dirty="0"/>
          </a:p>
        </p:txBody>
      </p:sp>
      <p:graphicFrame>
        <p:nvGraphicFramePr>
          <p:cNvPr id="4" name="Table 3">
            <a:extLst>
              <a:ext uri="{FF2B5EF4-FFF2-40B4-BE49-F238E27FC236}">
                <a16:creationId xmlns:a16="http://schemas.microsoft.com/office/drawing/2014/main" id="{9FA94E53-D627-4E71-BF85-084275C9A483}"/>
              </a:ext>
            </a:extLst>
          </p:cNvPr>
          <p:cNvGraphicFramePr>
            <a:graphicFrameLocks noGrp="1"/>
          </p:cNvGraphicFramePr>
          <p:nvPr>
            <p:extLst>
              <p:ext uri="{D42A27DB-BD31-4B8C-83A1-F6EECF244321}">
                <p14:modId xmlns:p14="http://schemas.microsoft.com/office/powerpoint/2010/main" val="4042158941"/>
              </p:ext>
            </p:extLst>
          </p:nvPr>
        </p:nvGraphicFramePr>
        <p:xfrm>
          <a:off x="298548" y="2312695"/>
          <a:ext cx="11594904" cy="4496372"/>
        </p:xfrm>
        <a:graphic>
          <a:graphicData uri="http://schemas.openxmlformats.org/drawingml/2006/table">
            <a:tbl>
              <a:tblPr firstRow="1" bandRow="1">
                <a:tableStyleId>{5C22544A-7EE6-4342-B048-85BDC9FD1C3A}</a:tableStyleId>
              </a:tblPr>
              <a:tblGrid>
                <a:gridCol w="2083704">
                  <a:extLst>
                    <a:ext uri="{9D8B030D-6E8A-4147-A177-3AD203B41FA5}">
                      <a16:colId xmlns:a16="http://schemas.microsoft.com/office/drawing/2014/main" val="728269207"/>
                    </a:ext>
                  </a:extLst>
                </a:gridCol>
                <a:gridCol w="3993042">
                  <a:extLst>
                    <a:ext uri="{9D8B030D-6E8A-4147-A177-3AD203B41FA5}">
                      <a16:colId xmlns:a16="http://schemas.microsoft.com/office/drawing/2014/main" val="115923520"/>
                    </a:ext>
                  </a:extLst>
                </a:gridCol>
                <a:gridCol w="5518158">
                  <a:extLst>
                    <a:ext uri="{9D8B030D-6E8A-4147-A177-3AD203B41FA5}">
                      <a16:colId xmlns:a16="http://schemas.microsoft.com/office/drawing/2014/main" val="1562427802"/>
                    </a:ext>
                  </a:extLst>
                </a:gridCol>
              </a:tblGrid>
              <a:tr h="506873">
                <a:tc>
                  <a:txBody>
                    <a:bodyPr/>
                    <a:lstStyle/>
                    <a:p>
                      <a:r>
                        <a:rPr lang="en-US" sz="2400" dirty="0"/>
                        <a:t>Function</a:t>
                      </a:r>
                    </a:p>
                  </a:txBody>
                  <a:tcPr/>
                </a:tc>
                <a:tc>
                  <a:txBody>
                    <a:bodyPr/>
                    <a:lstStyle/>
                    <a:p>
                      <a:r>
                        <a:rPr lang="en-US" sz="2400" dirty="0"/>
                        <a:t>How Used?</a:t>
                      </a:r>
                    </a:p>
                  </a:txBody>
                  <a:tcPr/>
                </a:tc>
                <a:tc>
                  <a:txBody>
                    <a:bodyPr/>
                    <a:lstStyle/>
                    <a:p>
                      <a:r>
                        <a:rPr lang="en-US" sz="2400" dirty="0"/>
                        <a:t>Comments</a:t>
                      </a:r>
                    </a:p>
                  </a:txBody>
                  <a:tcPr/>
                </a:tc>
                <a:extLst>
                  <a:ext uri="{0D108BD9-81ED-4DB2-BD59-A6C34878D82A}">
                    <a16:rowId xmlns:a16="http://schemas.microsoft.com/office/drawing/2014/main" val="3443963545"/>
                  </a:ext>
                </a:extLst>
              </a:tr>
              <a:tr h="506873">
                <a:tc>
                  <a:txBody>
                    <a:bodyPr/>
                    <a:lstStyle/>
                    <a:p>
                      <a:r>
                        <a:rPr lang="en-US" sz="2400" dirty="0"/>
                        <a:t>Sigmoid</a:t>
                      </a:r>
                    </a:p>
                  </a:txBody>
                  <a:tcPr/>
                </a:tc>
                <a:tc>
                  <a:txBody>
                    <a:bodyPr/>
                    <a:lstStyle/>
                    <a:p>
                      <a:r>
                        <a:rPr lang="en-US" sz="2400" dirty="0"/>
                        <a:t>Binary classifier output layer</a:t>
                      </a:r>
                    </a:p>
                  </a:txBody>
                  <a:tcPr/>
                </a:tc>
                <a:tc>
                  <a:txBody>
                    <a:bodyPr/>
                    <a:lstStyle/>
                    <a:p>
                      <a:r>
                        <a:rPr lang="en-US" sz="2400" dirty="0"/>
                        <a:t>Historically the most used </a:t>
                      </a:r>
                    </a:p>
                  </a:txBody>
                  <a:tcPr/>
                </a:tc>
                <a:extLst>
                  <a:ext uri="{0D108BD9-81ED-4DB2-BD59-A6C34878D82A}">
                    <a16:rowId xmlns:a16="http://schemas.microsoft.com/office/drawing/2014/main" val="1214965825"/>
                  </a:ext>
                </a:extLst>
              </a:tr>
              <a:tr h="506873">
                <a:tc>
                  <a:txBody>
                    <a:bodyPr/>
                    <a:lstStyle/>
                    <a:p>
                      <a:r>
                        <a:rPr lang="en-US" sz="2400" dirty="0" err="1"/>
                        <a:t>Softmax</a:t>
                      </a:r>
                      <a:endParaRPr lang="en-US" sz="2400" dirty="0"/>
                    </a:p>
                  </a:txBody>
                  <a:tcPr/>
                </a:tc>
                <a:tc>
                  <a:txBody>
                    <a:bodyPr/>
                    <a:lstStyle/>
                    <a:p>
                      <a:r>
                        <a:rPr lang="en-US" sz="2400" dirty="0"/>
                        <a:t>Multi-class output layer</a:t>
                      </a:r>
                    </a:p>
                  </a:txBody>
                  <a:tcPr/>
                </a:tc>
                <a:tc>
                  <a:txBody>
                    <a:bodyPr/>
                    <a:lstStyle/>
                    <a:p>
                      <a:r>
                        <a:rPr lang="en-US" sz="2400" dirty="0"/>
                        <a:t>For categorical distribution</a:t>
                      </a:r>
                    </a:p>
                  </a:txBody>
                  <a:tcPr/>
                </a:tc>
                <a:extLst>
                  <a:ext uri="{0D108BD9-81ED-4DB2-BD59-A6C34878D82A}">
                    <a16:rowId xmlns:a16="http://schemas.microsoft.com/office/drawing/2014/main" val="2659129888"/>
                  </a:ext>
                </a:extLst>
              </a:tr>
              <a:tr h="506873">
                <a:tc>
                  <a:txBody>
                    <a:bodyPr/>
                    <a:lstStyle/>
                    <a:p>
                      <a:r>
                        <a:rPr lang="en-US" sz="2400" dirty="0"/>
                        <a:t>Linear</a:t>
                      </a:r>
                    </a:p>
                  </a:txBody>
                  <a:tcPr/>
                </a:tc>
                <a:tc>
                  <a:txBody>
                    <a:bodyPr/>
                    <a:lstStyle/>
                    <a:p>
                      <a:r>
                        <a:rPr lang="en-US" sz="2400" dirty="0"/>
                        <a:t>Numeric output layer</a:t>
                      </a:r>
                    </a:p>
                  </a:txBody>
                  <a:tcPr/>
                </a:tc>
                <a:tc>
                  <a:txBody>
                    <a:bodyPr/>
                    <a:lstStyle/>
                    <a:p>
                      <a:r>
                        <a:rPr lang="en-US" sz="2400" dirty="0"/>
                        <a:t>Regression models</a:t>
                      </a:r>
                    </a:p>
                  </a:txBody>
                  <a:tcPr/>
                </a:tc>
                <a:extLst>
                  <a:ext uri="{0D108BD9-81ED-4DB2-BD59-A6C34878D82A}">
                    <a16:rowId xmlns:a16="http://schemas.microsoft.com/office/drawing/2014/main" val="4186797339"/>
                  </a:ext>
                </a:extLst>
              </a:tr>
              <a:tr h="506873">
                <a:tc>
                  <a:txBody>
                    <a:bodyPr/>
                    <a:lstStyle/>
                    <a:p>
                      <a:r>
                        <a:rPr lang="en-US" sz="2400" dirty="0"/>
                        <a:t>Rectilinear/ leaky RELU</a:t>
                      </a:r>
                    </a:p>
                  </a:txBody>
                  <a:tcPr/>
                </a:tc>
                <a:tc>
                  <a:txBody>
                    <a:bodyPr/>
                    <a:lstStyle/>
                    <a:p>
                      <a:r>
                        <a:rPr lang="en-US" sz="2400" dirty="0"/>
                        <a:t>Hidden layers</a:t>
                      </a:r>
                    </a:p>
                  </a:txBody>
                  <a:tcPr/>
                </a:tc>
                <a:tc>
                  <a:txBody>
                    <a:bodyPr/>
                    <a:lstStyle/>
                    <a:p>
                      <a:r>
                        <a:rPr lang="en-US" sz="2400" dirty="0"/>
                        <a:t>Widely used to avoid vanishing gradient</a:t>
                      </a:r>
                    </a:p>
                  </a:txBody>
                  <a:tcPr/>
                </a:tc>
                <a:extLst>
                  <a:ext uri="{0D108BD9-81ED-4DB2-BD59-A6C34878D82A}">
                    <a16:rowId xmlns:a16="http://schemas.microsoft.com/office/drawing/2014/main" val="2274586107"/>
                  </a:ext>
                </a:extLst>
              </a:tr>
              <a:tr h="506873">
                <a:tc>
                  <a:txBody>
                    <a:bodyPr/>
                    <a:lstStyle/>
                    <a:p>
                      <a:r>
                        <a:rPr lang="en-US" sz="2400" dirty="0"/>
                        <a:t>Gaussian Error Linear Unit</a:t>
                      </a:r>
                    </a:p>
                  </a:txBody>
                  <a:tcPr/>
                </a:tc>
                <a:tc>
                  <a:txBody>
                    <a:bodyPr/>
                    <a:lstStyle/>
                    <a:p>
                      <a:r>
                        <a:rPr lang="en-US" sz="2400" dirty="0"/>
                        <a:t>Hidden layers</a:t>
                      </a:r>
                    </a:p>
                  </a:txBody>
                  <a:tcPr/>
                </a:tc>
                <a:tc>
                  <a:txBody>
                    <a:bodyPr/>
                    <a:lstStyle/>
                    <a:p>
                      <a:r>
                        <a:rPr lang="en-US" sz="2400" dirty="0"/>
                        <a:t>Better gradient propagation than Leaky RELU</a:t>
                      </a:r>
                    </a:p>
                  </a:txBody>
                  <a:tcPr/>
                </a:tc>
                <a:extLst>
                  <a:ext uri="{0D108BD9-81ED-4DB2-BD59-A6C34878D82A}">
                    <a16:rowId xmlns:a16="http://schemas.microsoft.com/office/drawing/2014/main" val="1784000890"/>
                  </a:ext>
                </a:extLst>
              </a:tr>
              <a:tr h="506873">
                <a:tc>
                  <a:txBody>
                    <a:bodyPr/>
                    <a:lstStyle/>
                    <a:p>
                      <a:r>
                        <a:rPr lang="en-US" sz="2400" dirty="0"/>
                        <a:t>Tanh</a:t>
                      </a:r>
                    </a:p>
                  </a:txBody>
                  <a:tcPr/>
                </a:tc>
                <a:tc>
                  <a:txBody>
                    <a:bodyPr/>
                    <a:lstStyle/>
                    <a:p>
                      <a:r>
                        <a:rPr lang="en-US" sz="2400" dirty="0"/>
                        <a:t>Binary classifier output layers</a:t>
                      </a:r>
                    </a:p>
                    <a:p>
                      <a:r>
                        <a:rPr lang="en-US" sz="2400" dirty="0"/>
                        <a:t>Other specialized applications</a:t>
                      </a:r>
                    </a:p>
                  </a:txBody>
                  <a:tcPr/>
                </a:tc>
                <a:tc>
                  <a:txBody>
                    <a:bodyPr/>
                    <a:lstStyle/>
                    <a:p>
                      <a:r>
                        <a:rPr lang="en-US" sz="2400" dirty="0"/>
                        <a:t>Better gradient properties than sigmoid</a:t>
                      </a:r>
                    </a:p>
                  </a:txBody>
                  <a:tcPr/>
                </a:tc>
                <a:extLst>
                  <a:ext uri="{0D108BD9-81ED-4DB2-BD59-A6C34878D82A}">
                    <a16:rowId xmlns:a16="http://schemas.microsoft.com/office/drawing/2014/main" val="1243288014"/>
                  </a:ext>
                </a:extLst>
              </a:tr>
            </a:tbl>
          </a:graphicData>
        </a:graphic>
      </p:graphicFrame>
      <p:sp>
        <p:nvSpPr>
          <p:cNvPr id="5" name="Rectangle 4">
            <a:extLst>
              <a:ext uri="{FF2B5EF4-FFF2-40B4-BE49-F238E27FC236}">
                <a16:creationId xmlns:a16="http://schemas.microsoft.com/office/drawing/2014/main" id="{315CA2E8-57E9-4A1E-B0B2-90407BB9B321}"/>
              </a:ext>
            </a:extLst>
          </p:cNvPr>
          <p:cNvSpPr/>
          <p:nvPr/>
        </p:nvSpPr>
        <p:spPr>
          <a:xfrm>
            <a:off x="319536" y="3298317"/>
            <a:ext cx="11594904" cy="3510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E965181-866D-4E72-9CF2-7043020EECA8}"/>
              </a:ext>
            </a:extLst>
          </p:cNvPr>
          <p:cNvSpPr/>
          <p:nvPr/>
        </p:nvSpPr>
        <p:spPr>
          <a:xfrm>
            <a:off x="309042" y="3825191"/>
            <a:ext cx="11594904" cy="2819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C18425-A3C9-4D5F-959B-2B0F48F6A785}"/>
              </a:ext>
            </a:extLst>
          </p:cNvPr>
          <p:cNvSpPr/>
          <p:nvPr/>
        </p:nvSpPr>
        <p:spPr>
          <a:xfrm>
            <a:off x="105508" y="5169710"/>
            <a:ext cx="11594904" cy="1576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C5AFE67-3807-4E46-B4FB-68B6C8A40EE8}"/>
              </a:ext>
            </a:extLst>
          </p:cNvPr>
          <p:cNvSpPr/>
          <p:nvPr/>
        </p:nvSpPr>
        <p:spPr>
          <a:xfrm>
            <a:off x="244458" y="4284119"/>
            <a:ext cx="11842034" cy="15145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9EC6ED9-09FD-4BAB-9AE9-EFD9E3FFFA19}"/>
              </a:ext>
            </a:extLst>
          </p:cNvPr>
          <p:cNvSpPr/>
          <p:nvPr/>
        </p:nvSpPr>
        <p:spPr>
          <a:xfrm>
            <a:off x="298548" y="5953759"/>
            <a:ext cx="11594904" cy="855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11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5"/>
                                        </p:tgtEl>
                                      </p:cBhvr>
                                    </p:animEffect>
                                    <p:set>
                                      <p:cBhvr>
                                        <p:cTn id="19" dur="1" fill="hold">
                                          <p:stCondLst>
                                            <p:cond delay="499"/>
                                          </p:stCondLst>
                                        </p:cTn>
                                        <p:tgtEl>
                                          <p:spTgt spid="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0" nodeType="clickEffect">
                                  <p:stCondLst>
                                    <p:cond delay="0"/>
                                  </p:stCondLst>
                                  <p:childTnLst>
                                    <p:animEffect transition="out" filter="fade">
                                      <p:cBhvr>
                                        <p:cTn id="23" dur="500"/>
                                        <p:tgtEl>
                                          <p:spTgt spid="6"/>
                                        </p:tgtEl>
                                      </p:cBhvr>
                                    </p:animEffect>
                                    <p:set>
                                      <p:cBhvr>
                                        <p:cTn id="24" dur="1" fill="hold">
                                          <p:stCondLst>
                                            <p:cond delay="499"/>
                                          </p:stCondLst>
                                        </p:cTn>
                                        <p:tgtEl>
                                          <p:spTgt spid="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8"/>
                                        </p:tgtEl>
                                      </p:cBhvr>
                                    </p:animEffect>
                                    <p:set>
                                      <p:cBhvr>
                                        <p:cTn id="29" dur="1" fill="hold">
                                          <p:stCondLst>
                                            <p:cond delay="499"/>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0" nodeType="clickEffect">
                                  <p:stCondLst>
                                    <p:cond delay="0"/>
                                  </p:stCondLst>
                                  <p:childTnLst>
                                    <p:animEffect transition="out" filter="fade">
                                      <p:cBhvr>
                                        <p:cTn id="38" dur="500"/>
                                        <p:tgtEl>
                                          <p:spTgt spid="9"/>
                                        </p:tgtEl>
                                      </p:cBhvr>
                                    </p:animEffect>
                                    <p:set>
                                      <p:cBhvr>
                                        <p:cTn id="39"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1C73-4CF5-4583-A3C0-DDAAA4C1D24B}"/>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Activation functions</a:t>
            </a:r>
          </a:p>
        </p:txBody>
      </p:sp>
      <p:sp>
        <p:nvSpPr>
          <p:cNvPr id="3" name="Content Placeholder 2">
            <a:extLst>
              <a:ext uri="{FF2B5EF4-FFF2-40B4-BE49-F238E27FC236}">
                <a16:creationId xmlns:a16="http://schemas.microsoft.com/office/drawing/2014/main" id="{EC2BB283-CA11-4C81-8FB9-74C5DA7CB539}"/>
              </a:ext>
            </a:extLst>
          </p:cNvPr>
          <p:cNvSpPr>
            <a:spLocks noGrp="1"/>
          </p:cNvSpPr>
          <p:nvPr>
            <p:ph sz="quarter" idx="10"/>
          </p:nvPr>
        </p:nvSpPr>
        <p:spPr>
          <a:xfrm>
            <a:off x="378696" y="841026"/>
            <a:ext cx="11525250" cy="649374"/>
          </a:xfrm>
        </p:spPr>
        <p:txBody>
          <a:bodyPr/>
          <a:lstStyle/>
          <a:p>
            <a:pPr marL="0" indent="0">
              <a:buNone/>
            </a:pPr>
            <a:r>
              <a:rPr lang="en-US" sz="2800" dirty="0">
                <a:latin typeface="Segoe UI" panose="020B0502040204020203" pitchFamily="34" charset="0"/>
                <a:cs typeface="Segoe UI" panose="020B0502040204020203" pitchFamily="34" charset="0"/>
              </a:rPr>
              <a:t>Sigmoid has vanishing gradients</a:t>
            </a:r>
          </a:p>
        </p:txBody>
      </p:sp>
      <p:pic>
        <p:nvPicPr>
          <p:cNvPr id="5" name="Picture 4">
            <a:extLst>
              <a:ext uri="{FF2B5EF4-FFF2-40B4-BE49-F238E27FC236}">
                <a16:creationId xmlns:a16="http://schemas.microsoft.com/office/drawing/2014/main" id="{397A8C41-14EB-4A0B-8962-A2F0B029E71A}"/>
              </a:ext>
            </a:extLst>
          </p:cNvPr>
          <p:cNvPicPr>
            <a:picLocks noChangeAspect="1"/>
          </p:cNvPicPr>
          <p:nvPr/>
        </p:nvPicPr>
        <p:blipFill>
          <a:blip r:embed="rId2"/>
          <a:stretch>
            <a:fillRect/>
          </a:stretch>
        </p:blipFill>
        <p:spPr>
          <a:xfrm>
            <a:off x="2073600" y="1689786"/>
            <a:ext cx="7292799" cy="4985999"/>
          </a:xfrm>
          <a:prstGeom prst="rect">
            <a:avLst/>
          </a:prstGeom>
        </p:spPr>
      </p:pic>
      <p:sp>
        <p:nvSpPr>
          <p:cNvPr id="6" name="TextBox 5">
            <a:extLst>
              <a:ext uri="{FF2B5EF4-FFF2-40B4-BE49-F238E27FC236}">
                <a16:creationId xmlns:a16="http://schemas.microsoft.com/office/drawing/2014/main" id="{7FC55F8F-F021-4F6D-8692-EE451B249329}"/>
              </a:ext>
            </a:extLst>
          </p:cNvPr>
          <p:cNvSpPr txBox="1"/>
          <p:nvPr/>
        </p:nvSpPr>
        <p:spPr>
          <a:xfrm>
            <a:off x="6824799" y="2905780"/>
            <a:ext cx="2541600" cy="523220"/>
          </a:xfrm>
          <a:prstGeom prst="rect">
            <a:avLst/>
          </a:prstGeom>
          <a:noFill/>
        </p:spPr>
        <p:txBody>
          <a:bodyPr wrap="square" rtlCol="0">
            <a:spAutoFit/>
          </a:bodyPr>
          <a:lstStyle/>
          <a:p>
            <a:r>
              <a:rPr lang="en-US" sz="2800" dirty="0"/>
              <a:t>Near-0 gradient</a:t>
            </a:r>
          </a:p>
        </p:txBody>
      </p:sp>
      <p:cxnSp>
        <p:nvCxnSpPr>
          <p:cNvPr id="8" name="Straight Arrow Connector 7">
            <a:extLst>
              <a:ext uri="{FF2B5EF4-FFF2-40B4-BE49-F238E27FC236}">
                <a16:creationId xmlns:a16="http://schemas.microsoft.com/office/drawing/2014/main" id="{CB0C5C4E-BBA7-4991-8C56-4EB20B3C4B2C}"/>
              </a:ext>
            </a:extLst>
          </p:cNvPr>
          <p:cNvCxnSpPr>
            <a:cxnSpLocks/>
            <a:stCxn id="6" idx="0"/>
          </p:cNvCxnSpPr>
          <p:nvPr/>
        </p:nvCxnSpPr>
        <p:spPr>
          <a:xfrm flipV="1">
            <a:off x="8095599" y="2149211"/>
            <a:ext cx="299601" cy="75656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ED3D44-D83F-4051-900F-0CE8DB3102A6}"/>
              </a:ext>
            </a:extLst>
          </p:cNvPr>
          <p:cNvSpPr txBox="1"/>
          <p:nvPr/>
        </p:nvSpPr>
        <p:spPr>
          <a:xfrm>
            <a:off x="3160439" y="3918769"/>
            <a:ext cx="2541600" cy="523220"/>
          </a:xfrm>
          <a:prstGeom prst="rect">
            <a:avLst/>
          </a:prstGeom>
          <a:noFill/>
        </p:spPr>
        <p:txBody>
          <a:bodyPr wrap="square" rtlCol="0">
            <a:spAutoFit/>
          </a:bodyPr>
          <a:lstStyle/>
          <a:p>
            <a:r>
              <a:rPr lang="en-US" sz="2800" dirty="0"/>
              <a:t>Near-0 gradient</a:t>
            </a:r>
          </a:p>
        </p:txBody>
      </p:sp>
      <p:cxnSp>
        <p:nvCxnSpPr>
          <p:cNvPr id="10" name="Straight Arrow Connector 9">
            <a:extLst>
              <a:ext uri="{FF2B5EF4-FFF2-40B4-BE49-F238E27FC236}">
                <a16:creationId xmlns:a16="http://schemas.microsoft.com/office/drawing/2014/main" id="{9F611273-B483-402B-B572-A7B571F97C60}"/>
              </a:ext>
            </a:extLst>
          </p:cNvPr>
          <p:cNvCxnSpPr>
            <a:cxnSpLocks/>
          </p:cNvCxnSpPr>
          <p:nvPr/>
        </p:nvCxnSpPr>
        <p:spPr>
          <a:xfrm flipH="1">
            <a:off x="3704493" y="4441989"/>
            <a:ext cx="781538" cy="912544"/>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B0CB8C1-94BC-4ACE-A2F4-1317D1460A20}"/>
              </a:ext>
            </a:extLst>
          </p:cNvPr>
          <p:cNvPicPr>
            <a:picLocks noChangeAspect="1"/>
          </p:cNvPicPr>
          <p:nvPr/>
        </p:nvPicPr>
        <p:blipFill>
          <a:blip r:embed="rId3"/>
          <a:stretch>
            <a:fillRect/>
          </a:stretch>
        </p:blipFill>
        <p:spPr>
          <a:xfrm>
            <a:off x="7151077" y="5017690"/>
            <a:ext cx="2137508" cy="856218"/>
          </a:xfrm>
          <a:prstGeom prst="rect">
            <a:avLst/>
          </a:prstGeom>
        </p:spPr>
      </p:pic>
    </p:spTree>
    <p:extLst>
      <p:ext uri="{BB962C8B-B14F-4D97-AF65-F5344CB8AC3E}">
        <p14:creationId xmlns:p14="http://schemas.microsoft.com/office/powerpoint/2010/main" val="352465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72BA0C-1E9E-49E6-BDED-B16D3881B0F1}"/>
              </a:ext>
            </a:extLst>
          </p:cNvPr>
          <p:cNvPicPr>
            <a:picLocks noChangeAspect="1"/>
          </p:cNvPicPr>
          <p:nvPr/>
        </p:nvPicPr>
        <p:blipFill>
          <a:blip r:embed="rId2"/>
          <a:stretch>
            <a:fillRect/>
          </a:stretch>
        </p:blipFill>
        <p:spPr>
          <a:xfrm>
            <a:off x="2772000" y="1432800"/>
            <a:ext cx="6488052" cy="5391600"/>
          </a:xfrm>
          <a:prstGeom prst="rect">
            <a:avLst/>
          </a:prstGeom>
        </p:spPr>
      </p:pic>
      <p:sp>
        <p:nvSpPr>
          <p:cNvPr id="2" name="Title 1">
            <a:extLst>
              <a:ext uri="{FF2B5EF4-FFF2-40B4-BE49-F238E27FC236}">
                <a16:creationId xmlns:a16="http://schemas.microsoft.com/office/drawing/2014/main" id="{73811C73-4CF5-4583-A3C0-DDAAA4C1D24B}"/>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Activation functions</a:t>
            </a:r>
          </a:p>
        </p:txBody>
      </p:sp>
      <p:sp>
        <p:nvSpPr>
          <p:cNvPr id="3" name="Content Placeholder 2">
            <a:extLst>
              <a:ext uri="{FF2B5EF4-FFF2-40B4-BE49-F238E27FC236}">
                <a16:creationId xmlns:a16="http://schemas.microsoft.com/office/drawing/2014/main" id="{EC2BB283-CA11-4C81-8FB9-74C5DA7CB539}"/>
              </a:ext>
            </a:extLst>
          </p:cNvPr>
          <p:cNvSpPr>
            <a:spLocks noGrp="1"/>
          </p:cNvSpPr>
          <p:nvPr>
            <p:ph sz="quarter" idx="10"/>
          </p:nvPr>
        </p:nvSpPr>
        <p:spPr>
          <a:xfrm>
            <a:off x="378696" y="841026"/>
            <a:ext cx="11525250" cy="649374"/>
          </a:xfrm>
        </p:spPr>
        <p:txBody>
          <a:bodyPr/>
          <a:lstStyle/>
          <a:p>
            <a:pPr marL="0" indent="0">
              <a:buNone/>
            </a:pPr>
            <a:r>
              <a:rPr lang="en-US" sz="2800" dirty="0">
                <a:latin typeface="Segoe UI" panose="020B0502040204020203" pitchFamily="34" charset="0"/>
                <a:cs typeface="Segoe UI" panose="020B0502040204020203" pitchFamily="34" charset="0"/>
              </a:rPr>
              <a:t>Rectilinear function has constant gradient for positive values</a:t>
            </a:r>
          </a:p>
        </p:txBody>
      </p:sp>
      <p:sp>
        <p:nvSpPr>
          <p:cNvPr id="6" name="TextBox 5">
            <a:extLst>
              <a:ext uri="{FF2B5EF4-FFF2-40B4-BE49-F238E27FC236}">
                <a16:creationId xmlns:a16="http://schemas.microsoft.com/office/drawing/2014/main" id="{7FC55F8F-F021-4F6D-8692-EE451B249329}"/>
              </a:ext>
            </a:extLst>
          </p:cNvPr>
          <p:cNvSpPr txBox="1"/>
          <p:nvPr/>
        </p:nvSpPr>
        <p:spPr>
          <a:xfrm>
            <a:off x="5288584" y="2796719"/>
            <a:ext cx="2875078" cy="523220"/>
          </a:xfrm>
          <a:prstGeom prst="rect">
            <a:avLst/>
          </a:prstGeom>
          <a:noFill/>
        </p:spPr>
        <p:txBody>
          <a:bodyPr wrap="square" rtlCol="0">
            <a:spAutoFit/>
          </a:bodyPr>
          <a:lstStyle/>
          <a:p>
            <a:r>
              <a:rPr lang="en-US" sz="2800" dirty="0"/>
              <a:t>Constant gradient</a:t>
            </a:r>
          </a:p>
        </p:txBody>
      </p:sp>
      <p:cxnSp>
        <p:nvCxnSpPr>
          <p:cNvPr id="8" name="Straight Arrow Connector 7">
            <a:extLst>
              <a:ext uri="{FF2B5EF4-FFF2-40B4-BE49-F238E27FC236}">
                <a16:creationId xmlns:a16="http://schemas.microsoft.com/office/drawing/2014/main" id="{CB0C5C4E-BBA7-4991-8C56-4EB20B3C4B2C}"/>
              </a:ext>
            </a:extLst>
          </p:cNvPr>
          <p:cNvCxnSpPr>
            <a:cxnSpLocks/>
          </p:cNvCxnSpPr>
          <p:nvPr/>
        </p:nvCxnSpPr>
        <p:spPr>
          <a:xfrm>
            <a:off x="6726123" y="3319939"/>
            <a:ext cx="538677" cy="841661"/>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ED3D44-D83F-4051-900F-0CE8DB3102A6}"/>
              </a:ext>
            </a:extLst>
          </p:cNvPr>
          <p:cNvSpPr txBox="1"/>
          <p:nvPr/>
        </p:nvSpPr>
        <p:spPr>
          <a:xfrm>
            <a:off x="4082939" y="4363992"/>
            <a:ext cx="2426401" cy="954107"/>
          </a:xfrm>
          <a:prstGeom prst="rect">
            <a:avLst/>
          </a:prstGeom>
          <a:noFill/>
        </p:spPr>
        <p:txBody>
          <a:bodyPr wrap="square" rtlCol="0">
            <a:spAutoFit/>
          </a:bodyPr>
          <a:lstStyle/>
          <a:p>
            <a:r>
              <a:rPr lang="en-US" sz="2800" dirty="0"/>
              <a:t>Gradient of Leaky </a:t>
            </a:r>
            <a:r>
              <a:rPr lang="en-US" sz="2800" dirty="0" err="1"/>
              <a:t>ReLU</a:t>
            </a:r>
            <a:r>
              <a:rPr lang="en-US" sz="2800" dirty="0"/>
              <a:t> &lt; 0</a:t>
            </a:r>
          </a:p>
        </p:txBody>
      </p:sp>
      <p:cxnSp>
        <p:nvCxnSpPr>
          <p:cNvPr id="10" name="Straight Arrow Connector 9">
            <a:extLst>
              <a:ext uri="{FF2B5EF4-FFF2-40B4-BE49-F238E27FC236}">
                <a16:creationId xmlns:a16="http://schemas.microsoft.com/office/drawing/2014/main" id="{9F611273-B483-402B-B572-A7B571F97C60}"/>
              </a:ext>
            </a:extLst>
          </p:cNvPr>
          <p:cNvCxnSpPr>
            <a:cxnSpLocks/>
          </p:cNvCxnSpPr>
          <p:nvPr/>
        </p:nvCxnSpPr>
        <p:spPr>
          <a:xfrm>
            <a:off x="5366339" y="5272200"/>
            <a:ext cx="321661" cy="323206"/>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3AFD055-59D9-4E10-8B82-56C7D0F1D4CB}"/>
              </a:ext>
            </a:extLst>
          </p:cNvPr>
          <p:cNvPicPr>
            <a:picLocks noChangeAspect="1"/>
          </p:cNvPicPr>
          <p:nvPr/>
        </p:nvPicPr>
        <p:blipFill>
          <a:blip r:embed="rId3"/>
          <a:stretch>
            <a:fillRect/>
          </a:stretch>
        </p:blipFill>
        <p:spPr>
          <a:xfrm>
            <a:off x="3750757" y="1883236"/>
            <a:ext cx="2729244" cy="548776"/>
          </a:xfrm>
          <a:prstGeom prst="rect">
            <a:avLst/>
          </a:prstGeom>
        </p:spPr>
      </p:pic>
    </p:spTree>
    <p:extLst>
      <p:ext uri="{BB962C8B-B14F-4D97-AF65-F5344CB8AC3E}">
        <p14:creationId xmlns:p14="http://schemas.microsoft.com/office/powerpoint/2010/main" val="288253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6C1FD-D50F-2E3E-6DA1-B06373196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D8136-4F25-413B-F804-A6A5513FB52E}"/>
              </a:ext>
            </a:extLst>
          </p:cNvPr>
          <p:cNvSpPr>
            <a:spLocks noGrp="1"/>
          </p:cNvSpPr>
          <p:nvPr>
            <p:ph type="title"/>
          </p:nvPr>
        </p:nvSpPr>
        <p:spPr>
          <a:xfrm>
            <a:off x="379514" y="182215"/>
            <a:ext cx="11524432" cy="741965"/>
          </a:xfrm>
        </p:spPr>
        <p:txBody>
          <a:bodyPr>
            <a:normAutofit/>
          </a:bodyPr>
          <a:lstStyle/>
          <a:p>
            <a:r>
              <a:rPr lang="en-US" sz="4000" dirty="0">
                <a:latin typeface="Segoe UI" panose="020B0502040204020203" pitchFamily="34" charset="0"/>
                <a:cs typeface="Segoe UI" panose="020B0502040204020203" pitchFamily="34" charset="0"/>
              </a:rPr>
              <a:t>Activation Functions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0FF20A-3F23-081A-B86C-4FBE90C074E9}"/>
                  </a:ext>
                </a:extLst>
              </p:cNvPr>
              <p:cNvSpPr>
                <a:spLocks noGrp="1"/>
              </p:cNvSpPr>
              <p:nvPr>
                <p:ph sz="quarter" idx="10"/>
              </p:nvPr>
            </p:nvSpPr>
            <p:spPr>
              <a:xfrm>
                <a:off x="214963" y="1173339"/>
                <a:ext cx="11525250" cy="5502446"/>
              </a:xfrm>
            </p:spPr>
            <p:txBody>
              <a:bodyPr/>
              <a:lstStyle/>
              <a:p>
                <a:pPr marL="0" indent="0">
                  <a:buNone/>
                </a:pPr>
                <a:r>
                  <a:rPr lang="en-US" sz="2800" dirty="0">
                    <a:latin typeface="+mn-lt"/>
                    <a:cs typeface="Segoe UI" panose="020B0502040204020203" pitchFamily="34" charset="0"/>
                  </a:rPr>
                  <a:t>Leaky </a:t>
                </a:r>
                <a:r>
                  <a:rPr lang="en-US" sz="2800" dirty="0" err="1">
                    <a:latin typeface="+mn-lt"/>
                    <a:cs typeface="Segoe UI" panose="020B0502040204020203" pitchFamily="34" charset="0"/>
                  </a:rPr>
                  <a:t>ReLU</a:t>
                </a:r>
                <a:r>
                  <a:rPr lang="en-US" sz="2800" dirty="0">
                    <a:latin typeface="+mn-lt"/>
                    <a:cs typeface="Segoe UI" panose="020B0502040204020203" pitchFamily="34" charset="0"/>
                  </a:rPr>
                  <a:t> can cause gradient propagation problems </a:t>
                </a:r>
                <a:endParaRPr lang="en-US" sz="2800" b="1" dirty="0">
                  <a:latin typeface="+mn-lt"/>
                  <a:cs typeface="Segoe UI" panose="020B0502040204020203" pitchFamily="34" charset="0"/>
                </a:endParaRPr>
              </a:p>
              <a:p>
                <a:r>
                  <a:rPr lang="en-US" sz="2800" dirty="0">
                    <a:latin typeface="+mn-lt"/>
                    <a:cs typeface="Segoe UI" panose="020B0502040204020203" pitchFamily="34" charset="0"/>
                  </a:rPr>
                  <a:t>Leaky </a:t>
                </a:r>
                <a:r>
                  <a:rPr lang="en-US" sz="2800" dirty="0" err="1">
                    <a:latin typeface="+mn-lt"/>
                    <a:cs typeface="Segoe UI" panose="020B0502040204020203" pitchFamily="34" charset="0"/>
                  </a:rPr>
                  <a:t>ReLU</a:t>
                </a:r>
                <a:r>
                  <a:rPr lang="en-US" sz="2800" dirty="0">
                    <a:latin typeface="+mn-lt"/>
                    <a:cs typeface="Segoe UI" panose="020B0502040204020203" pitchFamily="34" charset="0"/>
                  </a:rPr>
                  <a:t> does not have continuous derivatives</a:t>
                </a:r>
              </a:p>
              <a:p>
                <a:pPr lvl="1"/>
                <a:r>
                  <a:rPr lang="en-US" sz="2400" dirty="0">
                    <a:latin typeface="+mn-lt"/>
                    <a:cs typeface="Segoe UI" panose="020B0502040204020203" pitchFamily="34" charset="0"/>
                  </a:rPr>
                  <a:t>Cannot compute gradient for discontinuity at 0 </a:t>
                </a:r>
              </a:p>
              <a:p>
                <a:pPr lvl="1"/>
                <a:r>
                  <a:rPr lang="en-US" sz="2400" dirty="0">
                    <a:latin typeface="+mn-lt"/>
                    <a:cs typeface="Segoe UI" panose="020B0502040204020203" pitchFamily="34" charset="0"/>
                  </a:rPr>
                  <a:t>Non-</a:t>
                </a:r>
                <a:r>
                  <a:rPr lang="en-US" sz="2400" dirty="0" err="1">
                    <a:latin typeface="+mn-lt"/>
                    <a:cs typeface="Segoe UI" panose="020B0502040204020203" pitchFamily="34" charset="0"/>
                  </a:rPr>
                  <a:t>continous</a:t>
                </a:r>
                <a:r>
                  <a:rPr lang="en-US" sz="2400" dirty="0">
                    <a:latin typeface="+mn-lt"/>
                    <a:cs typeface="Segoe UI" panose="020B0502040204020203" pitchFamily="34" charset="0"/>
                  </a:rPr>
                  <a:t> derivatives can lead to model training problems </a:t>
                </a:r>
              </a:p>
              <a:p>
                <a:r>
                  <a:rPr lang="en-US" sz="2800" dirty="0">
                    <a:latin typeface="+mn-lt"/>
                    <a:cs typeface="Segoe UI" panose="020B0502040204020203" pitchFamily="34" charset="0"/>
                  </a:rPr>
                  <a:t>The </a:t>
                </a:r>
                <a:r>
                  <a:rPr lang="en-US" sz="2800" b="1" dirty="0">
                    <a:latin typeface="+mn-lt"/>
                    <a:cs typeface="Segoe UI" panose="020B0502040204020203" pitchFamily="34" charset="0"/>
                  </a:rPr>
                  <a:t>Gaussian error linear unit (GELU)</a:t>
                </a:r>
                <a:r>
                  <a:rPr lang="en-US" sz="2800" dirty="0">
                    <a:latin typeface="+mn-lt"/>
                    <a:cs typeface="Segoe UI" panose="020B0502040204020203" pitchFamily="34" charset="0"/>
                  </a:rPr>
                  <a:t> function shares many properties of </a:t>
                </a:r>
                <a:r>
                  <a:rPr lang="en-US" sz="2800" dirty="0" err="1">
                    <a:latin typeface="+mn-lt"/>
                    <a:cs typeface="Segoe UI" panose="020B0502040204020203" pitchFamily="34" charset="0"/>
                  </a:rPr>
                  <a:t>ReLU</a:t>
                </a:r>
                <a:r>
                  <a:rPr lang="en-US" sz="2800" dirty="0">
                    <a:latin typeface="+mn-lt"/>
                    <a:cs typeface="Segoe UI" panose="020B0502040204020203" pitchFamily="34" charset="0"/>
                  </a:rPr>
                  <a:t> and has continuous derivatives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Segoe UI" panose="020B0502040204020203" pitchFamily="34" charset="0"/>
                        </a:rPr>
                        <m:t>𝐺𝐸𝐿𝑈</m:t>
                      </m:r>
                      <m:d>
                        <m:dPr>
                          <m:ctrlPr>
                            <a:rPr lang="en-US" sz="2400" i="1" smtClean="0">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𝑥</m:t>
                          </m:r>
                        </m:e>
                      </m:d>
                      <m:r>
                        <a:rPr lang="en-US" sz="2400" b="0" i="1" smtClean="0">
                          <a:latin typeface="Cambria Math" panose="02040503050406030204" pitchFamily="18" charset="0"/>
                          <a:cs typeface="Segoe UI" panose="020B0502040204020203" pitchFamily="34" charset="0"/>
                        </a:rPr>
                        <m:t>= </m:t>
                      </m:r>
                      <m:f>
                        <m:fPr>
                          <m:ctrlPr>
                            <a:rPr lang="en-US" sz="2400" i="1" smtClean="0">
                              <a:latin typeface="Cambria Math" panose="02040503050406030204" pitchFamily="18" charset="0"/>
                              <a:cs typeface="Segoe UI" panose="020B0502040204020203" pitchFamily="34" charset="0"/>
                            </a:rPr>
                          </m:ctrlPr>
                        </m:fPr>
                        <m:num>
                          <m:r>
                            <a:rPr lang="en-US" sz="2400" b="0" i="1" smtClean="0">
                              <a:latin typeface="Cambria Math" panose="02040503050406030204" pitchFamily="18" charset="0"/>
                              <a:cs typeface="Segoe UI" panose="020B0502040204020203" pitchFamily="34" charset="0"/>
                            </a:rPr>
                            <m:t>1</m:t>
                          </m:r>
                        </m:num>
                        <m:den>
                          <m:r>
                            <a:rPr lang="en-US" sz="2400" b="0" i="1" smtClean="0">
                              <a:latin typeface="Cambria Math" panose="02040503050406030204" pitchFamily="18" charset="0"/>
                              <a:cs typeface="Segoe UI" panose="020B0502040204020203" pitchFamily="34" charset="0"/>
                            </a:rPr>
                            <m:t>2</m:t>
                          </m:r>
                        </m:den>
                      </m:f>
                      <m:r>
                        <a:rPr lang="en-US" sz="2400" b="0" i="1" smtClean="0">
                          <a:latin typeface="Cambria Math" panose="02040503050406030204" pitchFamily="18" charset="0"/>
                          <a:cs typeface="Segoe UI" panose="020B0502040204020203" pitchFamily="34" charset="0"/>
                        </a:rPr>
                        <m:t>𝑥</m:t>
                      </m:r>
                      <m:d>
                        <m:dPr>
                          <m:ctrlPr>
                            <a:rPr lang="en-US" sz="2400" i="1" smtClean="0">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1+ </m:t>
                          </m:r>
                          <m:f>
                            <m:fPr>
                              <m:ctrlPr>
                                <a:rPr lang="en-US" sz="2400" i="1" smtClean="0">
                                  <a:latin typeface="Cambria Math" panose="02040503050406030204" pitchFamily="18" charset="0"/>
                                  <a:cs typeface="Segoe UI" panose="020B0502040204020203" pitchFamily="34" charset="0"/>
                                </a:rPr>
                              </m:ctrlPr>
                            </m:fPr>
                            <m:num>
                              <m:r>
                                <a:rPr lang="en-US" sz="2400" b="0" i="1" smtClean="0">
                                  <a:latin typeface="Cambria Math" panose="02040503050406030204" pitchFamily="18" charset="0"/>
                                  <a:cs typeface="Segoe UI" panose="020B0502040204020203" pitchFamily="34" charset="0"/>
                                </a:rPr>
                                <m:t>𝑒𝑟𝑓</m:t>
                              </m:r>
                              <m:r>
                                <a:rPr lang="en-US" sz="2400" b="0" i="1" smtClean="0">
                                  <a:latin typeface="Cambria Math" panose="02040503050406030204" pitchFamily="18" charset="0"/>
                                  <a:cs typeface="Segoe UI" panose="020B0502040204020203" pitchFamily="34" charset="0"/>
                                </a:rPr>
                                <m:t>(</m:t>
                              </m:r>
                              <m:r>
                                <a:rPr lang="en-US" sz="2400" b="0" i="1" smtClean="0">
                                  <a:latin typeface="Cambria Math" panose="02040503050406030204" pitchFamily="18" charset="0"/>
                                  <a:cs typeface="Segoe UI" panose="020B0502040204020203" pitchFamily="34" charset="0"/>
                                </a:rPr>
                                <m:t>𝑥</m:t>
                              </m:r>
                              <m:r>
                                <a:rPr lang="en-US" sz="2400" b="0" i="1" smtClean="0">
                                  <a:latin typeface="Cambria Math" panose="02040503050406030204" pitchFamily="18" charset="0"/>
                                  <a:cs typeface="Segoe UI" panose="020B0502040204020203" pitchFamily="34" charset="0"/>
                                </a:rPr>
                                <m:t>)</m:t>
                              </m:r>
                            </m:num>
                            <m:den>
                              <m:rad>
                                <m:radPr>
                                  <m:degHide m:val="on"/>
                                  <m:ctrlPr>
                                    <a:rPr lang="en-US" sz="2400" i="1" smtClean="0">
                                      <a:latin typeface="Cambria Math" panose="02040503050406030204" pitchFamily="18" charset="0"/>
                                      <a:cs typeface="Segoe UI" panose="020B0502040204020203" pitchFamily="34" charset="0"/>
                                    </a:rPr>
                                  </m:ctrlPr>
                                </m:radPr>
                                <m:deg/>
                                <m:e>
                                  <m:r>
                                    <a:rPr lang="en-US" sz="2400" b="0" i="1" smtClean="0">
                                      <a:latin typeface="Cambria Math" panose="02040503050406030204" pitchFamily="18" charset="0"/>
                                      <a:cs typeface="Segoe UI" panose="020B0502040204020203" pitchFamily="34" charset="0"/>
                                    </a:rPr>
                                    <m:t>2</m:t>
                                  </m:r>
                                </m:e>
                              </m:rad>
                            </m:den>
                          </m:f>
                        </m:e>
                      </m:d>
                    </m:oMath>
                  </m:oMathPara>
                </a14:m>
                <a:endParaRPr lang="en-US" sz="24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Segoe UI" panose="020B0502040204020203" pitchFamily="34" charset="0"/>
                        </a:rPr>
                        <m:t>𝑒𝑟𝑓</m:t>
                      </m:r>
                      <m:d>
                        <m:dPr>
                          <m:ctrlPr>
                            <a:rPr lang="en-US" sz="2400" i="1" smtClean="0">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𝑥</m:t>
                          </m:r>
                        </m:e>
                      </m:d>
                      <m:r>
                        <a:rPr lang="en-US" sz="2400" b="0" i="1" smtClean="0">
                          <a:latin typeface="Cambria Math" panose="02040503050406030204" pitchFamily="18" charset="0"/>
                          <a:cs typeface="Segoe UI" panose="020B0502040204020203" pitchFamily="34" charset="0"/>
                        </a:rPr>
                        <m:t>=</m:t>
                      </m:r>
                      <m:r>
                        <a:rPr lang="en-US" sz="2400" b="0" i="1" smtClean="0">
                          <a:latin typeface="Cambria Math" panose="02040503050406030204" pitchFamily="18" charset="0"/>
                          <a:cs typeface="Segoe UI" panose="020B0502040204020203" pitchFamily="34" charset="0"/>
                        </a:rPr>
                        <m:t>𝑒𝑟𝑟𝑜𝑟</m:t>
                      </m:r>
                      <m:r>
                        <a:rPr lang="en-US" sz="2400" b="0" i="1" smtClean="0">
                          <a:latin typeface="Cambria Math" panose="02040503050406030204" pitchFamily="18" charset="0"/>
                          <a:cs typeface="Segoe UI" panose="020B0502040204020203" pitchFamily="34" charset="0"/>
                        </a:rPr>
                        <m:t> </m:t>
                      </m:r>
                      <m:r>
                        <a:rPr lang="en-US" sz="2400" b="0" i="1" smtClean="0">
                          <a:latin typeface="Cambria Math" panose="02040503050406030204" pitchFamily="18" charset="0"/>
                          <a:cs typeface="Segoe UI" panose="020B0502040204020203" pitchFamily="34" charset="0"/>
                        </a:rPr>
                        <m:t>𝑓𝑢𝑛𝑐𝑡𝑖𝑜𝑛</m:t>
                      </m:r>
                    </m:oMath>
                  </m:oMathPara>
                </a14:m>
                <a:endParaRPr lang="en-US" sz="2400" dirty="0">
                  <a:latin typeface="+mn-lt"/>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940FF20A-3F23-081A-B86C-4FBE90C074E9}"/>
                  </a:ext>
                </a:extLst>
              </p:cNvPr>
              <p:cNvSpPr>
                <a:spLocks noGrp="1" noRot="1" noChangeAspect="1" noMove="1" noResize="1" noEditPoints="1" noAdjustHandles="1" noChangeArrowheads="1" noChangeShapeType="1" noTextEdit="1"/>
              </p:cNvSpPr>
              <p:nvPr>
                <p:ph sz="quarter" idx="10"/>
              </p:nvPr>
            </p:nvSpPr>
            <p:spPr>
              <a:xfrm>
                <a:off x="214963" y="1173339"/>
                <a:ext cx="11525250" cy="5502446"/>
              </a:xfrm>
              <a:blipFill>
                <a:blip r:embed="rId2"/>
                <a:stretch>
                  <a:fillRect l="-1058" t="-997"/>
                </a:stretch>
              </a:blipFill>
            </p:spPr>
            <p:txBody>
              <a:bodyPr/>
              <a:lstStyle/>
              <a:p>
                <a:r>
                  <a:rPr lang="en-US">
                    <a:noFill/>
                  </a:rPr>
                  <a:t> </a:t>
                </a:r>
              </a:p>
            </p:txBody>
          </p:sp>
        </mc:Fallback>
      </mc:AlternateContent>
    </p:spTree>
    <p:extLst>
      <p:ext uri="{BB962C8B-B14F-4D97-AF65-F5344CB8AC3E}">
        <p14:creationId xmlns:p14="http://schemas.microsoft.com/office/powerpoint/2010/main" val="369974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18769-6E1F-A5B4-6187-03B14153F01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4828E18-3DCD-2E70-98E6-146757A9A0CE}"/>
              </a:ext>
            </a:extLst>
          </p:cNvPr>
          <p:cNvPicPr>
            <a:picLocks noChangeAspect="1"/>
          </p:cNvPicPr>
          <p:nvPr/>
        </p:nvPicPr>
        <p:blipFill>
          <a:blip r:embed="rId2"/>
          <a:stretch>
            <a:fillRect/>
          </a:stretch>
        </p:blipFill>
        <p:spPr>
          <a:xfrm>
            <a:off x="1927769" y="1443929"/>
            <a:ext cx="6527107" cy="5173560"/>
          </a:xfrm>
          <a:prstGeom prst="rect">
            <a:avLst/>
          </a:prstGeom>
        </p:spPr>
      </p:pic>
      <p:sp>
        <p:nvSpPr>
          <p:cNvPr id="2" name="Title 1">
            <a:extLst>
              <a:ext uri="{FF2B5EF4-FFF2-40B4-BE49-F238E27FC236}">
                <a16:creationId xmlns:a16="http://schemas.microsoft.com/office/drawing/2014/main" id="{D92C2129-5340-F3C6-1825-524C3BE876ED}"/>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Activation functions</a:t>
            </a:r>
          </a:p>
        </p:txBody>
      </p:sp>
      <p:sp>
        <p:nvSpPr>
          <p:cNvPr id="3" name="Content Placeholder 2">
            <a:extLst>
              <a:ext uri="{FF2B5EF4-FFF2-40B4-BE49-F238E27FC236}">
                <a16:creationId xmlns:a16="http://schemas.microsoft.com/office/drawing/2014/main" id="{FFE08A3A-0B50-1D1A-6854-44BAE9E7BD9A}"/>
              </a:ext>
            </a:extLst>
          </p:cNvPr>
          <p:cNvSpPr>
            <a:spLocks noGrp="1"/>
          </p:cNvSpPr>
          <p:nvPr>
            <p:ph sz="quarter" idx="10"/>
          </p:nvPr>
        </p:nvSpPr>
        <p:spPr>
          <a:xfrm>
            <a:off x="378696" y="841026"/>
            <a:ext cx="11525250" cy="649374"/>
          </a:xfrm>
        </p:spPr>
        <p:txBody>
          <a:bodyPr/>
          <a:lstStyle/>
          <a:p>
            <a:pPr marL="0" indent="0">
              <a:buNone/>
            </a:pPr>
            <a:r>
              <a:rPr lang="en-US" sz="2800" dirty="0">
                <a:latin typeface="Segoe UI" panose="020B0502040204020203" pitchFamily="34" charset="0"/>
                <a:cs typeface="Segoe UI" panose="020B0502040204020203" pitchFamily="34" charset="0"/>
              </a:rPr>
              <a:t>GELU function has continuous derivatives </a:t>
            </a:r>
          </a:p>
        </p:txBody>
      </p:sp>
      <p:sp>
        <p:nvSpPr>
          <p:cNvPr id="6" name="TextBox 5">
            <a:extLst>
              <a:ext uri="{FF2B5EF4-FFF2-40B4-BE49-F238E27FC236}">
                <a16:creationId xmlns:a16="http://schemas.microsoft.com/office/drawing/2014/main" id="{B9C39F31-6953-8F89-7439-586C390AACA5}"/>
              </a:ext>
            </a:extLst>
          </p:cNvPr>
          <p:cNvSpPr txBox="1"/>
          <p:nvPr/>
        </p:nvSpPr>
        <p:spPr>
          <a:xfrm>
            <a:off x="2707011" y="4214039"/>
            <a:ext cx="3398712" cy="523220"/>
          </a:xfrm>
          <a:prstGeom prst="rect">
            <a:avLst/>
          </a:prstGeom>
          <a:noFill/>
        </p:spPr>
        <p:txBody>
          <a:bodyPr wrap="square" rtlCol="0">
            <a:spAutoFit/>
          </a:bodyPr>
          <a:lstStyle/>
          <a:p>
            <a:r>
              <a:rPr lang="en-US" sz="2800" dirty="0"/>
              <a:t>Gradient defined at 0</a:t>
            </a:r>
          </a:p>
        </p:txBody>
      </p:sp>
      <p:cxnSp>
        <p:nvCxnSpPr>
          <p:cNvPr id="8" name="Straight Arrow Connector 7">
            <a:extLst>
              <a:ext uri="{FF2B5EF4-FFF2-40B4-BE49-F238E27FC236}">
                <a16:creationId xmlns:a16="http://schemas.microsoft.com/office/drawing/2014/main" id="{9E2D3DC9-DF5A-CEC6-AAB7-AB57F3CA1A6F}"/>
              </a:ext>
            </a:extLst>
          </p:cNvPr>
          <p:cNvCxnSpPr>
            <a:cxnSpLocks/>
            <a:stCxn id="6" idx="2"/>
          </p:cNvCxnSpPr>
          <p:nvPr/>
        </p:nvCxnSpPr>
        <p:spPr>
          <a:xfrm>
            <a:off x="4406367" y="4737259"/>
            <a:ext cx="958076" cy="841661"/>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55E9F7-0911-ED56-B101-B8BB7FD0551D}"/>
              </a:ext>
            </a:extLst>
          </p:cNvPr>
          <p:cNvSpPr txBox="1"/>
          <p:nvPr/>
        </p:nvSpPr>
        <p:spPr>
          <a:xfrm>
            <a:off x="8615681" y="2149211"/>
            <a:ext cx="3170274" cy="954107"/>
          </a:xfrm>
          <a:prstGeom prst="rect">
            <a:avLst/>
          </a:prstGeom>
          <a:noFill/>
        </p:spPr>
        <p:txBody>
          <a:bodyPr wrap="square" rtlCol="0">
            <a:spAutoFit/>
          </a:bodyPr>
          <a:lstStyle/>
          <a:p>
            <a:r>
              <a:rPr lang="en-US" sz="2800" dirty="0"/>
              <a:t>Near constant gradient of GELU &gt; 0</a:t>
            </a:r>
          </a:p>
        </p:txBody>
      </p:sp>
      <p:cxnSp>
        <p:nvCxnSpPr>
          <p:cNvPr id="10" name="Straight Arrow Connector 9">
            <a:extLst>
              <a:ext uri="{FF2B5EF4-FFF2-40B4-BE49-F238E27FC236}">
                <a16:creationId xmlns:a16="http://schemas.microsoft.com/office/drawing/2014/main" id="{66914B8A-A84A-E43E-7963-97DF73426874}"/>
              </a:ext>
            </a:extLst>
          </p:cNvPr>
          <p:cNvCxnSpPr>
            <a:cxnSpLocks/>
            <a:stCxn id="9" idx="1"/>
          </p:cNvCxnSpPr>
          <p:nvPr/>
        </p:nvCxnSpPr>
        <p:spPr>
          <a:xfrm flipH="1">
            <a:off x="7457440" y="2626265"/>
            <a:ext cx="1158241" cy="330295"/>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96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213169" y="1870781"/>
            <a:ext cx="9765662" cy="2015419"/>
          </a:xfrm>
        </p:spPr>
        <p:txBody>
          <a:bodyPr>
            <a:normAutofit/>
          </a:bodyPr>
          <a:lstStyle/>
          <a:p>
            <a:r>
              <a:rPr lang="en-US" sz="4400" b="1" dirty="0"/>
              <a:t>Learning Weights with Backpropagation</a:t>
            </a:r>
          </a:p>
        </p:txBody>
      </p:sp>
    </p:spTree>
    <p:extLst>
      <p:ext uri="{BB962C8B-B14F-4D97-AF65-F5344CB8AC3E}">
        <p14:creationId xmlns:p14="http://schemas.microsoft.com/office/powerpoint/2010/main" val="1280780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Backpropagation Algorithm</a:t>
            </a:r>
          </a:p>
        </p:txBody>
      </p:sp>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214963" y="1173339"/>
            <a:ext cx="11525250" cy="5502446"/>
          </a:xfrm>
        </p:spPr>
        <p:txBody>
          <a:bodyPr/>
          <a:lstStyle/>
          <a:p>
            <a:pPr marL="0" indent="0">
              <a:buNone/>
            </a:pPr>
            <a:r>
              <a:rPr lang="en-US" sz="2800" dirty="0">
                <a:latin typeface="+mn-lt"/>
                <a:cs typeface="Segoe UI" panose="020B0502040204020203" pitchFamily="34" charset="0"/>
              </a:rPr>
              <a:t>To find function approximation, f(x), we need to </a:t>
            </a:r>
            <a:r>
              <a:rPr lang="en-US" sz="2800" b="1" dirty="0">
                <a:latin typeface="+mn-lt"/>
                <a:cs typeface="Segoe UI" panose="020B0502040204020203" pitchFamily="34" charset="0"/>
              </a:rPr>
              <a:t>learn model weights</a:t>
            </a:r>
          </a:p>
          <a:p>
            <a:r>
              <a:rPr lang="en-US" sz="2800" dirty="0">
                <a:latin typeface="+mn-lt"/>
                <a:cs typeface="Segoe UI" panose="020B0502040204020203" pitchFamily="34" charset="0"/>
              </a:rPr>
              <a:t>The primary algorithm we use to learn model weights is known as </a:t>
            </a:r>
            <a:r>
              <a:rPr lang="en-US" sz="2800" b="1" dirty="0">
                <a:latin typeface="+mn-lt"/>
                <a:cs typeface="Segoe UI" panose="020B0502040204020203" pitchFamily="34" charset="0"/>
              </a:rPr>
              <a:t>backpropagation</a:t>
            </a:r>
          </a:p>
          <a:p>
            <a:r>
              <a:rPr lang="en-US" sz="2800" dirty="0">
                <a:latin typeface="+mn-lt"/>
                <a:cs typeface="Segoe UI" panose="020B0502040204020203" pitchFamily="34" charset="0"/>
              </a:rPr>
              <a:t>Backpropagation was applied to learning (system identification) for control problems as early as 1960 by Henry Kelly and 1961 by Arthur Bryson for dynamic programming</a:t>
            </a:r>
          </a:p>
          <a:p>
            <a:r>
              <a:rPr lang="en-US" sz="2800" dirty="0">
                <a:latin typeface="+mn-lt"/>
                <a:cs typeface="Segoe UI" panose="020B0502040204020203" pitchFamily="34" charset="0"/>
              </a:rPr>
              <a:t>First applied to neural networks by Paul </a:t>
            </a:r>
            <a:r>
              <a:rPr lang="en-US" sz="2800" dirty="0" err="1">
                <a:latin typeface="+mn-lt"/>
                <a:cs typeface="Segoe UI" panose="020B0502040204020203" pitchFamily="34" charset="0"/>
              </a:rPr>
              <a:t>Werbos</a:t>
            </a:r>
            <a:r>
              <a:rPr lang="en-US" sz="2800" dirty="0">
                <a:latin typeface="+mn-lt"/>
                <a:cs typeface="Segoe UI" panose="020B0502040204020203" pitchFamily="34" charset="0"/>
              </a:rPr>
              <a:t> in 1974 </a:t>
            </a:r>
          </a:p>
          <a:p>
            <a:r>
              <a:rPr lang="en-US" sz="2800" dirty="0">
                <a:latin typeface="+mn-lt"/>
                <a:cs typeface="Segoe UI" panose="020B0502040204020203" pitchFamily="34" charset="0"/>
              </a:rPr>
              <a:t>In </a:t>
            </a:r>
            <a:r>
              <a:rPr lang="en-US" sz="2800" dirty="0">
                <a:latin typeface="+mn-lt"/>
                <a:cs typeface="Segoe UI" panose="020B0502040204020203" pitchFamily="34" charset="0"/>
                <a:hlinkClick r:id="rId2"/>
              </a:rPr>
              <a:t>1986 by </a:t>
            </a:r>
            <a:r>
              <a:rPr lang="en-US" sz="2800" dirty="0" err="1">
                <a:latin typeface="+mn-lt"/>
                <a:cs typeface="Segoe UI" panose="020B0502040204020203" pitchFamily="34" charset="0"/>
                <a:hlinkClick r:id="rId2"/>
              </a:rPr>
              <a:t>Rumelhart</a:t>
            </a:r>
            <a:r>
              <a:rPr lang="en-US" sz="2800" dirty="0">
                <a:latin typeface="+mn-lt"/>
                <a:cs typeface="Segoe UI" panose="020B0502040204020203" pitchFamily="34" charset="0"/>
                <a:hlinkClick r:id="rId2"/>
              </a:rPr>
              <a:t>, Hinton and Williams </a:t>
            </a:r>
            <a:r>
              <a:rPr lang="en-US" sz="2800" dirty="0">
                <a:latin typeface="+mn-lt"/>
                <a:cs typeface="Segoe UI" panose="020B0502040204020203" pitchFamily="34" charset="0"/>
              </a:rPr>
              <a:t>showed that backpropagation was effective for learning the weights of multiple hidden layers</a:t>
            </a:r>
          </a:p>
          <a:p>
            <a:pPr lvl="1"/>
            <a:r>
              <a:rPr lang="en-US" sz="2400" b="1" dirty="0">
                <a:latin typeface="+mn-lt"/>
                <a:cs typeface="Segoe UI" panose="020B0502040204020203" pitchFamily="34" charset="0"/>
              </a:rPr>
              <a:t>The era of deep learning had begun!!</a:t>
            </a:r>
          </a:p>
        </p:txBody>
      </p:sp>
    </p:spTree>
    <p:extLst>
      <p:ext uri="{BB962C8B-B14F-4D97-AF65-F5344CB8AC3E}">
        <p14:creationId xmlns:p14="http://schemas.microsoft.com/office/powerpoint/2010/main" val="297394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1AAEA8E-E0E7-4C55-A1CF-AF1B96B7D513}"/>
              </a:ext>
            </a:extLst>
          </p:cNvPr>
          <p:cNvSpPr/>
          <p:nvPr/>
        </p:nvSpPr>
        <p:spPr>
          <a:xfrm>
            <a:off x="6803716" y="2357344"/>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14F9E361-E165-40D1-B714-E67D9900E562}"/>
              </a:ext>
            </a:extLst>
          </p:cNvPr>
          <p:cNvCxnSpPr>
            <a:cxnSpLocks/>
            <a:stCxn id="3" idx="6"/>
          </p:cNvCxnSpPr>
          <p:nvPr/>
        </p:nvCxnSpPr>
        <p:spPr>
          <a:xfrm>
            <a:off x="8905158" y="3328334"/>
            <a:ext cx="780997" cy="1588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FEA8519-63CC-43E3-9BB9-02E6936FC3AD}"/>
              </a:ext>
            </a:extLst>
          </p:cNvPr>
          <p:cNvSpPr txBox="1"/>
          <p:nvPr/>
        </p:nvSpPr>
        <p:spPr>
          <a:xfrm>
            <a:off x="314325" y="1690903"/>
            <a:ext cx="643095" cy="584775"/>
          </a:xfrm>
          <a:prstGeom prst="rect">
            <a:avLst/>
          </a:prstGeom>
          <a:noFill/>
        </p:spPr>
        <p:txBody>
          <a:bodyPr wrap="square" rtlCol="0">
            <a:spAutoFit/>
          </a:bodyPr>
          <a:lstStyle/>
          <a:p>
            <a:r>
              <a:rPr lang="en-US" sz="3200" b="1" dirty="0"/>
              <a:t>X</a:t>
            </a:r>
            <a:r>
              <a:rPr lang="en-US" sz="3200" b="1" baseline="-25000" dirty="0"/>
              <a:t>1</a:t>
            </a:r>
          </a:p>
        </p:txBody>
      </p:sp>
      <p:sp>
        <p:nvSpPr>
          <p:cNvPr id="6" name="TextBox 5">
            <a:extLst>
              <a:ext uri="{FF2B5EF4-FFF2-40B4-BE49-F238E27FC236}">
                <a16:creationId xmlns:a16="http://schemas.microsoft.com/office/drawing/2014/main" id="{0E74CFA3-5532-4C90-87B2-140C52C4227B}"/>
              </a:ext>
            </a:extLst>
          </p:cNvPr>
          <p:cNvSpPr txBox="1"/>
          <p:nvPr/>
        </p:nvSpPr>
        <p:spPr>
          <a:xfrm>
            <a:off x="6892260" y="3051827"/>
            <a:ext cx="1957555"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3</a:t>
            </a:r>
            <a:r>
              <a:rPr lang="en-US" sz="3200" b="1" dirty="0">
                <a:latin typeface="Symbol" panose="05050102010706020507" pitchFamily="18" charset="2"/>
              </a:rPr>
              <a:t> = S</a:t>
            </a:r>
            <a:r>
              <a:rPr lang="en-US" sz="3200" b="1" dirty="0"/>
              <a:t> </a:t>
            </a:r>
            <a:endParaRPr lang="en-US" sz="2800" b="1" dirty="0">
              <a:latin typeface="Symbol" panose="05050102010706020507" pitchFamily="18" charset="2"/>
            </a:endParaRPr>
          </a:p>
        </p:txBody>
      </p:sp>
      <p:cxnSp>
        <p:nvCxnSpPr>
          <p:cNvPr id="7" name="Straight Arrow Connector 6">
            <a:extLst>
              <a:ext uri="{FF2B5EF4-FFF2-40B4-BE49-F238E27FC236}">
                <a16:creationId xmlns:a16="http://schemas.microsoft.com/office/drawing/2014/main" id="{523064D0-6830-4BCA-B62D-5D038E560C6C}"/>
              </a:ext>
            </a:extLst>
          </p:cNvPr>
          <p:cNvCxnSpPr>
            <a:cxnSpLocks/>
            <a:stCxn id="5" idx="3"/>
          </p:cNvCxnSpPr>
          <p:nvPr/>
        </p:nvCxnSpPr>
        <p:spPr>
          <a:xfrm flipV="1">
            <a:off x="957420" y="1630368"/>
            <a:ext cx="2500135" cy="35292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A65915-424C-4B17-B027-AE2748073352}"/>
              </a:ext>
            </a:extLst>
          </p:cNvPr>
          <p:cNvSpPr txBox="1"/>
          <p:nvPr/>
        </p:nvSpPr>
        <p:spPr>
          <a:xfrm>
            <a:off x="370316" y="3598216"/>
            <a:ext cx="643095" cy="584775"/>
          </a:xfrm>
          <a:prstGeom prst="rect">
            <a:avLst/>
          </a:prstGeom>
          <a:noFill/>
        </p:spPr>
        <p:txBody>
          <a:bodyPr wrap="square" rtlCol="0">
            <a:spAutoFit/>
          </a:bodyPr>
          <a:lstStyle/>
          <a:p>
            <a:r>
              <a:rPr lang="en-US" sz="3200" b="1" dirty="0"/>
              <a:t>X</a:t>
            </a:r>
            <a:r>
              <a:rPr lang="en-US" sz="3200" b="1" baseline="-25000" dirty="0"/>
              <a:t>2</a:t>
            </a:r>
          </a:p>
        </p:txBody>
      </p:sp>
      <p:cxnSp>
        <p:nvCxnSpPr>
          <p:cNvPr id="9" name="Straight Arrow Connector 8">
            <a:extLst>
              <a:ext uri="{FF2B5EF4-FFF2-40B4-BE49-F238E27FC236}">
                <a16:creationId xmlns:a16="http://schemas.microsoft.com/office/drawing/2014/main" id="{D13B5D6C-2491-4096-B273-51EC38304D64}"/>
              </a:ext>
            </a:extLst>
          </p:cNvPr>
          <p:cNvCxnSpPr>
            <a:cxnSpLocks/>
          </p:cNvCxnSpPr>
          <p:nvPr/>
        </p:nvCxnSpPr>
        <p:spPr>
          <a:xfrm>
            <a:off x="984634" y="2193216"/>
            <a:ext cx="2670406" cy="182682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71DAEFA-CEBF-4620-AD87-874E9B09E176}"/>
              </a:ext>
            </a:extLst>
          </p:cNvPr>
          <p:cNvSpPr txBox="1"/>
          <p:nvPr/>
        </p:nvSpPr>
        <p:spPr>
          <a:xfrm>
            <a:off x="5881405" y="1710213"/>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1</a:t>
            </a:r>
          </a:p>
        </p:txBody>
      </p:sp>
      <p:sp>
        <p:nvSpPr>
          <p:cNvPr id="11" name="Oval 10">
            <a:extLst>
              <a:ext uri="{FF2B5EF4-FFF2-40B4-BE49-F238E27FC236}">
                <a16:creationId xmlns:a16="http://schemas.microsoft.com/office/drawing/2014/main" id="{87668850-8671-4D89-9ADE-12B7E62BCCC8}"/>
              </a:ext>
            </a:extLst>
          </p:cNvPr>
          <p:cNvSpPr/>
          <p:nvPr/>
        </p:nvSpPr>
        <p:spPr>
          <a:xfrm>
            <a:off x="3380062" y="1043824"/>
            <a:ext cx="2134679" cy="2008507"/>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474654-22DD-44F7-8115-656C75EFBA57}"/>
              </a:ext>
            </a:extLst>
          </p:cNvPr>
          <p:cNvSpPr txBox="1"/>
          <p:nvPr/>
        </p:nvSpPr>
        <p:spPr>
          <a:xfrm>
            <a:off x="3380063" y="1804331"/>
            <a:ext cx="2067656"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1</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 </a:t>
            </a:r>
          </a:p>
        </p:txBody>
      </p:sp>
      <p:sp>
        <p:nvSpPr>
          <p:cNvPr id="13" name="Oval 12">
            <a:extLst>
              <a:ext uri="{FF2B5EF4-FFF2-40B4-BE49-F238E27FC236}">
                <a16:creationId xmlns:a16="http://schemas.microsoft.com/office/drawing/2014/main" id="{FE38B29A-B777-42DB-BF49-6A3F695A3C4E}"/>
              </a:ext>
            </a:extLst>
          </p:cNvPr>
          <p:cNvSpPr/>
          <p:nvPr/>
        </p:nvSpPr>
        <p:spPr>
          <a:xfrm>
            <a:off x="3457555" y="3566348"/>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9C4F589-B936-439F-B26A-544DC5E65057}"/>
              </a:ext>
            </a:extLst>
          </p:cNvPr>
          <p:cNvSpPr txBox="1"/>
          <p:nvPr/>
        </p:nvSpPr>
        <p:spPr>
          <a:xfrm>
            <a:off x="3514725" y="4260831"/>
            <a:ext cx="1988929"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2</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a:t>
            </a:r>
          </a:p>
        </p:txBody>
      </p:sp>
      <p:cxnSp>
        <p:nvCxnSpPr>
          <p:cNvPr id="15" name="Straight Arrow Connector 14">
            <a:extLst>
              <a:ext uri="{FF2B5EF4-FFF2-40B4-BE49-F238E27FC236}">
                <a16:creationId xmlns:a16="http://schemas.microsoft.com/office/drawing/2014/main" id="{B6A31ED5-1A12-4386-96AC-4990BFAE79C3}"/>
              </a:ext>
            </a:extLst>
          </p:cNvPr>
          <p:cNvCxnSpPr>
            <a:cxnSpLocks/>
          </p:cNvCxnSpPr>
          <p:nvPr/>
        </p:nvCxnSpPr>
        <p:spPr>
          <a:xfrm>
            <a:off x="5447718" y="2286009"/>
            <a:ext cx="1512683" cy="62428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94BF3E5-9920-40EF-8ABC-F33625280E43}"/>
              </a:ext>
            </a:extLst>
          </p:cNvPr>
          <p:cNvCxnSpPr>
            <a:cxnSpLocks/>
          </p:cNvCxnSpPr>
          <p:nvPr/>
        </p:nvCxnSpPr>
        <p:spPr>
          <a:xfrm flipV="1">
            <a:off x="5592198" y="3822778"/>
            <a:ext cx="1368203" cy="69480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6874676-2C51-439E-8B43-7D12802FE95A}"/>
              </a:ext>
            </a:extLst>
          </p:cNvPr>
          <p:cNvSpPr txBox="1"/>
          <p:nvPr/>
        </p:nvSpPr>
        <p:spPr>
          <a:xfrm>
            <a:off x="5742903" y="3471149"/>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2</a:t>
            </a:r>
          </a:p>
        </p:txBody>
      </p:sp>
      <p:cxnSp>
        <p:nvCxnSpPr>
          <p:cNvPr id="18" name="Straight Arrow Connector 17">
            <a:extLst>
              <a:ext uri="{FF2B5EF4-FFF2-40B4-BE49-F238E27FC236}">
                <a16:creationId xmlns:a16="http://schemas.microsoft.com/office/drawing/2014/main" id="{C0AC225E-7B66-425E-83E2-D319B7A24CBA}"/>
              </a:ext>
            </a:extLst>
          </p:cNvPr>
          <p:cNvCxnSpPr>
            <a:cxnSpLocks/>
            <a:stCxn id="8" idx="3"/>
          </p:cNvCxnSpPr>
          <p:nvPr/>
        </p:nvCxnSpPr>
        <p:spPr>
          <a:xfrm flipV="1">
            <a:off x="1013411" y="2705489"/>
            <a:ext cx="2551648" cy="118511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FD9AB54-370F-45C7-AD72-303F9F96BCA4}"/>
              </a:ext>
            </a:extLst>
          </p:cNvPr>
          <p:cNvCxnSpPr>
            <a:cxnSpLocks/>
          </p:cNvCxnSpPr>
          <p:nvPr/>
        </p:nvCxnSpPr>
        <p:spPr>
          <a:xfrm>
            <a:off x="1094501" y="4133328"/>
            <a:ext cx="2470558" cy="89567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DAAF402-A705-4383-892A-CA3E9E762F52}"/>
              </a:ext>
            </a:extLst>
          </p:cNvPr>
          <p:cNvSpPr txBox="1"/>
          <p:nvPr/>
        </p:nvSpPr>
        <p:spPr>
          <a:xfrm>
            <a:off x="1582197" y="1094572"/>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11</a:t>
            </a:r>
          </a:p>
        </p:txBody>
      </p:sp>
      <p:sp>
        <p:nvSpPr>
          <p:cNvPr id="21" name="TextBox 20">
            <a:extLst>
              <a:ext uri="{FF2B5EF4-FFF2-40B4-BE49-F238E27FC236}">
                <a16:creationId xmlns:a16="http://schemas.microsoft.com/office/drawing/2014/main" id="{52DA6726-2072-42E3-BD6E-49922B6D2CFB}"/>
              </a:ext>
            </a:extLst>
          </p:cNvPr>
          <p:cNvSpPr txBox="1"/>
          <p:nvPr/>
        </p:nvSpPr>
        <p:spPr>
          <a:xfrm>
            <a:off x="1660366" y="2019614"/>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12</a:t>
            </a:r>
          </a:p>
        </p:txBody>
      </p:sp>
      <p:sp>
        <p:nvSpPr>
          <p:cNvPr id="22" name="TextBox 21">
            <a:extLst>
              <a:ext uri="{FF2B5EF4-FFF2-40B4-BE49-F238E27FC236}">
                <a16:creationId xmlns:a16="http://schemas.microsoft.com/office/drawing/2014/main" id="{59DAE396-4CE3-436B-A0A9-86A695CA314F}"/>
              </a:ext>
            </a:extLst>
          </p:cNvPr>
          <p:cNvSpPr txBox="1"/>
          <p:nvPr/>
        </p:nvSpPr>
        <p:spPr>
          <a:xfrm>
            <a:off x="1190383" y="2797950"/>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21</a:t>
            </a:r>
          </a:p>
        </p:txBody>
      </p:sp>
      <p:sp>
        <p:nvSpPr>
          <p:cNvPr id="23" name="TextBox 22">
            <a:extLst>
              <a:ext uri="{FF2B5EF4-FFF2-40B4-BE49-F238E27FC236}">
                <a16:creationId xmlns:a16="http://schemas.microsoft.com/office/drawing/2014/main" id="{42DFEFAC-6D98-4746-96B2-D4B5C1AC43A0}"/>
              </a:ext>
            </a:extLst>
          </p:cNvPr>
          <p:cNvSpPr txBox="1"/>
          <p:nvPr/>
        </p:nvSpPr>
        <p:spPr>
          <a:xfrm>
            <a:off x="1459584" y="3681323"/>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22</a:t>
            </a:r>
          </a:p>
        </p:txBody>
      </p:sp>
      <p:sp>
        <p:nvSpPr>
          <p:cNvPr id="24" name="Right Brace 23">
            <a:extLst>
              <a:ext uri="{FF2B5EF4-FFF2-40B4-BE49-F238E27FC236}">
                <a16:creationId xmlns:a16="http://schemas.microsoft.com/office/drawing/2014/main" id="{96D6117D-4019-4427-A18F-4260A079657B}"/>
              </a:ext>
            </a:extLst>
          </p:cNvPr>
          <p:cNvSpPr/>
          <p:nvPr/>
        </p:nvSpPr>
        <p:spPr>
          <a:xfrm rot="5400000">
            <a:off x="4345926" y="4715267"/>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DB815669-E028-4585-88F5-7E296B2C6175}"/>
              </a:ext>
            </a:extLst>
          </p:cNvPr>
          <p:cNvSpPr txBox="1"/>
          <p:nvPr/>
        </p:nvSpPr>
        <p:spPr>
          <a:xfrm>
            <a:off x="3651149" y="6206407"/>
            <a:ext cx="1860064" cy="420628"/>
          </a:xfrm>
          <a:prstGeom prst="rect">
            <a:avLst/>
          </a:prstGeom>
          <a:noFill/>
        </p:spPr>
        <p:txBody>
          <a:bodyPr wrap="square" rtlCol="0">
            <a:spAutoFit/>
          </a:bodyPr>
          <a:lstStyle/>
          <a:p>
            <a:pPr algn="ctr"/>
            <a:r>
              <a:rPr lang="en-US" sz="3200" b="1" baseline="-25000" dirty="0"/>
              <a:t>Hidden Layer</a:t>
            </a:r>
          </a:p>
        </p:txBody>
      </p:sp>
      <p:sp>
        <p:nvSpPr>
          <p:cNvPr id="26" name="Right Brace 25">
            <a:extLst>
              <a:ext uri="{FF2B5EF4-FFF2-40B4-BE49-F238E27FC236}">
                <a16:creationId xmlns:a16="http://schemas.microsoft.com/office/drawing/2014/main" id="{9B7E1084-AB93-4472-8E10-50647C11B1EC}"/>
              </a:ext>
            </a:extLst>
          </p:cNvPr>
          <p:cNvSpPr/>
          <p:nvPr/>
        </p:nvSpPr>
        <p:spPr>
          <a:xfrm rot="5400000">
            <a:off x="7588194" y="4714804"/>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327FD46C-7E7F-4E54-9633-5A9ECDDA00BD}"/>
              </a:ext>
            </a:extLst>
          </p:cNvPr>
          <p:cNvSpPr txBox="1"/>
          <p:nvPr/>
        </p:nvSpPr>
        <p:spPr>
          <a:xfrm>
            <a:off x="6893417" y="6205944"/>
            <a:ext cx="1860064" cy="420628"/>
          </a:xfrm>
          <a:prstGeom prst="rect">
            <a:avLst/>
          </a:prstGeom>
          <a:noFill/>
        </p:spPr>
        <p:txBody>
          <a:bodyPr wrap="square" rtlCol="0">
            <a:spAutoFit/>
          </a:bodyPr>
          <a:lstStyle/>
          <a:p>
            <a:pPr algn="ctr"/>
            <a:r>
              <a:rPr lang="en-US" sz="3200" b="1" baseline="-25000" dirty="0"/>
              <a:t>Output Layer</a:t>
            </a:r>
          </a:p>
        </p:txBody>
      </p:sp>
      <p:sp>
        <p:nvSpPr>
          <p:cNvPr id="28" name="Right Brace 27">
            <a:extLst>
              <a:ext uri="{FF2B5EF4-FFF2-40B4-BE49-F238E27FC236}">
                <a16:creationId xmlns:a16="http://schemas.microsoft.com/office/drawing/2014/main" id="{2661F912-56BE-499A-832C-19D7CDAF76C9}"/>
              </a:ext>
            </a:extLst>
          </p:cNvPr>
          <p:cNvSpPr/>
          <p:nvPr/>
        </p:nvSpPr>
        <p:spPr>
          <a:xfrm rot="5400000">
            <a:off x="861120" y="5417261"/>
            <a:ext cx="426408" cy="1015746"/>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9C8141-DFF0-4D5F-B1C7-286D1EE3A78C}"/>
              </a:ext>
            </a:extLst>
          </p:cNvPr>
          <p:cNvSpPr txBox="1"/>
          <p:nvPr/>
        </p:nvSpPr>
        <p:spPr>
          <a:xfrm>
            <a:off x="238707" y="6179150"/>
            <a:ext cx="1671234" cy="420628"/>
          </a:xfrm>
          <a:prstGeom prst="rect">
            <a:avLst/>
          </a:prstGeom>
          <a:noFill/>
        </p:spPr>
        <p:txBody>
          <a:bodyPr wrap="square" rtlCol="0">
            <a:spAutoFit/>
          </a:bodyPr>
          <a:lstStyle/>
          <a:p>
            <a:pPr algn="ctr"/>
            <a:r>
              <a:rPr lang="en-US" sz="3200" b="1" baseline="-25000" dirty="0"/>
              <a:t>Input Layer</a:t>
            </a:r>
          </a:p>
        </p:txBody>
      </p:sp>
      <p:sp>
        <p:nvSpPr>
          <p:cNvPr id="30" name="Oval 29">
            <a:extLst>
              <a:ext uri="{FF2B5EF4-FFF2-40B4-BE49-F238E27FC236}">
                <a16:creationId xmlns:a16="http://schemas.microsoft.com/office/drawing/2014/main" id="{2ECACC13-B2BB-449A-91D9-0AC30B3CB5CA}"/>
              </a:ext>
            </a:extLst>
          </p:cNvPr>
          <p:cNvSpPr/>
          <p:nvPr/>
        </p:nvSpPr>
        <p:spPr>
          <a:xfrm>
            <a:off x="9665146" y="2357343"/>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E110A2A-C91C-494F-96E7-BD4C529723F9}"/>
              </a:ext>
            </a:extLst>
          </p:cNvPr>
          <p:cNvSpPr txBox="1"/>
          <p:nvPr/>
        </p:nvSpPr>
        <p:spPr>
          <a:xfrm>
            <a:off x="9652348" y="3005658"/>
            <a:ext cx="1957555" cy="584775"/>
          </a:xfrm>
          <a:prstGeom prst="rect">
            <a:avLst/>
          </a:prstGeom>
          <a:noFill/>
        </p:spPr>
        <p:txBody>
          <a:bodyPr wrap="square" rtlCol="0">
            <a:spAutoFit/>
          </a:bodyPr>
          <a:lstStyle/>
          <a:p>
            <a:pPr algn="ctr"/>
            <a:r>
              <a:rPr lang="en-US" sz="3200" b="1" dirty="0"/>
              <a:t>J(W)</a:t>
            </a:r>
            <a:endParaRPr lang="en-US" sz="2800" b="1" dirty="0">
              <a:latin typeface="Symbol" panose="05050102010706020507" pitchFamily="18" charset="2"/>
            </a:endParaRPr>
          </a:p>
        </p:txBody>
      </p:sp>
      <p:sp>
        <p:nvSpPr>
          <p:cNvPr id="32" name="TextBox 31">
            <a:extLst>
              <a:ext uri="{FF2B5EF4-FFF2-40B4-BE49-F238E27FC236}">
                <a16:creationId xmlns:a16="http://schemas.microsoft.com/office/drawing/2014/main" id="{47B2BCD7-3BE7-4C44-8339-A559589BBC9F}"/>
              </a:ext>
            </a:extLst>
          </p:cNvPr>
          <p:cNvSpPr txBox="1"/>
          <p:nvPr/>
        </p:nvSpPr>
        <p:spPr>
          <a:xfrm>
            <a:off x="9511520" y="4870773"/>
            <a:ext cx="454339" cy="584775"/>
          </a:xfrm>
          <a:prstGeom prst="rect">
            <a:avLst/>
          </a:prstGeom>
          <a:noFill/>
        </p:spPr>
        <p:txBody>
          <a:bodyPr wrap="square" rtlCol="0">
            <a:spAutoFit/>
          </a:bodyPr>
          <a:lstStyle/>
          <a:p>
            <a:r>
              <a:rPr lang="en-US" sz="3200" b="1" dirty="0"/>
              <a:t>Y</a:t>
            </a:r>
          </a:p>
        </p:txBody>
      </p:sp>
      <p:cxnSp>
        <p:nvCxnSpPr>
          <p:cNvPr id="33" name="Straight Arrow Connector 32">
            <a:extLst>
              <a:ext uri="{FF2B5EF4-FFF2-40B4-BE49-F238E27FC236}">
                <a16:creationId xmlns:a16="http://schemas.microsoft.com/office/drawing/2014/main" id="{5CB66A7D-414A-46D8-BD98-E8547FA61BF9}"/>
              </a:ext>
            </a:extLst>
          </p:cNvPr>
          <p:cNvCxnSpPr>
            <a:cxnSpLocks/>
            <a:stCxn id="32" idx="0"/>
          </p:cNvCxnSpPr>
          <p:nvPr/>
        </p:nvCxnSpPr>
        <p:spPr>
          <a:xfrm flipV="1">
            <a:off x="9738690" y="4191417"/>
            <a:ext cx="454339" cy="679356"/>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4" name="Right Brace 33">
            <a:extLst>
              <a:ext uri="{FF2B5EF4-FFF2-40B4-BE49-F238E27FC236}">
                <a16:creationId xmlns:a16="http://schemas.microsoft.com/office/drawing/2014/main" id="{80ADD6CB-E516-457A-A87A-B3D394BA85AD}"/>
              </a:ext>
            </a:extLst>
          </p:cNvPr>
          <p:cNvSpPr/>
          <p:nvPr/>
        </p:nvSpPr>
        <p:spPr>
          <a:xfrm rot="5400000">
            <a:off x="10525075" y="4870081"/>
            <a:ext cx="381579" cy="2101440"/>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3D4DA628-CF2F-4BBD-8F88-60EADDA13EB1}"/>
              </a:ext>
            </a:extLst>
          </p:cNvPr>
          <p:cNvSpPr txBox="1"/>
          <p:nvPr/>
        </p:nvSpPr>
        <p:spPr>
          <a:xfrm>
            <a:off x="9665144" y="6192182"/>
            <a:ext cx="2101441" cy="420628"/>
          </a:xfrm>
          <a:prstGeom prst="rect">
            <a:avLst/>
          </a:prstGeom>
          <a:noFill/>
        </p:spPr>
        <p:txBody>
          <a:bodyPr wrap="square" rtlCol="0">
            <a:spAutoFit/>
          </a:bodyPr>
          <a:lstStyle/>
          <a:p>
            <a:pPr algn="ctr"/>
            <a:r>
              <a:rPr lang="en-US" sz="3200" b="1" baseline="-25000" dirty="0"/>
              <a:t>Loss Function</a:t>
            </a:r>
          </a:p>
        </p:txBody>
      </p:sp>
      <p:sp>
        <p:nvSpPr>
          <p:cNvPr id="38" name="Title 1">
            <a:extLst>
              <a:ext uri="{FF2B5EF4-FFF2-40B4-BE49-F238E27FC236}">
                <a16:creationId xmlns:a16="http://schemas.microsoft.com/office/drawing/2014/main" id="{C9F301F8-CF74-46E8-BD38-E5394C076C22}"/>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The Backpropagation Algorithm</a:t>
            </a:r>
          </a:p>
        </p:txBody>
      </p:sp>
    </p:spTree>
    <p:extLst>
      <p:ext uri="{BB962C8B-B14F-4D97-AF65-F5344CB8AC3E}">
        <p14:creationId xmlns:p14="http://schemas.microsoft.com/office/powerpoint/2010/main" val="342623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8" grpId="0"/>
      <p:bldP spid="10" grpId="0"/>
      <p:bldP spid="11" grpId="0" animBg="1"/>
      <p:bldP spid="12" grpId="0"/>
      <p:bldP spid="13" grpId="0" animBg="1"/>
      <p:bldP spid="14" grpId="0"/>
      <p:bldP spid="17" grpId="0"/>
      <p:bldP spid="20" grpId="0"/>
      <p:bldP spid="21" grpId="0"/>
      <p:bldP spid="22" grpId="0"/>
      <p:bldP spid="23" grpId="0"/>
      <p:bldP spid="24" grpId="0" animBg="1"/>
      <p:bldP spid="25" grpId="0"/>
      <p:bldP spid="26" grpId="0" animBg="1"/>
      <p:bldP spid="27" grpId="0"/>
      <p:bldP spid="28" grpId="0" animBg="1"/>
      <p:bldP spid="29" grpId="0"/>
      <p:bldP spid="30" grpId="0" animBg="1"/>
      <p:bldP spid="31" grpId="0"/>
      <p:bldP spid="32" grpId="0"/>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457853" y="1107590"/>
                <a:ext cx="11525250" cy="5370903"/>
              </a:xfrm>
            </p:spPr>
            <p:txBody>
              <a:bodyPr/>
              <a:lstStyle/>
              <a:p>
                <a:pPr marL="0" indent="0">
                  <a:buNone/>
                </a:pPr>
                <a:r>
                  <a:rPr lang="en-US" sz="2800" dirty="0">
                    <a:latin typeface="+mn-lt"/>
                    <a:cs typeface="Segoe UI" panose="020B0502040204020203" pitchFamily="34" charset="0"/>
                  </a:rPr>
                  <a:t>To </a:t>
                </a:r>
                <a:r>
                  <a:rPr lang="en-US" sz="2800" b="1" dirty="0">
                    <a:latin typeface="+mn-lt"/>
                    <a:cs typeface="Segoe UI" panose="020B0502040204020203" pitchFamily="34" charset="0"/>
                  </a:rPr>
                  <a:t>learn model weight tensor </a:t>
                </a:r>
                <a:r>
                  <a:rPr lang="en-US" sz="2800" dirty="0">
                    <a:latin typeface="+mn-lt"/>
                    <a:cs typeface="Segoe UI" panose="020B0502040204020203" pitchFamily="34" charset="0"/>
                  </a:rPr>
                  <a:t>we must </a:t>
                </a:r>
                <a:r>
                  <a:rPr lang="en-US" sz="2800" b="1" dirty="0">
                    <a:latin typeface="+mn-lt"/>
                    <a:cs typeface="Segoe UI" panose="020B0502040204020203" pitchFamily="34" charset="0"/>
                  </a:rPr>
                  <a:t>minimize the loss function </a:t>
                </a:r>
                <a:r>
                  <a:rPr lang="en-US" sz="2800" dirty="0">
                    <a:latin typeface="+mn-lt"/>
                    <a:cs typeface="Segoe UI" panose="020B0502040204020203" pitchFamily="34" charset="0"/>
                  </a:rPr>
                  <a:t>using the </a:t>
                </a:r>
                <a:r>
                  <a:rPr lang="en-US" sz="2800" b="1" dirty="0">
                    <a:latin typeface="+mn-lt"/>
                    <a:cs typeface="Segoe UI" panose="020B0502040204020203" pitchFamily="34" charset="0"/>
                  </a:rPr>
                  <a:t>gradient:</a:t>
                </a:r>
              </a:p>
              <a:p>
                <a:pPr marL="0" indent="0">
                  <a:buNone/>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𝑊</m:t>
                          </m:r>
                        </m:e>
                        <m:sub>
                          <m:r>
                            <a:rPr lang="en-US" sz="2800" b="0" i="1" smtClean="0">
                              <a:latin typeface="Cambria Math" panose="02040503050406030204" pitchFamily="18" charset="0"/>
                              <a:cs typeface="Segoe UI" panose="020B0502040204020203" pitchFamily="34" charset="0"/>
                            </a:rPr>
                            <m:t>𝑡</m:t>
                          </m:r>
                          <m:r>
                            <a:rPr lang="en-US" sz="2800" b="0" i="1" smtClean="0">
                              <a:latin typeface="Cambria Math" panose="02040503050406030204" pitchFamily="18" charset="0"/>
                              <a:cs typeface="Segoe UI" panose="020B0502040204020203" pitchFamily="34" charset="0"/>
                            </a:rPr>
                            <m:t>+1</m:t>
                          </m:r>
                        </m:sub>
                      </m:sSub>
                      <m:r>
                        <a:rPr lang="en-US" sz="2800" b="0" i="1" smtClean="0">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𝑊</m:t>
                          </m:r>
                        </m:e>
                        <m:sub>
                          <m:r>
                            <a:rPr lang="en-US" sz="2800" b="0" i="1" smtClean="0">
                              <a:latin typeface="Cambria Math" panose="02040503050406030204" pitchFamily="18" charset="0"/>
                              <a:cs typeface="Segoe UI" panose="020B0502040204020203" pitchFamily="34" charset="0"/>
                            </a:rPr>
                            <m:t>𝑡</m:t>
                          </m:r>
                        </m:sub>
                      </m:sSub>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𝛼</m:t>
                      </m:r>
                      <m:sSub>
                        <m:sSub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sub>
                          <m:r>
                            <a:rPr lang="en-US" sz="2800" b="0" i="1" smtClean="0">
                              <a:latin typeface="Cambria Math" panose="02040503050406030204" pitchFamily="18" charset="0"/>
                              <a:ea typeface="Cambria Math" panose="02040503050406030204" pitchFamily="18" charset="0"/>
                              <a:cs typeface="Segoe UI" panose="020B0502040204020203" pitchFamily="34" charset="0"/>
                            </a:rPr>
                            <m:t>𝑤</m:t>
                          </m:r>
                        </m:sub>
                      </m:sSub>
                      <m:r>
                        <a:rPr lang="en-US" sz="2800" b="0" i="1" smtClean="0">
                          <a:latin typeface="Cambria Math" panose="02040503050406030204" pitchFamily="18" charset="0"/>
                          <a:ea typeface="Cambria Math" panose="02040503050406030204" pitchFamily="18" charset="0"/>
                          <a:cs typeface="Segoe UI" panose="020B0502040204020203" pitchFamily="34" charset="0"/>
                        </a:rPr>
                        <m:t>𝐿</m:t>
                      </m:r>
                      <m:d>
                        <m:d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dPr>
                        <m:e>
                          <m:sSub>
                            <m:sSub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ea typeface="Cambria Math" panose="02040503050406030204" pitchFamily="18" charset="0"/>
                                  <a:cs typeface="Segoe UI" panose="020B0502040204020203" pitchFamily="34" charset="0"/>
                                </a:rPr>
                                <m:t>𝑊</m:t>
                              </m:r>
                            </m:e>
                            <m:sub>
                              <m:r>
                                <a:rPr lang="en-US" sz="2800" b="0" i="1" smtClean="0">
                                  <a:latin typeface="Cambria Math" panose="02040503050406030204" pitchFamily="18" charset="0"/>
                                  <a:ea typeface="Cambria Math" panose="02040503050406030204" pitchFamily="18" charset="0"/>
                                  <a:cs typeface="Segoe UI" panose="020B0502040204020203" pitchFamily="34" charset="0"/>
                                </a:rPr>
                                <m:t>𝑡</m:t>
                              </m:r>
                            </m:sub>
                          </m:sSub>
                        </m:e>
                      </m:d>
                    </m:oMath>
                  </m:oMathPara>
                </a14:m>
                <a:endParaRPr lang="en-US" sz="2800" dirty="0">
                  <a:latin typeface="+mn-lt"/>
                  <a:ea typeface="Cambria Math" panose="02040503050406030204" pitchFamily="18" charset="0"/>
                  <a:cs typeface="Segoe UI" panose="020B0502040204020203" pitchFamily="34" charset="0"/>
                </a:endParaRPr>
              </a:p>
              <a:p>
                <a:pPr marL="0" indent="0">
                  <a:buNone/>
                </a:pPr>
                <a:r>
                  <a:rPr lang="en-US" sz="2800" dirty="0">
                    <a:latin typeface="+mn-lt"/>
                    <a:cs typeface="Segoe UI" panose="020B0502040204020203" pitchFamily="34" charset="0"/>
                  </a:rPr>
                  <a:t>Where:   </a:t>
                </a:r>
              </a:p>
              <a:p>
                <a:pPr marL="0" indent="0">
                  <a:buNone/>
                </a:pPr>
                <a14:m>
                  <m:oMath xmlns:m="http://schemas.openxmlformats.org/officeDocument/2006/math">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𝑊</m:t>
                        </m:r>
                      </m:e>
                      <m:sub>
                        <m:r>
                          <a:rPr lang="en-US" sz="2800" i="1">
                            <a:latin typeface="Cambria Math" panose="02040503050406030204" pitchFamily="18" charset="0"/>
                            <a:cs typeface="Segoe UI" panose="020B0502040204020203" pitchFamily="34" charset="0"/>
                          </a:rPr>
                          <m:t>𝑡</m:t>
                        </m:r>
                      </m:sub>
                    </m:sSub>
                    <m:r>
                      <a:rPr lang="en-US" sz="2800" b="0" i="0" smtClean="0">
                        <a:latin typeface="Cambria Math" panose="02040503050406030204" pitchFamily="18" charset="0"/>
                        <a:cs typeface="Segoe UI" panose="020B0502040204020203" pitchFamily="34" charset="0"/>
                      </a:rPr>
                      <m:t>=</m:t>
                    </m:r>
                  </m:oMath>
                </a14:m>
                <a:r>
                  <a:rPr lang="en-US" sz="2800" dirty="0">
                    <a:latin typeface="+mn-lt"/>
                    <a:cs typeface="Segoe UI" panose="020B0502040204020203" pitchFamily="34" charset="0"/>
                  </a:rPr>
                  <a:t> model </a:t>
                </a:r>
                <a:r>
                  <a:rPr lang="en-US" sz="2800" b="1" dirty="0">
                    <a:latin typeface="+mn-lt"/>
                    <a:cs typeface="Segoe UI" panose="020B0502040204020203" pitchFamily="34" charset="0"/>
                  </a:rPr>
                  <a:t>weight tensor</a:t>
                </a:r>
              </a:p>
              <a:p>
                <a:pPr marL="0" indent="0">
                  <a:buNone/>
                </a:pPr>
                <a14:m>
                  <m:oMath xmlns:m="http://schemas.openxmlformats.org/officeDocument/2006/math">
                    <m:r>
                      <a:rPr lang="en-US" sz="2800" i="1">
                        <a:latin typeface="Cambria Math" panose="02040503050406030204" pitchFamily="18" charset="0"/>
                        <a:ea typeface="Cambria Math" panose="02040503050406030204" pitchFamily="18" charset="0"/>
                        <a:cs typeface="Segoe UI" panose="020B0502040204020203" pitchFamily="34" charset="0"/>
                      </a:rPr>
                      <m:t>𝐿</m:t>
                    </m:r>
                    <m:d>
                      <m:dPr>
                        <m:ctrlPr>
                          <a:rPr lang="en-US" sz="2800" i="1">
                            <a:latin typeface="Cambria Math" panose="02040503050406030204" pitchFamily="18" charset="0"/>
                            <a:ea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𝑊</m:t>
                            </m:r>
                          </m:e>
                          <m:sub>
                            <m:r>
                              <a:rPr lang="en-US" sz="2800" i="1">
                                <a:latin typeface="Cambria Math" panose="02040503050406030204" pitchFamily="18" charset="0"/>
                                <a:ea typeface="Cambria Math" panose="02040503050406030204" pitchFamily="18" charset="0"/>
                                <a:cs typeface="Segoe UI" panose="020B0502040204020203" pitchFamily="34" charset="0"/>
                              </a:rPr>
                              <m:t>𝑡</m:t>
                            </m:r>
                          </m:sub>
                        </m:sSub>
                      </m:e>
                    </m:d>
                    <m:r>
                      <a:rPr lang="en-US" sz="2800" b="0"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sz="2800" dirty="0">
                    <a:latin typeface="+mn-lt"/>
                    <a:cs typeface="Segoe UI" panose="020B0502040204020203" pitchFamily="34" charset="0"/>
                  </a:rPr>
                  <a:t> </a:t>
                </a:r>
                <a:r>
                  <a:rPr lang="en-US" sz="2800" b="1" dirty="0">
                    <a:latin typeface="+mn-lt"/>
                    <a:cs typeface="Segoe UI" panose="020B0502040204020203" pitchFamily="34" charset="0"/>
                  </a:rPr>
                  <a:t>loss function </a:t>
                </a:r>
                <a:r>
                  <a:rPr lang="en-US" sz="2800" dirty="0">
                    <a:latin typeface="+mn-lt"/>
                    <a:cs typeface="Segoe UI" panose="020B0502040204020203" pitchFamily="34" charset="0"/>
                  </a:rPr>
                  <a:t>of model with weight tensor, </a:t>
                </a:r>
              </a:p>
              <a:p>
                <a:pPr marL="0" indent="0">
                  <a:buNone/>
                </a:pP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m:t>
                        </m:r>
                      </m:e>
                      <m:sub>
                        <m:r>
                          <a:rPr lang="en-US" sz="2800" i="1">
                            <a:latin typeface="Cambria Math" panose="02040503050406030204" pitchFamily="18" charset="0"/>
                            <a:ea typeface="Cambria Math" panose="02040503050406030204" pitchFamily="18" charset="0"/>
                            <a:cs typeface="Segoe UI" panose="020B0502040204020203" pitchFamily="34" charset="0"/>
                          </a:rPr>
                          <m:t>𝑤</m:t>
                        </m:r>
                      </m:sub>
                    </m:sSub>
                    <m:r>
                      <a:rPr lang="en-US" sz="2800" i="1">
                        <a:latin typeface="Cambria Math" panose="02040503050406030204" pitchFamily="18" charset="0"/>
                        <a:ea typeface="Cambria Math" panose="02040503050406030204" pitchFamily="18" charset="0"/>
                        <a:cs typeface="Segoe UI" panose="020B0502040204020203" pitchFamily="34" charset="0"/>
                      </a:rPr>
                      <m:t>𝐿</m:t>
                    </m:r>
                    <m:d>
                      <m:dPr>
                        <m:ctrlPr>
                          <a:rPr lang="en-US" sz="2800" i="1">
                            <a:latin typeface="Cambria Math" panose="02040503050406030204" pitchFamily="18" charset="0"/>
                            <a:ea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𝑊</m:t>
                            </m:r>
                          </m:e>
                          <m:sub>
                            <m:r>
                              <a:rPr lang="en-US" sz="2800" i="1">
                                <a:latin typeface="Cambria Math" panose="02040503050406030204" pitchFamily="18" charset="0"/>
                                <a:ea typeface="Cambria Math" panose="02040503050406030204" pitchFamily="18" charset="0"/>
                                <a:cs typeface="Segoe UI" panose="020B0502040204020203" pitchFamily="34" charset="0"/>
                              </a:rPr>
                              <m:t>𝑡</m:t>
                            </m:r>
                          </m:sub>
                        </m:sSub>
                      </m:e>
                    </m:d>
                    <m:r>
                      <a:rPr lang="en-US" sz="2800" b="0"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sz="2800" dirty="0">
                    <a:latin typeface="+mn-lt"/>
                    <a:cs typeface="Segoe UI" panose="020B0502040204020203" pitchFamily="34" charset="0"/>
                  </a:rPr>
                  <a:t> </a:t>
                </a:r>
                <a:r>
                  <a:rPr lang="en-US" sz="2800" b="1" dirty="0">
                    <a:latin typeface="+mn-lt"/>
                    <a:cs typeface="Segoe UI" panose="020B0502040204020203" pitchFamily="34" charset="0"/>
                  </a:rPr>
                  <a:t>gradient</a:t>
                </a:r>
                <a:r>
                  <a:rPr lang="en-US" sz="2800" dirty="0">
                    <a:latin typeface="+mn-lt"/>
                    <a:cs typeface="Segoe UI" panose="020B0502040204020203" pitchFamily="34" charset="0"/>
                  </a:rPr>
                  <a:t> of the loss function    </a:t>
                </a:r>
              </a:p>
              <a:p>
                <a:pPr marL="0" indent="0">
                  <a:buNone/>
                </a:pPr>
                <a14:m>
                  <m:oMath xmlns:m="http://schemas.openxmlformats.org/officeDocument/2006/math">
                    <m:r>
                      <a:rPr lang="en-US" sz="2800" i="1">
                        <a:latin typeface="Cambria Math" panose="02040503050406030204" pitchFamily="18" charset="0"/>
                        <a:ea typeface="Cambria Math" panose="02040503050406030204" pitchFamily="18" charset="0"/>
                        <a:cs typeface="Segoe UI" panose="020B0502040204020203" pitchFamily="34" charset="0"/>
                      </a:rPr>
                      <m:t>𝛼</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sz="2800" dirty="0">
                    <a:latin typeface="+mn-lt"/>
                    <a:cs typeface="Segoe UI" panose="020B0502040204020203" pitchFamily="34" charset="0"/>
                  </a:rPr>
                  <a:t> </a:t>
                </a:r>
                <a:r>
                  <a:rPr lang="en-US" sz="2800" b="1" dirty="0">
                    <a:latin typeface="+mn-lt"/>
                    <a:cs typeface="Segoe UI" panose="020B0502040204020203" pitchFamily="34" charset="0"/>
                  </a:rPr>
                  <a:t>learning rate</a:t>
                </a:r>
                <a:r>
                  <a:rPr lang="en-US" sz="2800" dirty="0">
                    <a:latin typeface="+mn-lt"/>
                    <a:cs typeface="Segoe UI" panose="020B0502040204020203" pitchFamily="34" charset="0"/>
                  </a:rPr>
                  <a:t>   </a:t>
                </a:r>
              </a:p>
            </p:txBody>
          </p:sp>
        </mc:Choice>
        <mc:Fallback xmlns="">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457853" y="1107590"/>
                <a:ext cx="11525250" cy="5370903"/>
              </a:xfrm>
              <a:blipFill>
                <a:blip r:embed="rId2"/>
                <a:stretch>
                  <a:fillRect l="-1058" t="-1135"/>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26B3970E-6909-4F67-A60E-FAEB97D150B7}"/>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The Backpropagation Algorithm</a:t>
            </a:r>
          </a:p>
        </p:txBody>
      </p:sp>
    </p:spTree>
    <p:extLst>
      <p:ext uri="{BB962C8B-B14F-4D97-AF65-F5344CB8AC3E}">
        <p14:creationId xmlns:p14="http://schemas.microsoft.com/office/powerpoint/2010/main" val="2333640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Back Propagation Algorithm</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0180727-EC5F-4A0C-9F60-538290E60081}"/>
                  </a:ext>
                </a:extLst>
              </p:cNvPr>
              <p:cNvSpPr>
                <a:spLocks noGrp="1"/>
              </p:cNvSpPr>
              <p:nvPr>
                <p:ph sz="quarter" idx="10"/>
              </p:nvPr>
            </p:nvSpPr>
            <p:spPr>
              <a:xfrm>
                <a:off x="379413" y="1388226"/>
                <a:ext cx="11525250" cy="4385045"/>
              </a:xfrm>
            </p:spPr>
            <p:txBody>
              <a:bodyPr/>
              <a:lstStyle/>
              <a:p>
                <a:pPr marL="0" indent="0">
                  <a:buNone/>
                </a:pPr>
                <a:r>
                  <a:rPr lang="en-US" sz="2800" dirty="0">
                    <a:latin typeface="+mn-lt"/>
                    <a:cs typeface="Segoe UI" panose="020B0502040204020203" pitchFamily="34" charset="0"/>
                  </a:rPr>
                  <a:t>Backpropagation is a </a:t>
                </a:r>
                <a:r>
                  <a:rPr lang="en-US" sz="2800" b="1" dirty="0">
                    <a:latin typeface="+mn-lt"/>
                    <a:cs typeface="Segoe UI" panose="020B0502040204020203" pitchFamily="34" charset="0"/>
                  </a:rPr>
                  <a:t>gradient decent algorithm</a:t>
                </a:r>
              </a:p>
              <a:p>
                <a:r>
                  <a:rPr lang="en-US" sz="2800" dirty="0">
                    <a:latin typeface="+mn-lt"/>
                    <a:cs typeface="Segoe UI" panose="020B0502040204020203" pitchFamily="34" charset="0"/>
                  </a:rPr>
                  <a:t>Weight updates are taken as small steps in the direction of the gradient of the loss function</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Cambria Math" panose="02040503050406030204" pitchFamily="18" charset="0"/>
                          <a:cs typeface="Segoe UI" panose="020B0502040204020203" pitchFamily="34" charset="0"/>
                        </a:rPr>
                        <m:t>𝛼</m:t>
                      </m:r>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m:t>
                          </m:r>
                        </m:e>
                        <m:sub>
                          <m:r>
                            <a:rPr lang="en-US" sz="2800" i="1">
                              <a:latin typeface="Cambria Math" panose="02040503050406030204" pitchFamily="18" charset="0"/>
                              <a:ea typeface="Cambria Math" panose="02040503050406030204" pitchFamily="18" charset="0"/>
                              <a:cs typeface="Segoe UI" panose="020B0502040204020203" pitchFamily="34" charset="0"/>
                            </a:rPr>
                            <m:t>𝑤</m:t>
                          </m:r>
                        </m:sub>
                      </m:sSub>
                      <m:r>
                        <a:rPr lang="en-US" sz="2800" i="1">
                          <a:latin typeface="Cambria Math" panose="02040503050406030204" pitchFamily="18" charset="0"/>
                          <a:ea typeface="Cambria Math" panose="02040503050406030204" pitchFamily="18" charset="0"/>
                          <a:cs typeface="Segoe UI" panose="020B0502040204020203" pitchFamily="34" charset="0"/>
                        </a:rPr>
                        <m:t>𝐿</m:t>
                      </m:r>
                      <m:d>
                        <m:dPr>
                          <m:ctrlPr>
                            <a:rPr lang="en-US" sz="2800" i="1">
                              <a:latin typeface="Cambria Math" panose="02040503050406030204" pitchFamily="18" charset="0"/>
                              <a:ea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𝑊</m:t>
                              </m:r>
                            </m:e>
                            <m:sub>
                              <m:r>
                                <a:rPr lang="en-US" sz="2800" i="1">
                                  <a:latin typeface="Cambria Math" panose="02040503050406030204" pitchFamily="18" charset="0"/>
                                  <a:ea typeface="Cambria Math" panose="02040503050406030204" pitchFamily="18" charset="0"/>
                                  <a:cs typeface="Segoe UI" panose="020B0502040204020203" pitchFamily="34" charset="0"/>
                                </a:rPr>
                                <m:t>𝑡</m:t>
                              </m:r>
                            </m:sub>
                          </m:sSub>
                        </m:e>
                      </m:d>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Backpropagation converges when the gradient is approximately 0</a:t>
                </a:r>
              </a:p>
              <a:p>
                <a:endParaRPr lang="en-US" sz="2800" dirty="0">
                  <a:latin typeface="Segoe UI" panose="020B0502040204020203" pitchFamily="34" charset="0"/>
                  <a:cs typeface="Segoe UI" panose="020B0502040204020203" pitchFamily="34" charset="0"/>
                </a:endParaRPr>
              </a:p>
            </p:txBody>
          </p:sp>
        </mc:Choice>
        <mc:Fallback xmlns="">
          <p:sp>
            <p:nvSpPr>
              <p:cNvPr id="4" name="Content Placeholder 3">
                <a:extLst>
                  <a:ext uri="{FF2B5EF4-FFF2-40B4-BE49-F238E27FC236}">
                    <a16:creationId xmlns:a16="http://schemas.microsoft.com/office/drawing/2014/main" id="{E0180727-EC5F-4A0C-9F60-538290E60081}"/>
                  </a:ext>
                </a:extLst>
              </p:cNvPr>
              <p:cNvSpPr>
                <a:spLocks noGrp="1" noRot="1" noChangeAspect="1" noMove="1" noResize="1" noEditPoints="1" noAdjustHandles="1" noChangeArrowheads="1" noChangeShapeType="1" noTextEdit="1"/>
              </p:cNvSpPr>
              <p:nvPr>
                <p:ph sz="quarter" idx="10"/>
              </p:nvPr>
            </p:nvSpPr>
            <p:spPr>
              <a:xfrm>
                <a:off x="379413" y="1388226"/>
                <a:ext cx="11525250" cy="4385045"/>
              </a:xfrm>
              <a:blipFill>
                <a:blip r:embed="rId2"/>
                <a:stretch>
                  <a:fillRect l="-1058" t="-1391"/>
                </a:stretch>
              </a:blipFill>
            </p:spPr>
            <p:txBody>
              <a:bodyPr/>
              <a:lstStyle/>
              <a:p>
                <a:r>
                  <a:rPr lang="en-US">
                    <a:noFill/>
                  </a:rPr>
                  <a:t> </a:t>
                </a:r>
              </a:p>
            </p:txBody>
          </p:sp>
        </mc:Fallback>
      </mc:AlternateContent>
    </p:spTree>
    <p:extLst>
      <p:ext uri="{BB962C8B-B14F-4D97-AF65-F5344CB8AC3E}">
        <p14:creationId xmlns:p14="http://schemas.microsoft.com/office/powerpoint/2010/main" val="267475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9611203" cy="2015419"/>
          </a:xfrm>
        </p:spPr>
        <p:txBody>
          <a:bodyPr>
            <a:normAutofit/>
          </a:bodyPr>
          <a:lstStyle/>
          <a:p>
            <a:r>
              <a:rPr lang="en-US" sz="4400" b="1" dirty="0"/>
              <a:t>Loss Functions</a:t>
            </a:r>
          </a:p>
        </p:txBody>
      </p:sp>
    </p:spTree>
    <p:extLst>
      <p:ext uri="{BB962C8B-B14F-4D97-AF65-F5344CB8AC3E}">
        <p14:creationId xmlns:p14="http://schemas.microsoft.com/office/powerpoint/2010/main" val="2931354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379514" y="1123301"/>
                <a:ext cx="11525250" cy="4910705"/>
              </a:xfrm>
            </p:spPr>
            <p:txBody>
              <a:bodyPr/>
              <a:lstStyle/>
              <a:p>
                <a:pPr marL="0" indent="0">
                  <a:buNone/>
                </a:pPr>
                <a:r>
                  <a:rPr lang="en-US" sz="2800" dirty="0">
                    <a:latin typeface="+mn-lt"/>
                    <a:cs typeface="Segoe UI" panose="020B0502040204020203" pitchFamily="34" charset="0"/>
                  </a:rPr>
                  <a:t>What are some choices for a classifier loss function, </a:t>
                </a:r>
                <a14:m>
                  <m:oMath xmlns:m="http://schemas.openxmlformats.org/officeDocument/2006/math">
                    <m:r>
                      <a:rPr lang="en-US" sz="2800" b="0" i="1" smtClean="0">
                        <a:latin typeface="Cambria Math" panose="02040503050406030204" pitchFamily="18" charset="0"/>
                        <a:cs typeface="Segoe UI" panose="020B0502040204020203" pitchFamily="34" charset="0"/>
                      </a:rPr>
                      <m:t>𝐿</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𝑊</m:t>
                    </m:r>
                    <m:r>
                      <a:rPr lang="en-US" sz="2800" b="0" i="1" smtClean="0">
                        <a:latin typeface="Cambria Math" panose="02040503050406030204" pitchFamily="18" charset="0"/>
                        <a:cs typeface="Segoe UI" panose="020B0502040204020203" pitchFamily="34" charset="0"/>
                      </a:rPr>
                      <m:t>)</m:t>
                    </m:r>
                  </m:oMath>
                </a14:m>
                <a:r>
                  <a:rPr lang="en-US" sz="2800" dirty="0">
                    <a:latin typeface="+mn-lt"/>
                    <a:cs typeface="Segoe UI" panose="020B0502040204020203" pitchFamily="34" charset="0"/>
                  </a:rPr>
                  <a:t>, given the weight tensor?</a:t>
                </a:r>
              </a:p>
              <a:p>
                <a:r>
                  <a:rPr lang="en-US" sz="2800" dirty="0">
                    <a:latin typeface="+mn-lt"/>
                    <a:cs typeface="Segoe UI" panose="020B0502040204020203" pitchFamily="34" charset="0"/>
                  </a:rPr>
                  <a:t>For regression problems use MSE or SSE</a:t>
                </a:r>
                <a:endParaRPr lang="en-US" sz="2800" b="1" dirty="0">
                  <a:latin typeface="+mn-lt"/>
                  <a:cs typeface="Segoe UI" panose="020B0502040204020203" pitchFamily="34" charset="0"/>
                </a:endParaRPr>
              </a:p>
              <a:p>
                <a:r>
                  <a:rPr lang="en-US" sz="2800" dirty="0">
                    <a:latin typeface="+mn-lt"/>
                    <a:cs typeface="Segoe UI" panose="020B0502040204020203" pitchFamily="34" charset="0"/>
                  </a:rPr>
                  <a:t>Which loss function should we use for classification problems?</a:t>
                </a:r>
              </a:p>
              <a:p>
                <a:pPr>
                  <a:buFont typeface="Wingdings" panose="05000000000000000000" pitchFamily="2" charset="2"/>
                  <a:buChar char="§"/>
                </a:pPr>
                <a:r>
                  <a:rPr lang="en-US" sz="2800" b="1" dirty="0">
                    <a:latin typeface="+mn-lt"/>
                    <a:cs typeface="Segoe UI" panose="020B0502040204020203" pitchFamily="34" charset="0"/>
                  </a:rPr>
                  <a:t>Cross entropy </a:t>
                </a:r>
                <a:r>
                  <a:rPr lang="en-US" sz="2800" dirty="0">
                    <a:latin typeface="+mn-lt"/>
                    <a:cs typeface="Segoe UI" panose="020B0502040204020203" pitchFamily="34" charset="0"/>
                  </a:rPr>
                  <a:t>is a good choice for classifiers, but is a bit abstract</a:t>
                </a:r>
              </a:p>
            </p:txBody>
          </p:sp>
        </mc:Choice>
        <mc:Fallback xmlns="">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379514" y="1123301"/>
                <a:ext cx="11525250" cy="4910705"/>
              </a:xfrm>
              <a:blipFill>
                <a:blip r:embed="rId2"/>
                <a:stretch>
                  <a:fillRect l="-1058" t="-1117"/>
                </a:stretch>
              </a:blipFill>
            </p:spPr>
            <p:txBody>
              <a:bodyPr/>
              <a:lstStyle/>
              <a:p>
                <a:r>
                  <a:rPr lang="en-US">
                    <a:noFill/>
                  </a:rPr>
                  <a:t> </a:t>
                </a:r>
              </a:p>
            </p:txBody>
          </p:sp>
        </mc:Fallback>
      </mc:AlternateContent>
    </p:spTree>
    <p:extLst>
      <p:ext uri="{BB962C8B-B14F-4D97-AF65-F5344CB8AC3E}">
        <p14:creationId xmlns:p14="http://schemas.microsoft.com/office/powerpoint/2010/main" val="108533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a:xfrm>
            <a:off x="379514" y="222480"/>
            <a:ext cx="11524432" cy="1023222"/>
          </a:xfrm>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379514" y="1094502"/>
                <a:ext cx="11525250" cy="5672058"/>
              </a:xfrm>
            </p:spPr>
            <p:txBody>
              <a:bodyPr/>
              <a:lstStyle/>
              <a:p>
                <a:pPr marL="0" indent="0">
                  <a:buNone/>
                </a:pPr>
                <a:r>
                  <a:rPr lang="en-US" sz="2800" dirty="0">
                    <a:latin typeface="+mn-lt"/>
                    <a:cs typeface="Segoe UI" panose="020B0502040204020203" pitchFamily="34" charset="0"/>
                  </a:rPr>
                  <a:t>What is </a:t>
                </a:r>
                <a:r>
                  <a:rPr lang="en-US" sz="2800" b="1" dirty="0">
                    <a:latin typeface="+mn-lt"/>
                    <a:cs typeface="Segoe UI" panose="020B0502040204020203" pitchFamily="34" charset="0"/>
                  </a:rPr>
                  <a:t> Shannon Entropy</a:t>
                </a:r>
                <a:r>
                  <a:rPr lang="en-US" sz="2800" dirty="0">
                    <a:latin typeface="+mn-lt"/>
                    <a:cs typeface="Segoe UI" panose="020B0502040204020203" pitchFamily="34" charset="0"/>
                  </a:rPr>
                  <a:t>?</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𝐻</m:t>
                      </m:r>
                      <m:d>
                        <m:dPr>
                          <m:ctrlPr>
                            <a:rPr lang="en-US" sz="280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𝐸</m:t>
                      </m:r>
                      <m:d>
                        <m:dPr>
                          <m:begChr m:val="["/>
                          <m:endChr m:val="]"/>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𝐼</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e>
                      </m:d>
                    </m:oMath>
                  </m:oMathPara>
                </a14:m>
                <a:endParaRPr lang="en-US" sz="2800" dirty="0">
                  <a:latin typeface="+mn-lt"/>
                  <a:cs typeface="Segoe UI" panose="020B0502040204020203" pitchFamily="34" charset="0"/>
                </a:endParaRPr>
              </a:p>
              <a:p>
                <a:pPr marL="0" indent="0">
                  <a:buNone/>
                </a:pPr>
                <a:r>
                  <a:rPr lang="en-US" sz="2800" dirty="0">
                    <a:latin typeface="+mn-lt"/>
                    <a:cs typeface="Segoe UI" panose="020B0502040204020203" pitchFamily="34" charset="0"/>
                  </a:rPr>
                  <a:t>Where, </a:t>
                </a:r>
              </a:p>
              <a:p>
                <a:pPr marL="399915" lvl="1" indent="0">
                  <a:buNone/>
                </a:pPr>
                <a14:m>
                  <m:oMath xmlns:m="http://schemas.openxmlformats.org/officeDocument/2006/math">
                    <m:r>
                      <a:rPr lang="en-US" sz="2400" i="1">
                        <a:latin typeface="Cambria Math" panose="02040503050406030204" pitchFamily="18" charset="0"/>
                        <a:cs typeface="Segoe UI" panose="020B0502040204020203" pitchFamily="34" charset="0"/>
                      </a:rPr>
                      <m:t>𝐸</m:t>
                    </m:r>
                    <m:d>
                      <m:dPr>
                        <m:begChr m:val="["/>
                        <m:endChr m:val="]"/>
                        <m:ctrlPr>
                          <a:rPr lang="en-US" sz="2400" i="1">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𝑋</m:t>
                        </m:r>
                      </m:e>
                    </m:d>
                    <m:r>
                      <a:rPr lang="en-US" sz="2400" b="0" i="1" smtClean="0">
                        <a:latin typeface="Cambria Math" panose="02040503050406030204" pitchFamily="18" charset="0"/>
                        <a:cs typeface="Segoe UI" panose="020B0502040204020203" pitchFamily="34" charset="0"/>
                      </a:rPr>
                      <m:t>=</m:t>
                    </m:r>
                  </m:oMath>
                </a14:m>
                <a:r>
                  <a:rPr lang="en-US" sz="2400" dirty="0">
                    <a:latin typeface="+mn-lt"/>
                    <a:cs typeface="Segoe UI" panose="020B0502040204020203" pitchFamily="34" charset="0"/>
                  </a:rPr>
                  <a:t> Expected value of </a:t>
                </a:r>
                <a14:m>
                  <m:oMath xmlns:m="http://schemas.openxmlformats.org/officeDocument/2006/math">
                    <m:r>
                      <a:rPr lang="en-US" sz="2400" b="0" i="1" smtClean="0">
                        <a:latin typeface="Cambria Math" panose="02040503050406030204" pitchFamily="18" charset="0"/>
                        <a:cs typeface="Segoe UI" panose="020B0502040204020203" pitchFamily="34" charset="0"/>
                      </a:rPr>
                      <m:t>𝑋</m:t>
                    </m:r>
                  </m:oMath>
                </a14:m>
                <a:endParaRPr lang="en-US" sz="2400" dirty="0">
                  <a:latin typeface="+mn-lt"/>
                  <a:cs typeface="Segoe UI" panose="020B0502040204020203" pitchFamily="34" charset="0"/>
                </a:endParaRPr>
              </a:p>
              <a:p>
                <a:pPr marL="399915" lvl="1" indent="0">
                  <a:buNone/>
                </a:pPr>
                <a14:m>
                  <m:oMath xmlns:m="http://schemas.openxmlformats.org/officeDocument/2006/math">
                    <m:r>
                      <a:rPr lang="en-US" sz="2400" b="0" i="1" smtClean="0">
                        <a:latin typeface="Cambria Math" panose="02040503050406030204" pitchFamily="18" charset="0"/>
                        <a:cs typeface="Segoe UI" panose="020B0502040204020203" pitchFamily="34" charset="0"/>
                      </a:rPr>
                      <m:t>𝐼</m:t>
                    </m:r>
                    <m:d>
                      <m:dPr>
                        <m:ctrlPr>
                          <a:rPr lang="en-US" sz="2400" b="0" i="1" smtClean="0">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𝑋</m:t>
                        </m:r>
                      </m:e>
                    </m:d>
                    <m:r>
                      <a:rPr lang="en-US" sz="2400" b="0" i="1" smtClean="0">
                        <a:latin typeface="Cambria Math" panose="02040503050406030204" pitchFamily="18" charset="0"/>
                        <a:cs typeface="Segoe UI" panose="020B0502040204020203" pitchFamily="34" charset="0"/>
                      </a:rPr>
                      <m:t>=</m:t>
                    </m:r>
                  </m:oMath>
                </a14:m>
                <a:r>
                  <a:rPr lang="en-US" sz="2400" dirty="0">
                    <a:latin typeface="+mn-lt"/>
                    <a:cs typeface="Segoe UI" panose="020B0502040204020203" pitchFamily="34" charset="0"/>
                  </a:rPr>
                  <a:t> Information content of </a:t>
                </a:r>
                <a14:m>
                  <m:oMath xmlns:m="http://schemas.openxmlformats.org/officeDocument/2006/math">
                    <m:r>
                      <a:rPr lang="en-US" sz="2400" b="0" i="1" smtClean="0">
                        <a:latin typeface="Cambria Math" panose="02040503050406030204" pitchFamily="18" charset="0"/>
                        <a:cs typeface="Segoe UI" panose="020B0502040204020203" pitchFamily="34" charset="0"/>
                      </a:rPr>
                      <m:t>𝑋</m:t>
                    </m:r>
                  </m:oMath>
                </a14:m>
                <a:endParaRPr lang="en-US" sz="2400" dirty="0">
                  <a:latin typeface="+mn-lt"/>
                  <a:cs typeface="Segoe UI" panose="020B0502040204020203" pitchFamily="34" charset="0"/>
                </a:endParaRPr>
              </a:p>
              <a:p>
                <a:pPr marL="0" indent="0">
                  <a:buNone/>
                </a:pPr>
                <a:r>
                  <a:rPr lang="en-US" sz="2800" dirty="0">
                    <a:latin typeface="+mn-lt"/>
                    <a:cs typeface="Segoe UI" panose="020B0502040204020203" pitchFamily="34" charset="0"/>
                  </a:rPr>
                  <a:t>We are working with probability distributions, therefore</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𝐻</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𝐸</m:t>
                      </m:r>
                      <m:d>
                        <m:dPr>
                          <m:begChr m:val="["/>
                          <m:endChr m:val="]"/>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m:t>
                          </m:r>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𝑙𝑛</m:t>
                              </m:r>
                            </m:e>
                            <m:sub>
                              <m:r>
                                <a:rPr lang="en-US" sz="2800" b="0" i="1" smtClean="0">
                                  <a:latin typeface="Cambria Math" panose="02040503050406030204" pitchFamily="18" charset="0"/>
                                  <a:cs typeface="Segoe UI" panose="020B0502040204020203" pitchFamily="34" charset="0"/>
                                </a:rPr>
                                <m:t>𝑏</m:t>
                              </m:r>
                            </m:sub>
                          </m:sSub>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e>
                          </m:d>
                        </m:e>
                      </m:d>
                      <m:r>
                        <a:rPr lang="en-US" sz="2800" b="0" i="1" smtClean="0">
                          <a:latin typeface="Cambria Math" panose="02040503050406030204" pitchFamily="18" charset="0"/>
                          <a:cs typeface="Segoe UI" panose="020B0502040204020203" pitchFamily="34" charset="0"/>
                        </a:rPr>
                        <m:t>=−</m:t>
                      </m:r>
                      <m:nary>
                        <m:naryPr>
                          <m:chr m:val="∑"/>
                          <m:ctrlPr>
                            <a:rPr lang="en-US" sz="2800" b="0" i="1" smtClean="0">
                              <a:latin typeface="Cambria Math" panose="02040503050406030204" pitchFamily="18" charset="0"/>
                              <a:cs typeface="Segoe UI" panose="020B0502040204020203" pitchFamily="34" charset="0"/>
                            </a:rPr>
                          </m:ctrlPr>
                        </m:naryPr>
                        <m:sub>
                          <m:r>
                            <m:rPr>
                              <m:brk m:alnAt="23"/>
                            </m:rPr>
                            <a:rPr lang="en-US" sz="2800" b="0" i="1" smtClean="0">
                              <a:latin typeface="Cambria Math" panose="02040503050406030204" pitchFamily="18" charset="0"/>
                              <a:cs typeface="Segoe UI" panose="020B0502040204020203" pitchFamily="34" charset="0"/>
                            </a:rPr>
                            <m:t>𝑖</m:t>
                          </m:r>
                          <m:r>
                            <a:rPr lang="en-US" sz="2800" b="0" i="1" smtClean="0">
                              <a:latin typeface="Cambria Math" panose="02040503050406030204" pitchFamily="18" charset="0"/>
                              <a:cs typeface="Segoe UI" panose="020B0502040204020203" pitchFamily="34" charset="0"/>
                            </a:rPr>
                            <m:t>=1</m:t>
                          </m:r>
                        </m:sub>
                        <m:sup>
                          <m:r>
                            <a:rPr lang="en-US" sz="2800" b="0" i="1" smtClean="0">
                              <a:latin typeface="Cambria Math" panose="02040503050406030204" pitchFamily="18" charset="0"/>
                              <a:cs typeface="Segoe UI" panose="020B0502040204020203" pitchFamily="34" charset="0"/>
                            </a:rPr>
                            <m:t>𝑛</m:t>
                          </m:r>
                        </m:sup>
                        <m:e>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e>
                          </m:d>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𝑙𝑛</m:t>
                              </m:r>
                            </m:e>
                            <m:sub>
                              <m:r>
                                <a:rPr lang="en-US" sz="2800" b="0" i="1" smtClean="0">
                                  <a:latin typeface="Cambria Math" panose="02040503050406030204" pitchFamily="18" charset="0"/>
                                  <a:cs typeface="Segoe UI" panose="020B0502040204020203" pitchFamily="34" charset="0"/>
                                </a:rPr>
                                <m:t>𝑏</m:t>
                              </m:r>
                            </m:sub>
                          </m:sSub>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e>
                              </m:d>
                            </m:e>
                          </m:d>
                        </m:e>
                      </m:nary>
                    </m:oMath>
                  </m:oMathPara>
                </a14:m>
                <a:endParaRPr lang="en-US" sz="2800" dirty="0">
                  <a:latin typeface="+mn-lt"/>
                  <a:cs typeface="Segoe UI" panose="020B0502040204020203" pitchFamily="34" charset="0"/>
                </a:endParaRPr>
              </a:p>
              <a:p>
                <a:pPr marL="0" indent="0">
                  <a:buNone/>
                </a:pPr>
                <a:r>
                  <a:rPr lang="en-US" sz="2800" dirty="0">
                    <a:latin typeface="+mn-lt"/>
                    <a:cs typeface="Segoe UI" panose="020B0502040204020203" pitchFamily="34" charset="0"/>
                  </a:rPr>
                  <a:t>And,</a:t>
                </a:r>
              </a:p>
              <a:p>
                <a:pPr marL="399915" lvl="1" indent="0">
                  <a:buNone/>
                </a:pPr>
                <a14:m>
                  <m:oMath xmlns:m="http://schemas.openxmlformats.org/officeDocument/2006/math">
                    <m:r>
                      <a:rPr lang="en-US" sz="2400" b="0" i="1" smtClean="0">
                        <a:latin typeface="Cambria Math" panose="02040503050406030204" pitchFamily="18" charset="0"/>
                        <a:cs typeface="Segoe UI" panose="020B0502040204020203" pitchFamily="34" charset="0"/>
                      </a:rPr>
                      <m:t>𝑃</m:t>
                    </m:r>
                    <m:d>
                      <m:dPr>
                        <m:ctrlPr>
                          <a:rPr lang="en-US" sz="2400" b="0" i="1" smtClean="0">
                            <a:latin typeface="Cambria Math" panose="02040503050406030204" pitchFamily="18" charset="0"/>
                            <a:cs typeface="Segoe UI" panose="020B0502040204020203" pitchFamily="34" charset="0"/>
                          </a:rPr>
                        </m:ctrlPr>
                      </m:dPr>
                      <m:e>
                        <m:r>
                          <a:rPr lang="en-US" sz="2400" b="0" i="1" smtClean="0">
                            <a:latin typeface="Cambria Math" panose="02040503050406030204" pitchFamily="18" charset="0"/>
                            <a:cs typeface="Segoe UI" panose="020B0502040204020203" pitchFamily="34" charset="0"/>
                          </a:rPr>
                          <m:t>𝑋</m:t>
                        </m:r>
                      </m:e>
                    </m:d>
                    <m:r>
                      <a:rPr lang="en-US" sz="2400" b="0" i="1" smtClean="0">
                        <a:latin typeface="Cambria Math" panose="02040503050406030204" pitchFamily="18" charset="0"/>
                        <a:cs typeface="Segoe UI" panose="020B0502040204020203" pitchFamily="34" charset="0"/>
                      </a:rPr>
                      <m:t>=</m:t>
                    </m:r>
                  </m:oMath>
                </a14:m>
                <a:r>
                  <a:rPr lang="en-US" sz="2400" dirty="0">
                    <a:latin typeface="+mn-lt"/>
                    <a:cs typeface="Segoe UI" panose="020B0502040204020203" pitchFamily="34" charset="0"/>
                  </a:rPr>
                  <a:t> probability of </a:t>
                </a:r>
                <a14:m>
                  <m:oMath xmlns:m="http://schemas.openxmlformats.org/officeDocument/2006/math">
                    <m:r>
                      <a:rPr lang="en-US" sz="2400" i="1">
                        <a:latin typeface="Cambria Math" panose="02040503050406030204" pitchFamily="18" charset="0"/>
                        <a:cs typeface="Segoe UI" panose="020B0502040204020203" pitchFamily="34" charset="0"/>
                      </a:rPr>
                      <m:t>𝑋</m:t>
                    </m:r>
                  </m:oMath>
                </a14:m>
                <a:endParaRPr lang="en-US" sz="2400" dirty="0">
                  <a:latin typeface="+mn-lt"/>
                  <a:cs typeface="Segoe UI" panose="020B0502040204020203" pitchFamily="34" charset="0"/>
                </a:endParaRPr>
              </a:p>
              <a:p>
                <a:pPr marL="399915" lvl="1" indent="0">
                  <a:buNone/>
                </a:pPr>
                <a14:m>
                  <m:oMath xmlns:m="http://schemas.openxmlformats.org/officeDocument/2006/math">
                    <m:r>
                      <a:rPr lang="en-US" sz="2400" b="0" i="1" smtClean="0">
                        <a:latin typeface="Cambria Math" panose="02040503050406030204" pitchFamily="18" charset="0"/>
                        <a:cs typeface="Segoe UI" panose="020B0502040204020203" pitchFamily="34" charset="0"/>
                      </a:rPr>
                      <m:t>𝑏</m:t>
                    </m:r>
                    <m:r>
                      <a:rPr lang="en-US" sz="2400" b="0" i="1" smtClean="0">
                        <a:latin typeface="Cambria Math" panose="02040503050406030204" pitchFamily="18" charset="0"/>
                        <a:cs typeface="Segoe UI" panose="020B0502040204020203" pitchFamily="34" charset="0"/>
                      </a:rPr>
                      <m:t>=</m:t>
                    </m:r>
                  </m:oMath>
                </a14:m>
                <a:r>
                  <a:rPr lang="en-US" sz="2400" dirty="0">
                    <a:latin typeface="+mn-lt"/>
                    <a:cs typeface="Segoe UI" panose="020B0502040204020203" pitchFamily="34" charset="0"/>
                  </a:rPr>
                  <a:t> base of the logarithm, often in bits, </a:t>
                </a:r>
                <a14:m>
                  <m:oMath xmlns:m="http://schemas.openxmlformats.org/officeDocument/2006/math">
                    <m:r>
                      <a:rPr lang="en-US" sz="2400" b="0" i="1" smtClean="0">
                        <a:latin typeface="Cambria Math" panose="02040503050406030204" pitchFamily="18" charset="0"/>
                        <a:cs typeface="Segoe UI" panose="020B0502040204020203" pitchFamily="34" charset="0"/>
                      </a:rPr>
                      <m:t>𝑏</m:t>
                    </m:r>
                    <m:r>
                      <a:rPr lang="en-US" sz="2400" b="0" i="1" smtClean="0">
                        <a:latin typeface="Cambria Math" panose="02040503050406030204" pitchFamily="18" charset="0"/>
                        <a:cs typeface="Segoe UI" panose="020B0502040204020203" pitchFamily="34" charset="0"/>
                      </a:rPr>
                      <m:t>=2</m:t>
                    </m:r>
                  </m:oMath>
                </a14:m>
                <a:endParaRPr lang="en-US" sz="2400" dirty="0">
                  <a:latin typeface="+mn-lt"/>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379514" y="1094502"/>
                <a:ext cx="11525250" cy="5672058"/>
              </a:xfrm>
              <a:blipFill>
                <a:blip r:embed="rId3"/>
                <a:stretch>
                  <a:fillRect l="-1058" t="-1075" b="-2043"/>
                </a:stretch>
              </a:blipFill>
            </p:spPr>
            <p:txBody>
              <a:bodyPr/>
              <a:lstStyle/>
              <a:p>
                <a:r>
                  <a:rPr lang="en-US">
                    <a:noFill/>
                  </a:rPr>
                  <a:t> </a:t>
                </a:r>
              </a:p>
            </p:txBody>
          </p:sp>
        </mc:Fallback>
      </mc:AlternateContent>
    </p:spTree>
    <p:extLst>
      <p:ext uri="{BB962C8B-B14F-4D97-AF65-F5344CB8AC3E}">
        <p14:creationId xmlns:p14="http://schemas.microsoft.com/office/powerpoint/2010/main" val="196104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514" y="182216"/>
            <a:ext cx="11524432" cy="684338"/>
          </a:xfrm>
        </p:spPr>
        <p:txBody>
          <a:bodyPr/>
          <a:lstStyle/>
          <a:p>
            <a:r>
              <a:rPr lang="en-US" dirty="0">
                <a:latin typeface="Segoe UI Emoji" panose="020B0502040204020203" pitchFamily="34" charset="0"/>
                <a:ea typeface="Segoe UI Emoji" panose="020B0502040204020203" pitchFamily="34" charset="0"/>
              </a:rPr>
              <a:t>Loss Functions for Training Neural Networks </a:t>
            </a:r>
          </a:p>
        </p:txBody>
      </p:sp>
      <p:pic>
        <p:nvPicPr>
          <p:cNvPr id="5" name="Picture 4" descr="Screen Shot 2016-03-21 at 2.13.30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3964" y="1163648"/>
            <a:ext cx="6438900" cy="5003800"/>
          </a:xfrm>
          <a:prstGeom prst="rect">
            <a:avLst/>
          </a:prstGeom>
        </p:spPr>
      </p:pic>
      <p:sp>
        <p:nvSpPr>
          <p:cNvPr id="6" name="TextBox 5"/>
          <p:cNvSpPr txBox="1"/>
          <p:nvPr/>
        </p:nvSpPr>
        <p:spPr>
          <a:xfrm>
            <a:off x="8278607" y="6095271"/>
            <a:ext cx="2049810" cy="523220"/>
          </a:xfrm>
          <a:prstGeom prst="rect">
            <a:avLst/>
          </a:prstGeom>
          <a:noFill/>
        </p:spPr>
        <p:txBody>
          <a:bodyPr wrap="none" rtlCol="0">
            <a:spAutoFit/>
          </a:bodyPr>
          <a:lstStyle/>
          <a:p>
            <a:r>
              <a:rPr lang="en-US" sz="2800" dirty="0"/>
              <a:t>Probability p</a:t>
            </a:r>
          </a:p>
        </p:txBody>
      </p:sp>
      <p:sp>
        <p:nvSpPr>
          <p:cNvPr id="7" name="TextBox 6"/>
          <p:cNvSpPr txBox="1"/>
          <p:nvPr/>
        </p:nvSpPr>
        <p:spPr>
          <a:xfrm rot="16200000">
            <a:off x="4205442" y="3108224"/>
            <a:ext cx="2418350" cy="523220"/>
          </a:xfrm>
          <a:prstGeom prst="rect">
            <a:avLst/>
          </a:prstGeom>
          <a:noFill/>
        </p:spPr>
        <p:txBody>
          <a:bodyPr wrap="none" rtlCol="0">
            <a:spAutoFit/>
          </a:bodyPr>
          <a:lstStyle/>
          <a:p>
            <a:r>
              <a:rPr lang="en-US" sz="2800" dirty="0"/>
              <a:t>Entropy [p,1-p]</a:t>
            </a:r>
          </a:p>
        </p:txBody>
      </p:sp>
      <p:sp>
        <p:nvSpPr>
          <p:cNvPr id="8" name="Content Placeholder 2">
            <a:extLst>
              <a:ext uri="{FF2B5EF4-FFF2-40B4-BE49-F238E27FC236}">
                <a16:creationId xmlns:a16="http://schemas.microsoft.com/office/drawing/2014/main" id="{9EA42095-05EE-4832-A43A-F055BF586E26}"/>
              </a:ext>
            </a:extLst>
          </p:cNvPr>
          <p:cNvSpPr>
            <a:spLocks noGrp="1"/>
          </p:cNvSpPr>
          <p:nvPr>
            <p:ph sz="quarter" idx="10"/>
          </p:nvPr>
        </p:nvSpPr>
        <p:spPr>
          <a:xfrm>
            <a:off x="240317" y="1421238"/>
            <a:ext cx="4864953" cy="4746209"/>
          </a:xfrm>
        </p:spPr>
        <p:txBody>
          <a:bodyPr/>
          <a:lstStyle/>
          <a:p>
            <a:pPr marL="0" indent="0">
              <a:buNone/>
            </a:pPr>
            <a:r>
              <a:rPr lang="en-US" sz="2800" dirty="0">
                <a:latin typeface="+mn-lt"/>
              </a:rPr>
              <a:t>Entropy changes with the probability of an event</a:t>
            </a:r>
          </a:p>
          <a:p>
            <a:r>
              <a:rPr lang="en-US" sz="2800" dirty="0">
                <a:latin typeface="+mn-lt"/>
              </a:rPr>
              <a:t>Example binary variable:</a:t>
            </a:r>
          </a:p>
          <a:p>
            <a:r>
              <a:rPr lang="en-US" sz="2800" dirty="0">
                <a:latin typeface="+mn-lt"/>
              </a:rPr>
              <a:t>Max entropy when max uncertainty, </a:t>
            </a:r>
            <a:br>
              <a:rPr lang="en-US" sz="2800" dirty="0">
                <a:latin typeface="+mn-lt"/>
              </a:rPr>
            </a:br>
            <a:r>
              <a:rPr lang="en-US" sz="2800" dirty="0">
                <a:latin typeface="+mn-lt"/>
              </a:rPr>
              <a:t>p = 0.5 – can’t predict next event</a:t>
            </a:r>
          </a:p>
          <a:p>
            <a:r>
              <a:rPr lang="en-US" sz="2800" dirty="0">
                <a:latin typeface="+mn-lt"/>
              </a:rPr>
              <a:t>Min entropy when certainty, p = [0,1] – no uncertainty about next event</a:t>
            </a:r>
          </a:p>
        </p:txBody>
      </p:sp>
    </p:spTree>
    <p:extLst>
      <p:ext uri="{BB962C8B-B14F-4D97-AF65-F5344CB8AC3E}">
        <p14:creationId xmlns:p14="http://schemas.microsoft.com/office/powerpoint/2010/main" val="370580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379514" y="1094502"/>
                <a:ext cx="11525250" cy="5489178"/>
              </a:xfrm>
            </p:spPr>
            <p:txBody>
              <a:bodyPr/>
              <a:lstStyle/>
              <a:p>
                <a:pPr marL="0" indent="0">
                  <a:buNone/>
                </a:pPr>
                <a:r>
                  <a:rPr lang="en-US" sz="2800" dirty="0">
                    <a:latin typeface="+mn-lt"/>
                    <a:cs typeface="Segoe UI" panose="020B0502040204020203" pitchFamily="34" charset="0"/>
                  </a:rPr>
                  <a:t>We need to measure the difference between the distribution of our function approximation and the distribution of the data </a:t>
                </a:r>
              </a:p>
              <a:p>
                <a:r>
                  <a:rPr lang="en-US" sz="2800" dirty="0">
                    <a:latin typeface="+mn-lt"/>
                    <a:cs typeface="Segoe UI" panose="020B0502040204020203" pitchFamily="34" charset="0"/>
                  </a:rPr>
                  <a:t>The </a:t>
                </a:r>
                <a:r>
                  <a:rPr lang="en-US" sz="2800" b="1" dirty="0" err="1">
                    <a:latin typeface="+mn-lt"/>
                    <a:cs typeface="Segoe UI" panose="020B0502040204020203" pitchFamily="34" charset="0"/>
                  </a:rPr>
                  <a:t>Kullback-Leibler</a:t>
                </a:r>
                <a:r>
                  <a:rPr lang="en-US" sz="2800" b="1" dirty="0">
                    <a:latin typeface="+mn-lt"/>
                    <a:cs typeface="Segoe UI" panose="020B0502040204020203" pitchFamily="34" charset="0"/>
                  </a:rPr>
                  <a:t> divergence </a:t>
                </a:r>
                <a:r>
                  <a:rPr lang="en-US" sz="2800" dirty="0">
                    <a:latin typeface="+mn-lt"/>
                    <a:cs typeface="Segoe UI" panose="020B0502040204020203" pitchFamily="34" charset="0"/>
                  </a:rPr>
                  <a:t>between</a:t>
                </a:r>
                <a:r>
                  <a:rPr lang="en-US" sz="2800" b="1" dirty="0">
                    <a:latin typeface="+mn-lt"/>
                    <a:cs typeface="Segoe UI" panose="020B0502040204020203" pitchFamily="34" charset="0"/>
                  </a:rPr>
                  <a:t> two distributions P(X) and Q(X) </a:t>
                </a:r>
                <a:r>
                  <a:rPr lang="en-US" sz="2800" dirty="0">
                    <a:latin typeface="+mn-lt"/>
                    <a:cs typeface="Segoe UI" panose="020B0502040204020203" pitchFamily="34" charset="0"/>
                  </a:rPr>
                  <a:t>is such a measure</a:t>
                </a:r>
                <a:r>
                  <a:rPr lang="en-US" sz="2800" b="1" dirty="0">
                    <a:latin typeface="+mn-lt"/>
                    <a:cs typeface="Segoe UI" panose="020B0502040204020203" pitchFamily="34" charset="0"/>
                  </a:rPr>
                  <a:t>:</a:t>
                </a:r>
              </a:p>
              <a:p>
                <a:pPr marL="0" indent="0">
                  <a:buNone/>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𝐷</m:t>
                          </m:r>
                        </m:e>
                        <m:sub>
                          <m:r>
                            <a:rPr lang="en-US" sz="2800" b="0" i="1" smtClean="0">
                              <a:latin typeface="Cambria Math" panose="02040503050406030204" pitchFamily="18" charset="0"/>
                              <a:cs typeface="Segoe UI" panose="020B0502040204020203" pitchFamily="34" charset="0"/>
                            </a:rPr>
                            <m:t>𝐾𝐿</m:t>
                          </m:r>
                        </m:sub>
                      </m:sSub>
                      <m:d>
                        <m:dPr>
                          <m:ctrlPr>
                            <a:rPr lang="en-US" sz="280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nary>
                        <m:naryPr>
                          <m:chr m:val="∑"/>
                          <m:ctrlPr>
                            <a:rPr lang="en-US" sz="2800" i="1" smtClean="0">
                              <a:latin typeface="Cambria Math" panose="02040503050406030204" pitchFamily="18" charset="0"/>
                              <a:cs typeface="Segoe UI" panose="020B0502040204020203" pitchFamily="34" charset="0"/>
                            </a:rPr>
                          </m:ctrlPr>
                        </m:naryPr>
                        <m:sub>
                          <m:r>
                            <m:rPr>
                              <m:brk m:alnAt="23"/>
                            </m:rPr>
                            <a:rPr lang="en-US" sz="2800" b="0" i="1" smtClean="0">
                              <a:latin typeface="Cambria Math" panose="02040503050406030204" pitchFamily="18" charset="0"/>
                              <a:cs typeface="Segoe UI" panose="020B0502040204020203" pitchFamily="34" charset="0"/>
                            </a:rPr>
                            <m:t>𝑖</m:t>
                          </m:r>
                          <m:r>
                            <a:rPr lang="en-US" sz="2800" b="0" i="1" smtClean="0">
                              <a:latin typeface="Cambria Math" panose="02040503050406030204" pitchFamily="18" charset="0"/>
                              <a:cs typeface="Segoe UI" panose="020B0502040204020203" pitchFamily="34" charset="0"/>
                            </a:rPr>
                            <m:t>=1</m:t>
                          </m:r>
                        </m:sub>
                        <m:sup>
                          <m:r>
                            <a:rPr lang="en-US" sz="2800" b="0" i="1" smtClean="0">
                              <a:latin typeface="Cambria Math" panose="02040503050406030204" pitchFamily="18" charset="0"/>
                              <a:cs typeface="Segoe UI" panose="020B0502040204020203" pitchFamily="34" charset="0"/>
                            </a:rPr>
                            <m:t>𝑛</m:t>
                          </m:r>
                        </m:sup>
                        <m:e>
                          <m:r>
                            <a:rPr lang="en-US" sz="2800" b="0" i="1" smtClean="0">
                              <a:latin typeface="Cambria Math" panose="02040503050406030204" pitchFamily="18" charset="0"/>
                              <a:cs typeface="Segoe UI" panose="020B0502040204020203" pitchFamily="34" charset="0"/>
                            </a:rPr>
                            <m:t>𝑝</m:t>
                          </m:r>
                          <m:d>
                            <m:dPr>
                              <m:ctrlPr>
                                <a:rPr lang="en-US" sz="2800" i="1" smtClean="0">
                                  <a:latin typeface="Cambria Math" panose="02040503050406030204" pitchFamily="18" charset="0"/>
                                  <a:cs typeface="Segoe UI" panose="020B0502040204020203" pitchFamily="34" charset="0"/>
                                </a:rPr>
                              </m:ctrlPr>
                            </m:dPr>
                            <m:e>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e>
                          </m:d>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𝑙𝑛</m:t>
                              </m:r>
                            </m:e>
                            <m:sub>
                              <m:r>
                                <a:rPr lang="en-US" sz="2800" b="0" i="1" smtClean="0">
                                  <a:latin typeface="Cambria Math" panose="02040503050406030204" pitchFamily="18" charset="0"/>
                                  <a:cs typeface="Segoe UI" panose="020B0502040204020203" pitchFamily="34" charset="0"/>
                                </a:rPr>
                                <m:t>𝑏</m:t>
                              </m:r>
                            </m:sub>
                          </m:sSub>
                          <m:f>
                            <m:fPr>
                              <m:ctrlPr>
                                <a:rPr lang="en-US" sz="2800" i="1" smtClean="0">
                                  <a:latin typeface="Cambria Math" panose="02040503050406030204" pitchFamily="18" charset="0"/>
                                  <a:cs typeface="Segoe UI" panose="020B0502040204020203" pitchFamily="34" charset="0"/>
                                </a:rPr>
                              </m:ctrlPr>
                            </m:fPr>
                            <m:num>
                              <m:r>
                                <a:rPr lang="en-US" sz="2800" b="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b="0" i="1">
                                          <a:latin typeface="Cambria Math" panose="02040503050406030204" pitchFamily="18" charset="0"/>
                                          <a:cs typeface="Segoe UI" panose="020B0502040204020203" pitchFamily="34" charset="0"/>
                                        </a:rPr>
                                        <m:t>𝑥</m:t>
                                      </m:r>
                                    </m:e>
                                    <m:sub>
                                      <m:r>
                                        <a:rPr lang="en-US" sz="2800" b="0" i="1">
                                          <a:latin typeface="Cambria Math" panose="02040503050406030204" pitchFamily="18" charset="0"/>
                                          <a:cs typeface="Segoe UI" panose="020B0502040204020203" pitchFamily="34" charset="0"/>
                                        </a:rPr>
                                        <m:t>𝑖</m:t>
                                      </m:r>
                                    </m:sub>
                                  </m:sSub>
                                </m:e>
                              </m:d>
                            </m:num>
                            <m:den>
                              <m:r>
                                <a:rPr lang="en-US" sz="2800" b="0" i="1" smtClean="0">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b="0" i="1">
                                          <a:latin typeface="Cambria Math" panose="02040503050406030204" pitchFamily="18" charset="0"/>
                                          <a:cs typeface="Segoe UI" panose="020B0502040204020203" pitchFamily="34" charset="0"/>
                                        </a:rPr>
                                        <m:t>𝑥</m:t>
                                      </m:r>
                                    </m:e>
                                    <m:sub>
                                      <m:r>
                                        <a:rPr lang="en-US" sz="2800" b="0" i="1">
                                          <a:latin typeface="Cambria Math" panose="02040503050406030204" pitchFamily="18" charset="0"/>
                                          <a:cs typeface="Segoe UI" panose="020B0502040204020203" pitchFamily="34" charset="0"/>
                                        </a:rPr>
                                        <m:t>𝑖</m:t>
                                      </m:r>
                                    </m:sub>
                                  </m:sSub>
                                </m:e>
                              </m:d>
                            </m:den>
                          </m:f>
                        </m:e>
                      </m:nary>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KL divergence </a:t>
                </a:r>
                <a14:m>
                  <m:oMath xmlns:m="http://schemas.openxmlformats.org/officeDocument/2006/math">
                    <m:r>
                      <a:rPr lang="en-US" sz="2800" b="0" i="1" smtClean="0">
                        <a:latin typeface="Cambria Math" panose="02040503050406030204" pitchFamily="18" charset="0"/>
                        <a:cs typeface="Segoe UI" panose="020B0502040204020203" pitchFamily="34" charset="0"/>
                      </a:rPr>
                      <m:t>=0</m:t>
                    </m:r>
                  </m:oMath>
                </a14:m>
                <a:r>
                  <a:rPr lang="en-US" sz="2800" dirty="0">
                    <a:latin typeface="+mn-lt"/>
                    <a:cs typeface="Segoe UI" panose="020B0502040204020203" pitchFamily="34" charset="0"/>
                  </a:rPr>
                  <a:t> when </a:t>
                </a:r>
                <a14:m>
                  <m:oMath xmlns:m="http://schemas.openxmlformats.org/officeDocument/2006/math">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r>
                      <a:rPr lang="en-US" sz="2800" b="0" i="1" smtClean="0">
                        <a:latin typeface="Cambria Math" panose="02040503050406030204" pitchFamily="18" charset="0"/>
                        <a:cs typeface="Segoe UI" panose="020B0502040204020203" pitchFamily="34" charset="0"/>
                      </a:rPr>
                      <m:t>,</m:t>
                    </m:r>
                    <m:r>
                      <a:rPr lang="en-US" sz="2800" i="1" smtClean="0">
                        <a:latin typeface="Cambria Math" panose="02040503050406030204" pitchFamily="18" charset="0"/>
                        <a:ea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𝑖</m:t>
                    </m:r>
                  </m:oMath>
                </a14:m>
                <a:endParaRPr lang="en-US" sz="2800" dirty="0">
                  <a:latin typeface="+mn-lt"/>
                  <a:cs typeface="Segoe UI" panose="020B0502040204020203" pitchFamily="34" charset="0"/>
                </a:endParaRPr>
              </a:p>
              <a:p>
                <a:r>
                  <a:rPr lang="en-US" sz="2800" dirty="0">
                    <a:latin typeface="+mn-lt"/>
                    <a:cs typeface="Segoe UI" panose="020B0502040204020203" pitchFamily="34" charset="0"/>
                  </a:rPr>
                  <a:t>The </a:t>
                </a:r>
                <a:r>
                  <a:rPr lang="en-US" sz="2800" dirty="0" err="1">
                    <a:latin typeface="+mn-lt"/>
                    <a:cs typeface="Segoe UI" panose="020B0502040204020203" pitchFamily="34" charset="0"/>
                  </a:rPr>
                  <a:t>Kullback-Leibler</a:t>
                </a:r>
                <a:r>
                  <a:rPr lang="en-US" sz="2800" dirty="0">
                    <a:latin typeface="+mn-lt"/>
                    <a:cs typeface="Segoe UI" panose="020B0502040204020203" pitchFamily="34" charset="0"/>
                  </a:rPr>
                  <a:t> divergence plays a key roll in both predictive and generative models!</a:t>
                </a:r>
              </a:p>
            </p:txBody>
          </p:sp>
        </mc:Choice>
        <mc:Fallback>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379514" y="1094502"/>
                <a:ext cx="11525250" cy="5489178"/>
              </a:xfrm>
              <a:blipFill>
                <a:blip r:embed="rId3"/>
                <a:stretch>
                  <a:fillRect l="-1058" t="-1111"/>
                </a:stretch>
              </a:blipFill>
            </p:spPr>
            <p:txBody>
              <a:bodyPr/>
              <a:lstStyle/>
              <a:p>
                <a:r>
                  <a:rPr lang="en-US">
                    <a:noFill/>
                  </a:rPr>
                  <a:t> </a:t>
                </a:r>
              </a:p>
            </p:txBody>
          </p:sp>
        </mc:Fallback>
      </mc:AlternateContent>
    </p:spTree>
    <p:extLst>
      <p:ext uri="{BB962C8B-B14F-4D97-AF65-F5344CB8AC3E}">
        <p14:creationId xmlns:p14="http://schemas.microsoft.com/office/powerpoint/2010/main" val="80681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333375" y="1245702"/>
                <a:ext cx="11525250" cy="5327528"/>
              </a:xfrm>
            </p:spPr>
            <p:txBody>
              <a:bodyPr/>
              <a:lstStyle/>
              <a:p>
                <a:pPr marL="0" indent="0">
                  <a:buNone/>
                </a:pPr>
                <a:r>
                  <a:rPr lang="en-US" sz="2800" dirty="0">
                    <a:latin typeface="+mn-lt"/>
                    <a:cs typeface="Segoe UI" panose="020B0502040204020203" pitchFamily="34" charset="0"/>
                  </a:rPr>
                  <a:t>How do we compute KL divergence?</a:t>
                </a:r>
              </a:p>
              <a:p>
                <a:r>
                  <a:rPr lang="en-US" sz="2800" dirty="0">
                    <a:latin typeface="+mn-lt"/>
                    <a:cs typeface="Segoe UI" panose="020B0502040204020203" pitchFamily="34" charset="0"/>
                  </a:rPr>
                  <a:t>If we knew P(X) we would know the solution and not need to compute KL divergence!</a:t>
                </a:r>
              </a:p>
              <a:p>
                <a:r>
                  <a:rPr lang="en-US" sz="2800" dirty="0">
                    <a:latin typeface="+mn-lt"/>
                    <a:cs typeface="Segoe UI" panose="020B0502040204020203" pitchFamily="34" charset="0"/>
                  </a:rPr>
                  <a:t>We can expand KL divergence as:</a:t>
                </a:r>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𝐷</m:t>
                          </m:r>
                        </m:e>
                        <m:sub>
                          <m:r>
                            <a:rPr lang="en-US" sz="2800" i="1">
                              <a:latin typeface="Cambria Math" panose="02040503050406030204" pitchFamily="18" charset="0"/>
                              <a:cs typeface="Segoe UI" panose="020B0502040204020203" pitchFamily="34" charset="0"/>
                            </a:rPr>
                            <m:t>𝐾𝐿</m:t>
                          </m:r>
                        </m:sub>
                      </m:sSub>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r>
                        <a:rPr lang="en-US" sz="2800" i="1">
                          <a:latin typeface="Cambria Math" panose="02040503050406030204" pitchFamily="18" charset="0"/>
                          <a:cs typeface="Segoe UI" panose="020B0502040204020203" pitchFamily="34" charset="0"/>
                        </a:rPr>
                        <m:t>=</m:t>
                      </m:r>
                      <m:nary>
                        <m:naryPr>
                          <m:chr m:val="∑"/>
                          <m:ctrlPr>
                            <a:rPr lang="en-US" sz="2800" i="1">
                              <a:latin typeface="Cambria Math" panose="02040503050406030204" pitchFamily="18" charset="0"/>
                              <a:cs typeface="Segoe UI" panose="020B0502040204020203" pitchFamily="34" charset="0"/>
                            </a:rPr>
                          </m:ctrlPr>
                        </m:naryPr>
                        <m:sub>
                          <m:r>
                            <m:rPr>
                              <m:brk m:alnAt="23"/>
                            </m:rPr>
                            <a:rPr lang="en-US" sz="2800" i="1">
                              <a:latin typeface="Cambria Math" panose="02040503050406030204" pitchFamily="18" charset="0"/>
                              <a:cs typeface="Segoe UI" panose="020B0502040204020203" pitchFamily="34" charset="0"/>
                            </a:rPr>
                            <m:t>𝑖</m:t>
                          </m:r>
                          <m:r>
                            <a:rPr lang="en-US" sz="2800" i="1">
                              <a:latin typeface="Cambria Math" panose="02040503050406030204" pitchFamily="18" charset="0"/>
                              <a:cs typeface="Segoe UI" panose="020B0502040204020203" pitchFamily="34" charset="0"/>
                            </a:rPr>
                            <m:t>=1</m:t>
                          </m:r>
                        </m:sub>
                        <m:sup>
                          <m:r>
                            <a:rPr lang="en-US" sz="2800" i="1">
                              <a:latin typeface="Cambria Math" panose="02040503050406030204" pitchFamily="18" charset="0"/>
                              <a:cs typeface="Segoe UI" panose="020B0502040204020203" pitchFamily="34" charset="0"/>
                            </a:rPr>
                            <m:t>𝑛</m:t>
                          </m:r>
                        </m:sup>
                        <m:e>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𝑙𝑛</m:t>
                              </m:r>
                            </m:e>
                            <m:sub>
                              <m:r>
                                <a:rPr lang="en-US" sz="2800" i="1">
                                  <a:latin typeface="Cambria Math" panose="02040503050406030204" pitchFamily="18" charset="0"/>
                                  <a:cs typeface="Segoe UI" panose="020B0502040204020203" pitchFamily="34" charset="0"/>
                                </a:rPr>
                                <m:t>𝑏</m:t>
                              </m:r>
                            </m:sub>
                          </m:sSub>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r>
                            <a:rPr lang="en-US" sz="2800" i="1">
                              <a:latin typeface="Cambria Math" panose="02040503050406030204" pitchFamily="18" charset="0"/>
                              <a:cs typeface="Segoe UI" panose="020B0502040204020203" pitchFamily="34" charset="0"/>
                            </a:rPr>
                            <m:t>−</m:t>
                          </m:r>
                          <m:nary>
                            <m:naryPr>
                              <m:chr m:val="∑"/>
                              <m:ctrlPr>
                                <a:rPr lang="en-US" sz="2800" i="1">
                                  <a:latin typeface="Cambria Math" panose="02040503050406030204" pitchFamily="18" charset="0"/>
                                  <a:cs typeface="Segoe UI" panose="020B0502040204020203" pitchFamily="34" charset="0"/>
                                </a:rPr>
                              </m:ctrlPr>
                            </m:naryPr>
                            <m:sub>
                              <m:r>
                                <m:rPr>
                                  <m:brk m:alnAt="23"/>
                                </m:rPr>
                                <a:rPr lang="en-US" sz="2800" i="1">
                                  <a:latin typeface="Cambria Math" panose="02040503050406030204" pitchFamily="18" charset="0"/>
                                  <a:cs typeface="Segoe UI" panose="020B0502040204020203" pitchFamily="34" charset="0"/>
                                </a:rPr>
                                <m:t>𝑖</m:t>
                              </m:r>
                              <m:r>
                                <a:rPr lang="en-US" sz="2800" i="1">
                                  <a:latin typeface="Cambria Math" panose="02040503050406030204" pitchFamily="18" charset="0"/>
                                  <a:cs typeface="Segoe UI" panose="020B0502040204020203" pitchFamily="34" charset="0"/>
                                </a:rPr>
                                <m:t>=1</m:t>
                              </m:r>
                            </m:sub>
                            <m:sup>
                              <m:r>
                                <a:rPr lang="en-US" sz="2800" i="1">
                                  <a:latin typeface="Cambria Math" panose="02040503050406030204" pitchFamily="18" charset="0"/>
                                  <a:cs typeface="Segoe UI" panose="020B0502040204020203" pitchFamily="34" charset="0"/>
                                </a:rPr>
                                <m:t>𝑛</m:t>
                              </m:r>
                            </m:sup>
                            <m:e>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𝑙𝑛</m:t>
                                  </m:r>
                                </m:e>
                                <m:sub>
                                  <m:r>
                                    <a:rPr lang="en-US" sz="2800" i="1">
                                      <a:latin typeface="Cambria Math" panose="02040503050406030204" pitchFamily="18" charset="0"/>
                                      <a:cs typeface="Segoe UI" panose="020B0502040204020203" pitchFamily="34" charset="0"/>
                                    </a:rPr>
                                    <m:t>𝑏</m:t>
                                  </m:r>
                                </m:sub>
                              </m:sSub>
                              <m:r>
                                <a:rPr lang="en-US" sz="2800" i="1">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e>
                          </m:nary>
                        </m:e>
                      </m:nary>
                    </m:oMath>
                  </m:oMathPara>
                </a14:m>
                <a:endParaRPr lang="en-US" sz="28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𝐷</m:t>
                          </m:r>
                        </m:e>
                        <m:sub>
                          <m:r>
                            <a:rPr lang="en-US" sz="2800" i="1">
                              <a:latin typeface="Cambria Math" panose="02040503050406030204" pitchFamily="18" charset="0"/>
                              <a:cs typeface="Segoe UI" panose="020B0502040204020203" pitchFamily="34" charset="0"/>
                            </a:rPr>
                            <m:t>𝐾𝐿</m:t>
                          </m:r>
                        </m:sub>
                      </m:sSub>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𝐻</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e>
                      </m:d>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oMath>
                  </m:oMathPara>
                </a14:m>
                <a:endParaRPr lang="en-US" sz="28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𝐷</m:t>
                          </m:r>
                        </m:e>
                        <m:sub>
                          <m:r>
                            <a:rPr lang="en-US" sz="2800" i="1">
                              <a:latin typeface="Cambria Math" panose="02040503050406030204" pitchFamily="18" charset="0"/>
                              <a:cs typeface="Segoe UI" panose="020B0502040204020203" pitchFamily="34" charset="0"/>
                            </a:rPr>
                            <m:t>𝐾𝐿</m:t>
                          </m:r>
                        </m:sub>
                      </m:sSub>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r>
                        <a:rPr lang="en-US" sz="2800" i="1">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𝐸𝑛𝑡𝑟𝑜𝑝𝑦</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𝐶𝑟𝑜𝑠𝑠</m:t>
                      </m:r>
                      <m:r>
                        <a:rPr lang="en-US" sz="2800" b="0" i="1" smtClean="0">
                          <a:latin typeface="Cambria Math" panose="02040503050406030204" pitchFamily="18" charset="0"/>
                          <a:cs typeface="Segoe UI" panose="020B0502040204020203" pitchFamily="34" charset="0"/>
                        </a:rPr>
                        <m:t> </m:t>
                      </m:r>
                      <m:r>
                        <a:rPr lang="en-US" sz="2800" b="0" i="1" smtClean="0">
                          <a:latin typeface="Cambria Math" panose="02040503050406030204" pitchFamily="18" charset="0"/>
                          <a:cs typeface="Segoe UI" panose="020B0502040204020203" pitchFamily="34" charset="0"/>
                        </a:rPr>
                        <m:t>𝐸𝑛𝑡𝑟𝑜𝑝𝑦</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oMath>
                  </m:oMathPara>
                </a14:m>
                <a:endParaRPr lang="en-US" sz="2800" dirty="0">
                  <a:latin typeface="+mn-lt"/>
                  <a:cs typeface="Segoe UI" panose="020B0502040204020203" pitchFamily="34" charset="0"/>
                </a:endParaRPr>
              </a:p>
            </p:txBody>
          </p:sp>
        </mc:Choice>
        <mc:Fallback>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333375" y="1245702"/>
                <a:ext cx="11525250" cy="5327528"/>
              </a:xfrm>
              <a:blipFill>
                <a:blip r:embed="rId3"/>
                <a:stretch>
                  <a:fillRect l="-1111" t="-1030"/>
                </a:stretch>
              </a:blipFill>
            </p:spPr>
            <p:txBody>
              <a:bodyPr/>
              <a:lstStyle/>
              <a:p>
                <a:r>
                  <a:rPr lang="en-US">
                    <a:noFill/>
                  </a:rPr>
                  <a:t> </a:t>
                </a:r>
              </a:p>
            </p:txBody>
          </p:sp>
        </mc:Fallback>
      </mc:AlternateContent>
    </p:spTree>
    <p:extLst>
      <p:ext uri="{BB962C8B-B14F-4D97-AF65-F5344CB8AC3E}">
        <p14:creationId xmlns:p14="http://schemas.microsoft.com/office/powerpoint/2010/main" val="266261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D79349-62D4-418A-8328-7BCEB2B0A95B}"/>
                  </a:ext>
                </a:extLst>
              </p:cNvPr>
              <p:cNvSpPr>
                <a:spLocks noGrp="1"/>
              </p:cNvSpPr>
              <p:nvPr>
                <p:ph sz="quarter" idx="10"/>
              </p:nvPr>
            </p:nvSpPr>
            <p:spPr>
              <a:xfrm>
                <a:off x="459913" y="1177302"/>
                <a:ext cx="11108553" cy="5249624"/>
              </a:xfrm>
            </p:spPr>
            <p:txBody>
              <a:bodyPr/>
              <a:lstStyle/>
              <a:p>
                <a:pPr marL="0" indent="0">
                  <a:buNone/>
                </a:pPr>
                <a:r>
                  <a:rPr lang="en-US" sz="2800" dirty="0">
                    <a:latin typeface="+mn-lt"/>
                    <a:cs typeface="Segoe UI" panose="020B0502040204020203" pitchFamily="34" charset="0"/>
                  </a:rPr>
                  <a:t>Given: </a:t>
                </a:r>
                <a14:m>
                  <m:oMath xmlns:m="http://schemas.openxmlformats.org/officeDocument/2006/math">
                    <m:sSub>
                      <m:sSubPr>
                        <m:ctrlPr>
                          <a:rPr lang="en-US" sz="2800" i="1" smtClean="0">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𝐷</m:t>
                        </m:r>
                      </m:e>
                      <m:sub>
                        <m:r>
                          <a:rPr lang="en-US" sz="2800" i="1">
                            <a:latin typeface="Cambria Math" panose="02040503050406030204" pitchFamily="18" charset="0"/>
                            <a:cs typeface="Segoe UI" panose="020B0502040204020203" pitchFamily="34" charset="0"/>
                          </a:rPr>
                          <m:t>𝐾𝐿</m:t>
                        </m:r>
                      </m:sub>
                    </m:sSub>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𝐻</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e>
                    </m:d>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oMath>
                </a14:m>
                <a:endParaRPr lang="en-US" sz="2800" dirty="0">
                  <a:latin typeface="+mn-lt"/>
                  <a:cs typeface="Segoe UI" panose="020B0502040204020203" pitchFamily="34" charset="0"/>
                </a:endParaRPr>
              </a:p>
              <a:p>
                <a:r>
                  <a:rPr lang="en-US" sz="2800" dirty="0">
                    <a:latin typeface="+mn-lt"/>
                    <a:cs typeface="Segoe UI" panose="020B0502040204020203" pitchFamily="34" charset="0"/>
                  </a:rPr>
                  <a:t>The entropy term, </a:t>
                </a:r>
                <a14:m>
                  <m:oMath xmlns:m="http://schemas.openxmlformats.org/officeDocument/2006/math">
                    <m:r>
                      <a:rPr lang="en-US" sz="2800" b="0" i="1" smtClean="0">
                        <a:latin typeface="Cambria Math" panose="02040503050406030204" pitchFamily="18" charset="0"/>
                        <a:cs typeface="Segoe UI" panose="020B0502040204020203" pitchFamily="34" charset="0"/>
                      </a:rPr>
                      <m:t>𝐻</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e>
                    </m:d>
                  </m:oMath>
                </a14:m>
                <a:r>
                  <a:rPr lang="en-US" sz="2800" dirty="0">
                    <a:latin typeface="+mn-lt"/>
                    <a:cs typeface="Segoe UI" panose="020B0502040204020203" pitchFamily="34" charset="0"/>
                  </a:rPr>
                  <a:t>, is constant</a:t>
                </a:r>
              </a:p>
              <a:p>
                <a:r>
                  <a:rPr lang="en-US" sz="2800" dirty="0">
                    <a:latin typeface="+mn-lt"/>
                    <a:cs typeface="Segoe UI" panose="020B0502040204020203" pitchFamily="34" charset="0"/>
                  </a:rPr>
                  <a:t>We want to find the </a:t>
                </a:r>
                <a14:m>
                  <m:oMath xmlns:m="http://schemas.openxmlformats.org/officeDocument/2006/math">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oMath>
                </a14:m>
                <a:r>
                  <a:rPr lang="en-US" sz="2800" dirty="0">
                    <a:latin typeface="+mn-lt"/>
                    <a:cs typeface="Segoe UI" panose="020B0502040204020203" pitchFamily="34" charset="0"/>
                  </a:rPr>
                  <a:t> that minimizes KL Divergence by </a:t>
                </a:r>
                <a:r>
                  <a:rPr lang="en-US" sz="2800" b="1" dirty="0">
                    <a:latin typeface="+mn-lt"/>
                    <a:cs typeface="Segoe UI" panose="020B0502040204020203" pitchFamily="34" charset="0"/>
                  </a:rPr>
                  <a:t>minimizing cross-entropy</a:t>
                </a:r>
                <a:endParaRPr lang="en-US" sz="28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m:t>
                      </m:r>
                      <m:nary>
                        <m:naryPr>
                          <m:chr m:val="∑"/>
                          <m:ctrlPr>
                            <a:rPr lang="en-US" sz="2800" i="1">
                              <a:latin typeface="Cambria Math" panose="02040503050406030204" pitchFamily="18" charset="0"/>
                              <a:cs typeface="Segoe UI" panose="020B0502040204020203" pitchFamily="34" charset="0"/>
                            </a:rPr>
                          </m:ctrlPr>
                        </m:naryPr>
                        <m:sub>
                          <m:r>
                            <m:rPr>
                              <m:brk m:alnAt="23"/>
                            </m:rPr>
                            <a:rPr lang="en-US" sz="2800" i="1">
                              <a:latin typeface="Cambria Math" panose="02040503050406030204" pitchFamily="18" charset="0"/>
                              <a:cs typeface="Segoe UI" panose="020B0502040204020203" pitchFamily="34" charset="0"/>
                            </a:rPr>
                            <m:t>𝑖</m:t>
                          </m:r>
                          <m:r>
                            <a:rPr lang="en-US" sz="2800" i="1">
                              <a:latin typeface="Cambria Math" panose="02040503050406030204" pitchFamily="18" charset="0"/>
                              <a:cs typeface="Segoe UI" panose="020B0502040204020203" pitchFamily="34" charset="0"/>
                            </a:rPr>
                            <m:t>=1</m:t>
                          </m:r>
                        </m:sub>
                        <m:sup>
                          <m:r>
                            <a:rPr lang="en-US" sz="2800" i="1">
                              <a:latin typeface="Cambria Math" panose="02040503050406030204" pitchFamily="18" charset="0"/>
                              <a:cs typeface="Segoe UI" panose="020B0502040204020203" pitchFamily="34" charset="0"/>
                            </a:rPr>
                            <m:t>𝑛</m:t>
                          </m:r>
                        </m:sup>
                        <m:e>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𝑙𝑛</m:t>
                              </m:r>
                            </m:e>
                            <m:sub>
                              <m:r>
                                <a:rPr lang="en-US" sz="2800" i="1">
                                  <a:latin typeface="Cambria Math" panose="02040503050406030204" pitchFamily="18" charset="0"/>
                                  <a:cs typeface="Segoe UI" panose="020B0502040204020203" pitchFamily="34" charset="0"/>
                                </a:rPr>
                                <m:t>𝑏</m:t>
                              </m:r>
                            </m:sub>
                          </m:sSub>
                          <m:r>
                            <a:rPr lang="en-US" sz="2800" i="1">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e>
                      </m:nary>
                    </m:oMath>
                  </m:oMathPara>
                </a14:m>
                <a:endParaRPr lang="en-US" sz="2800" dirty="0">
                  <a:latin typeface="+mn-lt"/>
                  <a:cs typeface="Segoe UI" panose="020B0502040204020203" pitchFamily="34" charset="0"/>
                </a:endParaRPr>
              </a:p>
            </p:txBody>
          </p:sp>
        </mc:Choice>
        <mc:Fallback>
          <p:sp>
            <p:nvSpPr>
              <p:cNvPr id="3" name="Content Placeholder 2">
                <a:extLst>
                  <a:ext uri="{FF2B5EF4-FFF2-40B4-BE49-F238E27FC236}">
                    <a16:creationId xmlns:a16="http://schemas.microsoft.com/office/drawing/2014/main" id="{16D79349-62D4-418A-8328-7BCEB2B0A95B}"/>
                  </a:ext>
                </a:extLst>
              </p:cNvPr>
              <p:cNvSpPr>
                <a:spLocks noGrp="1" noRot="1" noChangeAspect="1" noMove="1" noResize="1" noEditPoints="1" noAdjustHandles="1" noChangeArrowheads="1" noChangeShapeType="1" noTextEdit="1"/>
              </p:cNvSpPr>
              <p:nvPr>
                <p:ph sz="quarter" idx="10"/>
              </p:nvPr>
            </p:nvSpPr>
            <p:spPr>
              <a:xfrm>
                <a:off x="459913" y="1177302"/>
                <a:ext cx="11108553" cy="5249624"/>
              </a:xfrm>
              <a:blipFill>
                <a:blip r:embed="rId3"/>
                <a:stretch>
                  <a:fillRect l="-1097" t="-1045"/>
                </a:stretch>
              </a:blipFill>
            </p:spPr>
            <p:txBody>
              <a:bodyPr/>
              <a:lstStyle/>
              <a:p>
                <a:r>
                  <a:rPr lang="en-US">
                    <a:noFill/>
                  </a:rPr>
                  <a:t> </a:t>
                </a:r>
              </a:p>
            </p:txBody>
          </p:sp>
        </mc:Fallback>
      </mc:AlternateContent>
    </p:spTree>
    <p:extLst>
      <p:ext uri="{BB962C8B-B14F-4D97-AF65-F5344CB8AC3E}">
        <p14:creationId xmlns:p14="http://schemas.microsoft.com/office/powerpoint/2010/main" val="8813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5365446E-D017-44C8-923A-238A368AB6D5}"/>
                  </a:ext>
                </a:extLst>
              </p:cNvPr>
              <p:cNvSpPr txBox="1">
                <a:spLocks/>
              </p:cNvSpPr>
              <p:nvPr/>
            </p:nvSpPr>
            <p:spPr>
              <a:xfrm>
                <a:off x="903352" y="1245701"/>
                <a:ext cx="11000594" cy="5332753"/>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mn-lt"/>
                    <a:cs typeface="Segoe UI" panose="020B0502040204020203" pitchFamily="34" charset="0"/>
                  </a:rPr>
                  <a:t>How can we compute cross entropy when we don’t know Q</a:t>
                </a:r>
                <a14:m>
                  <m:oMath xmlns:m="http://schemas.openxmlformats.org/officeDocument/2006/math">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oMath>
                </a14:m>
                <a:r>
                  <a:rPr lang="en-US" sz="2800" dirty="0">
                    <a:latin typeface="+mn-lt"/>
                    <a:cs typeface="Segoe UI" panose="020B0502040204020203" pitchFamily="34" charset="0"/>
                  </a:rPr>
                  <a:t> or </a:t>
                </a:r>
                <a14:m>
                  <m:oMath xmlns:m="http://schemas.openxmlformats.org/officeDocument/2006/math">
                    <m:r>
                      <a:rPr lang="en-US" sz="2800" i="1">
                        <a:latin typeface="Cambria Math" panose="02040503050406030204" pitchFamily="18" charset="0"/>
                        <a:cs typeface="Segoe UI" panose="020B0502040204020203" pitchFamily="34" charset="0"/>
                      </a:rPr>
                      <m:t>𝑃</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𝑋</m:t>
                        </m:r>
                      </m:e>
                    </m:d>
                  </m:oMath>
                </a14:m>
                <a:r>
                  <a:rPr lang="en-US" sz="2800" dirty="0">
                    <a:latin typeface="+mn-lt"/>
                    <a:cs typeface="Segoe UI" panose="020B0502040204020203" pitchFamily="34" charset="0"/>
                  </a:rPr>
                  <a:t>?</a:t>
                </a:r>
              </a:p>
              <a:p>
                <a:pPr marL="0" indent="0">
                  <a:buFont typeface="Arial" pitchFamily="34" charset="0"/>
                  <a:buNone/>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m:t>
                      </m:r>
                      <m:nary>
                        <m:naryPr>
                          <m:chr m:val="∑"/>
                          <m:ctrlPr>
                            <a:rPr lang="en-US" sz="2800" i="1">
                              <a:latin typeface="Cambria Math" panose="02040503050406030204" pitchFamily="18" charset="0"/>
                              <a:cs typeface="Segoe UI" panose="020B0502040204020203" pitchFamily="34" charset="0"/>
                            </a:rPr>
                          </m:ctrlPr>
                        </m:naryPr>
                        <m:sub>
                          <m:r>
                            <m:rPr>
                              <m:brk m:alnAt="23"/>
                            </m:rPr>
                            <a:rPr lang="en-US" sz="2800" i="1">
                              <a:latin typeface="Cambria Math" panose="02040503050406030204" pitchFamily="18" charset="0"/>
                              <a:cs typeface="Segoe UI" panose="020B0502040204020203" pitchFamily="34" charset="0"/>
                            </a:rPr>
                            <m:t>𝑖</m:t>
                          </m:r>
                          <m:r>
                            <a:rPr lang="en-US" sz="2800" i="1">
                              <a:latin typeface="Cambria Math" panose="02040503050406030204" pitchFamily="18" charset="0"/>
                              <a:cs typeface="Segoe UI" panose="020B0502040204020203" pitchFamily="34" charset="0"/>
                            </a:rPr>
                            <m:t>=1</m:t>
                          </m:r>
                        </m:sub>
                        <m:sup>
                          <m:r>
                            <a:rPr lang="en-US" sz="2800" i="1">
                              <a:latin typeface="Cambria Math" panose="02040503050406030204" pitchFamily="18" charset="0"/>
                              <a:cs typeface="Segoe UI" panose="020B0502040204020203" pitchFamily="34" charset="0"/>
                            </a:rPr>
                            <m:t>𝑛</m:t>
                          </m:r>
                        </m:sup>
                        <m:e>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𝑙𝑛</m:t>
                              </m:r>
                            </m:e>
                            <m:sub>
                              <m:r>
                                <a:rPr lang="en-US" sz="2800" i="1">
                                  <a:latin typeface="Cambria Math" panose="02040503050406030204" pitchFamily="18" charset="0"/>
                                  <a:cs typeface="Segoe UI" panose="020B0502040204020203" pitchFamily="34" charset="0"/>
                                </a:rPr>
                                <m:t>𝑏</m:t>
                              </m:r>
                            </m:sub>
                          </m:sSub>
                          <m:r>
                            <a:rPr lang="en-US" sz="2800" i="1">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e>
                      </m:nary>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We can use an </a:t>
                </a:r>
                <a:r>
                  <a:rPr lang="en-US" sz="2800" b="1" dirty="0">
                    <a:latin typeface="+mn-lt"/>
                    <a:cs typeface="Segoe UI" panose="020B0502040204020203" pitchFamily="34" charset="0"/>
                  </a:rPr>
                  <a:t>empirical estimate </a:t>
                </a:r>
                <a:r>
                  <a:rPr lang="en-US" sz="2800" dirty="0">
                    <a:latin typeface="+mn-lt"/>
                    <a:cs typeface="Segoe UI" panose="020B0502040204020203" pitchFamily="34" charset="0"/>
                  </a:rPr>
                  <a:t>based on the labels from a training set of size </a:t>
                </a:r>
                <a14:m>
                  <m:oMath xmlns:m="http://schemas.openxmlformats.org/officeDocument/2006/math">
                    <m:r>
                      <a:rPr lang="en-US" sz="2800" b="0" i="1" smtClean="0">
                        <a:latin typeface="Cambria Math" panose="02040503050406030204" pitchFamily="18" charset="0"/>
                        <a:cs typeface="Segoe UI" panose="020B0502040204020203" pitchFamily="34" charset="0"/>
                      </a:rPr>
                      <m:t>𝑛</m:t>
                    </m:r>
                  </m:oMath>
                </a14:m>
                <a:r>
                  <a:rPr lang="en-US" sz="2800" dirty="0">
                    <a:latin typeface="+mn-lt"/>
                    <a:cs typeface="Segoe UI" panose="020B0502040204020203" pitchFamily="34" charset="0"/>
                  </a:rPr>
                  <a:t> </a:t>
                </a:r>
              </a:p>
              <a:p>
                <a:r>
                  <a:rPr lang="en-US" sz="2800" dirty="0">
                    <a:latin typeface="+mn-lt"/>
                    <a:cs typeface="Segoe UI" panose="020B0502040204020203" pitchFamily="34" charset="0"/>
                  </a:rPr>
                  <a:t>Can generally find an closed form for most distributions </a:t>
                </a:r>
              </a:p>
            </p:txBody>
          </p:sp>
        </mc:Choice>
        <mc:Fallback>
          <p:sp>
            <p:nvSpPr>
              <p:cNvPr id="10" name="Content Placeholder 2">
                <a:extLst>
                  <a:ext uri="{FF2B5EF4-FFF2-40B4-BE49-F238E27FC236}">
                    <a16:creationId xmlns:a16="http://schemas.microsoft.com/office/drawing/2014/main" id="{5365446E-D017-44C8-923A-238A368AB6D5}"/>
                  </a:ext>
                </a:extLst>
              </p:cNvPr>
              <p:cNvSpPr txBox="1">
                <a:spLocks noRot="1" noChangeAspect="1" noMove="1" noResize="1" noEditPoints="1" noAdjustHandles="1" noChangeArrowheads="1" noChangeShapeType="1" noTextEdit="1"/>
              </p:cNvSpPr>
              <p:nvPr/>
            </p:nvSpPr>
            <p:spPr>
              <a:xfrm>
                <a:off x="903352" y="1245701"/>
                <a:ext cx="11000594" cy="5332753"/>
              </a:xfrm>
              <a:prstGeom prst="rect">
                <a:avLst/>
              </a:prstGeom>
              <a:blipFill>
                <a:blip r:embed="rId3"/>
                <a:stretch>
                  <a:fillRect l="-1108" t="-1029"/>
                </a:stretch>
              </a:blipFill>
            </p:spPr>
            <p:txBody>
              <a:bodyPr/>
              <a:lstStyle/>
              <a:p>
                <a:r>
                  <a:rPr lang="en-US">
                    <a:noFill/>
                  </a:rPr>
                  <a:t> </a:t>
                </a:r>
              </a:p>
            </p:txBody>
          </p:sp>
        </mc:Fallback>
      </mc:AlternateContent>
    </p:spTree>
    <p:extLst>
      <p:ext uri="{BB962C8B-B14F-4D97-AF65-F5344CB8AC3E}">
        <p14:creationId xmlns:p14="http://schemas.microsoft.com/office/powerpoint/2010/main" val="157432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3669-128E-B38A-C2B8-58C6C47EE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399C2-2AE8-F068-8B68-E701F13ADFED}"/>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6B72A171-9E8E-F0DF-6A28-4C818B88D62C}"/>
                  </a:ext>
                </a:extLst>
              </p:cNvPr>
              <p:cNvSpPr txBox="1">
                <a:spLocks/>
              </p:cNvSpPr>
              <p:nvPr/>
            </p:nvSpPr>
            <p:spPr>
              <a:xfrm>
                <a:off x="903352" y="1245701"/>
                <a:ext cx="11000594" cy="5332753"/>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mn-lt"/>
                    <a:cs typeface="Segoe UI" panose="020B0502040204020203" pitchFamily="34" charset="0"/>
                  </a:rPr>
                  <a:t>How can we compute cross entropy when we don’t know Q</a:t>
                </a:r>
                <a14:m>
                  <m:oMath xmlns:m="http://schemas.openxmlformats.org/officeDocument/2006/math">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𝑋</m:t>
                        </m:r>
                      </m:e>
                    </m:d>
                  </m:oMath>
                </a14:m>
                <a:r>
                  <a:rPr lang="en-US" sz="2800" dirty="0">
                    <a:latin typeface="+mn-lt"/>
                    <a:cs typeface="Segoe UI" panose="020B0502040204020203" pitchFamily="34" charset="0"/>
                  </a:rPr>
                  <a:t> or </a:t>
                </a:r>
                <a14:m>
                  <m:oMath xmlns:m="http://schemas.openxmlformats.org/officeDocument/2006/math">
                    <m:r>
                      <a:rPr lang="en-US" sz="2800" i="1">
                        <a:latin typeface="Cambria Math" panose="02040503050406030204" pitchFamily="18" charset="0"/>
                        <a:cs typeface="Segoe UI" panose="020B0502040204020203" pitchFamily="34" charset="0"/>
                      </a:rPr>
                      <m:t>𝑃</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𝑋</m:t>
                        </m:r>
                      </m:e>
                    </m:d>
                  </m:oMath>
                </a14:m>
                <a:r>
                  <a:rPr lang="en-US" sz="2800" dirty="0">
                    <a:latin typeface="+mn-lt"/>
                    <a:cs typeface="Segoe UI" panose="020B0502040204020203" pitchFamily="34" charset="0"/>
                  </a:rPr>
                  <a:t>?</a:t>
                </a:r>
              </a:p>
              <a:p>
                <a:pPr marL="0" indent="0">
                  <a:buFont typeface="Arial" pitchFamily="34" charset="0"/>
                  <a:buNone/>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cs typeface="Segoe UI" panose="020B0502040204020203" pitchFamily="34" charset="0"/>
                        </a:rPr>
                        <m:t>=−</m:t>
                      </m:r>
                      <m:nary>
                        <m:naryPr>
                          <m:chr m:val="∑"/>
                          <m:ctrlPr>
                            <a:rPr lang="en-US" sz="2800" i="1">
                              <a:latin typeface="Cambria Math" panose="02040503050406030204" pitchFamily="18" charset="0"/>
                              <a:cs typeface="Segoe UI" panose="020B0502040204020203" pitchFamily="34" charset="0"/>
                            </a:rPr>
                          </m:ctrlPr>
                        </m:naryPr>
                        <m:sub>
                          <m:r>
                            <m:rPr>
                              <m:brk m:alnAt="23"/>
                            </m:rPr>
                            <a:rPr lang="en-US" sz="2800" i="1">
                              <a:latin typeface="Cambria Math" panose="02040503050406030204" pitchFamily="18" charset="0"/>
                              <a:cs typeface="Segoe UI" panose="020B0502040204020203" pitchFamily="34" charset="0"/>
                            </a:rPr>
                            <m:t>𝑖</m:t>
                          </m:r>
                          <m:r>
                            <a:rPr lang="en-US" sz="2800" i="1">
                              <a:latin typeface="Cambria Math" panose="02040503050406030204" pitchFamily="18" charset="0"/>
                              <a:cs typeface="Segoe UI" panose="020B0502040204020203" pitchFamily="34" charset="0"/>
                            </a:rPr>
                            <m:t>=1</m:t>
                          </m:r>
                        </m:sub>
                        <m:sup>
                          <m:r>
                            <a:rPr lang="en-US" sz="2800" i="1">
                              <a:latin typeface="Cambria Math" panose="02040503050406030204" pitchFamily="18" charset="0"/>
                              <a:cs typeface="Segoe UI" panose="020B0502040204020203" pitchFamily="34" charset="0"/>
                            </a:rPr>
                            <m:t>𝑛</m:t>
                          </m:r>
                        </m:sup>
                        <m:e>
                          <m:r>
                            <a:rPr lang="en-US" sz="2800" i="1">
                              <a:latin typeface="Cambria Math" panose="02040503050406030204" pitchFamily="18" charset="0"/>
                              <a:cs typeface="Segoe UI" panose="020B0502040204020203" pitchFamily="34" charset="0"/>
                            </a:rPr>
                            <m:t>𝑝</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𝑙𝑛</m:t>
                              </m:r>
                            </m:e>
                            <m:sub>
                              <m:r>
                                <a:rPr lang="en-US" sz="2800" i="1">
                                  <a:latin typeface="Cambria Math" panose="02040503050406030204" pitchFamily="18" charset="0"/>
                                  <a:cs typeface="Segoe UI" panose="020B0502040204020203" pitchFamily="34" charset="0"/>
                                </a:rPr>
                                <m:t>𝑏</m:t>
                              </m:r>
                            </m:sub>
                          </m:sSub>
                          <m:r>
                            <a:rPr lang="en-US" sz="2800" i="1">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e>
                          </m:d>
                        </m:e>
                      </m:nary>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Consider a </a:t>
                </a:r>
                <a:r>
                  <a:rPr lang="en-US" sz="2800" b="1" dirty="0">
                    <a:latin typeface="+mn-lt"/>
                    <a:cs typeface="Segoe UI" panose="020B0502040204020203" pitchFamily="34" charset="0"/>
                  </a:rPr>
                  <a:t>Bernoulli distributed</a:t>
                </a:r>
                <a:r>
                  <a:rPr lang="en-US" sz="2800" dirty="0">
                    <a:latin typeface="+mn-lt"/>
                    <a:cs typeface="Segoe UI" panose="020B0502040204020203" pitchFamily="34" charset="0"/>
                  </a:rPr>
                  <a:t> </a:t>
                </a:r>
                <a:r>
                  <a:rPr lang="en-US" sz="2800" b="1" dirty="0">
                    <a:latin typeface="+mn-lt"/>
                    <a:cs typeface="Segoe UI" panose="020B0502040204020203" pitchFamily="34" charset="0"/>
                  </a:rPr>
                  <a:t>binary response </a:t>
                </a:r>
                <a:r>
                  <a:rPr lang="en-US" sz="2800" dirty="0">
                    <a:latin typeface="+mn-lt"/>
                    <a:cs typeface="Segoe UI" panose="020B0502040204020203" pitchFamily="34" charset="0"/>
                  </a:rPr>
                  <a:t>with estimated probability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𝑝</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oMath>
                </a14:m>
                <a:r>
                  <a:rPr lang="en-US" sz="2800" dirty="0">
                    <a:latin typeface="+mn-lt"/>
                    <a:cs typeface="Segoe UI" panose="020B0502040204020203" pitchFamily="34" charset="0"/>
                  </a:rPr>
                  <a:t> of a positive response, and label value coded </a:t>
                </a:r>
                <a14:m>
                  <m:oMath xmlns:m="http://schemas.openxmlformats.org/officeDocument/2006/math">
                    <m:sSub>
                      <m:sSubPr>
                        <m:ctrlPr>
                          <a:rPr lang="en-US" sz="2800" i="1">
                            <a:latin typeface="+mn-lt"/>
                            <a:ea typeface="Cambria Math" panose="02040503050406030204" pitchFamily="18" charset="0"/>
                            <a:cs typeface="Segoe UI" panose="020B0502040204020203" pitchFamily="34" charset="0"/>
                          </a:rPr>
                        </m:ctrlPr>
                      </m:sSubPr>
                      <m:e>
                        <m:r>
                          <a:rPr lang="en-US" sz="2800" i="1">
                            <a:latin typeface="+mn-lt"/>
                            <a:ea typeface="Cambria Math" panose="02040503050406030204" pitchFamily="18" charset="0"/>
                            <a:cs typeface="Segoe UI" panose="020B0502040204020203" pitchFamily="34" charset="0"/>
                          </a:rPr>
                          <m:t>𝑦</m:t>
                        </m:r>
                      </m:e>
                      <m:sub>
                        <m:r>
                          <a:rPr lang="en-US" sz="2800" i="1">
                            <a:latin typeface="+mn-lt"/>
                            <a:ea typeface="Cambria Math" panose="02040503050406030204" pitchFamily="18" charset="0"/>
                            <a:cs typeface="Segoe UI" panose="020B0502040204020203" pitchFamily="34" charset="0"/>
                          </a:rPr>
                          <m:t>𝑖</m:t>
                        </m:r>
                      </m:sub>
                    </m:sSub>
                    <m:r>
                      <a:rPr lang="en-US" sz="2800" i="1">
                        <a:latin typeface="+mn-lt"/>
                        <a:ea typeface="Cambria Math" panose="02040503050406030204" pitchFamily="18" charset="0"/>
                        <a:cs typeface="Segoe UI" panose="020B0502040204020203" pitchFamily="34" charset="0"/>
                      </a:rPr>
                      <m:t>=</m:t>
                    </m:r>
                    <m:d>
                      <m:dPr>
                        <m:begChr m:val="{"/>
                        <m:endChr m:val="}"/>
                        <m:ctrlPr>
                          <a:rPr lang="en-US" sz="2800" i="1">
                            <a:latin typeface="+mn-lt"/>
                            <a:ea typeface="Cambria Math" panose="02040503050406030204" pitchFamily="18" charset="0"/>
                            <a:cs typeface="Segoe UI" panose="020B0502040204020203" pitchFamily="34" charset="0"/>
                          </a:rPr>
                        </m:ctrlPr>
                      </m:dPr>
                      <m:e>
                        <m:r>
                          <a:rPr lang="en-US" sz="2800" i="1">
                            <a:latin typeface="+mn-lt"/>
                            <a:ea typeface="Cambria Math" panose="02040503050406030204" pitchFamily="18" charset="0"/>
                            <a:cs typeface="Segoe UI" panose="020B0502040204020203" pitchFamily="34" charset="0"/>
                          </a:rPr>
                          <m:t>0,1</m:t>
                        </m:r>
                      </m:e>
                    </m:d>
                  </m:oMath>
                </a14:m>
                <a:endParaRPr lang="en-US" sz="2800" b="1"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𝑦</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e>
                      </m:d>
                      <m:r>
                        <a:rPr lang="en-US" sz="2800" b="0" i="1" smtClean="0">
                          <a:latin typeface="Cambria Math" panose="02040503050406030204" pitchFamily="18" charset="0"/>
                          <a:cs typeface="Segoe UI" panose="020B0502040204020203" pitchFamily="34" charset="0"/>
                        </a:rPr>
                        <m:t>=</m:t>
                      </m:r>
                      <m:sSup>
                        <m:sSupPr>
                          <m:ctrlPr>
                            <a:rPr lang="en-US" sz="2800" i="1" smtClean="0">
                              <a:latin typeface="Cambria Math" panose="02040503050406030204" pitchFamily="18" charset="0"/>
                              <a:cs typeface="Segoe UI" panose="020B0502040204020203" pitchFamily="34" charset="0"/>
                            </a:rPr>
                          </m:ctrlPr>
                        </m:sSupPr>
                        <m:e>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𝑝</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e>
                        <m:sup>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𝑦</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sup>
                      </m:sSup>
                      <m:sSup>
                        <m:sSupPr>
                          <m:ctrlPr>
                            <a:rPr lang="en-US" sz="2800" i="1" smtClean="0">
                              <a:latin typeface="Cambria Math" panose="02040503050406030204" pitchFamily="18" charset="0"/>
                              <a:cs typeface="Segoe UI" panose="020B0502040204020203" pitchFamily="34" charset="0"/>
                            </a:rPr>
                          </m:ctrlPr>
                        </m:sSupPr>
                        <m:e>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1−</m:t>
                              </m:r>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𝑝</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e>
                          </m:d>
                        </m:e>
                        <m:sup>
                          <m:r>
                            <a:rPr lang="en-US" sz="2800" b="0" i="1" smtClean="0">
                              <a:latin typeface="Cambria Math" panose="02040503050406030204" pitchFamily="18" charset="0"/>
                              <a:cs typeface="Segoe UI" panose="020B0502040204020203" pitchFamily="34" charset="0"/>
                            </a:rPr>
                            <m:t>1−</m:t>
                          </m:r>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𝑦</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sup>
                      </m:sSup>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Taking the log and summing over the </a:t>
                </a:r>
                <a14:m>
                  <m:oMath xmlns:m="http://schemas.openxmlformats.org/officeDocument/2006/math">
                    <m:r>
                      <a:rPr lang="en-US" sz="2800" i="1">
                        <a:latin typeface="Cambria Math" panose="02040503050406030204" pitchFamily="18" charset="0"/>
                        <a:ea typeface="Cambria Math" panose="02040503050406030204" pitchFamily="18" charset="0"/>
                        <a:cs typeface="Segoe UI" panose="020B0502040204020203" pitchFamily="34" charset="0"/>
                      </a:rPr>
                      <m:t>𝑛</m:t>
                    </m:r>
                  </m:oMath>
                </a14:m>
                <a:r>
                  <a:rPr lang="en-US" sz="2800" dirty="0">
                    <a:latin typeface="+mn-lt"/>
                    <a:cs typeface="Segoe UI" panose="020B0502040204020203" pitchFamily="34" charset="0"/>
                  </a:rPr>
                  <a:t> samples gives the </a:t>
                </a:r>
                <a:r>
                  <a:rPr lang="en-US" sz="2800" b="1" dirty="0">
                    <a:latin typeface="+mn-lt"/>
                    <a:cs typeface="Segoe UI" panose="020B0502040204020203" pitchFamily="34" charset="0"/>
                  </a:rPr>
                  <a:t>binary cross-entropy</a:t>
                </a:r>
                <a:endParaRPr lang="en-US" sz="28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𝐻</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𝑃</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𝑄</m:t>
                          </m:r>
                        </m:e>
                      </m:d>
                      <m:r>
                        <a:rPr lang="en-US" sz="2800" b="0" i="1" smtClean="0">
                          <a:latin typeface="Cambria Math" panose="02040503050406030204" pitchFamily="18" charset="0"/>
                          <a:ea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𝐸</m:t>
                          </m:r>
                        </m:e>
                        <m:sub>
                          <m:r>
                            <a:rPr lang="en-US" sz="2800" i="1">
                              <a:latin typeface="Cambria Math" panose="02040503050406030204" pitchFamily="18" charset="0"/>
                              <a:cs typeface="Segoe UI" panose="020B0502040204020203" pitchFamily="34" charset="0"/>
                            </a:rPr>
                            <m:t>𝑝</m:t>
                          </m:r>
                        </m:sub>
                      </m:sSub>
                      <m:d>
                        <m:dPr>
                          <m:begChr m:val="["/>
                          <m:endChr m:val="]"/>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𝑙𝑜𝑔</m:t>
                              </m:r>
                            </m:e>
                            <m:sub>
                              <m:r>
                                <a:rPr lang="en-US" sz="2800" i="1">
                                  <a:latin typeface="Cambria Math" panose="02040503050406030204" pitchFamily="18" charset="0"/>
                                  <a:cs typeface="Segoe UI" panose="020B0502040204020203" pitchFamily="34" charset="0"/>
                                </a:rPr>
                                <m:t>2</m:t>
                              </m:r>
                            </m:sub>
                          </m:sSub>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𝑞</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𝑥</m:t>
                                  </m:r>
                                </m:e>
                              </m:d>
                            </m:e>
                          </m:d>
                        </m:e>
                      </m:d>
                      <m:r>
                        <a:rPr lang="en-US" sz="2800" i="1">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f>
                        <m:fPr>
                          <m:ctrlPr>
                            <a:rPr lang="en-US" sz="2800" i="1">
                              <a:latin typeface="Cambria Math" panose="02040503050406030204" pitchFamily="18" charset="0"/>
                              <a:ea typeface="Cambria Math" panose="02040503050406030204" pitchFamily="18" charset="0"/>
                              <a:cs typeface="Segoe UI" panose="020B0502040204020203" pitchFamily="34" charset="0"/>
                            </a:rPr>
                          </m:ctrlPr>
                        </m:fPr>
                        <m:num>
                          <m:r>
                            <a:rPr lang="en-US" sz="2800" i="1">
                              <a:latin typeface="Cambria Math" panose="02040503050406030204" pitchFamily="18" charset="0"/>
                              <a:ea typeface="Cambria Math" panose="02040503050406030204" pitchFamily="18" charset="0"/>
                              <a:cs typeface="Segoe UI" panose="020B0502040204020203" pitchFamily="34" charset="0"/>
                            </a:rPr>
                            <m:t>1</m:t>
                          </m:r>
                        </m:num>
                        <m:den>
                          <m:r>
                            <a:rPr lang="en-US" sz="2800" b="0" i="1" smtClean="0">
                              <a:latin typeface="Cambria Math" panose="02040503050406030204" pitchFamily="18" charset="0"/>
                              <a:ea typeface="Cambria Math" panose="02040503050406030204" pitchFamily="18" charset="0"/>
                              <a:cs typeface="Segoe UI" panose="020B0502040204020203" pitchFamily="34" charset="0"/>
                            </a:rPr>
                            <m:t>𝑛</m:t>
                          </m:r>
                        </m:den>
                      </m:f>
                      <m:nary>
                        <m:naryPr>
                          <m:chr m:val="∑"/>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naryPr>
                        <m:sub>
                          <m:r>
                            <m:rPr>
                              <m:brk m:alnAt="23"/>
                            </m:rPr>
                            <a:rPr lang="en-US" sz="2800" b="0" i="1" smtClean="0">
                              <a:latin typeface="Cambria Math" panose="02040503050406030204" pitchFamily="18" charset="0"/>
                              <a:ea typeface="Cambria Math" panose="02040503050406030204" pitchFamily="18" charset="0"/>
                              <a:cs typeface="Segoe UI" panose="020B0502040204020203" pitchFamily="34" charset="0"/>
                            </a:rPr>
                            <m:t>𝑖</m:t>
                          </m:r>
                          <m:r>
                            <a:rPr lang="en-US" sz="2800" b="0" i="1" smtClean="0">
                              <a:latin typeface="Cambria Math" panose="02040503050406030204" pitchFamily="18" charset="0"/>
                              <a:ea typeface="Cambria Math" panose="02040503050406030204" pitchFamily="18" charset="0"/>
                              <a:cs typeface="Segoe UI" panose="020B0502040204020203" pitchFamily="34" charset="0"/>
                            </a:rPr>
                            <m:t>=1</m:t>
                          </m:r>
                        </m:sub>
                        <m:sup>
                          <m:r>
                            <a:rPr lang="en-US" sz="2800" b="0" i="1" smtClean="0">
                              <a:latin typeface="Cambria Math" panose="02040503050406030204" pitchFamily="18" charset="0"/>
                              <a:ea typeface="Cambria Math" panose="02040503050406030204" pitchFamily="18" charset="0"/>
                              <a:cs typeface="Segoe UI" panose="020B0502040204020203" pitchFamily="34" charset="0"/>
                            </a:rPr>
                            <m:t>𝑛</m:t>
                          </m:r>
                        </m:sup>
                        <m:e>
                          <m:r>
                            <a:rPr lang="en-US" sz="2800" b="0" i="1" smtClean="0">
                              <a:latin typeface="Cambria Math" panose="02040503050406030204" pitchFamily="18" charset="0"/>
                              <a:ea typeface="Cambria Math" panose="02040503050406030204" pitchFamily="18" charset="0"/>
                              <a:cs typeface="Segoe UI" panose="020B0502040204020203" pitchFamily="34" charset="0"/>
                            </a:rPr>
                            <m:t> </m:t>
                          </m:r>
                        </m:e>
                      </m:nary>
                      <m:d>
                        <m:dPr>
                          <m:begChr m:val="["/>
                          <m:endChr m:val="]"/>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dPr>
                        <m:e>
                          <m:sSub>
                            <m:sSubPr>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ea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ea typeface="Cambria Math" panose="02040503050406030204" pitchFamily="18" charset="0"/>
                                  <a:cs typeface="Segoe UI" panose="020B0502040204020203" pitchFamily="34" charset="0"/>
                                </a:rPr>
                                <m:t>𝑖</m:t>
                              </m:r>
                            </m:sub>
                          </m:sSub>
                          <m:func>
                            <m:funcPr>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funcPr>
                            <m:fName>
                              <m:r>
                                <m:rPr>
                                  <m:sty m:val="p"/>
                                </m:rPr>
                                <a:rPr lang="en-US" sz="2800" b="0" i="0" smtClean="0">
                                  <a:latin typeface="Cambria Math" panose="02040503050406030204" pitchFamily="18" charset="0"/>
                                  <a:ea typeface="Cambria Math" panose="02040503050406030204" pitchFamily="18" charset="0"/>
                                  <a:cs typeface="Segoe UI" panose="020B0502040204020203" pitchFamily="34" charset="0"/>
                                </a:rPr>
                                <m:t>log</m:t>
                              </m:r>
                            </m:fName>
                            <m:e>
                              <m:sSub>
                                <m:sSubPr>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ea typeface="Cambria Math" panose="02040503050406030204" pitchFamily="18" charset="0"/>
                                      <a:cs typeface="Segoe UI" panose="020B0502040204020203" pitchFamily="34" charset="0"/>
                                    </a:rPr>
                                    <m:t>𝑝</m:t>
                                  </m:r>
                                </m:e>
                                <m:sub>
                                  <m:r>
                                    <a:rPr lang="en-US" sz="2800" b="0" i="1" smtClean="0">
                                      <a:latin typeface="Cambria Math" panose="02040503050406030204" pitchFamily="18" charset="0"/>
                                      <a:ea typeface="Cambria Math" panose="02040503050406030204" pitchFamily="18" charset="0"/>
                                      <a:cs typeface="Segoe UI" panose="020B0502040204020203" pitchFamily="34" charset="0"/>
                                    </a:rPr>
                                    <m:t>𝑖</m:t>
                                  </m:r>
                                </m:sub>
                              </m:sSub>
                            </m:e>
                          </m:func>
                          <m:r>
                            <a:rPr lang="en-US" sz="2800" b="0" i="1" smtClean="0">
                              <a:latin typeface="Cambria Math" panose="02040503050406030204" pitchFamily="18" charset="0"/>
                              <a:ea typeface="Cambria Math" panose="02040503050406030204" pitchFamily="18" charset="0"/>
                              <a:cs typeface="Segoe UI" panose="020B0502040204020203" pitchFamily="34" charset="0"/>
                            </a:rPr>
                            <m:t>+</m:t>
                          </m:r>
                          <m:d>
                            <m:dPr>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ea typeface="Cambria Math" panose="02040503050406030204" pitchFamily="18" charset="0"/>
                                  <a:cs typeface="Segoe UI" panose="020B0502040204020203" pitchFamily="34" charset="0"/>
                                </a:rPr>
                                <m:t>1−</m:t>
                              </m:r>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𝑦</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e>
                          </m:d>
                          <m:func>
                            <m:funcPr>
                              <m:ctrlPr>
                                <a:rPr lang="en-US" sz="2800" i="1">
                                  <a:latin typeface="Cambria Math" panose="02040503050406030204" pitchFamily="18" charset="0"/>
                                  <a:ea typeface="Cambria Math" panose="02040503050406030204" pitchFamily="18" charset="0"/>
                                  <a:cs typeface="Segoe UI" panose="020B0502040204020203" pitchFamily="34" charset="0"/>
                                </a:rPr>
                              </m:ctrlPr>
                            </m:funcPr>
                            <m:fName>
                              <m:r>
                                <m:rPr>
                                  <m:sty m:val="p"/>
                                </m:rPr>
                                <a:rPr lang="en-US" sz="2800">
                                  <a:latin typeface="Cambria Math" panose="02040503050406030204" pitchFamily="18" charset="0"/>
                                  <a:ea typeface="Cambria Math" panose="02040503050406030204" pitchFamily="18" charset="0"/>
                                  <a:cs typeface="Segoe UI" panose="020B0502040204020203" pitchFamily="34" charset="0"/>
                                </a:rPr>
                                <m:t>log</m:t>
                              </m:r>
                            </m:fName>
                            <m:e>
                              <m:d>
                                <m:d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ea typeface="Cambria Math" panose="02040503050406030204" pitchFamily="18" charset="0"/>
                                      <a:cs typeface="Segoe UI" panose="020B0502040204020203" pitchFamily="34" charset="0"/>
                                    </a:rPr>
                                    <m:t>1−</m:t>
                                  </m:r>
                                  <m:sSub>
                                    <m:sSubPr>
                                      <m:ctrlPr>
                                        <a:rPr lang="en-US" sz="2800" i="1">
                                          <a:latin typeface="Cambria Math" panose="02040503050406030204" pitchFamily="18" charset="0"/>
                                          <a:ea typeface="Cambria Math" panose="02040503050406030204" pitchFamily="18" charset="0"/>
                                          <a:cs typeface="Segoe UI" panose="020B0502040204020203" pitchFamily="34" charset="0"/>
                                        </a:rPr>
                                      </m:ctrlPr>
                                    </m:sSubPr>
                                    <m:e>
                                      <m:r>
                                        <a:rPr lang="en-US" sz="2800" i="1">
                                          <a:latin typeface="Cambria Math" panose="02040503050406030204" pitchFamily="18" charset="0"/>
                                          <a:ea typeface="Cambria Math" panose="02040503050406030204" pitchFamily="18" charset="0"/>
                                          <a:cs typeface="Segoe UI" panose="020B0502040204020203" pitchFamily="34" charset="0"/>
                                        </a:rPr>
                                        <m:t>𝑝</m:t>
                                      </m:r>
                                    </m:e>
                                    <m:sub>
                                      <m:r>
                                        <a:rPr lang="en-US" sz="2800" i="1">
                                          <a:latin typeface="Cambria Math" panose="02040503050406030204" pitchFamily="18" charset="0"/>
                                          <a:ea typeface="Cambria Math" panose="02040503050406030204" pitchFamily="18" charset="0"/>
                                          <a:cs typeface="Segoe UI" panose="020B0502040204020203" pitchFamily="34" charset="0"/>
                                        </a:rPr>
                                        <m:t>𝑖</m:t>
                                      </m:r>
                                    </m:sub>
                                  </m:sSub>
                                </m:e>
                              </m:d>
                            </m:e>
                          </m:func>
                        </m:e>
                      </m:d>
                    </m:oMath>
                  </m:oMathPara>
                </a14:m>
                <a:endParaRPr lang="en-US" sz="2800" dirty="0">
                  <a:latin typeface="+mn-lt"/>
                  <a:cs typeface="Segoe UI" panose="020B0502040204020203" pitchFamily="34" charset="0"/>
                </a:endParaRPr>
              </a:p>
            </p:txBody>
          </p:sp>
        </mc:Choice>
        <mc:Fallback>
          <p:sp>
            <p:nvSpPr>
              <p:cNvPr id="10" name="Content Placeholder 2">
                <a:extLst>
                  <a:ext uri="{FF2B5EF4-FFF2-40B4-BE49-F238E27FC236}">
                    <a16:creationId xmlns:a16="http://schemas.microsoft.com/office/drawing/2014/main" id="{6B72A171-9E8E-F0DF-6A28-4C818B88D62C}"/>
                  </a:ext>
                </a:extLst>
              </p:cNvPr>
              <p:cNvSpPr txBox="1">
                <a:spLocks noRot="1" noChangeAspect="1" noMove="1" noResize="1" noEditPoints="1" noAdjustHandles="1" noChangeArrowheads="1" noChangeShapeType="1" noTextEdit="1"/>
              </p:cNvSpPr>
              <p:nvPr/>
            </p:nvSpPr>
            <p:spPr>
              <a:xfrm>
                <a:off x="903352" y="1245701"/>
                <a:ext cx="11000594" cy="5332753"/>
              </a:xfrm>
              <a:prstGeom prst="rect">
                <a:avLst/>
              </a:prstGeom>
              <a:blipFill>
                <a:blip r:embed="rId3"/>
                <a:stretch>
                  <a:fillRect l="-1108" t="-1029"/>
                </a:stretch>
              </a:blipFill>
            </p:spPr>
            <p:txBody>
              <a:bodyPr/>
              <a:lstStyle/>
              <a:p>
                <a:r>
                  <a:rPr lang="en-US">
                    <a:noFill/>
                  </a:rPr>
                  <a:t> </a:t>
                </a:r>
              </a:p>
            </p:txBody>
          </p:sp>
        </mc:Fallback>
      </mc:AlternateContent>
    </p:spTree>
    <p:extLst>
      <p:ext uri="{BB962C8B-B14F-4D97-AF65-F5344CB8AC3E}">
        <p14:creationId xmlns:p14="http://schemas.microsoft.com/office/powerpoint/2010/main" val="416677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53A2-598A-4DD7-80C8-28094305E690}"/>
              </a:ext>
            </a:extLst>
          </p:cNvPr>
          <p:cNvSpPr>
            <a:spLocks noGrp="1"/>
          </p:cNvSpPr>
          <p:nvPr>
            <p:ph type="title"/>
          </p:nvPr>
        </p:nvSpPr>
        <p:spPr>
          <a:xfrm>
            <a:off x="379514" y="182215"/>
            <a:ext cx="11524432" cy="1063487"/>
          </a:xfrm>
        </p:spPr>
        <p:txBody>
          <a:bodyPr>
            <a:normAutofit/>
          </a:bodyPr>
          <a:lstStyle/>
          <a:p>
            <a:r>
              <a:rPr lang="en-US" sz="4000" dirty="0">
                <a:latin typeface="Segoe UI" panose="020B0502040204020203" pitchFamily="34" charset="0"/>
                <a:cs typeface="Segoe UI" panose="020B0502040204020203" pitchFamily="34" charset="0"/>
              </a:rPr>
              <a:t>Loss Functions for Training Neural Networks</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5365446E-D017-44C8-923A-238A368AB6D5}"/>
                  </a:ext>
                </a:extLst>
              </p:cNvPr>
              <p:cNvSpPr txBox="1">
                <a:spLocks/>
              </p:cNvSpPr>
              <p:nvPr/>
            </p:nvSpPr>
            <p:spPr>
              <a:xfrm>
                <a:off x="379514" y="857952"/>
                <a:ext cx="11524432" cy="5542847"/>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mn-lt"/>
                    <a:cs typeface="Segoe UI" panose="020B0502040204020203" pitchFamily="34" charset="0"/>
                  </a:rPr>
                  <a:t>Example, consider the case of </a:t>
                </a:r>
                <a:r>
                  <a:rPr lang="en-US" sz="2800" b="1" dirty="0">
                    <a:latin typeface="+mn-lt"/>
                    <a:cs typeface="Segoe UI" panose="020B0502040204020203" pitchFamily="34" charset="0"/>
                  </a:rPr>
                  <a:t>Gaussian likelihood</a:t>
                </a:r>
                <a:r>
                  <a:rPr lang="en-US" sz="2800" dirty="0">
                    <a:latin typeface="+mn-lt"/>
                    <a:cs typeface="Segoe UI" panose="020B0502040204020203" pitchFamily="34" charset="0"/>
                  </a:rPr>
                  <a:t> for an approximation, </a:t>
                </a:r>
                <a14:m>
                  <m:oMath xmlns:m="http://schemas.openxmlformats.org/officeDocument/2006/math">
                    <m:r>
                      <a:rPr lang="en-US" sz="2800" i="1">
                        <a:latin typeface="Cambria Math" panose="02040503050406030204" pitchFamily="18" charset="0"/>
                        <a:cs typeface="Segoe UI" panose="020B0502040204020203" pitchFamily="34" charset="0"/>
                      </a:rPr>
                      <m:t>𝑓</m:t>
                    </m:r>
                    <m:d>
                      <m:dPr>
                        <m:ctrlPr>
                          <a:rPr lang="en-US" sz="2800" i="1">
                            <a:latin typeface="Cambria Math" panose="02040503050406030204" pitchFamily="18" charset="0"/>
                            <a:cs typeface="Segoe UI" panose="020B0502040204020203" pitchFamily="34" charset="0"/>
                          </a:rPr>
                        </m:ctrlPr>
                      </m:dPr>
                      <m:e>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ea typeface="Cambria Math" panose="02040503050406030204" pitchFamily="18" charset="0"/>
                            <a:cs typeface="Segoe UI" panose="020B0502040204020203" pitchFamily="34" charset="0"/>
                          </a:rPr>
                          <m:t>𝜎</m:t>
                        </m:r>
                      </m:e>
                    </m:d>
                  </m:oMath>
                </a14:m>
                <a:r>
                  <a:rPr lang="en-US" sz="2800" dirty="0">
                    <a:latin typeface="+mn-lt"/>
                    <a:cs typeface="Segoe UI" panose="020B0502040204020203" pitchFamily="34" charset="0"/>
                  </a:rPr>
                  <a:t>, with estimated mean, </a:t>
                </a:r>
                <a14:m>
                  <m:oMath xmlns:m="http://schemas.openxmlformats.org/officeDocument/2006/math">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oMath>
                </a14:m>
                <a:r>
                  <a:rPr lang="en-US" sz="2800" dirty="0">
                    <a:latin typeface="+mn-lt"/>
                    <a:cs typeface="Segoe UI" panose="020B0502040204020203" pitchFamily="34" charset="0"/>
                  </a:rPr>
                  <a:t>, for an observation, </a:t>
                </a:r>
                <a14:m>
                  <m:oMath xmlns:m="http://schemas.openxmlformats.org/officeDocument/2006/math">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r>
                      <a:rPr lang="en-US" sz="2800" b="0" i="1" smtClean="0">
                        <a:latin typeface="Cambria Math" panose="02040503050406030204" pitchFamily="18" charset="0"/>
                        <a:cs typeface="Segoe UI" panose="020B0502040204020203" pitchFamily="34" charset="0"/>
                      </a:rPr>
                      <m:t> </m:t>
                    </m:r>
                  </m:oMath>
                </a14:m>
                <a:r>
                  <a:rPr lang="en-US" sz="2800" dirty="0">
                    <a:latin typeface="+mn-lt"/>
                    <a:cs typeface="Segoe UI" panose="020B0502040204020203" pitchFamily="34" charset="0"/>
                  </a:rPr>
                  <a:t>:</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𝑑𝑎𝑡𝑎</m:t>
                          </m:r>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𝑚𝑜𝑑𝑒𝑙</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𝑃</m:t>
                      </m:r>
                      <m:d>
                        <m:dPr>
                          <m:ctrlPr>
                            <a:rPr lang="en-US" sz="2800" b="0" i="1" smtClean="0">
                              <a:latin typeface="Cambria Math" panose="02040503050406030204" pitchFamily="18" charset="0"/>
                              <a:cs typeface="Segoe UI" panose="020B0502040204020203" pitchFamily="34" charset="0"/>
                            </a:rPr>
                          </m:ctrlPr>
                        </m:dPr>
                        <m:e>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e>
                        <m:e>
                          <m:r>
                            <a:rPr lang="en-US" sz="2800" b="0" i="1" smtClean="0">
                              <a:latin typeface="Cambria Math" panose="02040503050406030204" pitchFamily="18" charset="0"/>
                              <a:cs typeface="Segoe UI" panose="020B0502040204020203" pitchFamily="34" charset="0"/>
                            </a:rPr>
                            <m:t>𝑓</m:t>
                          </m:r>
                          <m:d>
                            <m:dPr>
                              <m:ctrlPr>
                                <a:rPr lang="en-US" sz="2800" b="0" i="1" smtClean="0">
                                  <a:latin typeface="Cambria Math" panose="02040503050406030204" pitchFamily="18" charset="0"/>
                                  <a:cs typeface="Segoe UI" panose="020B0502040204020203" pitchFamily="34" charset="0"/>
                                </a:rPr>
                              </m:ctrlPr>
                            </m:dPr>
                            <m:e>
                              <m:acc>
                                <m:accPr>
                                  <m:chr m:val="̂"/>
                                  <m:ctrlPr>
                                    <a:rPr lang="en-US" sz="2800" b="0" i="1" smtClean="0">
                                      <a:latin typeface="Cambria Math" panose="02040503050406030204" pitchFamily="18" charset="0"/>
                                      <a:cs typeface="Segoe UI" panose="020B0502040204020203" pitchFamily="34" charset="0"/>
                                    </a:rPr>
                                  </m:ctrlPr>
                                </m:accPr>
                                <m:e>
                                  <m:r>
                                    <a:rPr lang="en-US" sz="2800" b="0" i="1" smtClean="0">
                                      <a:latin typeface="Cambria Math" panose="02040503050406030204" pitchFamily="18" charset="0"/>
                                      <a:cs typeface="Segoe UI" panose="020B0502040204020203" pitchFamily="34" charset="0"/>
                                    </a:rPr>
                                    <m:t>𝑢</m:t>
                                  </m:r>
                                </m:e>
                              </m:acc>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𝜎</m:t>
                              </m:r>
                            </m:e>
                          </m:d>
                        </m:e>
                      </m:d>
                      <m:r>
                        <a:rPr lang="en-US" sz="2800" b="0" i="1" smtClean="0">
                          <a:latin typeface="Cambria Math" panose="02040503050406030204" pitchFamily="18" charset="0"/>
                          <a:cs typeface="Segoe UI" panose="020B0502040204020203" pitchFamily="34" charset="0"/>
                        </a:rPr>
                        <m:t>=</m:t>
                      </m:r>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1</m:t>
                          </m:r>
                        </m:num>
                        <m:den>
                          <m:r>
                            <a:rPr lang="en-US" sz="2800" b="0" i="1" smtClean="0">
                              <a:latin typeface="Cambria Math" panose="02040503050406030204" pitchFamily="18" charset="0"/>
                              <a:cs typeface="Segoe UI" panose="020B0502040204020203" pitchFamily="34" charset="0"/>
                            </a:rPr>
                            <m:t>2</m:t>
                          </m:r>
                          <m:r>
                            <a:rPr lang="en-US" sz="2800" b="0" i="1" smtClean="0">
                              <a:latin typeface="Cambria Math" panose="02040503050406030204" pitchFamily="18" charset="0"/>
                              <a:ea typeface="Cambria Math" panose="02040503050406030204" pitchFamily="18" charset="0"/>
                              <a:cs typeface="Segoe UI" panose="020B0502040204020203" pitchFamily="34" charset="0"/>
                            </a:rPr>
                            <m:t>𝜋</m:t>
                          </m:r>
                          <m:sSup>
                            <m:sSupPr>
                              <m:ctrlPr>
                                <a:rPr lang="en-US" sz="2800" b="0" i="1" smtClean="0">
                                  <a:latin typeface="Cambria Math" panose="02040503050406030204" pitchFamily="18" charset="0"/>
                                  <a:ea typeface="Cambria Math" panose="02040503050406030204" pitchFamily="18" charset="0"/>
                                  <a:cs typeface="Segoe UI" panose="020B0502040204020203" pitchFamily="34" charset="0"/>
                                </a:rPr>
                              </m:ctrlPr>
                            </m:sSupPr>
                            <m:e>
                              <m:r>
                                <a:rPr lang="en-US" sz="2800" b="0" i="1" smtClean="0">
                                  <a:latin typeface="Cambria Math" panose="02040503050406030204" pitchFamily="18" charset="0"/>
                                  <a:ea typeface="Cambria Math" panose="02040503050406030204" pitchFamily="18" charset="0"/>
                                  <a:cs typeface="Segoe UI" panose="020B0502040204020203" pitchFamily="34" charset="0"/>
                                </a:rPr>
                                <m:t>𝜎</m:t>
                              </m:r>
                            </m:e>
                            <m:sup>
                              <m:r>
                                <a:rPr lang="en-US" sz="2800" b="0" i="1" smtClean="0">
                                  <a:latin typeface="Cambria Math" panose="02040503050406030204" pitchFamily="18" charset="0"/>
                                  <a:ea typeface="Cambria Math" panose="02040503050406030204" pitchFamily="18" charset="0"/>
                                  <a:cs typeface="Segoe UI" panose="020B0502040204020203" pitchFamily="34" charset="0"/>
                                </a:rPr>
                                <m:t>2</m:t>
                              </m:r>
                            </m:sup>
                          </m:sSup>
                        </m:den>
                      </m:f>
                      <m:sSup>
                        <m:sSupPr>
                          <m:ctrlPr>
                            <a:rPr lang="en-US" sz="2800" b="0" i="1" smtClean="0">
                              <a:latin typeface="Cambria Math" panose="02040503050406030204" pitchFamily="18" charset="0"/>
                              <a:cs typeface="Segoe UI" panose="020B0502040204020203" pitchFamily="34" charset="0"/>
                            </a:rPr>
                          </m:ctrlPr>
                        </m:sSupPr>
                        <m:e>
                          <m:r>
                            <a:rPr lang="en-US" sz="2800" b="0" i="1" smtClean="0">
                              <a:latin typeface="Cambria Math" panose="02040503050406030204" pitchFamily="18" charset="0"/>
                              <a:cs typeface="Segoe UI" panose="020B0502040204020203" pitchFamily="34" charset="0"/>
                            </a:rPr>
                            <m:t>𝑒</m:t>
                          </m:r>
                        </m:e>
                        <m:sup>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m:t>
                              </m:r>
                              <m:sSup>
                                <m:sSupPr>
                                  <m:ctrlPr>
                                    <a:rPr lang="en-US" sz="2800" b="0" i="1" smtClean="0">
                                      <a:latin typeface="Cambria Math" panose="02040503050406030204" pitchFamily="18" charset="0"/>
                                      <a:cs typeface="Segoe UI" panose="020B0502040204020203" pitchFamily="34" charset="0"/>
                                    </a:rPr>
                                  </m:ctrlPr>
                                </m:sSupPr>
                                <m:e>
                                  <m:d>
                                    <m:dPr>
                                      <m:ctrlPr>
                                        <a:rPr lang="en-US" sz="2800" b="0" i="1" smtClean="0">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r>
                                        <a:rPr lang="en-US" sz="2800" b="0" i="1" smtClean="0">
                                          <a:latin typeface="Cambria Math" panose="02040503050406030204" pitchFamily="18" charset="0"/>
                                          <a:cs typeface="Segoe UI" panose="020B0502040204020203" pitchFamily="34" charset="0"/>
                                        </a:rPr>
                                        <m:t>−</m:t>
                                      </m:r>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e>
                                  </m:d>
                                </m:e>
                                <m:sup>
                                  <m:r>
                                    <a:rPr lang="en-US" sz="2800" b="0" i="1" smtClean="0">
                                      <a:latin typeface="Cambria Math" panose="02040503050406030204" pitchFamily="18" charset="0"/>
                                      <a:cs typeface="Segoe UI" panose="020B0502040204020203" pitchFamily="34" charset="0"/>
                                    </a:rPr>
                                    <m:t>2</m:t>
                                  </m:r>
                                </m:sup>
                              </m:sSup>
                            </m:num>
                            <m:den>
                              <m:r>
                                <a:rPr lang="en-US" sz="2800" i="1">
                                  <a:latin typeface="Cambria Math" panose="02040503050406030204" pitchFamily="18" charset="0"/>
                                  <a:cs typeface="Segoe UI" panose="020B0502040204020203" pitchFamily="34" charset="0"/>
                                </a:rPr>
                                <m:t>2</m:t>
                              </m:r>
                              <m:sSup>
                                <m:sSupPr>
                                  <m:ctrlPr>
                                    <a:rPr lang="en-US" sz="2800" i="1">
                                      <a:latin typeface="Cambria Math" panose="02040503050406030204" pitchFamily="18" charset="0"/>
                                      <a:ea typeface="Cambria Math" panose="02040503050406030204" pitchFamily="18" charset="0"/>
                                      <a:cs typeface="Segoe UI" panose="020B0502040204020203" pitchFamily="34" charset="0"/>
                                    </a:rPr>
                                  </m:ctrlPr>
                                </m:sSupPr>
                                <m:e>
                                  <m:r>
                                    <a:rPr lang="en-US" sz="2800" i="1">
                                      <a:latin typeface="Cambria Math" panose="02040503050406030204" pitchFamily="18" charset="0"/>
                                      <a:ea typeface="Cambria Math" panose="02040503050406030204" pitchFamily="18" charset="0"/>
                                      <a:cs typeface="Segoe UI" panose="020B0502040204020203" pitchFamily="34" charset="0"/>
                                    </a:rPr>
                                    <m:t>𝜎</m:t>
                                  </m:r>
                                </m:e>
                                <m:sup>
                                  <m:r>
                                    <a:rPr lang="en-US" sz="2800" i="1">
                                      <a:latin typeface="Cambria Math" panose="02040503050406030204" pitchFamily="18" charset="0"/>
                                      <a:ea typeface="Cambria Math" panose="02040503050406030204" pitchFamily="18" charset="0"/>
                                      <a:cs typeface="Segoe UI" panose="020B0502040204020203" pitchFamily="34" charset="0"/>
                                    </a:rPr>
                                    <m:t>2</m:t>
                                  </m:r>
                                </m:sup>
                              </m:sSup>
                            </m:den>
                          </m:f>
                        </m:sup>
                      </m:sSup>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Taking the negative logarithm   </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𝑙𝑜𝑔</m:t>
                      </m:r>
                      <m:d>
                        <m:dPr>
                          <m:ctrlPr>
                            <a:rPr lang="en-US" sz="2800" b="0" i="1" smtClean="0">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𝑑𝑎𝑡𝑎</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𝑚𝑜𝑑𝑒𝑙</m:t>
                              </m:r>
                            </m:e>
                          </m:d>
                        </m:e>
                      </m:d>
                      <m:r>
                        <a:rPr lang="en-US" sz="2800" b="0" i="1" smtClean="0">
                          <a:latin typeface="Cambria Math" panose="02040503050406030204" pitchFamily="18" charset="0"/>
                          <a:cs typeface="Segoe UI" panose="020B0502040204020203" pitchFamily="34" charset="0"/>
                        </a:rPr>
                        <m:t>=−</m:t>
                      </m:r>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1</m:t>
                          </m:r>
                        </m:num>
                        <m:den>
                          <m:r>
                            <a:rPr lang="en-US" sz="2800" b="0" i="1" smtClean="0">
                              <a:latin typeface="Cambria Math" panose="02040503050406030204" pitchFamily="18" charset="0"/>
                              <a:cs typeface="Segoe UI" panose="020B0502040204020203" pitchFamily="34" charset="0"/>
                            </a:rPr>
                            <m:t>2</m:t>
                          </m:r>
                        </m:den>
                      </m:f>
                      <m:d>
                        <m:dPr>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𝑙𝑜𝑔</m:t>
                          </m:r>
                          <m:d>
                            <m:dPr>
                              <m:ctrlPr>
                                <a:rPr lang="en-US" sz="2800" b="0" i="1" smtClean="0">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2</m:t>
                              </m:r>
                              <m:r>
                                <a:rPr lang="en-US" sz="2800" i="1">
                                  <a:latin typeface="Cambria Math" panose="02040503050406030204" pitchFamily="18" charset="0"/>
                                  <a:ea typeface="Cambria Math" panose="02040503050406030204" pitchFamily="18" charset="0"/>
                                  <a:cs typeface="Segoe UI" panose="020B0502040204020203" pitchFamily="34" charset="0"/>
                                </a:rPr>
                                <m:t>𝜋</m:t>
                              </m:r>
                              <m:sSup>
                                <m:sSupPr>
                                  <m:ctrlPr>
                                    <a:rPr lang="en-US" sz="2800" i="1">
                                      <a:latin typeface="Cambria Math" panose="02040503050406030204" pitchFamily="18" charset="0"/>
                                      <a:ea typeface="Cambria Math" panose="02040503050406030204" pitchFamily="18" charset="0"/>
                                      <a:cs typeface="Segoe UI" panose="020B0502040204020203" pitchFamily="34" charset="0"/>
                                    </a:rPr>
                                  </m:ctrlPr>
                                </m:sSupPr>
                                <m:e>
                                  <m:r>
                                    <a:rPr lang="en-US" sz="2800" i="1">
                                      <a:latin typeface="Cambria Math" panose="02040503050406030204" pitchFamily="18" charset="0"/>
                                      <a:ea typeface="Cambria Math" panose="02040503050406030204" pitchFamily="18" charset="0"/>
                                      <a:cs typeface="Segoe UI" panose="020B0502040204020203" pitchFamily="34" charset="0"/>
                                    </a:rPr>
                                    <m:t>𝜎</m:t>
                                  </m:r>
                                </m:e>
                                <m:sup>
                                  <m:r>
                                    <a:rPr lang="en-US" sz="2800" i="1">
                                      <a:latin typeface="Cambria Math" panose="02040503050406030204" pitchFamily="18" charset="0"/>
                                      <a:ea typeface="Cambria Math" panose="02040503050406030204" pitchFamily="18" charset="0"/>
                                      <a:cs typeface="Segoe UI" panose="020B0502040204020203" pitchFamily="34" charset="0"/>
                                    </a:rPr>
                                    <m:t>2</m:t>
                                  </m:r>
                                </m:sup>
                              </m:sSup>
                            </m:e>
                          </m:d>
                        </m:e>
                      </m:d>
                      <m:r>
                        <a:rPr lang="en-US" sz="2800" b="0" i="1" smtClean="0">
                          <a:latin typeface="Cambria Math" panose="02040503050406030204" pitchFamily="18" charset="0"/>
                          <a:cs typeface="Segoe UI" panose="020B0502040204020203" pitchFamily="34" charset="0"/>
                        </a:rPr>
                        <m:t>+</m:t>
                      </m:r>
                      <m:f>
                        <m:fPr>
                          <m:ctrlPr>
                            <a:rPr lang="en-US" sz="2800" i="1">
                              <a:latin typeface="Cambria Math" panose="02040503050406030204" pitchFamily="18" charset="0"/>
                              <a:cs typeface="Segoe UI" panose="020B0502040204020203" pitchFamily="34" charset="0"/>
                            </a:rPr>
                          </m:ctrlPr>
                        </m:fPr>
                        <m:num>
                          <m:sSup>
                            <m:sSupPr>
                              <m:ctrlPr>
                                <a:rPr lang="en-US" sz="2800" i="1" smtClean="0">
                                  <a:latin typeface="Cambria Math" panose="02040503050406030204" pitchFamily="18" charset="0"/>
                                  <a:cs typeface="Segoe UI" panose="020B0502040204020203" pitchFamily="34" charset="0"/>
                                </a:rPr>
                              </m:ctrlPr>
                            </m:sSupPr>
                            <m:e>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r>
                                    <a:rPr lang="en-US" sz="2800" i="1">
                                      <a:latin typeface="Cambria Math" panose="02040503050406030204" pitchFamily="18" charset="0"/>
                                      <a:cs typeface="Segoe UI" panose="020B0502040204020203" pitchFamily="34" charset="0"/>
                                    </a:rPr>
                                    <m:t>−</m:t>
                                  </m:r>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e>
                              </m:d>
                            </m:e>
                            <m:sup>
                              <m:r>
                                <a:rPr lang="en-US" sz="2800" i="1">
                                  <a:latin typeface="Cambria Math" panose="02040503050406030204" pitchFamily="18" charset="0"/>
                                  <a:cs typeface="Segoe UI" panose="020B0502040204020203" pitchFamily="34" charset="0"/>
                                </a:rPr>
                                <m:t>2</m:t>
                              </m:r>
                            </m:sup>
                          </m:sSup>
                        </m:num>
                        <m:den>
                          <m:r>
                            <a:rPr lang="en-US" sz="2800" i="1">
                              <a:latin typeface="Cambria Math" panose="02040503050406030204" pitchFamily="18" charset="0"/>
                              <a:cs typeface="Segoe UI" panose="020B0502040204020203" pitchFamily="34" charset="0"/>
                            </a:rPr>
                            <m:t>2</m:t>
                          </m:r>
                          <m:sSup>
                            <m:sSupPr>
                              <m:ctrlPr>
                                <a:rPr lang="en-US" sz="2800" i="1">
                                  <a:latin typeface="Cambria Math" panose="02040503050406030204" pitchFamily="18" charset="0"/>
                                  <a:ea typeface="Cambria Math" panose="02040503050406030204" pitchFamily="18" charset="0"/>
                                  <a:cs typeface="Segoe UI" panose="020B0502040204020203" pitchFamily="34" charset="0"/>
                                </a:rPr>
                              </m:ctrlPr>
                            </m:sSupPr>
                            <m:e>
                              <m:r>
                                <a:rPr lang="en-US" sz="2800" i="1">
                                  <a:latin typeface="Cambria Math" panose="02040503050406030204" pitchFamily="18" charset="0"/>
                                  <a:ea typeface="Cambria Math" panose="02040503050406030204" pitchFamily="18" charset="0"/>
                                  <a:cs typeface="Segoe UI" panose="020B0502040204020203" pitchFamily="34" charset="0"/>
                                </a:rPr>
                                <m:t>𝜎</m:t>
                              </m:r>
                            </m:e>
                            <m:sup>
                              <m:r>
                                <a:rPr lang="en-US" sz="2800" i="1">
                                  <a:latin typeface="Cambria Math" panose="02040503050406030204" pitchFamily="18" charset="0"/>
                                  <a:ea typeface="Cambria Math" panose="02040503050406030204" pitchFamily="18" charset="0"/>
                                  <a:cs typeface="Segoe UI" panose="020B0502040204020203" pitchFamily="34" charset="0"/>
                                </a:rPr>
                                <m:t>2</m:t>
                              </m:r>
                            </m:sup>
                          </m:sSup>
                        </m:den>
                      </m:f>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Find empirical mean estimate, </a:t>
                </a:r>
                <a14:m>
                  <m:oMath xmlns:m="http://schemas.openxmlformats.org/officeDocument/2006/math">
                    <m:acc>
                      <m:accPr>
                        <m:chr m:val="̂"/>
                        <m:ctrlPr>
                          <a:rPr lang="en-US" sz="2800" i="1" smtClean="0">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oMath>
                </a14:m>
                <a:r>
                  <a:rPr lang="en-US" sz="2800" dirty="0">
                    <a:latin typeface="+mn-lt"/>
                    <a:cs typeface="Segoe UI" panose="020B0502040204020203" pitchFamily="34" charset="0"/>
                  </a:rPr>
                  <a:t>, given set or observations, </a:t>
                </a:r>
                <a14:m>
                  <m:oMath xmlns:m="http://schemas.openxmlformats.org/officeDocument/2006/math">
                    <m:r>
                      <a:rPr lang="en-US" sz="2800" b="0" i="1" smtClean="0">
                        <a:latin typeface="Cambria Math" panose="02040503050406030204" pitchFamily="18" charset="0"/>
                        <a:cs typeface="Segoe UI" panose="020B0502040204020203" pitchFamily="34" charset="0"/>
                      </a:rPr>
                      <m:t>𝑋</m:t>
                    </m:r>
                    <m:r>
                      <a:rPr lang="en-US" sz="2800" b="0" i="1" smtClean="0">
                        <a:latin typeface="Cambria Math" panose="02040503050406030204" pitchFamily="18" charset="0"/>
                        <a:cs typeface="Segoe UI" panose="020B0502040204020203" pitchFamily="34" charset="0"/>
                      </a:rPr>
                      <m:t>=</m:t>
                    </m:r>
                    <m:d>
                      <m:dPr>
                        <m:begChr m:val="{"/>
                        <m:endChr m:val="}"/>
                        <m:ctrlPr>
                          <a:rPr lang="en-US" sz="2800" b="0" i="1" smtClean="0">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1</m:t>
                            </m:r>
                          </m:sub>
                        </m:sSub>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2</m:t>
                            </m:r>
                          </m:sub>
                        </m:sSub>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3</m:t>
                            </m:r>
                          </m:sub>
                        </m:sSub>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𝑛</m:t>
                            </m:r>
                          </m:sub>
                        </m:sSub>
                      </m:e>
                    </m:d>
                  </m:oMath>
                </a14:m>
                <a:r>
                  <a:rPr lang="en-US" sz="2800" dirty="0">
                    <a:latin typeface="+mn-lt"/>
                    <a:cs typeface="Segoe UI" panose="020B0502040204020203" pitchFamily="34" charset="0"/>
                  </a:rPr>
                  <a:t>, by minimizing Gaussian cross-entropy, ignoring the constant terms, which is the </a:t>
                </a:r>
                <a:r>
                  <a:rPr lang="en-US" sz="2800" b="1" dirty="0">
                    <a:latin typeface="+mn-lt"/>
                    <a:cs typeface="Segoe UI" panose="020B0502040204020203" pitchFamily="34" charset="0"/>
                  </a:rPr>
                  <a:t>least squares solution</a:t>
                </a:r>
                <a:r>
                  <a:rPr lang="en-US" sz="2800" dirty="0">
                    <a:latin typeface="+mn-lt"/>
                    <a:cs typeface="Segoe UI" panose="020B0502040204020203" pitchFamily="34" charset="0"/>
                  </a:rPr>
                  <a:t>!</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𝑚𝑖𝑛</m:t>
                      </m:r>
                      <m:d>
                        <m:dPr>
                          <m:ctrlPr>
                            <a:rPr lang="en-US" sz="2800" b="0" i="1" smtClean="0">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𝐻</m:t>
                          </m:r>
                          <m:d>
                            <m:dPr>
                              <m:ctrlPr>
                                <a:rPr lang="en-US" sz="2800" i="1">
                                  <a:latin typeface="Cambria Math" panose="02040503050406030204" pitchFamily="18" charset="0"/>
                                  <a:cs typeface="Segoe UI" panose="020B0502040204020203" pitchFamily="34" charset="0"/>
                                </a:rPr>
                              </m:ctrlPr>
                            </m:dPr>
                            <m:e>
                              <m:r>
                                <a:rPr lang="en-US" sz="2800" i="1">
                                  <a:latin typeface="Cambria Math" panose="02040503050406030204" pitchFamily="18" charset="0"/>
                                  <a:cs typeface="Segoe UI" panose="020B0502040204020203" pitchFamily="34" charset="0"/>
                                </a:rPr>
                                <m:t>𝑃</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𝑄</m:t>
                              </m:r>
                            </m:e>
                          </m:d>
                        </m:e>
                      </m:d>
                      <m:r>
                        <a:rPr lang="en-US" sz="2800" i="1">
                          <a:latin typeface="Cambria Math" panose="02040503050406030204" pitchFamily="18" charset="0"/>
                          <a:ea typeface="Cambria Math" panose="02040503050406030204" pitchFamily="18" charset="0"/>
                          <a:cs typeface="Segoe UI" panose="020B0502040204020203" pitchFamily="34" charset="0"/>
                        </a:rPr>
                        <m:t>⇒</m:t>
                      </m:r>
                      <m:func>
                        <m:func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funcPr>
                        <m:fName>
                          <m:limLow>
                            <m:limLowPr>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limLowPr>
                            <m:e>
                              <m:r>
                                <a:rPr lang="en-US" sz="2800" b="0" i="1" smtClean="0">
                                  <a:latin typeface="Cambria Math" panose="02040503050406030204" pitchFamily="18" charset="0"/>
                                  <a:ea typeface="Cambria Math" panose="02040503050406030204" pitchFamily="18" charset="0"/>
                                  <a:cs typeface="Segoe UI" panose="020B0502040204020203" pitchFamily="34" charset="0"/>
                                </a:rPr>
                                <m:t>𝑎𝑟𝑔</m:t>
                              </m:r>
                              <m:r>
                                <m:rPr>
                                  <m:sty m:val="p"/>
                                </m:rPr>
                                <a:rPr lang="en-US" sz="2800" i="0" smtClean="0">
                                  <a:latin typeface="Cambria Math" panose="02040503050406030204" pitchFamily="18" charset="0"/>
                                  <a:ea typeface="Cambria Math" panose="02040503050406030204" pitchFamily="18" charset="0"/>
                                  <a:cs typeface="Segoe UI" panose="020B0502040204020203" pitchFamily="34" charset="0"/>
                                </a:rPr>
                                <m:t>min</m:t>
                              </m:r>
                            </m:e>
                            <m:lim>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lim>
                          </m:limLow>
                        </m:fName>
                        <m:e>
                          <m:nary>
                            <m:naryPr>
                              <m:chr m:val="∑"/>
                              <m:ctrlPr>
                                <a:rPr lang="en-US" sz="2800" i="1" smtClean="0">
                                  <a:latin typeface="Cambria Math" panose="02040503050406030204" pitchFamily="18" charset="0"/>
                                  <a:ea typeface="Cambria Math" panose="02040503050406030204" pitchFamily="18" charset="0"/>
                                  <a:cs typeface="Segoe UI" panose="020B0502040204020203" pitchFamily="34" charset="0"/>
                                </a:rPr>
                              </m:ctrlPr>
                            </m:naryPr>
                            <m:sub>
                              <m:r>
                                <m:rPr>
                                  <m:brk m:alnAt="23"/>
                                </m:rPr>
                                <a:rPr lang="en-US" sz="2800" b="0" i="1" smtClean="0">
                                  <a:latin typeface="Cambria Math" panose="02040503050406030204" pitchFamily="18" charset="0"/>
                                  <a:ea typeface="Cambria Math" panose="02040503050406030204" pitchFamily="18" charset="0"/>
                                  <a:cs typeface="Segoe UI" panose="020B0502040204020203" pitchFamily="34" charset="0"/>
                                </a:rPr>
                                <m:t>𝑖</m:t>
                              </m:r>
                              <m:r>
                                <a:rPr lang="en-US" sz="2800" b="0" i="1" smtClean="0">
                                  <a:latin typeface="Cambria Math" panose="02040503050406030204" pitchFamily="18" charset="0"/>
                                  <a:ea typeface="Cambria Math" panose="02040503050406030204" pitchFamily="18" charset="0"/>
                                  <a:cs typeface="Segoe UI" panose="020B0502040204020203" pitchFamily="34" charset="0"/>
                                </a:rPr>
                                <m:t>=1</m:t>
                              </m:r>
                            </m:sub>
                            <m:sup>
                              <m:r>
                                <a:rPr lang="en-US" sz="2800" b="0" i="1" smtClean="0">
                                  <a:latin typeface="Cambria Math" panose="02040503050406030204" pitchFamily="18" charset="0"/>
                                  <a:ea typeface="Cambria Math" panose="02040503050406030204" pitchFamily="18" charset="0"/>
                                  <a:cs typeface="Segoe UI" panose="020B0502040204020203" pitchFamily="34" charset="0"/>
                                </a:rPr>
                                <m:t>𝑛</m:t>
                              </m:r>
                            </m:sup>
                            <m:e>
                              <m:sSup>
                                <m:sSupPr>
                                  <m:ctrlPr>
                                    <a:rPr lang="en-US" sz="2800" i="1">
                                      <a:latin typeface="Cambria Math" panose="02040503050406030204" pitchFamily="18" charset="0"/>
                                      <a:cs typeface="Segoe UI" panose="020B0502040204020203" pitchFamily="34" charset="0"/>
                                    </a:rPr>
                                  </m:ctrlPr>
                                </m:sSupPr>
                                <m:e>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r>
                                        <a:rPr lang="en-US" sz="2800" i="1">
                                          <a:latin typeface="Cambria Math" panose="02040503050406030204" pitchFamily="18" charset="0"/>
                                          <a:cs typeface="Segoe UI" panose="020B0502040204020203" pitchFamily="34" charset="0"/>
                                        </a:rPr>
                                        <m:t>−</m:t>
                                      </m:r>
                                      <m:acc>
                                        <m:accPr>
                                          <m:chr m:val="̂"/>
                                          <m:ctrlPr>
                                            <a:rPr lang="en-US" sz="2800" i="1">
                                              <a:latin typeface="Cambria Math" panose="02040503050406030204" pitchFamily="18" charset="0"/>
                                              <a:cs typeface="Segoe UI" panose="020B0502040204020203" pitchFamily="34" charset="0"/>
                                            </a:rPr>
                                          </m:ctrlPr>
                                        </m:accPr>
                                        <m:e>
                                          <m:r>
                                            <a:rPr lang="en-US" sz="2800" i="1">
                                              <a:latin typeface="Cambria Math" panose="02040503050406030204" pitchFamily="18" charset="0"/>
                                              <a:cs typeface="Segoe UI" panose="020B0502040204020203" pitchFamily="34" charset="0"/>
                                            </a:rPr>
                                            <m:t>𝑢</m:t>
                                          </m:r>
                                        </m:e>
                                      </m:acc>
                                    </m:e>
                                  </m:d>
                                </m:e>
                                <m:sup>
                                  <m:r>
                                    <a:rPr lang="en-US" sz="2800" i="1">
                                      <a:latin typeface="Cambria Math" panose="02040503050406030204" pitchFamily="18" charset="0"/>
                                      <a:cs typeface="Segoe UI" panose="020B0502040204020203" pitchFamily="34" charset="0"/>
                                    </a:rPr>
                                    <m:t>2</m:t>
                                  </m:r>
                                </m:sup>
                              </m:sSup>
                            </m:e>
                          </m:nary>
                        </m:e>
                      </m:func>
                    </m:oMath>
                  </m:oMathPara>
                </a14:m>
                <a:endParaRPr lang="en-US" sz="2800" dirty="0">
                  <a:latin typeface="+mn-lt"/>
                  <a:cs typeface="Segoe UI" panose="020B0502040204020203" pitchFamily="34" charset="0"/>
                </a:endParaRPr>
              </a:p>
            </p:txBody>
          </p:sp>
        </mc:Choice>
        <mc:Fallback xmlns="">
          <p:sp>
            <p:nvSpPr>
              <p:cNvPr id="10" name="Content Placeholder 2">
                <a:extLst>
                  <a:ext uri="{FF2B5EF4-FFF2-40B4-BE49-F238E27FC236}">
                    <a16:creationId xmlns:a16="http://schemas.microsoft.com/office/drawing/2014/main" id="{5365446E-D017-44C8-923A-238A368AB6D5}"/>
                  </a:ext>
                </a:extLst>
              </p:cNvPr>
              <p:cNvSpPr txBox="1">
                <a:spLocks noRot="1" noChangeAspect="1" noMove="1" noResize="1" noEditPoints="1" noAdjustHandles="1" noChangeArrowheads="1" noChangeShapeType="1" noTextEdit="1"/>
              </p:cNvSpPr>
              <p:nvPr/>
            </p:nvSpPr>
            <p:spPr>
              <a:xfrm>
                <a:off x="379514" y="857952"/>
                <a:ext cx="11524432" cy="5542847"/>
              </a:xfrm>
              <a:prstGeom prst="rect">
                <a:avLst/>
              </a:prstGeom>
              <a:blipFill>
                <a:blip r:embed="rId3"/>
                <a:stretch>
                  <a:fillRect l="-1058" t="-1100" b="-5721"/>
                </a:stretch>
              </a:blipFill>
            </p:spPr>
            <p:txBody>
              <a:bodyPr/>
              <a:lstStyle/>
              <a:p>
                <a:r>
                  <a:rPr lang="en-US">
                    <a:noFill/>
                  </a:rPr>
                  <a:t> </a:t>
                </a:r>
              </a:p>
            </p:txBody>
          </p:sp>
        </mc:Fallback>
      </mc:AlternateContent>
    </p:spTree>
    <p:extLst>
      <p:ext uri="{BB962C8B-B14F-4D97-AF65-F5344CB8AC3E}">
        <p14:creationId xmlns:p14="http://schemas.microsoft.com/office/powerpoint/2010/main" val="27931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172A5-938E-49B7-9DF3-6D9A4E539C14}"/>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Performance Metrics for Deep NNs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670FF8-606A-466B-9B2C-4529AD5625F8}"/>
                  </a:ext>
                </a:extLst>
              </p:cNvPr>
              <p:cNvSpPr>
                <a:spLocks noGrp="1"/>
              </p:cNvSpPr>
              <p:nvPr>
                <p:ph sz="quarter" idx="10"/>
              </p:nvPr>
            </p:nvSpPr>
            <p:spPr/>
            <p:txBody>
              <a:bodyPr/>
              <a:lstStyle/>
              <a:p>
                <a:pPr marL="0" indent="0">
                  <a:buNone/>
                </a:pPr>
                <a:r>
                  <a:rPr lang="en-US" sz="2800" dirty="0">
                    <a:latin typeface="+mn-lt"/>
                    <a:cs typeface="Segoe UI" panose="020B0502040204020203" pitchFamily="34" charset="0"/>
                  </a:rPr>
                  <a:t>How can we measure the performance of deep neural networks?</a:t>
                </a:r>
              </a:p>
              <a:p>
                <a:pPr>
                  <a:buFont typeface="Wingdings" panose="05000000000000000000" pitchFamily="2" charset="2"/>
                  <a:buChar char="§"/>
                </a:pPr>
                <a:r>
                  <a:rPr lang="en-US" sz="2800" dirty="0">
                    <a:latin typeface="+mn-lt"/>
                    <a:cs typeface="Segoe UI" panose="020B0502040204020203" pitchFamily="34" charset="0"/>
                  </a:rPr>
                  <a:t>Use the same metrics used for other machine learning algorithms</a:t>
                </a:r>
              </a:p>
              <a:p>
                <a:pPr>
                  <a:buFont typeface="Wingdings" panose="05000000000000000000" pitchFamily="2" charset="2"/>
                  <a:buChar char="§"/>
                </a:pPr>
                <a:r>
                  <a:rPr lang="en-US" sz="2800" dirty="0">
                    <a:latin typeface="+mn-lt"/>
                    <a:cs typeface="Segoe UI" panose="020B0502040204020203" pitchFamily="34" charset="0"/>
                  </a:rPr>
                  <a:t>RMSE, </a:t>
                </a:r>
                <a14:m>
                  <m:oMath xmlns:m="http://schemas.openxmlformats.org/officeDocument/2006/math">
                    <m:sSup>
                      <m:sSupPr>
                        <m:ctrlPr>
                          <a:rPr lang="en-US" sz="2800" i="1" smtClean="0">
                            <a:latin typeface="Cambria Math" panose="02040503050406030204" pitchFamily="18" charset="0"/>
                            <a:cs typeface="Segoe UI" panose="020B0502040204020203" pitchFamily="34" charset="0"/>
                          </a:rPr>
                        </m:ctrlPr>
                      </m:sSupPr>
                      <m:e>
                        <m:r>
                          <a:rPr lang="en-US" sz="2800" b="0" i="1" smtClean="0">
                            <a:latin typeface="Cambria Math" panose="02040503050406030204" pitchFamily="18" charset="0"/>
                            <a:cs typeface="Segoe UI" panose="020B0502040204020203" pitchFamily="34" charset="0"/>
                          </a:rPr>
                          <m:t>𝑅</m:t>
                        </m:r>
                      </m:e>
                      <m:sup>
                        <m:r>
                          <a:rPr lang="en-US" sz="2800" b="0" i="1" smtClean="0">
                            <a:latin typeface="Cambria Math" panose="02040503050406030204" pitchFamily="18" charset="0"/>
                            <a:cs typeface="Segoe UI" panose="020B0502040204020203" pitchFamily="34" charset="0"/>
                          </a:rPr>
                          <m:t>2</m:t>
                        </m:r>
                      </m:sup>
                    </m:sSup>
                  </m:oMath>
                </a14:m>
                <a:r>
                  <a:rPr lang="en-US" sz="2800" dirty="0">
                    <a:latin typeface="+mn-lt"/>
                    <a:cs typeface="Segoe UI" panose="020B0502040204020203" pitchFamily="34" charset="0"/>
                  </a:rPr>
                  <a:t>, etc. for regression</a:t>
                </a:r>
              </a:p>
              <a:p>
                <a:pPr>
                  <a:buFont typeface="Wingdings" panose="05000000000000000000" pitchFamily="2" charset="2"/>
                  <a:buChar char="§"/>
                </a:pPr>
                <a:r>
                  <a:rPr lang="en-US" sz="2800" dirty="0">
                    <a:latin typeface="+mn-lt"/>
                    <a:cs typeface="Segoe UI" panose="020B0502040204020203" pitchFamily="34" charset="0"/>
                  </a:rPr>
                  <a:t>Accuracy, precision, recall, F1, etc. for classification</a:t>
                </a:r>
              </a:p>
            </p:txBody>
          </p:sp>
        </mc:Choice>
        <mc:Fallback xmlns="">
          <p:sp>
            <p:nvSpPr>
              <p:cNvPr id="3" name="Content Placeholder 2">
                <a:extLst>
                  <a:ext uri="{FF2B5EF4-FFF2-40B4-BE49-F238E27FC236}">
                    <a16:creationId xmlns:a16="http://schemas.microsoft.com/office/drawing/2014/main" id="{B1670FF8-606A-466B-9B2C-4529AD5625F8}"/>
                  </a:ext>
                </a:extLst>
              </p:cNvPr>
              <p:cNvSpPr>
                <a:spLocks noGrp="1" noRot="1" noChangeAspect="1" noMove="1" noResize="1" noEditPoints="1" noAdjustHandles="1" noChangeArrowheads="1" noChangeShapeType="1" noTextEdit="1"/>
              </p:cNvSpPr>
              <p:nvPr>
                <p:ph sz="quarter" idx="10"/>
              </p:nvPr>
            </p:nvSpPr>
            <p:spPr>
              <a:blipFill>
                <a:blip r:embed="rId2"/>
                <a:stretch>
                  <a:fillRect l="-1058" t="-1152"/>
                </a:stretch>
              </a:blipFill>
            </p:spPr>
            <p:txBody>
              <a:bodyPr/>
              <a:lstStyle/>
              <a:p>
                <a:r>
                  <a:rPr lang="en-US">
                    <a:noFill/>
                  </a:rPr>
                  <a:t> </a:t>
                </a:r>
              </a:p>
            </p:txBody>
          </p:sp>
        </mc:Fallback>
      </mc:AlternateContent>
    </p:spTree>
    <p:extLst>
      <p:ext uri="{BB962C8B-B14F-4D97-AF65-F5344CB8AC3E}">
        <p14:creationId xmlns:p14="http://schemas.microsoft.com/office/powerpoint/2010/main" val="45576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10091259" cy="2015419"/>
          </a:xfrm>
        </p:spPr>
        <p:txBody>
          <a:bodyPr>
            <a:normAutofit/>
          </a:bodyPr>
          <a:lstStyle/>
          <a:p>
            <a:r>
              <a:rPr lang="en-US" sz="4400" b="1" dirty="0"/>
              <a:t>Regularization for Deep Learning Models</a:t>
            </a:r>
          </a:p>
        </p:txBody>
      </p:sp>
    </p:spTree>
    <p:extLst>
      <p:ext uri="{BB962C8B-B14F-4D97-AF65-F5344CB8AC3E}">
        <p14:creationId xmlns:p14="http://schemas.microsoft.com/office/powerpoint/2010/main" val="15234806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ontent Placeholder 6"/>
              <p:cNvSpPr>
                <a:spLocks noGrp="1"/>
              </p:cNvSpPr>
              <p:nvPr>
                <p:ph sz="quarter" idx="10"/>
              </p:nvPr>
            </p:nvSpPr>
            <p:spPr>
              <a:xfrm>
                <a:off x="666750" y="1301328"/>
                <a:ext cx="11525250" cy="5290388"/>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Regularization is essential for complex DL models</a:t>
                </a:r>
              </a:p>
              <a:p>
                <a:r>
                  <a:rPr lang="en-GB" sz="2800" dirty="0">
                    <a:latin typeface="+mn-lt"/>
                    <a:ea typeface="Segoe UI" panose="020B0502040204020203" pitchFamily="34" charset="0"/>
                    <a:cs typeface="Segoe UI" panose="020B0502040204020203" pitchFamily="34" charset="0"/>
                  </a:rPr>
                  <a:t>Training deep NN models requires learning very large numbers of parameters</a:t>
                </a:r>
              </a:p>
              <a:p>
                <a:pPr lvl="1">
                  <a:buFont typeface="Wingdings" panose="05000000000000000000" pitchFamily="2" charset="2"/>
                  <a:buChar char="§"/>
                </a:pPr>
                <a:r>
                  <a:rPr lang="en-GB" sz="2400" dirty="0">
                    <a:latin typeface="+mn-lt"/>
                    <a:ea typeface="Segoe UI" panose="020B0502040204020203" pitchFamily="34" charset="0"/>
                    <a:cs typeface="Segoe UI" panose="020B0502040204020203" pitchFamily="34" charset="0"/>
                  </a:rPr>
                  <a:t>Even with large training datasets there are only a few samples per parameters</a:t>
                </a:r>
              </a:p>
              <a:p>
                <a:r>
                  <a:rPr lang="en-GB" sz="2800" dirty="0">
                    <a:latin typeface="+mn-lt"/>
                    <a:ea typeface="Segoe UI" panose="020B0502040204020203" pitchFamily="34" charset="0"/>
                    <a:cs typeface="Segoe UI" panose="020B0502040204020203" pitchFamily="34" charset="0"/>
                  </a:rPr>
                  <a:t>Large number of parameters </a:t>
                </a:r>
                <a14:m>
                  <m:oMath xmlns:m="http://schemas.openxmlformats.org/officeDocument/2006/math">
                    <m:r>
                      <a:rPr lang="en-GB" sz="2800" i="1" smtClean="0">
                        <a:latin typeface="Cambria Math" panose="02040503050406030204" pitchFamily="18" charset="0"/>
                        <a:ea typeface="Cambria Math" panose="02040503050406030204" pitchFamily="18" charset="0"/>
                        <a:cs typeface="Segoe UI" panose="020B0502040204020203" pitchFamily="34" charset="0"/>
                      </a:rPr>
                      <m:t>⟹</m:t>
                    </m:r>
                  </m:oMath>
                </a14:m>
                <a:r>
                  <a:rPr lang="en-GB" sz="2800" dirty="0">
                    <a:latin typeface="+mn-lt"/>
                    <a:ea typeface="Segoe UI" panose="020B0502040204020203" pitchFamily="34" charset="0"/>
                    <a:cs typeface="Segoe UI" panose="020B0502040204020203" pitchFamily="34" charset="0"/>
                  </a:rPr>
                  <a:t> </a:t>
                </a:r>
                <a:r>
                  <a:rPr lang="en-GB" sz="2800" b="1" dirty="0">
                    <a:latin typeface="+mn-lt"/>
                    <a:ea typeface="Segoe UI" panose="020B0502040204020203" pitchFamily="34" charset="0"/>
                    <a:cs typeface="Segoe UI" panose="020B0502040204020203" pitchFamily="34" charset="0"/>
                  </a:rPr>
                  <a:t>high chance of over-fitting</a:t>
                </a:r>
                <a:r>
                  <a:rPr lang="en-GB" sz="2800" dirty="0">
                    <a:latin typeface="+mn-lt"/>
                    <a:ea typeface="Segoe UI" panose="020B0502040204020203" pitchFamily="34" charset="0"/>
                    <a:cs typeface="Segoe UI" panose="020B0502040204020203" pitchFamily="34" charset="0"/>
                  </a:rPr>
                  <a:t> ML  models </a:t>
                </a:r>
              </a:p>
              <a:p>
                <a:pPr lvl="1">
                  <a:buFont typeface="Wingdings" panose="05000000000000000000" pitchFamily="2" charset="2"/>
                  <a:buChar char="§"/>
                </a:pPr>
                <a:r>
                  <a:rPr lang="en-GB" sz="2400" dirty="0">
                    <a:latin typeface="+mn-lt"/>
                    <a:ea typeface="Segoe UI" panose="020B0502040204020203" pitchFamily="34" charset="0"/>
                    <a:cs typeface="Segoe UI" panose="020B0502040204020203" pitchFamily="34" charset="0"/>
                  </a:rPr>
                  <a:t>Over-fit models learn the training data too well </a:t>
                </a:r>
              </a:p>
              <a:p>
                <a:pPr lvl="1">
                  <a:buFont typeface="Wingdings" panose="05000000000000000000" pitchFamily="2" charset="2"/>
                  <a:buChar char="§"/>
                </a:pPr>
                <a:r>
                  <a:rPr lang="en-GB" sz="2400" b="1" dirty="0">
                    <a:latin typeface="+mn-lt"/>
                    <a:ea typeface="Segoe UI" panose="020B0502040204020203" pitchFamily="34" charset="0"/>
                    <a:cs typeface="Segoe UI" panose="020B0502040204020203" pitchFamily="34" charset="0"/>
                  </a:rPr>
                  <a:t>Over-fit models do not generalize</a:t>
                </a:r>
              </a:p>
              <a:p>
                <a:pPr lvl="1">
                  <a:buFont typeface="Wingdings" panose="05000000000000000000" pitchFamily="2" charset="2"/>
                  <a:buChar char="§"/>
                </a:pPr>
                <a:r>
                  <a:rPr lang="en-GB" sz="2400" dirty="0">
                    <a:latin typeface="+mn-lt"/>
                    <a:ea typeface="Segoe UI" panose="020B0502040204020203" pitchFamily="34" charset="0"/>
                    <a:cs typeface="Segoe UI" panose="020B0502040204020203" pitchFamily="34" charset="0"/>
                  </a:rPr>
                  <a:t>Over-fit models have poor response to input noise</a:t>
                </a:r>
              </a:p>
              <a:p>
                <a:r>
                  <a:rPr lang="en-GB" sz="2800" dirty="0">
                    <a:latin typeface="+mn-lt"/>
                    <a:ea typeface="Segoe UI" panose="020B0502040204020203" pitchFamily="34" charset="0"/>
                    <a:cs typeface="Segoe UI" panose="020B0502040204020203" pitchFamily="34" charset="0"/>
                  </a:rPr>
                  <a:t>To prevent over-fitting, we apply </a:t>
                </a:r>
                <a:r>
                  <a:rPr lang="en-GB" sz="2800" b="1" dirty="0">
                    <a:latin typeface="+mn-lt"/>
                    <a:ea typeface="Segoe UI" panose="020B0502040204020203" pitchFamily="34" charset="0"/>
                    <a:cs typeface="Segoe UI" panose="020B0502040204020203" pitchFamily="34" charset="0"/>
                  </a:rPr>
                  <a:t>regularization methods</a:t>
                </a: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mc:Choice>
        <mc:Fallback xmlns="">
          <p:sp>
            <p:nvSpPr>
              <p:cNvPr id="7" name="Content Placeholder 6"/>
              <p:cNvSpPr>
                <a:spLocks noGrp="1" noRot="1" noChangeAspect="1" noMove="1" noResize="1" noEditPoints="1" noAdjustHandles="1" noChangeArrowheads="1" noChangeShapeType="1" noTextEdit="1"/>
              </p:cNvSpPr>
              <p:nvPr>
                <p:ph sz="quarter" idx="10"/>
              </p:nvPr>
            </p:nvSpPr>
            <p:spPr>
              <a:xfrm>
                <a:off x="666750" y="1301328"/>
                <a:ext cx="11525250" cy="5290388"/>
              </a:xfrm>
              <a:blipFill>
                <a:blip r:embed="rId3"/>
                <a:stretch>
                  <a:fillRect l="-1058" t="-1037"/>
                </a:stretch>
              </a:blipFill>
            </p:spPr>
            <p:txBody>
              <a:bodyPr/>
              <a:lstStyle/>
              <a:p>
                <a:r>
                  <a:rPr lang="en-US">
                    <a:noFill/>
                  </a:rPr>
                  <a:t> </a:t>
                </a:r>
              </a:p>
            </p:txBody>
          </p:sp>
        </mc:Fallback>
      </mc:AlternateContent>
      <p:sp>
        <p:nvSpPr>
          <p:cNvPr id="2" name="Title 1"/>
          <p:cNvSpPr>
            <a:spLocks noGrp="1"/>
          </p:cNvSpPr>
          <p:nvPr>
            <p:ph type="title"/>
          </p:nvPr>
        </p:nvSpPr>
        <p:spPr>
          <a:xfrm>
            <a:off x="753626" y="1"/>
            <a:ext cx="11150219" cy="1388226"/>
          </a:xfrm>
        </p:spPr>
        <p:txBody>
          <a:bodyPr>
            <a:normAutofit/>
          </a:bodyPr>
          <a:lstStyle/>
          <a:p>
            <a:br>
              <a:rPr lang="en-US" dirty="0">
                <a:latin typeface="Segoe"/>
              </a:rPr>
            </a:br>
            <a:r>
              <a:rPr lang="en-US" sz="4000" dirty="0">
                <a:latin typeface="Segoe UI" panose="020B0502040204020203" pitchFamily="34" charset="0"/>
                <a:cs typeface="Segoe UI" panose="020B0502040204020203" pitchFamily="34" charset="0"/>
              </a:rPr>
              <a:t>Regularization for Deep Learning</a:t>
            </a:r>
          </a:p>
        </p:txBody>
      </p:sp>
    </p:spTree>
    <p:extLst>
      <p:ext uri="{BB962C8B-B14F-4D97-AF65-F5344CB8AC3E}">
        <p14:creationId xmlns:p14="http://schemas.microsoft.com/office/powerpoint/2010/main" val="147640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666750" y="1301328"/>
            <a:ext cx="11525250" cy="5290388"/>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Regularization is essential for complex DL models</a:t>
            </a:r>
          </a:p>
          <a:p>
            <a:r>
              <a:rPr lang="en-GB" sz="2800" dirty="0">
                <a:latin typeface="+mn-lt"/>
                <a:ea typeface="Segoe UI" panose="020B0502040204020203" pitchFamily="34" charset="0"/>
                <a:cs typeface="Segoe UI" panose="020B0502040204020203" pitchFamily="34" charset="0"/>
              </a:rPr>
              <a:t>Classical regularization routinely applied</a:t>
            </a:r>
          </a:p>
          <a:p>
            <a:pPr lvl="1"/>
            <a:r>
              <a:rPr lang="en-GB" sz="2400" b="1" dirty="0">
                <a:latin typeface="+mn-lt"/>
                <a:ea typeface="Segoe UI" panose="020B0502040204020203" pitchFamily="34" charset="0"/>
                <a:cs typeface="Segoe UI" panose="020B0502040204020203" pitchFamily="34" charset="0"/>
              </a:rPr>
              <a:t>L2, L1, </a:t>
            </a:r>
            <a:r>
              <a:rPr lang="en-GB" sz="2400" b="1" dirty="0" err="1">
                <a:latin typeface="+mn-lt"/>
                <a:ea typeface="Segoe UI" panose="020B0502040204020203" pitchFamily="34" charset="0"/>
                <a:cs typeface="Segoe UI" panose="020B0502040204020203" pitchFamily="34" charset="0"/>
              </a:rPr>
              <a:t>ElasticNet</a:t>
            </a:r>
            <a:endParaRPr lang="en-GB" sz="2400" dirty="0">
              <a:latin typeface="+mn-lt"/>
              <a:ea typeface="Segoe UI" panose="020B0502040204020203" pitchFamily="34" charset="0"/>
              <a:cs typeface="Segoe UI" panose="020B0502040204020203" pitchFamily="34" charset="0"/>
            </a:endParaRPr>
          </a:p>
          <a:p>
            <a:pPr lvl="1"/>
            <a:r>
              <a:rPr lang="en-GB" sz="2400" b="1" dirty="0">
                <a:latin typeface="+mn-lt"/>
                <a:ea typeface="Segoe UI" panose="020B0502040204020203" pitchFamily="34" charset="0"/>
                <a:cs typeface="Segoe UI" panose="020B0502040204020203" pitchFamily="34" charset="0"/>
              </a:rPr>
              <a:t>Reduced learning rate – </a:t>
            </a:r>
            <a:r>
              <a:rPr lang="en-GB" sz="2400" b="1" dirty="0">
                <a:solidFill>
                  <a:srgbClr val="C00000"/>
                </a:solidFill>
                <a:latin typeface="+mn-lt"/>
                <a:ea typeface="Segoe UI" panose="020B0502040204020203" pitchFamily="34" charset="0"/>
                <a:cs typeface="Segoe UI" panose="020B0502040204020203" pitchFamily="34" charset="0"/>
              </a:rPr>
              <a:t>Key to training NN models!</a:t>
            </a:r>
          </a:p>
          <a:p>
            <a:pPr lvl="1"/>
            <a:r>
              <a:rPr lang="en-GB" sz="2400" b="1" dirty="0">
                <a:latin typeface="+mn-lt"/>
                <a:ea typeface="Segoe UI" panose="020B0502040204020203" pitchFamily="34" charset="0"/>
                <a:cs typeface="Segoe UI" panose="020B0502040204020203" pitchFamily="34" charset="0"/>
              </a:rPr>
              <a:t>Early stopping</a:t>
            </a:r>
            <a:r>
              <a:rPr lang="en-GB" sz="2400" dirty="0">
                <a:latin typeface="+mn-lt"/>
                <a:ea typeface="Segoe UI" panose="020B0502040204020203" pitchFamily="34" charset="0"/>
                <a:cs typeface="Segoe UI" panose="020B0502040204020203" pitchFamily="34" charset="0"/>
              </a:rPr>
              <a:t> – </a:t>
            </a:r>
            <a:r>
              <a:rPr lang="en-GB" sz="2400" b="1" dirty="0">
                <a:solidFill>
                  <a:srgbClr val="C00000"/>
                </a:solidFill>
                <a:latin typeface="+mn-lt"/>
                <a:ea typeface="Segoe UI" panose="020B0502040204020203" pitchFamily="34" charset="0"/>
                <a:cs typeface="Segoe UI" panose="020B0502040204020203" pitchFamily="34" charset="0"/>
              </a:rPr>
              <a:t>Quit before overfitting starts!</a:t>
            </a:r>
          </a:p>
          <a:p>
            <a:r>
              <a:rPr lang="en-GB" sz="2800" dirty="0">
                <a:latin typeface="+mn-lt"/>
                <a:ea typeface="Segoe UI" panose="020B0502040204020203" pitchFamily="34" charset="0"/>
                <a:cs typeface="Segoe UI" panose="020B0502040204020203" pitchFamily="34" charset="0"/>
              </a:rPr>
              <a:t>Deep NN specific regularization methods</a:t>
            </a:r>
          </a:p>
          <a:p>
            <a:pPr lvl="1"/>
            <a:r>
              <a:rPr lang="en-GB" sz="2400" b="1" dirty="0">
                <a:latin typeface="+mn-lt"/>
                <a:ea typeface="Segoe UI" panose="020B0502040204020203" pitchFamily="34" charset="0"/>
                <a:cs typeface="Segoe UI" panose="020B0502040204020203" pitchFamily="34" charset="0"/>
              </a:rPr>
              <a:t>Dropout regularization   </a:t>
            </a:r>
          </a:p>
          <a:p>
            <a:pPr lvl="1"/>
            <a:r>
              <a:rPr lang="en-GB" sz="2400" b="1" dirty="0">
                <a:latin typeface="+mn-lt"/>
                <a:ea typeface="Segoe UI" panose="020B0502040204020203" pitchFamily="34" charset="0"/>
                <a:cs typeface="Segoe UI" panose="020B0502040204020203" pitchFamily="34" charset="0"/>
              </a:rPr>
              <a:t>Batch normalization </a:t>
            </a:r>
          </a:p>
          <a:p>
            <a:pPr lvl="1"/>
            <a:r>
              <a:rPr lang="en-GB" sz="2400" b="1" dirty="0">
                <a:latin typeface="+mn-lt"/>
                <a:ea typeface="Segoe UI" panose="020B0502040204020203" pitchFamily="34" charset="0"/>
                <a:cs typeface="Segoe UI" panose="020B0502040204020203" pitchFamily="34" charset="0"/>
              </a:rPr>
              <a:t>Weight decay </a:t>
            </a:r>
            <a:r>
              <a:rPr lang="en-GB" sz="2400" dirty="0">
                <a:latin typeface="+mn-lt"/>
                <a:ea typeface="Segoe UI" panose="020B0502040204020203" pitchFamily="34" charset="0"/>
                <a:cs typeface="Segoe UI" panose="020B0502040204020203" pitchFamily="34" charset="0"/>
              </a:rPr>
              <a:t>– slowly forget weights during training  </a:t>
            </a:r>
          </a:p>
          <a:p>
            <a:pPr lvl="1"/>
            <a:r>
              <a:rPr lang="en-GB" sz="2400" b="1" dirty="0">
                <a:latin typeface="+mn-lt"/>
                <a:ea typeface="Segoe UI" panose="020B0502040204020203" pitchFamily="34" charset="0"/>
                <a:cs typeface="Segoe UI" panose="020B0502040204020203" pitchFamily="34" charset="0"/>
              </a:rPr>
              <a:t>Activation normalization</a:t>
            </a:r>
          </a:p>
        </p:txBody>
      </p:sp>
      <p:sp>
        <p:nvSpPr>
          <p:cNvPr id="2" name="Title 1"/>
          <p:cNvSpPr>
            <a:spLocks noGrp="1"/>
          </p:cNvSpPr>
          <p:nvPr>
            <p:ph type="title"/>
          </p:nvPr>
        </p:nvSpPr>
        <p:spPr>
          <a:xfrm>
            <a:off x="753626" y="1"/>
            <a:ext cx="11150219" cy="1388226"/>
          </a:xfrm>
        </p:spPr>
        <p:txBody>
          <a:bodyPr>
            <a:normAutofit/>
          </a:bodyPr>
          <a:lstStyle/>
          <a:p>
            <a:br>
              <a:rPr lang="en-US" dirty="0">
                <a:latin typeface="Segoe"/>
              </a:rPr>
            </a:br>
            <a:r>
              <a:rPr lang="en-US" sz="4000" dirty="0">
                <a:latin typeface="Segoe UI" panose="020B0502040204020203" pitchFamily="34" charset="0"/>
                <a:cs typeface="Segoe UI" panose="020B0502040204020203" pitchFamily="34" charset="0"/>
              </a:rPr>
              <a:t>Regularization for Deep Learning</a:t>
            </a:r>
          </a:p>
        </p:txBody>
      </p:sp>
    </p:spTree>
    <p:extLst>
      <p:ext uri="{BB962C8B-B14F-4D97-AF65-F5344CB8AC3E}">
        <p14:creationId xmlns:p14="http://schemas.microsoft.com/office/powerpoint/2010/main" val="375409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9685343" cy="2015419"/>
          </a:xfrm>
        </p:spPr>
        <p:txBody>
          <a:bodyPr>
            <a:normAutofit/>
          </a:bodyPr>
          <a:lstStyle/>
          <a:p>
            <a:r>
              <a:rPr lang="en-US" sz="4400" b="1" dirty="0"/>
              <a:t>Dropout Regularization</a:t>
            </a:r>
          </a:p>
        </p:txBody>
      </p:sp>
    </p:spTree>
    <p:extLst>
      <p:ext uri="{BB962C8B-B14F-4D97-AF65-F5344CB8AC3E}">
        <p14:creationId xmlns:p14="http://schemas.microsoft.com/office/powerpoint/2010/main" val="371279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B827-F6AD-4E54-8E82-11D59781450D}"/>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p:sp>
        <p:nvSpPr>
          <p:cNvPr id="3" name="Content Placeholder 2">
            <a:extLst>
              <a:ext uri="{FF2B5EF4-FFF2-40B4-BE49-F238E27FC236}">
                <a16:creationId xmlns:a16="http://schemas.microsoft.com/office/drawing/2014/main" id="{80AF51D7-F8DE-4733-8FDF-5B8E115018CF}"/>
              </a:ext>
            </a:extLst>
          </p:cNvPr>
          <p:cNvSpPr>
            <a:spLocks noGrp="1"/>
          </p:cNvSpPr>
          <p:nvPr>
            <p:ph sz="quarter" idx="10"/>
          </p:nvPr>
        </p:nvSpPr>
        <p:spPr/>
        <p:txBody>
          <a:bodyPr/>
          <a:lstStyle/>
          <a:p>
            <a:pPr marL="0" indent="0">
              <a:buNone/>
            </a:pPr>
            <a:r>
              <a:rPr lang="en-US" sz="2800" dirty="0">
                <a:latin typeface="+mn-lt"/>
                <a:cs typeface="Segoe UI" panose="020B0502040204020203" pitchFamily="34" charset="0"/>
              </a:rPr>
              <a:t>Overfit deep network models tend to suffer from a problem of co-adaptation</a:t>
            </a:r>
          </a:p>
          <a:p>
            <a:r>
              <a:rPr lang="en-US" sz="2800" dirty="0">
                <a:latin typeface="+mn-lt"/>
                <a:cs typeface="Segoe UI" panose="020B0502040204020203" pitchFamily="34" charset="0"/>
              </a:rPr>
              <a:t>With limited training data weight tensors become adapted to the training data</a:t>
            </a:r>
          </a:p>
          <a:p>
            <a:r>
              <a:rPr lang="en-US" sz="2800" dirty="0">
                <a:latin typeface="+mn-lt"/>
                <a:cs typeface="Segoe UI" panose="020B0502040204020203" pitchFamily="34" charset="0"/>
              </a:rPr>
              <a:t>Such a model is unlikely to generalize</a:t>
            </a:r>
          </a:p>
          <a:p>
            <a:r>
              <a:rPr lang="en-US" sz="2800" dirty="0">
                <a:latin typeface="+mn-lt"/>
                <a:cs typeface="Segoe UI" panose="020B0502040204020203" pitchFamily="34" charset="0"/>
              </a:rPr>
              <a:t>We need a way to break the </a:t>
            </a:r>
            <a:r>
              <a:rPr lang="en-US" sz="2800" b="1" dirty="0">
                <a:latin typeface="+mn-lt"/>
                <a:cs typeface="Segoe UI" panose="020B0502040204020203" pitchFamily="34" charset="0"/>
              </a:rPr>
              <a:t>co-adaptation</a:t>
            </a:r>
            <a:r>
              <a:rPr lang="en-US" sz="2800" dirty="0">
                <a:latin typeface="+mn-lt"/>
                <a:cs typeface="Segoe UI" panose="020B0502040204020203" pitchFamily="34" charset="0"/>
              </a:rPr>
              <a:t> of the weight tensor</a:t>
            </a:r>
          </a:p>
          <a:p>
            <a:endParaRPr lang="en-US" sz="2800" dirty="0">
              <a:latin typeface="+mn-lt"/>
              <a:cs typeface="Segoe UI" panose="020B0502040204020203" pitchFamily="34" charset="0"/>
            </a:endParaRPr>
          </a:p>
          <a:p>
            <a:pPr marL="0" indent="0">
              <a:buNone/>
            </a:pPr>
            <a:r>
              <a:rPr lang="en-US" sz="2800" b="1" dirty="0">
                <a:latin typeface="+mn-lt"/>
                <a:cs typeface="Segoe UI" panose="020B0502040204020203" pitchFamily="34" charset="0"/>
              </a:rPr>
              <a:t>Note: </a:t>
            </a:r>
            <a:r>
              <a:rPr lang="en-US" sz="2800" dirty="0">
                <a:latin typeface="+mn-lt"/>
                <a:cs typeface="Segoe UI" panose="020B0502040204020203" pitchFamily="34" charset="0"/>
              </a:rPr>
              <a:t>Recently, some researchers have questioned the co-adaptation theory, but there is no consensus for an alternative theory  </a:t>
            </a: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9462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04979-6E0F-9159-6797-0B1D2A3FC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BB399-C792-182F-408B-21E87049FEEF}"/>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AE6CA7-A874-D11A-870B-C570B9D6355A}"/>
                  </a:ext>
                </a:extLst>
              </p:cNvPr>
              <p:cNvSpPr>
                <a:spLocks noGrp="1"/>
              </p:cNvSpPr>
              <p:nvPr>
                <p:ph sz="quarter" idx="10"/>
              </p:nvPr>
            </p:nvSpPr>
            <p:spPr>
              <a:xfrm>
                <a:off x="378696" y="1039611"/>
                <a:ext cx="11525250" cy="5290388"/>
              </a:xfrm>
            </p:spPr>
            <p:txBody>
              <a:bodyPr/>
              <a:lstStyle/>
              <a:p>
                <a:pPr marL="0" indent="0">
                  <a:buNone/>
                </a:pPr>
                <a:r>
                  <a:rPr lang="en-US" sz="2800" b="1" dirty="0">
                    <a:latin typeface="+mn-lt"/>
                    <a:cs typeface="Segoe UI" panose="020B0502040204020203" pitchFamily="34" charset="0"/>
                  </a:rPr>
                  <a:t>Dropout regularization </a:t>
                </a:r>
                <a:r>
                  <a:rPr lang="en-US" sz="2800" dirty="0">
                    <a:latin typeface="+mn-lt"/>
                    <a:cs typeface="Segoe UI" panose="020B0502040204020203" pitchFamily="34" charset="0"/>
                  </a:rPr>
                  <a:t>is a conceptually simple method unique to deep learning</a:t>
                </a:r>
              </a:p>
              <a:p>
                <a:pPr>
                  <a:buFont typeface="Wingdings" panose="05000000000000000000" pitchFamily="2" charset="2"/>
                  <a:buChar char="§"/>
                </a:pPr>
                <a:r>
                  <a:rPr lang="en-US" sz="2800" dirty="0">
                    <a:latin typeface="+mn-lt"/>
                    <a:cs typeface="Segoe UI" panose="020B0502040204020203" pitchFamily="34" charset="0"/>
                  </a:rPr>
                  <a:t>At each step of the gradient decent some </a:t>
                </a:r>
                <a:r>
                  <a:rPr lang="en-US" sz="2800" b="1" dirty="0">
                    <a:latin typeface="+mn-lt"/>
                    <a:cs typeface="Segoe UI" panose="020B0502040204020203" pitchFamily="34" charset="0"/>
                  </a:rPr>
                  <a:t>fraction, p, of the weights are dropped-out </a:t>
                </a:r>
                <a:r>
                  <a:rPr lang="en-US" sz="2800" dirty="0">
                    <a:latin typeface="+mn-lt"/>
                    <a:cs typeface="Segoe UI" panose="020B0502040204020203" pitchFamily="34" charset="0"/>
                  </a:rPr>
                  <a:t>of each layer</a:t>
                </a:r>
              </a:p>
              <a:p>
                <a:pPr>
                  <a:buFont typeface="Wingdings" panose="05000000000000000000" pitchFamily="2" charset="2"/>
                  <a:buChar char="§"/>
                </a:pPr>
                <a:r>
                  <a:rPr lang="en-US" sz="2800" dirty="0">
                    <a:latin typeface="+mn-lt"/>
                    <a:cs typeface="Segoe UI" panose="020B0502040204020203" pitchFamily="34" charset="0"/>
                  </a:rPr>
                  <a:t>The probability of a weight </a:t>
                </a:r>
                <a14:m>
                  <m:oMath xmlns:m="http://schemas.openxmlformats.org/officeDocument/2006/math">
                    <m:r>
                      <a:rPr lang="en-US" sz="2800" i="1">
                        <a:latin typeface="Cambria Math" panose="02040503050406030204" pitchFamily="18" charset="0"/>
                        <a:cs typeface="Segoe UI" panose="020B0502040204020203" pitchFamily="34" charset="0"/>
                      </a:rPr>
                      <m:t>𝑖</m:t>
                    </m:r>
                  </m:oMath>
                </a14:m>
                <a:r>
                  <a:rPr lang="en-US" sz="2800" dirty="0">
                    <a:latin typeface="+mn-lt"/>
                    <a:cs typeface="Segoe UI" panose="020B0502040204020203" pitchFamily="34" charset="0"/>
                  </a:rPr>
                  <a:t> being in the weight tensor of layer </a:t>
                </a:r>
                <a14:m>
                  <m:oMath xmlns:m="http://schemas.openxmlformats.org/officeDocument/2006/math">
                    <m:r>
                      <a:rPr lang="en-US" sz="2800" i="1">
                        <a:latin typeface="Cambria Math" panose="02040503050406030204" pitchFamily="18" charset="0"/>
                        <a:cs typeface="Segoe UI" panose="020B0502040204020203" pitchFamily="34" charset="0"/>
                      </a:rPr>
                      <m:t>𝑙</m:t>
                    </m:r>
                  </m:oMath>
                </a14:m>
                <a:r>
                  <a:rPr lang="en-US" sz="2800" dirty="0">
                    <a:latin typeface="+mn-lt"/>
                    <a:cs typeface="Segoe UI" panose="020B0502040204020203" pitchFamily="34" charset="0"/>
                  </a:rPr>
                  <a:t> of a model is:</a:t>
                </a:r>
              </a:p>
              <a:p>
                <a:pPr marL="0" indent="0">
                  <a:buNone/>
                </a:pPr>
                <a14:m>
                  <m:oMathPara xmlns:m="http://schemas.openxmlformats.org/officeDocument/2006/math">
                    <m:oMathParaPr>
                      <m:jc m:val="centerGroup"/>
                    </m:oMathParaPr>
                    <m:oMath xmlns:m="http://schemas.openxmlformats.org/officeDocument/2006/math">
                      <m:sSubSup>
                        <m:sSubSupPr>
                          <m:ctrlPr>
                            <a:rPr lang="en-US" sz="2800" i="1">
                              <a:latin typeface="Cambria Math" panose="02040503050406030204" pitchFamily="18" charset="0"/>
                              <a:cs typeface="Segoe UI" panose="020B0502040204020203" pitchFamily="34" charset="0"/>
                            </a:rPr>
                          </m:ctrlPr>
                        </m:sSubSupPr>
                        <m:e>
                          <m:r>
                            <a:rPr lang="en-US" sz="2800" i="1">
                              <a:latin typeface="Cambria Math" panose="02040503050406030204" pitchFamily="18" charset="0"/>
                              <a:cs typeface="Segoe UI" panose="020B0502040204020203" pitchFamily="34" charset="0"/>
                            </a:rPr>
                            <m:t>𝑤</m:t>
                          </m:r>
                        </m:e>
                        <m:sub>
                          <m:r>
                            <a:rPr lang="en-US" sz="2800" i="1">
                              <a:latin typeface="Cambria Math" panose="02040503050406030204" pitchFamily="18" charset="0"/>
                              <a:cs typeface="Segoe UI" panose="020B0502040204020203" pitchFamily="34" charset="0"/>
                            </a:rPr>
                            <m:t>𝑖</m:t>
                          </m:r>
                        </m:sub>
                        <m:sup>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𝑙</m:t>
                          </m:r>
                          <m:r>
                            <a:rPr lang="en-US" sz="2800" i="1">
                              <a:latin typeface="Cambria Math" panose="02040503050406030204" pitchFamily="18" charset="0"/>
                              <a:cs typeface="Segoe UI" panose="020B0502040204020203" pitchFamily="34" charset="0"/>
                            </a:rPr>
                            <m:t>)</m:t>
                          </m:r>
                        </m:sup>
                      </m:sSubSup>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𝑏𝑒𝑟𝑛𝑜𝑢𝑙𝑖</m:t>
                      </m:r>
                      <m:r>
                        <a:rPr lang="en-US" sz="2800" b="0" i="1" smtClean="0">
                          <a:latin typeface="Cambria Math" panose="02040503050406030204" pitchFamily="18" charset="0"/>
                          <a:cs typeface="Segoe UI" panose="020B0502040204020203" pitchFamily="34" charset="0"/>
                        </a:rPr>
                        <m:t>(1−</m:t>
                      </m:r>
                      <m:r>
                        <a:rPr lang="en-US" sz="2800" b="0" i="1" smtClean="0">
                          <a:latin typeface="Cambria Math" panose="02040503050406030204" pitchFamily="18" charset="0"/>
                          <a:cs typeface="Segoe UI" panose="020B0502040204020203" pitchFamily="34" charset="0"/>
                        </a:rPr>
                        <m:t>𝑝</m:t>
                      </m:r>
                      <m:r>
                        <a:rPr lang="en-US" sz="2800" b="0" i="1" smtClean="0">
                          <a:latin typeface="Cambria Math" panose="02040503050406030204" pitchFamily="18" charset="0"/>
                          <a:cs typeface="Segoe UI" panose="020B0502040204020203" pitchFamily="34" charset="0"/>
                        </a:rPr>
                        <m:t>)</m:t>
                      </m:r>
                    </m:oMath>
                  </m:oMathPara>
                </a14:m>
                <a:endParaRPr lang="en-US" sz="2800" dirty="0">
                  <a:latin typeface="+mn-lt"/>
                  <a:cs typeface="Segoe UI" panose="020B0502040204020203" pitchFamily="34" charset="0"/>
                </a:endParaRPr>
              </a:p>
              <a:p>
                <a:pPr>
                  <a:buFont typeface="Wingdings" panose="05000000000000000000" pitchFamily="2" charset="2"/>
                  <a:buChar char="§"/>
                </a:pPr>
                <a:r>
                  <a:rPr lang="en-US" sz="2800" dirty="0">
                    <a:latin typeface="+mn-lt"/>
                    <a:cs typeface="Segoe UI" panose="020B0502040204020203" pitchFamily="34" charset="0"/>
                  </a:rPr>
                  <a:t>The result is a series of models trained for each dropout sample</a:t>
                </a:r>
              </a:p>
            </p:txBody>
          </p:sp>
        </mc:Choice>
        <mc:Fallback xmlns="">
          <p:sp>
            <p:nvSpPr>
              <p:cNvPr id="3" name="Content Placeholder 2">
                <a:extLst>
                  <a:ext uri="{FF2B5EF4-FFF2-40B4-BE49-F238E27FC236}">
                    <a16:creationId xmlns:a16="http://schemas.microsoft.com/office/drawing/2014/main" id="{BFAE6CA7-A874-D11A-870B-C570B9D6355A}"/>
                  </a:ext>
                </a:extLst>
              </p:cNvPr>
              <p:cNvSpPr>
                <a:spLocks noGrp="1" noRot="1" noChangeAspect="1" noMove="1" noResize="1" noEditPoints="1" noAdjustHandles="1" noChangeArrowheads="1" noChangeShapeType="1" noTextEdit="1"/>
              </p:cNvSpPr>
              <p:nvPr>
                <p:ph sz="quarter" idx="10"/>
              </p:nvPr>
            </p:nvSpPr>
            <p:spPr>
              <a:xfrm>
                <a:off x="378696" y="1039611"/>
                <a:ext cx="11525250" cy="5290388"/>
              </a:xfrm>
              <a:blipFill>
                <a:blip r:embed="rId2"/>
                <a:stretch>
                  <a:fillRect l="-1058" t="-1153" r="-1322"/>
                </a:stretch>
              </a:blipFill>
            </p:spPr>
            <p:txBody>
              <a:bodyPr/>
              <a:lstStyle/>
              <a:p>
                <a:r>
                  <a:rPr lang="en-US">
                    <a:noFill/>
                  </a:rPr>
                  <a:t> </a:t>
                </a:r>
              </a:p>
            </p:txBody>
          </p:sp>
        </mc:Fallback>
      </mc:AlternateContent>
    </p:spTree>
    <p:extLst>
      <p:ext uri="{BB962C8B-B14F-4D97-AF65-F5344CB8AC3E}">
        <p14:creationId xmlns:p14="http://schemas.microsoft.com/office/powerpoint/2010/main" val="42428330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B827-F6AD-4E54-8E82-11D59781450D}"/>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p:sp>
        <p:nvSpPr>
          <p:cNvPr id="3" name="Content Placeholder 2">
            <a:extLst>
              <a:ext uri="{FF2B5EF4-FFF2-40B4-BE49-F238E27FC236}">
                <a16:creationId xmlns:a16="http://schemas.microsoft.com/office/drawing/2014/main" id="{80AF51D7-F8DE-4733-8FDF-5B8E115018CF}"/>
              </a:ext>
            </a:extLst>
          </p:cNvPr>
          <p:cNvSpPr>
            <a:spLocks noGrp="1"/>
          </p:cNvSpPr>
          <p:nvPr>
            <p:ph sz="quarter" idx="10"/>
          </p:nvPr>
        </p:nvSpPr>
        <p:spPr>
          <a:xfrm>
            <a:off x="378696" y="1039611"/>
            <a:ext cx="11525250" cy="5290388"/>
          </a:xfrm>
        </p:spPr>
        <p:txBody>
          <a:bodyPr/>
          <a:lstStyle/>
          <a:p>
            <a:pPr marL="0" indent="0">
              <a:buNone/>
            </a:pPr>
            <a:r>
              <a:rPr lang="en-US" sz="2800" b="1" dirty="0">
                <a:latin typeface="+mn-lt"/>
                <a:cs typeface="Segoe UI" panose="020B0502040204020203" pitchFamily="34" charset="0"/>
              </a:rPr>
              <a:t>Dropout regularization </a:t>
            </a:r>
            <a:r>
              <a:rPr lang="en-US" sz="2800" dirty="0">
                <a:latin typeface="+mn-lt"/>
                <a:cs typeface="Segoe UI" panose="020B0502040204020203" pitchFamily="34" charset="0"/>
              </a:rPr>
              <a:t>is a conceptually simple method unique to deep learning</a:t>
            </a:r>
          </a:p>
          <a:p>
            <a:pPr>
              <a:buFont typeface="Wingdings" panose="05000000000000000000" pitchFamily="2" charset="2"/>
              <a:buChar char="§"/>
            </a:pPr>
            <a:r>
              <a:rPr lang="en-US" sz="2800" dirty="0">
                <a:latin typeface="+mn-lt"/>
                <a:cs typeface="Segoe UI" panose="020B0502040204020203" pitchFamily="34" charset="0"/>
              </a:rPr>
              <a:t>The result is a series of models trained for each dropout sample</a:t>
            </a:r>
          </a:p>
          <a:p>
            <a:pPr>
              <a:buFont typeface="Wingdings" panose="05000000000000000000" pitchFamily="2" charset="2"/>
              <a:buChar char="§"/>
            </a:pPr>
            <a:r>
              <a:rPr lang="en-US" sz="2800" dirty="0">
                <a:latin typeface="+mn-lt"/>
                <a:cs typeface="Segoe UI" panose="020B0502040204020203" pitchFamily="34" charset="0"/>
              </a:rPr>
              <a:t>The final model is </a:t>
            </a:r>
            <a:r>
              <a:rPr lang="en-US" sz="2800" b="1" dirty="0">
                <a:latin typeface="+mn-lt"/>
                <a:cs typeface="Segoe UI" panose="020B0502040204020203" pitchFamily="34" charset="0"/>
              </a:rPr>
              <a:t>geometric mean</a:t>
            </a:r>
            <a:r>
              <a:rPr lang="en-US" sz="2800" dirty="0">
                <a:latin typeface="+mn-lt"/>
                <a:cs typeface="Segoe UI" panose="020B0502040204020203" pitchFamily="34" charset="0"/>
              </a:rPr>
              <a:t> of the individual models</a:t>
            </a:r>
          </a:p>
          <a:p>
            <a:r>
              <a:rPr lang="en-US" sz="2800" dirty="0">
                <a:latin typeface="+mn-lt"/>
                <a:cs typeface="Segoe UI" panose="020B0502040204020203" pitchFamily="34" charset="0"/>
              </a:rPr>
              <a:t>Weight values are clipped in a small range as a further regularization</a:t>
            </a:r>
          </a:p>
          <a:p>
            <a:r>
              <a:rPr lang="en-US" sz="2800" dirty="0">
                <a:latin typeface="+mn-lt"/>
                <a:cs typeface="Segoe UI" panose="020B0502040204020203" pitchFamily="34" charset="0"/>
              </a:rPr>
              <a:t>Result is an </a:t>
            </a:r>
            <a:r>
              <a:rPr lang="en-US" sz="2800" b="1" dirty="0">
                <a:latin typeface="+mn-lt"/>
                <a:cs typeface="Segoe UI" panose="020B0502040204020203" pitchFamily="34" charset="0"/>
              </a:rPr>
              <a:t>ensemble model</a:t>
            </a:r>
            <a:r>
              <a:rPr lang="en-US" sz="2800" dirty="0">
                <a:latin typeface="+mn-lt"/>
                <a:cs typeface="Segoe UI" panose="020B0502040204020203" pitchFamily="34" charset="0"/>
              </a:rPr>
              <a:t>! </a:t>
            </a:r>
          </a:p>
          <a:p>
            <a:r>
              <a:rPr lang="en-US" sz="2800" dirty="0">
                <a:latin typeface="+mn-lt"/>
                <a:cs typeface="Segoe UI" panose="020B0502040204020203" pitchFamily="34" charset="0"/>
              </a:rPr>
              <a:t>For full details see the readable paper by Srivastava et. al., 2014 </a:t>
            </a:r>
            <a:r>
              <a:rPr lang="en-US" sz="2800" dirty="0">
                <a:latin typeface="+mn-lt"/>
                <a:hlinkClick r:id="rId2"/>
              </a:rPr>
              <a:t>http://www.cs.toronto.edu/~rsalakhu/papers/srivastava14a.pdf</a:t>
            </a:r>
            <a:endParaRPr lang="en-US" sz="2800" dirty="0">
              <a:latin typeface="+mn-lt"/>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3525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B827-F6AD-4E54-8E82-11D59781450D}"/>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p:sp>
        <p:nvSpPr>
          <p:cNvPr id="3" name="Content Placeholder 2">
            <a:extLst>
              <a:ext uri="{FF2B5EF4-FFF2-40B4-BE49-F238E27FC236}">
                <a16:creationId xmlns:a16="http://schemas.microsoft.com/office/drawing/2014/main" id="{80AF51D7-F8DE-4733-8FDF-5B8E115018CF}"/>
              </a:ext>
            </a:extLst>
          </p:cNvPr>
          <p:cNvSpPr>
            <a:spLocks noGrp="1"/>
          </p:cNvSpPr>
          <p:nvPr>
            <p:ph sz="quarter" idx="10"/>
          </p:nvPr>
        </p:nvSpPr>
        <p:spPr>
          <a:xfrm>
            <a:off x="287236" y="1245702"/>
            <a:ext cx="11525250" cy="571668"/>
          </a:xfrm>
        </p:spPr>
        <p:txBody>
          <a:bodyPr/>
          <a:lstStyle/>
          <a:p>
            <a:pPr marL="0" indent="0">
              <a:buNone/>
            </a:pPr>
            <a:r>
              <a:rPr lang="en-US" sz="2800" dirty="0">
                <a:latin typeface="Segoe UI" panose="020B0502040204020203" pitchFamily="34" charset="0"/>
                <a:cs typeface="Segoe UI" panose="020B0502040204020203" pitchFamily="34" charset="0"/>
              </a:rPr>
              <a:t>Let’s look at a simple example of a network with one hidden layer: </a:t>
            </a:r>
          </a:p>
          <a:p>
            <a:endParaRPr lang="en-US" dirty="0">
              <a:latin typeface="Segoe UI" panose="020B0502040204020203" pitchFamily="34" charset="0"/>
              <a:cs typeface="Segoe UI" panose="020B0502040204020203" pitchFamily="34" charset="0"/>
            </a:endParaRPr>
          </a:p>
        </p:txBody>
      </p:sp>
      <p:sp>
        <p:nvSpPr>
          <p:cNvPr id="4" name="Oval 3">
            <a:extLst>
              <a:ext uri="{FF2B5EF4-FFF2-40B4-BE49-F238E27FC236}">
                <a16:creationId xmlns:a16="http://schemas.microsoft.com/office/drawing/2014/main" id="{D1D30B78-2222-4252-B595-4B7C11F57150}"/>
              </a:ext>
            </a:extLst>
          </p:cNvPr>
          <p:cNvSpPr/>
          <p:nvPr/>
        </p:nvSpPr>
        <p:spPr>
          <a:xfrm>
            <a:off x="5404985" y="1978955"/>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5" name="Oval 4">
            <a:extLst>
              <a:ext uri="{FF2B5EF4-FFF2-40B4-BE49-F238E27FC236}">
                <a16:creationId xmlns:a16="http://schemas.microsoft.com/office/drawing/2014/main" id="{AFAE59D2-7CFE-4B28-876E-6342E7BCCF53}"/>
              </a:ext>
            </a:extLst>
          </p:cNvPr>
          <p:cNvSpPr/>
          <p:nvPr/>
        </p:nvSpPr>
        <p:spPr>
          <a:xfrm>
            <a:off x="4420621" y="2482323"/>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6" name="Oval 5">
            <a:extLst>
              <a:ext uri="{FF2B5EF4-FFF2-40B4-BE49-F238E27FC236}">
                <a16:creationId xmlns:a16="http://schemas.microsoft.com/office/drawing/2014/main" id="{6758BF8B-B90C-4F9E-937E-595B3922FBAE}"/>
              </a:ext>
            </a:extLst>
          </p:cNvPr>
          <p:cNvSpPr/>
          <p:nvPr/>
        </p:nvSpPr>
        <p:spPr>
          <a:xfrm>
            <a:off x="5046729" y="2483460"/>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7" name="Oval 6">
            <a:extLst>
              <a:ext uri="{FF2B5EF4-FFF2-40B4-BE49-F238E27FC236}">
                <a16:creationId xmlns:a16="http://schemas.microsoft.com/office/drawing/2014/main" id="{222D7A64-E1E7-4384-B939-68278FC2F616}"/>
              </a:ext>
            </a:extLst>
          </p:cNvPr>
          <p:cNvSpPr/>
          <p:nvPr/>
        </p:nvSpPr>
        <p:spPr>
          <a:xfrm>
            <a:off x="4937504" y="3112430"/>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8" name="Oval 7">
            <a:extLst>
              <a:ext uri="{FF2B5EF4-FFF2-40B4-BE49-F238E27FC236}">
                <a16:creationId xmlns:a16="http://schemas.microsoft.com/office/drawing/2014/main" id="{FEB204C8-F2CE-4D5C-8440-534D447C3067}"/>
              </a:ext>
            </a:extLst>
          </p:cNvPr>
          <p:cNvSpPr/>
          <p:nvPr/>
        </p:nvSpPr>
        <p:spPr>
          <a:xfrm>
            <a:off x="5786710" y="3112430"/>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9" name="Straight Arrow Connector 8">
            <a:extLst>
              <a:ext uri="{FF2B5EF4-FFF2-40B4-BE49-F238E27FC236}">
                <a16:creationId xmlns:a16="http://schemas.microsoft.com/office/drawing/2014/main" id="{7452C480-2A70-40D3-9F37-D265BBA2F997}"/>
              </a:ext>
            </a:extLst>
          </p:cNvPr>
          <p:cNvCxnSpPr>
            <a:cxnSpLocks/>
            <a:stCxn id="5" idx="7"/>
            <a:endCxn id="4" idx="2"/>
          </p:cNvCxnSpPr>
          <p:nvPr/>
        </p:nvCxnSpPr>
        <p:spPr>
          <a:xfrm flipV="1">
            <a:off x="4888102" y="2186124"/>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D325B18-FB35-4F30-B1B5-A32C8FC6AF29}"/>
              </a:ext>
            </a:extLst>
          </p:cNvPr>
          <p:cNvCxnSpPr>
            <a:cxnSpLocks/>
            <a:stCxn id="6" idx="1"/>
            <a:endCxn id="4" idx="3"/>
          </p:cNvCxnSpPr>
          <p:nvPr/>
        </p:nvCxnSpPr>
        <p:spPr>
          <a:xfrm flipV="1">
            <a:off x="5126936" y="2332615"/>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91B4F7B-765A-44AC-AF03-BA35649EA5EB}"/>
              </a:ext>
            </a:extLst>
          </p:cNvPr>
          <p:cNvCxnSpPr>
            <a:cxnSpLocks/>
            <a:stCxn id="7" idx="0"/>
            <a:endCxn id="5" idx="4"/>
          </p:cNvCxnSpPr>
          <p:nvPr/>
        </p:nvCxnSpPr>
        <p:spPr>
          <a:xfrm flipH="1" flipV="1">
            <a:off x="4694465" y="2968098"/>
            <a:ext cx="516883" cy="1443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D7B723-1F30-47AB-84E6-C3472D80CC3E}"/>
              </a:ext>
            </a:extLst>
          </p:cNvPr>
          <p:cNvCxnSpPr>
            <a:cxnSpLocks/>
            <a:stCxn id="8" idx="0"/>
            <a:endCxn id="6" idx="4"/>
          </p:cNvCxnSpPr>
          <p:nvPr/>
        </p:nvCxnSpPr>
        <p:spPr>
          <a:xfrm flipH="1" flipV="1">
            <a:off x="5320573" y="2969235"/>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1F7DFF2-F233-4C9C-AA6B-8ECF48EBD09B}"/>
              </a:ext>
            </a:extLst>
          </p:cNvPr>
          <p:cNvCxnSpPr>
            <a:cxnSpLocks/>
            <a:stCxn id="8" idx="1"/>
            <a:endCxn id="5" idx="5"/>
          </p:cNvCxnSpPr>
          <p:nvPr/>
        </p:nvCxnSpPr>
        <p:spPr>
          <a:xfrm flipH="1" flipV="1">
            <a:off x="4888102" y="2896958"/>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6A41DD7-0DF0-49EF-9E49-B42F5931CD8D}"/>
              </a:ext>
            </a:extLst>
          </p:cNvPr>
          <p:cNvCxnSpPr>
            <a:cxnSpLocks/>
            <a:endCxn id="6" idx="3"/>
          </p:cNvCxnSpPr>
          <p:nvPr/>
        </p:nvCxnSpPr>
        <p:spPr>
          <a:xfrm flipH="1" flipV="1">
            <a:off x="5126936" y="2898095"/>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FAF6E3FD-A3CD-44AC-AB55-F5D88E893FBD}"/>
              </a:ext>
            </a:extLst>
          </p:cNvPr>
          <p:cNvSpPr/>
          <p:nvPr/>
        </p:nvSpPr>
        <p:spPr>
          <a:xfrm>
            <a:off x="5700925" y="2465347"/>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6" name="Oval 15">
            <a:extLst>
              <a:ext uri="{FF2B5EF4-FFF2-40B4-BE49-F238E27FC236}">
                <a16:creationId xmlns:a16="http://schemas.microsoft.com/office/drawing/2014/main" id="{CBAD44A9-0F98-4DB3-A791-B750243F3E35}"/>
              </a:ext>
            </a:extLst>
          </p:cNvPr>
          <p:cNvSpPr/>
          <p:nvPr/>
        </p:nvSpPr>
        <p:spPr>
          <a:xfrm>
            <a:off x="6355121" y="249744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7" name="Straight Arrow Connector 16">
            <a:extLst>
              <a:ext uri="{FF2B5EF4-FFF2-40B4-BE49-F238E27FC236}">
                <a16:creationId xmlns:a16="http://schemas.microsoft.com/office/drawing/2014/main" id="{29CB43AE-9AA9-46D2-AB7B-1D44D813DE81}"/>
              </a:ext>
            </a:extLst>
          </p:cNvPr>
          <p:cNvCxnSpPr>
            <a:cxnSpLocks/>
            <a:stCxn id="15" idx="0"/>
            <a:endCxn id="4" idx="5"/>
          </p:cNvCxnSpPr>
          <p:nvPr/>
        </p:nvCxnSpPr>
        <p:spPr>
          <a:xfrm flipH="1" flipV="1">
            <a:off x="5798097" y="2332615"/>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CD5AE45-8BBD-40DD-866D-32A8361AA14C}"/>
              </a:ext>
            </a:extLst>
          </p:cNvPr>
          <p:cNvCxnSpPr>
            <a:cxnSpLocks/>
            <a:stCxn id="16" idx="1"/>
            <a:endCxn id="4" idx="6"/>
          </p:cNvCxnSpPr>
          <p:nvPr/>
        </p:nvCxnSpPr>
        <p:spPr>
          <a:xfrm flipH="1" flipV="1">
            <a:off x="5865544" y="2186124"/>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8CE8428-5105-43E1-8189-97B844DA7BA4}"/>
              </a:ext>
            </a:extLst>
          </p:cNvPr>
          <p:cNvCxnSpPr>
            <a:cxnSpLocks/>
            <a:stCxn id="7" idx="7"/>
            <a:endCxn id="15" idx="3"/>
          </p:cNvCxnSpPr>
          <p:nvPr/>
        </p:nvCxnSpPr>
        <p:spPr>
          <a:xfrm flipV="1">
            <a:off x="5404985" y="2879982"/>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074930E-951A-442C-B036-9DE21A4BF7CA}"/>
              </a:ext>
            </a:extLst>
          </p:cNvPr>
          <p:cNvCxnSpPr>
            <a:cxnSpLocks/>
            <a:stCxn id="8" idx="7"/>
            <a:endCxn id="16" idx="4"/>
          </p:cNvCxnSpPr>
          <p:nvPr/>
        </p:nvCxnSpPr>
        <p:spPr>
          <a:xfrm flipV="1">
            <a:off x="6254191" y="2983224"/>
            <a:ext cx="374774" cy="20034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908D0C1-4B19-4357-8740-3244F7F7BCD6}"/>
              </a:ext>
            </a:extLst>
          </p:cNvPr>
          <p:cNvCxnSpPr>
            <a:cxnSpLocks/>
            <a:stCxn id="8" idx="0"/>
            <a:endCxn id="15" idx="4"/>
          </p:cNvCxnSpPr>
          <p:nvPr/>
        </p:nvCxnSpPr>
        <p:spPr>
          <a:xfrm flipH="1" flipV="1">
            <a:off x="5974769" y="2951122"/>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86D3362-8879-4110-86AB-5C3F44FEBF3F}"/>
              </a:ext>
            </a:extLst>
          </p:cNvPr>
          <p:cNvCxnSpPr>
            <a:cxnSpLocks/>
            <a:stCxn id="7" idx="7"/>
            <a:endCxn id="16" idx="3"/>
          </p:cNvCxnSpPr>
          <p:nvPr/>
        </p:nvCxnSpPr>
        <p:spPr>
          <a:xfrm flipV="1">
            <a:off x="5404985" y="2912084"/>
            <a:ext cx="1030343" cy="27148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19629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D7FF-B213-B9AF-18AC-DBD5E66B1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A8784-3099-46A1-C64B-304F7D48B7F5}"/>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870AE6-208F-17B7-D427-B4CE2E46529D}"/>
                  </a:ext>
                </a:extLst>
              </p:cNvPr>
              <p:cNvSpPr>
                <a:spLocks noGrp="1"/>
              </p:cNvSpPr>
              <p:nvPr>
                <p:ph sz="quarter" idx="10"/>
              </p:nvPr>
            </p:nvSpPr>
            <p:spPr>
              <a:xfrm>
                <a:off x="287235" y="1173968"/>
                <a:ext cx="11683091" cy="643402"/>
              </a:xfrm>
            </p:spPr>
            <p:txBody>
              <a:bodyPr/>
              <a:lstStyle/>
              <a:p>
                <a:pPr marL="0" indent="0">
                  <a:buNone/>
                </a:pPr>
                <a:r>
                  <a:rPr lang="en-US" sz="2800" dirty="0">
                    <a:latin typeface="Segoe UI" panose="020B0502040204020203" pitchFamily="34" charset="0"/>
                    <a:cs typeface="Segoe UI" panose="020B0502040204020203" pitchFamily="34" charset="0"/>
                  </a:rPr>
                  <a:t>Let’s look at a simple example of a network with one hidden layer, </a:t>
                </a:r>
                <a14:m>
                  <m:oMath xmlns:m="http://schemas.openxmlformats.org/officeDocument/2006/math">
                    <m:r>
                      <a:rPr lang="en-US" sz="2800" b="0" i="1" smtClean="0">
                        <a:latin typeface="Cambria Math" panose="02040503050406030204" pitchFamily="18" charset="0"/>
                        <a:cs typeface="Segoe UI" panose="020B0502040204020203" pitchFamily="34" charset="0"/>
                      </a:rPr>
                      <m:t>𝑝</m:t>
                    </m:r>
                    <m:r>
                      <a:rPr lang="en-US" sz="2800" b="0" i="1" smtClean="0">
                        <a:latin typeface="Cambria Math" panose="02040503050406030204" pitchFamily="18" charset="0"/>
                        <a:ea typeface="Cambria Math" panose="02040503050406030204" pitchFamily="18" charset="0"/>
                        <a:cs typeface="Segoe UI" panose="020B0502040204020203" pitchFamily="34" charset="0"/>
                      </a:rPr>
                      <m:t>~0.3</m:t>
                    </m:r>
                  </m:oMath>
                </a14:m>
                <a:r>
                  <a:rPr lang="en-US" sz="2800" dirty="0">
                    <a:latin typeface="Segoe UI" panose="020B0502040204020203" pitchFamily="34" charset="0"/>
                    <a:cs typeface="Segoe UI" panose="020B0502040204020203" pitchFamily="34" charset="0"/>
                  </a:rPr>
                  <a:t>: </a:t>
                </a:r>
              </a:p>
              <a:p>
                <a:endParaRPr lang="en-US"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13870AE6-208F-17B7-D427-B4CE2E46529D}"/>
                  </a:ext>
                </a:extLst>
              </p:cNvPr>
              <p:cNvSpPr>
                <a:spLocks noGrp="1" noRot="1" noChangeAspect="1" noMove="1" noResize="1" noEditPoints="1" noAdjustHandles="1" noChangeArrowheads="1" noChangeShapeType="1" noTextEdit="1"/>
              </p:cNvSpPr>
              <p:nvPr>
                <p:ph sz="quarter" idx="10"/>
              </p:nvPr>
            </p:nvSpPr>
            <p:spPr>
              <a:xfrm>
                <a:off x="287235" y="1173968"/>
                <a:ext cx="11683091" cy="643402"/>
              </a:xfrm>
              <a:blipFill>
                <a:blip r:embed="rId2"/>
                <a:stretch>
                  <a:fillRect l="-1043" t="-10476" r="-1200" b="-7619"/>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43B91C77-83AC-8620-9774-914C54A46A87}"/>
              </a:ext>
            </a:extLst>
          </p:cNvPr>
          <p:cNvSpPr/>
          <p:nvPr/>
        </p:nvSpPr>
        <p:spPr>
          <a:xfrm>
            <a:off x="1595855" y="193142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5" name="Oval 4">
            <a:extLst>
              <a:ext uri="{FF2B5EF4-FFF2-40B4-BE49-F238E27FC236}">
                <a16:creationId xmlns:a16="http://schemas.microsoft.com/office/drawing/2014/main" id="{2F6B5D88-8D86-3F97-D54A-20998C8B28C6}"/>
              </a:ext>
            </a:extLst>
          </p:cNvPr>
          <p:cNvSpPr/>
          <p:nvPr/>
        </p:nvSpPr>
        <p:spPr>
          <a:xfrm>
            <a:off x="611491" y="243479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6" name="Oval 5">
            <a:extLst>
              <a:ext uri="{FF2B5EF4-FFF2-40B4-BE49-F238E27FC236}">
                <a16:creationId xmlns:a16="http://schemas.microsoft.com/office/drawing/2014/main" id="{0A286434-C907-D557-5E53-7E7842DF30B2}"/>
              </a:ext>
            </a:extLst>
          </p:cNvPr>
          <p:cNvSpPr/>
          <p:nvPr/>
        </p:nvSpPr>
        <p:spPr>
          <a:xfrm>
            <a:off x="1237599" y="243593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7" name="Oval 6">
            <a:extLst>
              <a:ext uri="{FF2B5EF4-FFF2-40B4-BE49-F238E27FC236}">
                <a16:creationId xmlns:a16="http://schemas.microsoft.com/office/drawing/2014/main" id="{5C7B0F47-EEE7-1150-FF66-B12FEA7DB68F}"/>
              </a:ext>
            </a:extLst>
          </p:cNvPr>
          <p:cNvSpPr/>
          <p:nvPr/>
        </p:nvSpPr>
        <p:spPr>
          <a:xfrm>
            <a:off x="1128374" y="306490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8" name="Oval 7">
            <a:extLst>
              <a:ext uri="{FF2B5EF4-FFF2-40B4-BE49-F238E27FC236}">
                <a16:creationId xmlns:a16="http://schemas.microsoft.com/office/drawing/2014/main" id="{3F30AD47-2D36-6CFD-1AC6-8325CE3F3E37}"/>
              </a:ext>
            </a:extLst>
          </p:cNvPr>
          <p:cNvSpPr/>
          <p:nvPr/>
        </p:nvSpPr>
        <p:spPr>
          <a:xfrm>
            <a:off x="1977580" y="306490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9" name="Straight Arrow Connector 8">
            <a:extLst>
              <a:ext uri="{FF2B5EF4-FFF2-40B4-BE49-F238E27FC236}">
                <a16:creationId xmlns:a16="http://schemas.microsoft.com/office/drawing/2014/main" id="{1536C3C6-AD75-6E59-1A97-B1D609B7E014}"/>
              </a:ext>
            </a:extLst>
          </p:cNvPr>
          <p:cNvCxnSpPr>
            <a:cxnSpLocks/>
            <a:stCxn id="5" idx="7"/>
            <a:endCxn id="4" idx="2"/>
          </p:cNvCxnSpPr>
          <p:nvPr/>
        </p:nvCxnSpPr>
        <p:spPr>
          <a:xfrm flipV="1">
            <a:off x="1078972" y="213859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B6126A9-078F-BE3A-A6AC-9DE8A0FF1B85}"/>
              </a:ext>
            </a:extLst>
          </p:cNvPr>
          <p:cNvCxnSpPr>
            <a:cxnSpLocks/>
            <a:stCxn id="6" idx="1"/>
            <a:endCxn id="4" idx="3"/>
          </p:cNvCxnSpPr>
          <p:nvPr/>
        </p:nvCxnSpPr>
        <p:spPr>
          <a:xfrm flipV="1">
            <a:off x="1317806" y="2285087"/>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895FED-F555-0445-75AC-63A1CFFED2E4}"/>
              </a:ext>
            </a:extLst>
          </p:cNvPr>
          <p:cNvCxnSpPr>
            <a:cxnSpLocks/>
            <a:stCxn id="8" idx="0"/>
            <a:endCxn id="6" idx="4"/>
          </p:cNvCxnSpPr>
          <p:nvPr/>
        </p:nvCxnSpPr>
        <p:spPr>
          <a:xfrm flipH="1" flipV="1">
            <a:off x="1511443" y="292170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B54B7F-B754-79EB-040F-8E7C4ECFE373}"/>
              </a:ext>
            </a:extLst>
          </p:cNvPr>
          <p:cNvCxnSpPr>
            <a:cxnSpLocks/>
            <a:endCxn id="6" idx="3"/>
          </p:cNvCxnSpPr>
          <p:nvPr/>
        </p:nvCxnSpPr>
        <p:spPr>
          <a:xfrm flipH="1" flipV="1">
            <a:off x="1317806" y="285056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C6B1EAED-63F7-F40D-8FB1-754165203CE7}"/>
              </a:ext>
            </a:extLst>
          </p:cNvPr>
          <p:cNvSpPr/>
          <p:nvPr/>
        </p:nvSpPr>
        <p:spPr>
          <a:xfrm>
            <a:off x="1891795" y="241781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6" name="Oval 15">
            <a:extLst>
              <a:ext uri="{FF2B5EF4-FFF2-40B4-BE49-F238E27FC236}">
                <a16:creationId xmlns:a16="http://schemas.microsoft.com/office/drawing/2014/main" id="{EE4B37D1-BBF5-A632-75BA-80C857A21C0A}"/>
              </a:ext>
            </a:extLst>
          </p:cNvPr>
          <p:cNvSpPr/>
          <p:nvPr/>
        </p:nvSpPr>
        <p:spPr>
          <a:xfrm>
            <a:off x="2545991" y="244992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7" name="Straight Arrow Connector 16">
            <a:extLst>
              <a:ext uri="{FF2B5EF4-FFF2-40B4-BE49-F238E27FC236}">
                <a16:creationId xmlns:a16="http://schemas.microsoft.com/office/drawing/2014/main" id="{2F1E217C-0329-DC95-7FDC-6BDDBCBE5100}"/>
              </a:ext>
            </a:extLst>
          </p:cNvPr>
          <p:cNvCxnSpPr>
            <a:cxnSpLocks/>
            <a:stCxn id="15" idx="0"/>
            <a:endCxn id="4" idx="5"/>
          </p:cNvCxnSpPr>
          <p:nvPr/>
        </p:nvCxnSpPr>
        <p:spPr>
          <a:xfrm flipH="1" flipV="1">
            <a:off x="1988967" y="2285087"/>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2218CB4-1921-8443-D4FB-0BC420041824}"/>
              </a:ext>
            </a:extLst>
          </p:cNvPr>
          <p:cNvCxnSpPr>
            <a:cxnSpLocks/>
            <a:stCxn id="16" idx="1"/>
            <a:endCxn id="4" idx="6"/>
          </p:cNvCxnSpPr>
          <p:nvPr/>
        </p:nvCxnSpPr>
        <p:spPr>
          <a:xfrm flipH="1" flipV="1">
            <a:off x="2056414" y="213859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048D96-6856-8387-53FB-15E70B70C652}"/>
              </a:ext>
            </a:extLst>
          </p:cNvPr>
          <p:cNvCxnSpPr>
            <a:cxnSpLocks/>
            <a:stCxn id="7" idx="7"/>
            <a:endCxn id="15" idx="3"/>
          </p:cNvCxnSpPr>
          <p:nvPr/>
        </p:nvCxnSpPr>
        <p:spPr>
          <a:xfrm flipV="1">
            <a:off x="1595855" y="283245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5FBF61-812A-1F93-05ED-3AA84A647A60}"/>
              </a:ext>
            </a:extLst>
          </p:cNvPr>
          <p:cNvCxnSpPr>
            <a:cxnSpLocks/>
            <a:stCxn id="8" idx="0"/>
            <a:endCxn id="15" idx="4"/>
          </p:cNvCxnSpPr>
          <p:nvPr/>
        </p:nvCxnSpPr>
        <p:spPr>
          <a:xfrm flipH="1" flipV="1">
            <a:off x="2165639" y="290359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09099D5-E465-B5B6-ADAD-62E708BC532E}"/>
              </a:ext>
            </a:extLst>
          </p:cNvPr>
          <p:cNvSpPr/>
          <p:nvPr/>
        </p:nvSpPr>
        <p:spPr>
          <a:xfrm>
            <a:off x="1595855" y="375847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24" name="Oval 23">
            <a:extLst>
              <a:ext uri="{FF2B5EF4-FFF2-40B4-BE49-F238E27FC236}">
                <a16:creationId xmlns:a16="http://schemas.microsoft.com/office/drawing/2014/main" id="{B8090D90-1FDD-0EDE-1968-9F7453DBABDD}"/>
              </a:ext>
            </a:extLst>
          </p:cNvPr>
          <p:cNvSpPr/>
          <p:nvPr/>
        </p:nvSpPr>
        <p:spPr>
          <a:xfrm>
            <a:off x="611491" y="426184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25" name="Oval 24">
            <a:extLst>
              <a:ext uri="{FF2B5EF4-FFF2-40B4-BE49-F238E27FC236}">
                <a16:creationId xmlns:a16="http://schemas.microsoft.com/office/drawing/2014/main" id="{9034B6E8-70FD-862C-9A3F-E7ED4CF32070}"/>
              </a:ext>
            </a:extLst>
          </p:cNvPr>
          <p:cNvSpPr/>
          <p:nvPr/>
        </p:nvSpPr>
        <p:spPr>
          <a:xfrm>
            <a:off x="1237599" y="426298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26" name="Oval 25">
            <a:extLst>
              <a:ext uri="{FF2B5EF4-FFF2-40B4-BE49-F238E27FC236}">
                <a16:creationId xmlns:a16="http://schemas.microsoft.com/office/drawing/2014/main" id="{EBA81D77-8395-1762-147F-C6D7ECB9D49D}"/>
              </a:ext>
            </a:extLst>
          </p:cNvPr>
          <p:cNvSpPr/>
          <p:nvPr/>
        </p:nvSpPr>
        <p:spPr>
          <a:xfrm>
            <a:off x="1128374" y="489195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27" name="Oval 26">
            <a:extLst>
              <a:ext uri="{FF2B5EF4-FFF2-40B4-BE49-F238E27FC236}">
                <a16:creationId xmlns:a16="http://schemas.microsoft.com/office/drawing/2014/main" id="{1965508A-CCCF-9CD5-268C-EB764F0E9E24}"/>
              </a:ext>
            </a:extLst>
          </p:cNvPr>
          <p:cNvSpPr/>
          <p:nvPr/>
        </p:nvSpPr>
        <p:spPr>
          <a:xfrm>
            <a:off x="1977580" y="489195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29" name="Straight Arrow Connector 28">
            <a:extLst>
              <a:ext uri="{FF2B5EF4-FFF2-40B4-BE49-F238E27FC236}">
                <a16:creationId xmlns:a16="http://schemas.microsoft.com/office/drawing/2014/main" id="{6A5C2DFC-84E7-341D-6F6D-883F6EFB157F}"/>
              </a:ext>
            </a:extLst>
          </p:cNvPr>
          <p:cNvCxnSpPr>
            <a:cxnSpLocks/>
            <a:stCxn id="25" idx="1"/>
            <a:endCxn id="23" idx="3"/>
          </p:cNvCxnSpPr>
          <p:nvPr/>
        </p:nvCxnSpPr>
        <p:spPr>
          <a:xfrm flipV="1">
            <a:off x="1317806" y="4112137"/>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5EFE35B-79C3-E92D-0B5A-E155ABE4993D}"/>
              </a:ext>
            </a:extLst>
          </p:cNvPr>
          <p:cNvCxnSpPr>
            <a:cxnSpLocks/>
            <a:stCxn id="26" idx="0"/>
            <a:endCxn id="24" idx="4"/>
          </p:cNvCxnSpPr>
          <p:nvPr/>
        </p:nvCxnSpPr>
        <p:spPr>
          <a:xfrm flipH="1" flipV="1">
            <a:off x="885335" y="4747620"/>
            <a:ext cx="516883" cy="1443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6DB7DEC-4733-F6D3-D586-FC64AA2CEFD2}"/>
              </a:ext>
            </a:extLst>
          </p:cNvPr>
          <p:cNvCxnSpPr>
            <a:cxnSpLocks/>
            <a:endCxn id="25" idx="3"/>
          </p:cNvCxnSpPr>
          <p:nvPr/>
        </p:nvCxnSpPr>
        <p:spPr>
          <a:xfrm flipH="1" flipV="1">
            <a:off x="1317806" y="467761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34E39C7-CC0F-E672-78B6-10E7708051D9}"/>
              </a:ext>
            </a:extLst>
          </p:cNvPr>
          <p:cNvSpPr/>
          <p:nvPr/>
        </p:nvSpPr>
        <p:spPr>
          <a:xfrm>
            <a:off x="1891795" y="424486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35" name="Oval 34">
            <a:extLst>
              <a:ext uri="{FF2B5EF4-FFF2-40B4-BE49-F238E27FC236}">
                <a16:creationId xmlns:a16="http://schemas.microsoft.com/office/drawing/2014/main" id="{4A7AFD26-890E-8330-5D68-466B170BBA7B}"/>
              </a:ext>
            </a:extLst>
          </p:cNvPr>
          <p:cNvSpPr/>
          <p:nvPr/>
        </p:nvSpPr>
        <p:spPr>
          <a:xfrm>
            <a:off x="2545991" y="427697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36" name="Straight Arrow Connector 35">
            <a:extLst>
              <a:ext uri="{FF2B5EF4-FFF2-40B4-BE49-F238E27FC236}">
                <a16:creationId xmlns:a16="http://schemas.microsoft.com/office/drawing/2014/main" id="{994AD6BB-7B46-E379-9E1D-7EFE1EDFCB03}"/>
              </a:ext>
            </a:extLst>
          </p:cNvPr>
          <p:cNvCxnSpPr>
            <a:cxnSpLocks/>
            <a:stCxn id="34" idx="0"/>
            <a:endCxn id="23" idx="5"/>
          </p:cNvCxnSpPr>
          <p:nvPr/>
        </p:nvCxnSpPr>
        <p:spPr>
          <a:xfrm flipH="1" flipV="1">
            <a:off x="1988967" y="4112137"/>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DA48DC0-78AB-71A0-0731-81E54B715C3C}"/>
              </a:ext>
            </a:extLst>
          </p:cNvPr>
          <p:cNvCxnSpPr>
            <a:cxnSpLocks/>
            <a:stCxn id="35" idx="1"/>
            <a:endCxn id="23" idx="6"/>
          </p:cNvCxnSpPr>
          <p:nvPr/>
        </p:nvCxnSpPr>
        <p:spPr>
          <a:xfrm flipH="1" flipV="1">
            <a:off x="2056414" y="396564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80033E9-CF26-ADD9-455F-818D7DCB84DD}"/>
              </a:ext>
            </a:extLst>
          </p:cNvPr>
          <p:cNvCxnSpPr>
            <a:cxnSpLocks/>
            <a:stCxn id="26" idx="7"/>
            <a:endCxn id="34" idx="3"/>
          </p:cNvCxnSpPr>
          <p:nvPr/>
        </p:nvCxnSpPr>
        <p:spPr>
          <a:xfrm flipV="1">
            <a:off x="1595855" y="465950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0EF764F8-B987-1F5F-6C1B-CFA5451E28D6}"/>
              </a:ext>
            </a:extLst>
          </p:cNvPr>
          <p:cNvSpPr/>
          <p:nvPr/>
        </p:nvSpPr>
        <p:spPr>
          <a:xfrm>
            <a:off x="4417982" y="196123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85" name="Oval 84">
            <a:extLst>
              <a:ext uri="{FF2B5EF4-FFF2-40B4-BE49-F238E27FC236}">
                <a16:creationId xmlns:a16="http://schemas.microsoft.com/office/drawing/2014/main" id="{D8A1B998-457D-62E2-B78A-BDC2E12814AB}"/>
              </a:ext>
            </a:extLst>
          </p:cNvPr>
          <p:cNvSpPr/>
          <p:nvPr/>
        </p:nvSpPr>
        <p:spPr>
          <a:xfrm>
            <a:off x="3433618" y="246460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86" name="Oval 85">
            <a:extLst>
              <a:ext uri="{FF2B5EF4-FFF2-40B4-BE49-F238E27FC236}">
                <a16:creationId xmlns:a16="http://schemas.microsoft.com/office/drawing/2014/main" id="{813EB901-3196-F2F6-95B9-B3B83CEA0BC2}"/>
              </a:ext>
            </a:extLst>
          </p:cNvPr>
          <p:cNvSpPr/>
          <p:nvPr/>
        </p:nvSpPr>
        <p:spPr>
          <a:xfrm>
            <a:off x="4059726" y="246574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87" name="Oval 86">
            <a:extLst>
              <a:ext uri="{FF2B5EF4-FFF2-40B4-BE49-F238E27FC236}">
                <a16:creationId xmlns:a16="http://schemas.microsoft.com/office/drawing/2014/main" id="{64627208-6C5D-6D08-948D-3408E1AFF9DB}"/>
              </a:ext>
            </a:extLst>
          </p:cNvPr>
          <p:cNvSpPr/>
          <p:nvPr/>
        </p:nvSpPr>
        <p:spPr>
          <a:xfrm>
            <a:off x="3950501" y="309471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88" name="Oval 87">
            <a:extLst>
              <a:ext uri="{FF2B5EF4-FFF2-40B4-BE49-F238E27FC236}">
                <a16:creationId xmlns:a16="http://schemas.microsoft.com/office/drawing/2014/main" id="{4BCA6743-78CD-E0CC-C6E4-542CF3BFD397}"/>
              </a:ext>
            </a:extLst>
          </p:cNvPr>
          <p:cNvSpPr/>
          <p:nvPr/>
        </p:nvSpPr>
        <p:spPr>
          <a:xfrm>
            <a:off x="4799707" y="309471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89" name="Straight Arrow Connector 88">
            <a:extLst>
              <a:ext uri="{FF2B5EF4-FFF2-40B4-BE49-F238E27FC236}">
                <a16:creationId xmlns:a16="http://schemas.microsoft.com/office/drawing/2014/main" id="{1DAA5E58-AC1D-1253-2E61-E726AA18C9CE}"/>
              </a:ext>
            </a:extLst>
          </p:cNvPr>
          <p:cNvCxnSpPr>
            <a:cxnSpLocks/>
            <a:stCxn id="85" idx="7"/>
            <a:endCxn id="84" idx="2"/>
          </p:cNvCxnSpPr>
          <p:nvPr/>
        </p:nvCxnSpPr>
        <p:spPr>
          <a:xfrm flipV="1">
            <a:off x="3901099" y="216840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79C6C54-69FF-E077-38BC-826FADB5A068}"/>
              </a:ext>
            </a:extLst>
          </p:cNvPr>
          <p:cNvCxnSpPr>
            <a:cxnSpLocks/>
            <a:stCxn id="86" idx="1"/>
            <a:endCxn id="84" idx="3"/>
          </p:cNvCxnSpPr>
          <p:nvPr/>
        </p:nvCxnSpPr>
        <p:spPr>
          <a:xfrm flipV="1">
            <a:off x="4139933" y="2314897"/>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B986303-688F-160C-D640-3E36926A74D1}"/>
              </a:ext>
            </a:extLst>
          </p:cNvPr>
          <p:cNvCxnSpPr>
            <a:cxnSpLocks/>
            <a:stCxn id="88" idx="0"/>
            <a:endCxn id="86" idx="4"/>
          </p:cNvCxnSpPr>
          <p:nvPr/>
        </p:nvCxnSpPr>
        <p:spPr>
          <a:xfrm flipH="1" flipV="1">
            <a:off x="4333570" y="295151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E4A55275-E899-6633-329D-478ED21D21AF}"/>
              </a:ext>
            </a:extLst>
          </p:cNvPr>
          <p:cNvCxnSpPr>
            <a:cxnSpLocks/>
            <a:stCxn id="88" idx="1"/>
            <a:endCxn id="85" idx="5"/>
          </p:cNvCxnSpPr>
          <p:nvPr/>
        </p:nvCxnSpPr>
        <p:spPr>
          <a:xfrm flipH="1" flipV="1">
            <a:off x="3901099" y="2879240"/>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E3D2A033-D6C6-53E9-2A24-3C1E1DBAA5D3}"/>
              </a:ext>
            </a:extLst>
          </p:cNvPr>
          <p:cNvCxnSpPr>
            <a:cxnSpLocks/>
            <a:endCxn id="86" idx="3"/>
          </p:cNvCxnSpPr>
          <p:nvPr/>
        </p:nvCxnSpPr>
        <p:spPr>
          <a:xfrm flipH="1" flipV="1">
            <a:off x="4139933" y="288037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AEE54634-108C-A9C3-1C1E-40AD70152482}"/>
              </a:ext>
            </a:extLst>
          </p:cNvPr>
          <p:cNvSpPr/>
          <p:nvPr/>
        </p:nvSpPr>
        <p:spPr>
          <a:xfrm>
            <a:off x="4713922" y="244762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96" name="Oval 95">
            <a:extLst>
              <a:ext uri="{FF2B5EF4-FFF2-40B4-BE49-F238E27FC236}">
                <a16:creationId xmlns:a16="http://schemas.microsoft.com/office/drawing/2014/main" id="{4097D94C-267A-F0AD-2C59-E0CFC4DF2F26}"/>
              </a:ext>
            </a:extLst>
          </p:cNvPr>
          <p:cNvSpPr/>
          <p:nvPr/>
        </p:nvSpPr>
        <p:spPr>
          <a:xfrm>
            <a:off x="5368118" y="247973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99" name="Straight Arrow Connector 98">
            <a:extLst>
              <a:ext uri="{FF2B5EF4-FFF2-40B4-BE49-F238E27FC236}">
                <a16:creationId xmlns:a16="http://schemas.microsoft.com/office/drawing/2014/main" id="{159F7605-60BE-27CF-B700-D803BF3C45EF}"/>
              </a:ext>
            </a:extLst>
          </p:cNvPr>
          <p:cNvCxnSpPr>
            <a:cxnSpLocks/>
            <a:stCxn id="87" idx="7"/>
            <a:endCxn id="95" idx="3"/>
          </p:cNvCxnSpPr>
          <p:nvPr/>
        </p:nvCxnSpPr>
        <p:spPr>
          <a:xfrm flipV="1">
            <a:off x="4417982" y="286226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DF0D0274-EFAD-A5BB-10C6-CE7ECDD0C9D2}"/>
              </a:ext>
            </a:extLst>
          </p:cNvPr>
          <p:cNvCxnSpPr>
            <a:cxnSpLocks/>
            <a:stCxn id="88" idx="7"/>
            <a:endCxn id="96" idx="4"/>
          </p:cNvCxnSpPr>
          <p:nvPr/>
        </p:nvCxnSpPr>
        <p:spPr>
          <a:xfrm flipV="1">
            <a:off x="5267188" y="2965506"/>
            <a:ext cx="374774" cy="20034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512113B4-B514-75D2-06BB-1D82C28C98A0}"/>
              </a:ext>
            </a:extLst>
          </p:cNvPr>
          <p:cNvCxnSpPr>
            <a:cxnSpLocks/>
            <a:stCxn id="88" idx="0"/>
            <a:endCxn id="95" idx="4"/>
          </p:cNvCxnSpPr>
          <p:nvPr/>
        </p:nvCxnSpPr>
        <p:spPr>
          <a:xfrm flipH="1" flipV="1">
            <a:off x="4987766" y="293340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9FC7AA31-5186-8C29-A444-F588512D7287}"/>
              </a:ext>
            </a:extLst>
          </p:cNvPr>
          <p:cNvSpPr/>
          <p:nvPr/>
        </p:nvSpPr>
        <p:spPr>
          <a:xfrm>
            <a:off x="4417982" y="378828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104" name="Oval 103">
            <a:extLst>
              <a:ext uri="{FF2B5EF4-FFF2-40B4-BE49-F238E27FC236}">
                <a16:creationId xmlns:a16="http://schemas.microsoft.com/office/drawing/2014/main" id="{F5BAD0AA-F7BD-BC24-A6E7-175DE4895CA0}"/>
              </a:ext>
            </a:extLst>
          </p:cNvPr>
          <p:cNvSpPr/>
          <p:nvPr/>
        </p:nvSpPr>
        <p:spPr>
          <a:xfrm>
            <a:off x="3433618" y="429165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105" name="Oval 104">
            <a:extLst>
              <a:ext uri="{FF2B5EF4-FFF2-40B4-BE49-F238E27FC236}">
                <a16:creationId xmlns:a16="http://schemas.microsoft.com/office/drawing/2014/main" id="{371B0BB7-DBFB-C809-C706-CEB707FD4F40}"/>
              </a:ext>
            </a:extLst>
          </p:cNvPr>
          <p:cNvSpPr/>
          <p:nvPr/>
        </p:nvSpPr>
        <p:spPr>
          <a:xfrm>
            <a:off x="4059726" y="429279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106" name="Oval 105">
            <a:extLst>
              <a:ext uri="{FF2B5EF4-FFF2-40B4-BE49-F238E27FC236}">
                <a16:creationId xmlns:a16="http://schemas.microsoft.com/office/drawing/2014/main" id="{ED4ABD1F-ABF3-C8C4-43BC-70E18B3863D6}"/>
              </a:ext>
            </a:extLst>
          </p:cNvPr>
          <p:cNvSpPr/>
          <p:nvPr/>
        </p:nvSpPr>
        <p:spPr>
          <a:xfrm>
            <a:off x="3950501" y="492176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107" name="Oval 106">
            <a:extLst>
              <a:ext uri="{FF2B5EF4-FFF2-40B4-BE49-F238E27FC236}">
                <a16:creationId xmlns:a16="http://schemas.microsoft.com/office/drawing/2014/main" id="{B00F4CAF-27A0-AF45-5996-F4D905237980}"/>
              </a:ext>
            </a:extLst>
          </p:cNvPr>
          <p:cNvSpPr/>
          <p:nvPr/>
        </p:nvSpPr>
        <p:spPr>
          <a:xfrm>
            <a:off x="4799707" y="492176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108" name="Straight Arrow Connector 107">
            <a:extLst>
              <a:ext uri="{FF2B5EF4-FFF2-40B4-BE49-F238E27FC236}">
                <a16:creationId xmlns:a16="http://schemas.microsoft.com/office/drawing/2014/main" id="{285D42CE-0968-7084-8459-318E96854E07}"/>
              </a:ext>
            </a:extLst>
          </p:cNvPr>
          <p:cNvCxnSpPr>
            <a:cxnSpLocks/>
            <a:stCxn id="104" idx="7"/>
            <a:endCxn id="103" idx="2"/>
          </p:cNvCxnSpPr>
          <p:nvPr/>
        </p:nvCxnSpPr>
        <p:spPr>
          <a:xfrm flipV="1">
            <a:off x="3901099" y="399545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DC27A31-9302-D520-F451-94CD48D3F834}"/>
              </a:ext>
            </a:extLst>
          </p:cNvPr>
          <p:cNvCxnSpPr>
            <a:cxnSpLocks/>
            <a:stCxn id="107" idx="0"/>
            <a:endCxn id="105" idx="4"/>
          </p:cNvCxnSpPr>
          <p:nvPr/>
        </p:nvCxnSpPr>
        <p:spPr>
          <a:xfrm flipH="1" flipV="1">
            <a:off x="4333570" y="477856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26345FD-F659-A48C-092D-917B0C4A6FB8}"/>
              </a:ext>
            </a:extLst>
          </p:cNvPr>
          <p:cNvCxnSpPr>
            <a:cxnSpLocks/>
            <a:stCxn id="107" idx="1"/>
            <a:endCxn id="104" idx="5"/>
          </p:cNvCxnSpPr>
          <p:nvPr/>
        </p:nvCxnSpPr>
        <p:spPr>
          <a:xfrm flipH="1" flipV="1">
            <a:off x="3901099" y="4706290"/>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267DCCF2-0253-6434-4589-5228433E8952}"/>
              </a:ext>
            </a:extLst>
          </p:cNvPr>
          <p:cNvCxnSpPr>
            <a:cxnSpLocks/>
            <a:endCxn id="105" idx="3"/>
          </p:cNvCxnSpPr>
          <p:nvPr/>
        </p:nvCxnSpPr>
        <p:spPr>
          <a:xfrm flipH="1" flipV="1">
            <a:off x="4139933" y="470742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565B2B52-7B1B-5536-240E-1E81384BE2AD}"/>
              </a:ext>
            </a:extLst>
          </p:cNvPr>
          <p:cNvSpPr/>
          <p:nvPr/>
        </p:nvSpPr>
        <p:spPr>
          <a:xfrm>
            <a:off x="4713922" y="427467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15" name="Oval 114">
            <a:extLst>
              <a:ext uri="{FF2B5EF4-FFF2-40B4-BE49-F238E27FC236}">
                <a16:creationId xmlns:a16="http://schemas.microsoft.com/office/drawing/2014/main" id="{6BBF5B34-C17B-3992-E4EB-91ED9946B22E}"/>
              </a:ext>
            </a:extLst>
          </p:cNvPr>
          <p:cNvSpPr/>
          <p:nvPr/>
        </p:nvSpPr>
        <p:spPr>
          <a:xfrm>
            <a:off x="5368118" y="430678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17" name="Straight Arrow Connector 116">
            <a:extLst>
              <a:ext uri="{FF2B5EF4-FFF2-40B4-BE49-F238E27FC236}">
                <a16:creationId xmlns:a16="http://schemas.microsoft.com/office/drawing/2014/main" id="{47A46529-3C85-B9AE-E0F5-D4CC8E7CC14C}"/>
              </a:ext>
            </a:extLst>
          </p:cNvPr>
          <p:cNvCxnSpPr>
            <a:cxnSpLocks/>
            <a:stCxn id="115" idx="1"/>
            <a:endCxn id="103" idx="6"/>
          </p:cNvCxnSpPr>
          <p:nvPr/>
        </p:nvCxnSpPr>
        <p:spPr>
          <a:xfrm flipH="1" flipV="1">
            <a:off x="4878541" y="399545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D05D2CD-A645-FD1D-230A-D8A33EEF53E7}"/>
              </a:ext>
            </a:extLst>
          </p:cNvPr>
          <p:cNvCxnSpPr>
            <a:cxnSpLocks/>
            <a:stCxn id="106" idx="7"/>
            <a:endCxn id="114" idx="3"/>
          </p:cNvCxnSpPr>
          <p:nvPr/>
        </p:nvCxnSpPr>
        <p:spPr>
          <a:xfrm flipV="1">
            <a:off x="4417982" y="468931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8ED69B5-14AD-4701-D8AD-9BCEF78508A2}"/>
              </a:ext>
            </a:extLst>
          </p:cNvPr>
          <p:cNvCxnSpPr>
            <a:cxnSpLocks/>
            <a:stCxn id="107" idx="7"/>
            <a:endCxn id="115" idx="4"/>
          </p:cNvCxnSpPr>
          <p:nvPr/>
        </p:nvCxnSpPr>
        <p:spPr>
          <a:xfrm flipV="1">
            <a:off x="5267188" y="4792556"/>
            <a:ext cx="374774" cy="20034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CA92723-588D-2E8C-5BF6-AD6CBEEA7D32}"/>
              </a:ext>
            </a:extLst>
          </p:cNvPr>
          <p:cNvCxnSpPr>
            <a:cxnSpLocks/>
            <a:stCxn id="107" idx="0"/>
            <a:endCxn id="114" idx="4"/>
          </p:cNvCxnSpPr>
          <p:nvPr/>
        </p:nvCxnSpPr>
        <p:spPr>
          <a:xfrm flipH="1" flipV="1">
            <a:off x="4987766" y="476045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6B807C86-529A-6493-DFDE-4316EB3D1B3E}"/>
              </a:ext>
            </a:extLst>
          </p:cNvPr>
          <p:cNvSpPr/>
          <p:nvPr/>
        </p:nvSpPr>
        <p:spPr>
          <a:xfrm>
            <a:off x="7240109" y="199104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123" name="Oval 122">
            <a:extLst>
              <a:ext uri="{FF2B5EF4-FFF2-40B4-BE49-F238E27FC236}">
                <a16:creationId xmlns:a16="http://schemas.microsoft.com/office/drawing/2014/main" id="{C91C2E4F-1A39-5313-32FE-6097A9622709}"/>
              </a:ext>
            </a:extLst>
          </p:cNvPr>
          <p:cNvSpPr/>
          <p:nvPr/>
        </p:nvSpPr>
        <p:spPr>
          <a:xfrm>
            <a:off x="6255745" y="249441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124" name="Oval 123">
            <a:extLst>
              <a:ext uri="{FF2B5EF4-FFF2-40B4-BE49-F238E27FC236}">
                <a16:creationId xmlns:a16="http://schemas.microsoft.com/office/drawing/2014/main" id="{6A1D6CA9-3A87-589C-C993-E5A696FE76A6}"/>
              </a:ext>
            </a:extLst>
          </p:cNvPr>
          <p:cNvSpPr/>
          <p:nvPr/>
        </p:nvSpPr>
        <p:spPr>
          <a:xfrm>
            <a:off x="6881853" y="249555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125" name="Oval 124">
            <a:extLst>
              <a:ext uri="{FF2B5EF4-FFF2-40B4-BE49-F238E27FC236}">
                <a16:creationId xmlns:a16="http://schemas.microsoft.com/office/drawing/2014/main" id="{58C53EEB-1C69-B9C4-3AAE-9081B949EE3F}"/>
              </a:ext>
            </a:extLst>
          </p:cNvPr>
          <p:cNvSpPr/>
          <p:nvPr/>
        </p:nvSpPr>
        <p:spPr>
          <a:xfrm>
            <a:off x="6772628" y="312452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126" name="Oval 125">
            <a:extLst>
              <a:ext uri="{FF2B5EF4-FFF2-40B4-BE49-F238E27FC236}">
                <a16:creationId xmlns:a16="http://schemas.microsoft.com/office/drawing/2014/main" id="{1213C20F-A4A2-FF3E-26E4-17BF9827B12E}"/>
              </a:ext>
            </a:extLst>
          </p:cNvPr>
          <p:cNvSpPr/>
          <p:nvPr/>
        </p:nvSpPr>
        <p:spPr>
          <a:xfrm>
            <a:off x="7621834" y="312452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128" name="Straight Arrow Connector 127">
            <a:extLst>
              <a:ext uri="{FF2B5EF4-FFF2-40B4-BE49-F238E27FC236}">
                <a16:creationId xmlns:a16="http://schemas.microsoft.com/office/drawing/2014/main" id="{2BB82E3D-C6BD-25AC-EC18-9E0A07BBFDF3}"/>
              </a:ext>
            </a:extLst>
          </p:cNvPr>
          <p:cNvCxnSpPr>
            <a:cxnSpLocks/>
            <a:stCxn id="124" idx="1"/>
            <a:endCxn id="122" idx="3"/>
          </p:cNvCxnSpPr>
          <p:nvPr/>
        </p:nvCxnSpPr>
        <p:spPr>
          <a:xfrm flipV="1">
            <a:off x="6962060" y="2344707"/>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9F2E72FC-6DF3-5B7F-45E3-159DC40B83B7}"/>
              </a:ext>
            </a:extLst>
          </p:cNvPr>
          <p:cNvCxnSpPr>
            <a:cxnSpLocks/>
            <a:stCxn id="126" idx="0"/>
            <a:endCxn id="124" idx="4"/>
          </p:cNvCxnSpPr>
          <p:nvPr/>
        </p:nvCxnSpPr>
        <p:spPr>
          <a:xfrm flipH="1" flipV="1">
            <a:off x="7155697" y="298132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D4FF7A70-AA04-34D9-9FC9-DBD3597FC3BB}"/>
              </a:ext>
            </a:extLst>
          </p:cNvPr>
          <p:cNvCxnSpPr>
            <a:cxnSpLocks/>
            <a:endCxn id="124" idx="3"/>
          </p:cNvCxnSpPr>
          <p:nvPr/>
        </p:nvCxnSpPr>
        <p:spPr>
          <a:xfrm flipH="1" flipV="1">
            <a:off x="6962060" y="291018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12C1D7A7-5362-914A-1ED5-DBEF5C61FCAE}"/>
              </a:ext>
            </a:extLst>
          </p:cNvPr>
          <p:cNvSpPr/>
          <p:nvPr/>
        </p:nvSpPr>
        <p:spPr>
          <a:xfrm>
            <a:off x="7536049" y="247743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34" name="Oval 133">
            <a:extLst>
              <a:ext uri="{FF2B5EF4-FFF2-40B4-BE49-F238E27FC236}">
                <a16:creationId xmlns:a16="http://schemas.microsoft.com/office/drawing/2014/main" id="{FF7CC517-A4AB-9878-0B66-DC6ADB820165}"/>
              </a:ext>
            </a:extLst>
          </p:cNvPr>
          <p:cNvSpPr/>
          <p:nvPr/>
        </p:nvSpPr>
        <p:spPr>
          <a:xfrm>
            <a:off x="8190245" y="250954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35" name="Straight Arrow Connector 134">
            <a:extLst>
              <a:ext uri="{FF2B5EF4-FFF2-40B4-BE49-F238E27FC236}">
                <a16:creationId xmlns:a16="http://schemas.microsoft.com/office/drawing/2014/main" id="{D99A8704-300B-12E9-1E72-3042F0C77972}"/>
              </a:ext>
            </a:extLst>
          </p:cNvPr>
          <p:cNvCxnSpPr>
            <a:cxnSpLocks/>
            <a:stCxn id="133" idx="0"/>
            <a:endCxn id="122" idx="5"/>
          </p:cNvCxnSpPr>
          <p:nvPr/>
        </p:nvCxnSpPr>
        <p:spPr>
          <a:xfrm flipH="1" flipV="1">
            <a:off x="7633221" y="2344707"/>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E0A42C6-8960-1150-339E-E98B623A0D73}"/>
              </a:ext>
            </a:extLst>
          </p:cNvPr>
          <p:cNvCxnSpPr>
            <a:cxnSpLocks/>
            <a:stCxn id="134" idx="1"/>
            <a:endCxn id="122" idx="6"/>
          </p:cNvCxnSpPr>
          <p:nvPr/>
        </p:nvCxnSpPr>
        <p:spPr>
          <a:xfrm flipH="1" flipV="1">
            <a:off x="7700668" y="219821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4808C643-7861-FA91-38B5-1132DF78B760}"/>
              </a:ext>
            </a:extLst>
          </p:cNvPr>
          <p:cNvCxnSpPr>
            <a:cxnSpLocks/>
            <a:stCxn id="125" idx="7"/>
            <a:endCxn id="133" idx="3"/>
          </p:cNvCxnSpPr>
          <p:nvPr/>
        </p:nvCxnSpPr>
        <p:spPr>
          <a:xfrm flipV="1">
            <a:off x="7240109" y="289207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89FBC713-5A52-CF46-A418-47AE87E95839}"/>
              </a:ext>
            </a:extLst>
          </p:cNvPr>
          <p:cNvCxnSpPr>
            <a:cxnSpLocks/>
            <a:stCxn id="126" idx="0"/>
            <a:endCxn id="133" idx="4"/>
          </p:cNvCxnSpPr>
          <p:nvPr/>
        </p:nvCxnSpPr>
        <p:spPr>
          <a:xfrm flipH="1" flipV="1">
            <a:off x="7809893" y="296321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10847D8C-A663-F6FD-BB3F-8CCB327E1094}"/>
              </a:ext>
            </a:extLst>
          </p:cNvPr>
          <p:cNvCxnSpPr>
            <a:cxnSpLocks/>
            <a:stCxn id="125" idx="7"/>
            <a:endCxn id="134" idx="3"/>
          </p:cNvCxnSpPr>
          <p:nvPr/>
        </p:nvCxnSpPr>
        <p:spPr>
          <a:xfrm flipV="1">
            <a:off x="7240109" y="2924176"/>
            <a:ext cx="1030343" cy="27148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79C77B34-3F3B-A901-89BB-5CDEBCBC992D}"/>
              </a:ext>
            </a:extLst>
          </p:cNvPr>
          <p:cNvSpPr/>
          <p:nvPr/>
        </p:nvSpPr>
        <p:spPr>
          <a:xfrm>
            <a:off x="7240109" y="381809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142" name="Oval 141">
            <a:extLst>
              <a:ext uri="{FF2B5EF4-FFF2-40B4-BE49-F238E27FC236}">
                <a16:creationId xmlns:a16="http://schemas.microsoft.com/office/drawing/2014/main" id="{51488027-7627-B0E4-65E5-F01737F56911}"/>
              </a:ext>
            </a:extLst>
          </p:cNvPr>
          <p:cNvSpPr/>
          <p:nvPr/>
        </p:nvSpPr>
        <p:spPr>
          <a:xfrm>
            <a:off x="6255745" y="432146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143" name="Oval 142">
            <a:extLst>
              <a:ext uri="{FF2B5EF4-FFF2-40B4-BE49-F238E27FC236}">
                <a16:creationId xmlns:a16="http://schemas.microsoft.com/office/drawing/2014/main" id="{F398260D-A56A-5B3E-4812-7B0FF9CA1D42}"/>
              </a:ext>
            </a:extLst>
          </p:cNvPr>
          <p:cNvSpPr/>
          <p:nvPr/>
        </p:nvSpPr>
        <p:spPr>
          <a:xfrm>
            <a:off x="6881853" y="432260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144" name="Oval 143">
            <a:extLst>
              <a:ext uri="{FF2B5EF4-FFF2-40B4-BE49-F238E27FC236}">
                <a16:creationId xmlns:a16="http://schemas.microsoft.com/office/drawing/2014/main" id="{7019BEF7-F9AB-65EF-3230-81B812B53E6E}"/>
              </a:ext>
            </a:extLst>
          </p:cNvPr>
          <p:cNvSpPr/>
          <p:nvPr/>
        </p:nvSpPr>
        <p:spPr>
          <a:xfrm>
            <a:off x="6772628" y="495157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145" name="Oval 144">
            <a:extLst>
              <a:ext uri="{FF2B5EF4-FFF2-40B4-BE49-F238E27FC236}">
                <a16:creationId xmlns:a16="http://schemas.microsoft.com/office/drawing/2014/main" id="{35364F00-25B0-4A50-7643-F0647BE5B872}"/>
              </a:ext>
            </a:extLst>
          </p:cNvPr>
          <p:cNvSpPr/>
          <p:nvPr/>
        </p:nvSpPr>
        <p:spPr>
          <a:xfrm>
            <a:off x="7621834" y="495157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146" name="Straight Arrow Connector 145">
            <a:extLst>
              <a:ext uri="{FF2B5EF4-FFF2-40B4-BE49-F238E27FC236}">
                <a16:creationId xmlns:a16="http://schemas.microsoft.com/office/drawing/2014/main" id="{40FC926C-8F19-87A8-5F72-DA1BB3C82645}"/>
              </a:ext>
            </a:extLst>
          </p:cNvPr>
          <p:cNvCxnSpPr>
            <a:cxnSpLocks/>
            <a:stCxn id="142" idx="7"/>
            <a:endCxn id="141" idx="2"/>
          </p:cNvCxnSpPr>
          <p:nvPr/>
        </p:nvCxnSpPr>
        <p:spPr>
          <a:xfrm flipV="1">
            <a:off x="6723226" y="402526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D45103A0-2F5E-BF90-BE51-7D5FE09D9AC4}"/>
              </a:ext>
            </a:extLst>
          </p:cNvPr>
          <p:cNvCxnSpPr>
            <a:cxnSpLocks/>
            <a:stCxn id="143" idx="1"/>
            <a:endCxn id="141" idx="3"/>
          </p:cNvCxnSpPr>
          <p:nvPr/>
        </p:nvCxnSpPr>
        <p:spPr>
          <a:xfrm flipV="1">
            <a:off x="6962060" y="4171757"/>
            <a:ext cx="345496" cy="2219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946FD96A-A3D4-BA7E-764D-EB22F301C135}"/>
              </a:ext>
            </a:extLst>
          </p:cNvPr>
          <p:cNvCxnSpPr>
            <a:cxnSpLocks/>
            <a:stCxn id="144" idx="0"/>
            <a:endCxn id="142" idx="4"/>
          </p:cNvCxnSpPr>
          <p:nvPr/>
        </p:nvCxnSpPr>
        <p:spPr>
          <a:xfrm flipH="1" flipV="1">
            <a:off x="6529589" y="4807240"/>
            <a:ext cx="516883" cy="1443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ED81B630-D274-DE09-FCA8-B0FAE7D80E1D}"/>
              </a:ext>
            </a:extLst>
          </p:cNvPr>
          <p:cNvCxnSpPr>
            <a:cxnSpLocks/>
            <a:stCxn id="145" idx="0"/>
            <a:endCxn id="143" idx="4"/>
          </p:cNvCxnSpPr>
          <p:nvPr/>
        </p:nvCxnSpPr>
        <p:spPr>
          <a:xfrm flipH="1" flipV="1">
            <a:off x="7155697" y="480837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FD6AD111-4DBC-24D6-2FC0-A4DC0D37DFF7}"/>
              </a:ext>
            </a:extLst>
          </p:cNvPr>
          <p:cNvCxnSpPr>
            <a:cxnSpLocks/>
            <a:stCxn id="145" idx="1"/>
            <a:endCxn id="142" idx="5"/>
          </p:cNvCxnSpPr>
          <p:nvPr/>
        </p:nvCxnSpPr>
        <p:spPr>
          <a:xfrm flipH="1" flipV="1">
            <a:off x="6723226" y="4736100"/>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2" name="Oval 151">
            <a:extLst>
              <a:ext uri="{FF2B5EF4-FFF2-40B4-BE49-F238E27FC236}">
                <a16:creationId xmlns:a16="http://schemas.microsoft.com/office/drawing/2014/main" id="{725790CA-7295-C531-A55A-E0BFB1B11EC5}"/>
              </a:ext>
            </a:extLst>
          </p:cNvPr>
          <p:cNvSpPr/>
          <p:nvPr/>
        </p:nvSpPr>
        <p:spPr>
          <a:xfrm>
            <a:off x="7536049" y="430448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53" name="Oval 152">
            <a:extLst>
              <a:ext uri="{FF2B5EF4-FFF2-40B4-BE49-F238E27FC236}">
                <a16:creationId xmlns:a16="http://schemas.microsoft.com/office/drawing/2014/main" id="{15F9895F-DB3B-5578-50A3-08CC031B99F2}"/>
              </a:ext>
            </a:extLst>
          </p:cNvPr>
          <p:cNvSpPr/>
          <p:nvPr/>
        </p:nvSpPr>
        <p:spPr>
          <a:xfrm>
            <a:off x="8190245" y="433659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55" name="Straight Arrow Connector 154">
            <a:extLst>
              <a:ext uri="{FF2B5EF4-FFF2-40B4-BE49-F238E27FC236}">
                <a16:creationId xmlns:a16="http://schemas.microsoft.com/office/drawing/2014/main" id="{83658265-2119-7000-C45A-5E260A5BEA70}"/>
              </a:ext>
            </a:extLst>
          </p:cNvPr>
          <p:cNvCxnSpPr>
            <a:cxnSpLocks/>
            <a:stCxn id="153" idx="1"/>
            <a:endCxn id="141" idx="6"/>
          </p:cNvCxnSpPr>
          <p:nvPr/>
        </p:nvCxnSpPr>
        <p:spPr>
          <a:xfrm flipH="1" flipV="1">
            <a:off x="7700668" y="402526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E0688271-1173-ED4F-A326-86AF5191E949}"/>
              </a:ext>
            </a:extLst>
          </p:cNvPr>
          <p:cNvCxnSpPr>
            <a:cxnSpLocks/>
            <a:stCxn id="145" idx="7"/>
            <a:endCxn id="153" idx="4"/>
          </p:cNvCxnSpPr>
          <p:nvPr/>
        </p:nvCxnSpPr>
        <p:spPr>
          <a:xfrm flipV="1">
            <a:off x="8089315" y="4822366"/>
            <a:ext cx="374774" cy="20034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C995FCA8-ED06-6B9D-1C00-EB6C22B371A9}"/>
              </a:ext>
            </a:extLst>
          </p:cNvPr>
          <p:cNvCxnSpPr>
            <a:cxnSpLocks/>
            <a:stCxn id="145" idx="0"/>
            <a:endCxn id="152" idx="4"/>
          </p:cNvCxnSpPr>
          <p:nvPr/>
        </p:nvCxnSpPr>
        <p:spPr>
          <a:xfrm flipH="1" flipV="1">
            <a:off x="7809893" y="479026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0" name="Oval 159">
            <a:extLst>
              <a:ext uri="{FF2B5EF4-FFF2-40B4-BE49-F238E27FC236}">
                <a16:creationId xmlns:a16="http://schemas.microsoft.com/office/drawing/2014/main" id="{1EDA14DB-A076-AEE3-B50E-C737A3F1B85C}"/>
              </a:ext>
            </a:extLst>
          </p:cNvPr>
          <p:cNvSpPr/>
          <p:nvPr/>
        </p:nvSpPr>
        <p:spPr>
          <a:xfrm>
            <a:off x="10082685" y="193142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161" name="Oval 160">
            <a:extLst>
              <a:ext uri="{FF2B5EF4-FFF2-40B4-BE49-F238E27FC236}">
                <a16:creationId xmlns:a16="http://schemas.microsoft.com/office/drawing/2014/main" id="{7354DFCC-BC5A-39C7-092E-6ECFC216AEEF}"/>
              </a:ext>
            </a:extLst>
          </p:cNvPr>
          <p:cNvSpPr/>
          <p:nvPr/>
        </p:nvSpPr>
        <p:spPr>
          <a:xfrm>
            <a:off x="9098321" y="243479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162" name="Oval 161">
            <a:extLst>
              <a:ext uri="{FF2B5EF4-FFF2-40B4-BE49-F238E27FC236}">
                <a16:creationId xmlns:a16="http://schemas.microsoft.com/office/drawing/2014/main" id="{C27D5794-CC97-DA98-946D-4FB7402ACF8A}"/>
              </a:ext>
            </a:extLst>
          </p:cNvPr>
          <p:cNvSpPr/>
          <p:nvPr/>
        </p:nvSpPr>
        <p:spPr>
          <a:xfrm>
            <a:off x="9724429" y="243593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163" name="Oval 162">
            <a:extLst>
              <a:ext uri="{FF2B5EF4-FFF2-40B4-BE49-F238E27FC236}">
                <a16:creationId xmlns:a16="http://schemas.microsoft.com/office/drawing/2014/main" id="{8058815C-6918-CBFA-25B0-9484545687AD}"/>
              </a:ext>
            </a:extLst>
          </p:cNvPr>
          <p:cNvSpPr/>
          <p:nvPr/>
        </p:nvSpPr>
        <p:spPr>
          <a:xfrm>
            <a:off x="9615204" y="306490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164" name="Oval 163">
            <a:extLst>
              <a:ext uri="{FF2B5EF4-FFF2-40B4-BE49-F238E27FC236}">
                <a16:creationId xmlns:a16="http://schemas.microsoft.com/office/drawing/2014/main" id="{78906BC1-C692-777C-7CF2-94D856675C9C}"/>
              </a:ext>
            </a:extLst>
          </p:cNvPr>
          <p:cNvSpPr/>
          <p:nvPr/>
        </p:nvSpPr>
        <p:spPr>
          <a:xfrm>
            <a:off x="10464410" y="306490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165" name="Straight Arrow Connector 164">
            <a:extLst>
              <a:ext uri="{FF2B5EF4-FFF2-40B4-BE49-F238E27FC236}">
                <a16:creationId xmlns:a16="http://schemas.microsoft.com/office/drawing/2014/main" id="{C98F0AEB-32C1-2898-DECE-83B3F2F58DCE}"/>
              </a:ext>
            </a:extLst>
          </p:cNvPr>
          <p:cNvCxnSpPr>
            <a:cxnSpLocks/>
            <a:stCxn id="161" idx="7"/>
            <a:endCxn id="160" idx="2"/>
          </p:cNvCxnSpPr>
          <p:nvPr/>
        </p:nvCxnSpPr>
        <p:spPr>
          <a:xfrm flipV="1">
            <a:off x="9565802" y="213859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6A792278-5862-9339-D618-DFE7DA313F79}"/>
              </a:ext>
            </a:extLst>
          </p:cNvPr>
          <p:cNvCxnSpPr>
            <a:cxnSpLocks/>
            <a:stCxn id="164" idx="0"/>
            <a:endCxn id="162" idx="4"/>
          </p:cNvCxnSpPr>
          <p:nvPr/>
        </p:nvCxnSpPr>
        <p:spPr>
          <a:xfrm flipH="1" flipV="1">
            <a:off x="9998273" y="292170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33CF7B89-DFD8-816F-DFAD-96412D4FA839}"/>
              </a:ext>
            </a:extLst>
          </p:cNvPr>
          <p:cNvCxnSpPr>
            <a:cxnSpLocks/>
            <a:stCxn id="164" idx="1"/>
            <a:endCxn id="161" idx="5"/>
          </p:cNvCxnSpPr>
          <p:nvPr/>
        </p:nvCxnSpPr>
        <p:spPr>
          <a:xfrm flipH="1" flipV="1">
            <a:off x="9565802" y="2849430"/>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FCCF4A69-70EB-C153-8F28-0061A3844DCC}"/>
              </a:ext>
            </a:extLst>
          </p:cNvPr>
          <p:cNvCxnSpPr>
            <a:cxnSpLocks/>
            <a:endCxn id="162" idx="3"/>
          </p:cNvCxnSpPr>
          <p:nvPr/>
        </p:nvCxnSpPr>
        <p:spPr>
          <a:xfrm flipH="1" flipV="1">
            <a:off x="9804636" y="2850567"/>
            <a:ext cx="230966" cy="27592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1" name="Oval 170">
            <a:extLst>
              <a:ext uri="{FF2B5EF4-FFF2-40B4-BE49-F238E27FC236}">
                <a16:creationId xmlns:a16="http://schemas.microsoft.com/office/drawing/2014/main" id="{E163761B-4416-2855-EA65-305FC59A4F5D}"/>
              </a:ext>
            </a:extLst>
          </p:cNvPr>
          <p:cNvSpPr/>
          <p:nvPr/>
        </p:nvSpPr>
        <p:spPr>
          <a:xfrm>
            <a:off x="10378625" y="241781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72" name="Oval 171">
            <a:extLst>
              <a:ext uri="{FF2B5EF4-FFF2-40B4-BE49-F238E27FC236}">
                <a16:creationId xmlns:a16="http://schemas.microsoft.com/office/drawing/2014/main" id="{D5C21F77-D682-FE09-E775-3E860D4D1426}"/>
              </a:ext>
            </a:extLst>
          </p:cNvPr>
          <p:cNvSpPr/>
          <p:nvPr/>
        </p:nvSpPr>
        <p:spPr>
          <a:xfrm>
            <a:off x="11032821" y="244992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73" name="Straight Arrow Connector 172">
            <a:extLst>
              <a:ext uri="{FF2B5EF4-FFF2-40B4-BE49-F238E27FC236}">
                <a16:creationId xmlns:a16="http://schemas.microsoft.com/office/drawing/2014/main" id="{646FA71B-FB07-A385-2680-5F4DF2C03409}"/>
              </a:ext>
            </a:extLst>
          </p:cNvPr>
          <p:cNvCxnSpPr>
            <a:cxnSpLocks/>
            <a:stCxn id="171" idx="0"/>
            <a:endCxn id="160" idx="5"/>
          </p:cNvCxnSpPr>
          <p:nvPr/>
        </p:nvCxnSpPr>
        <p:spPr>
          <a:xfrm flipH="1" flipV="1">
            <a:off x="10475797" y="2285087"/>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7FE01783-5317-954D-F611-9CCD7340686F}"/>
              </a:ext>
            </a:extLst>
          </p:cNvPr>
          <p:cNvCxnSpPr>
            <a:cxnSpLocks/>
            <a:stCxn id="172" idx="1"/>
            <a:endCxn id="160" idx="6"/>
          </p:cNvCxnSpPr>
          <p:nvPr/>
        </p:nvCxnSpPr>
        <p:spPr>
          <a:xfrm flipH="1" flipV="1">
            <a:off x="10543244" y="213859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6C0465D1-135B-B89A-08DA-5D2F0750C57C}"/>
              </a:ext>
            </a:extLst>
          </p:cNvPr>
          <p:cNvCxnSpPr>
            <a:cxnSpLocks/>
            <a:stCxn id="163" idx="7"/>
            <a:endCxn id="171" idx="3"/>
          </p:cNvCxnSpPr>
          <p:nvPr/>
        </p:nvCxnSpPr>
        <p:spPr>
          <a:xfrm flipV="1">
            <a:off x="10082685" y="283245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12A0D152-84DB-7CAC-E074-4E7038B12EA4}"/>
              </a:ext>
            </a:extLst>
          </p:cNvPr>
          <p:cNvCxnSpPr>
            <a:cxnSpLocks/>
            <a:stCxn id="164" idx="0"/>
            <a:endCxn id="171" idx="4"/>
          </p:cNvCxnSpPr>
          <p:nvPr/>
        </p:nvCxnSpPr>
        <p:spPr>
          <a:xfrm flipH="1" flipV="1">
            <a:off x="10652469" y="290359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1B02A77B-4702-E055-FDA6-249DD8757F2B}"/>
              </a:ext>
            </a:extLst>
          </p:cNvPr>
          <p:cNvCxnSpPr>
            <a:cxnSpLocks/>
            <a:stCxn id="163" idx="7"/>
            <a:endCxn id="172" idx="3"/>
          </p:cNvCxnSpPr>
          <p:nvPr/>
        </p:nvCxnSpPr>
        <p:spPr>
          <a:xfrm flipV="1">
            <a:off x="10082685" y="2864556"/>
            <a:ext cx="1030343" cy="27148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9" name="Oval 178">
            <a:extLst>
              <a:ext uri="{FF2B5EF4-FFF2-40B4-BE49-F238E27FC236}">
                <a16:creationId xmlns:a16="http://schemas.microsoft.com/office/drawing/2014/main" id="{53BDD3E0-3653-7452-6359-76618B9434AF}"/>
              </a:ext>
            </a:extLst>
          </p:cNvPr>
          <p:cNvSpPr/>
          <p:nvPr/>
        </p:nvSpPr>
        <p:spPr>
          <a:xfrm>
            <a:off x="10082685" y="3758477"/>
            <a:ext cx="460559" cy="414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a:t>
            </a:r>
          </a:p>
        </p:txBody>
      </p:sp>
      <p:sp>
        <p:nvSpPr>
          <p:cNvPr id="180" name="Oval 179">
            <a:extLst>
              <a:ext uri="{FF2B5EF4-FFF2-40B4-BE49-F238E27FC236}">
                <a16:creationId xmlns:a16="http://schemas.microsoft.com/office/drawing/2014/main" id="{CD4B8A60-4CE0-4D45-F6F8-98010B962CD4}"/>
              </a:ext>
            </a:extLst>
          </p:cNvPr>
          <p:cNvSpPr/>
          <p:nvPr/>
        </p:nvSpPr>
        <p:spPr>
          <a:xfrm>
            <a:off x="9098321" y="4261845"/>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1</a:t>
            </a:r>
          </a:p>
        </p:txBody>
      </p:sp>
      <p:sp>
        <p:nvSpPr>
          <p:cNvPr id="181" name="Oval 180">
            <a:extLst>
              <a:ext uri="{FF2B5EF4-FFF2-40B4-BE49-F238E27FC236}">
                <a16:creationId xmlns:a16="http://schemas.microsoft.com/office/drawing/2014/main" id="{CA4A1F07-D527-D023-CD66-7B2A9B72A5BE}"/>
              </a:ext>
            </a:extLst>
          </p:cNvPr>
          <p:cNvSpPr/>
          <p:nvPr/>
        </p:nvSpPr>
        <p:spPr>
          <a:xfrm>
            <a:off x="9724429" y="426298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2</a:t>
            </a:r>
          </a:p>
        </p:txBody>
      </p:sp>
      <p:sp>
        <p:nvSpPr>
          <p:cNvPr id="182" name="Oval 181">
            <a:extLst>
              <a:ext uri="{FF2B5EF4-FFF2-40B4-BE49-F238E27FC236}">
                <a16:creationId xmlns:a16="http://schemas.microsoft.com/office/drawing/2014/main" id="{11FC3997-6E63-2634-A689-5E84E670ACF3}"/>
              </a:ext>
            </a:extLst>
          </p:cNvPr>
          <p:cNvSpPr/>
          <p:nvPr/>
        </p:nvSpPr>
        <p:spPr>
          <a:xfrm>
            <a:off x="9615204" y="489195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1</a:t>
            </a:r>
          </a:p>
        </p:txBody>
      </p:sp>
      <p:sp>
        <p:nvSpPr>
          <p:cNvPr id="183" name="Oval 182">
            <a:extLst>
              <a:ext uri="{FF2B5EF4-FFF2-40B4-BE49-F238E27FC236}">
                <a16:creationId xmlns:a16="http://schemas.microsoft.com/office/drawing/2014/main" id="{620CEDDD-F1EA-DBB7-9264-C3E7DC02ECD3}"/>
              </a:ext>
            </a:extLst>
          </p:cNvPr>
          <p:cNvSpPr/>
          <p:nvPr/>
        </p:nvSpPr>
        <p:spPr>
          <a:xfrm>
            <a:off x="10464410" y="4891952"/>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r>
              <a:rPr lang="en-US" baseline="-25000" dirty="0">
                <a:solidFill>
                  <a:schemeClr val="tx1"/>
                </a:solidFill>
              </a:rPr>
              <a:t>2</a:t>
            </a:r>
          </a:p>
        </p:txBody>
      </p:sp>
      <p:cxnSp>
        <p:nvCxnSpPr>
          <p:cNvPr id="184" name="Straight Arrow Connector 183">
            <a:extLst>
              <a:ext uri="{FF2B5EF4-FFF2-40B4-BE49-F238E27FC236}">
                <a16:creationId xmlns:a16="http://schemas.microsoft.com/office/drawing/2014/main" id="{FD8B8F0E-6C31-5EFE-6276-CFEFB8E2C399}"/>
              </a:ext>
            </a:extLst>
          </p:cNvPr>
          <p:cNvCxnSpPr>
            <a:cxnSpLocks/>
            <a:stCxn id="180" idx="7"/>
            <a:endCxn id="179" idx="2"/>
          </p:cNvCxnSpPr>
          <p:nvPr/>
        </p:nvCxnSpPr>
        <p:spPr>
          <a:xfrm flipV="1">
            <a:off x="9565802" y="3965646"/>
            <a:ext cx="516883" cy="367339"/>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51CC5553-3854-9C41-6F4D-170EB5010A2A}"/>
              </a:ext>
            </a:extLst>
          </p:cNvPr>
          <p:cNvCxnSpPr>
            <a:cxnSpLocks/>
            <a:stCxn id="183" idx="0"/>
            <a:endCxn id="181" idx="4"/>
          </p:cNvCxnSpPr>
          <p:nvPr/>
        </p:nvCxnSpPr>
        <p:spPr>
          <a:xfrm flipH="1" flipV="1">
            <a:off x="9998273" y="4748757"/>
            <a:ext cx="739981" cy="14319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E6EF31C3-AB0A-67E8-E549-70BB33637A24}"/>
              </a:ext>
            </a:extLst>
          </p:cNvPr>
          <p:cNvCxnSpPr>
            <a:cxnSpLocks/>
            <a:stCxn id="183" idx="1"/>
            <a:endCxn id="180" idx="5"/>
          </p:cNvCxnSpPr>
          <p:nvPr/>
        </p:nvCxnSpPr>
        <p:spPr>
          <a:xfrm flipH="1" flipV="1">
            <a:off x="9565802" y="4676480"/>
            <a:ext cx="978815" cy="28661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0" name="Oval 189">
            <a:extLst>
              <a:ext uri="{FF2B5EF4-FFF2-40B4-BE49-F238E27FC236}">
                <a16:creationId xmlns:a16="http://schemas.microsoft.com/office/drawing/2014/main" id="{494F54FC-1870-B4B5-C329-6BBDA8A9D3F4}"/>
              </a:ext>
            </a:extLst>
          </p:cNvPr>
          <p:cNvSpPr/>
          <p:nvPr/>
        </p:nvSpPr>
        <p:spPr>
          <a:xfrm>
            <a:off x="10378625" y="4244869"/>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3</a:t>
            </a:r>
          </a:p>
        </p:txBody>
      </p:sp>
      <p:sp>
        <p:nvSpPr>
          <p:cNvPr id="191" name="Oval 190">
            <a:extLst>
              <a:ext uri="{FF2B5EF4-FFF2-40B4-BE49-F238E27FC236}">
                <a16:creationId xmlns:a16="http://schemas.microsoft.com/office/drawing/2014/main" id="{AA605E16-58AD-84F5-0C1A-BB3C99F346B4}"/>
              </a:ext>
            </a:extLst>
          </p:cNvPr>
          <p:cNvSpPr/>
          <p:nvPr/>
        </p:nvSpPr>
        <p:spPr>
          <a:xfrm>
            <a:off x="11032821" y="4276971"/>
            <a:ext cx="547688" cy="485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r>
              <a:rPr lang="en-US" baseline="-25000" dirty="0">
                <a:solidFill>
                  <a:schemeClr val="tx1"/>
                </a:solidFill>
              </a:rPr>
              <a:t>4</a:t>
            </a:r>
          </a:p>
        </p:txBody>
      </p:sp>
      <p:cxnSp>
        <p:nvCxnSpPr>
          <p:cNvPr id="192" name="Straight Arrow Connector 191">
            <a:extLst>
              <a:ext uri="{FF2B5EF4-FFF2-40B4-BE49-F238E27FC236}">
                <a16:creationId xmlns:a16="http://schemas.microsoft.com/office/drawing/2014/main" id="{D863909D-26A4-DA8B-CDFF-7627CA48A839}"/>
              </a:ext>
            </a:extLst>
          </p:cNvPr>
          <p:cNvCxnSpPr>
            <a:cxnSpLocks/>
            <a:stCxn id="190" idx="0"/>
            <a:endCxn id="179" idx="5"/>
          </p:cNvCxnSpPr>
          <p:nvPr/>
        </p:nvCxnSpPr>
        <p:spPr>
          <a:xfrm flipH="1" flipV="1">
            <a:off x="10475797" y="4112137"/>
            <a:ext cx="176672" cy="1327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412A07A4-AC70-B972-0C98-E3AEC4032CD9}"/>
              </a:ext>
            </a:extLst>
          </p:cNvPr>
          <p:cNvCxnSpPr>
            <a:cxnSpLocks/>
            <a:stCxn id="191" idx="1"/>
            <a:endCxn id="179" idx="6"/>
          </p:cNvCxnSpPr>
          <p:nvPr/>
        </p:nvCxnSpPr>
        <p:spPr>
          <a:xfrm flipH="1" flipV="1">
            <a:off x="10543244" y="3965646"/>
            <a:ext cx="569784" cy="38246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650B2EE1-B299-0515-817F-74FFF0300AF2}"/>
              </a:ext>
            </a:extLst>
          </p:cNvPr>
          <p:cNvCxnSpPr>
            <a:cxnSpLocks/>
            <a:stCxn id="182" idx="7"/>
            <a:endCxn id="190" idx="3"/>
          </p:cNvCxnSpPr>
          <p:nvPr/>
        </p:nvCxnSpPr>
        <p:spPr>
          <a:xfrm flipV="1">
            <a:off x="10082685" y="4659504"/>
            <a:ext cx="376147" cy="30358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E00F5B5C-C355-4647-3977-3F343DACD2EB}"/>
              </a:ext>
            </a:extLst>
          </p:cNvPr>
          <p:cNvCxnSpPr>
            <a:cxnSpLocks/>
            <a:stCxn id="183" idx="0"/>
            <a:endCxn id="190" idx="4"/>
          </p:cNvCxnSpPr>
          <p:nvPr/>
        </p:nvCxnSpPr>
        <p:spPr>
          <a:xfrm flipH="1" flipV="1">
            <a:off x="10652469" y="4730644"/>
            <a:ext cx="85785" cy="16130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78153881-9A93-3D8E-CE00-615DC3889072}"/>
              </a:ext>
            </a:extLst>
          </p:cNvPr>
          <p:cNvCxnSpPr>
            <a:cxnSpLocks/>
            <a:stCxn id="182" idx="7"/>
            <a:endCxn id="191" idx="3"/>
          </p:cNvCxnSpPr>
          <p:nvPr/>
        </p:nvCxnSpPr>
        <p:spPr>
          <a:xfrm flipV="1">
            <a:off x="10082685" y="4691606"/>
            <a:ext cx="1030343" cy="27148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8" name="Content Placeholder 2">
            <a:extLst>
              <a:ext uri="{FF2B5EF4-FFF2-40B4-BE49-F238E27FC236}">
                <a16:creationId xmlns:a16="http://schemas.microsoft.com/office/drawing/2014/main" id="{93E69586-1A19-4F1C-B562-012D49B5E3B0}"/>
              </a:ext>
            </a:extLst>
          </p:cNvPr>
          <p:cNvSpPr txBox="1">
            <a:spLocks/>
          </p:cNvSpPr>
          <p:nvPr/>
        </p:nvSpPr>
        <p:spPr>
          <a:xfrm>
            <a:off x="379514" y="5852359"/>
            <a:ext cx="11525250" cy="512155"/>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dirty="0">
                <a:latin typeface="Segoe UI" panose="020B0502040204020203" pitchFamily="34" charset="0"/>
                <a:cs typeface="Segoe UI" panose="020B0502040204020203" pitchFamily="34" charset="0"/>
              </a:rPr>
              <a:t>A few possibilities of random dropout of weights creating new models</a:t>
            </a: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4916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2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3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3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3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3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6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6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64"/>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6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68"/>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6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7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7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72"/>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73"/>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74"/>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75"/>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77"/>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7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3"/>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7"/>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9"/>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30"/>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3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35"/>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3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37"/>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3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0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0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0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06"/>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07"/>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08"/>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11"/>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12"/>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13"/>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14"/>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15"/>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17"/>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18"/>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19"/>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20"/>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41"/>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42"/>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43"/>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45"/>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46"/>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47"/>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48"/>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49"/>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50"/>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52"/>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53"/>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55"/>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57"/>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58"/>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79"/>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80"/>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81"/>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82"/>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83"/>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84"/>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87"/>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88"/>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90"/>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91"/>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192"/>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93"/>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94"/>
                                        </p:tgtEl>
                                        <p:attrNameLst>
                                          <p:attrName>style.visibility</p:attrName>
                                        </p:attrNameLst>
                                      </p:cBhvr>
                                      <p:to>
                                        <p:strVal val="visible"/>
                                      </p:to>
                                    </p:set>
                                  </p:childTnLst>
                                </p:cTn>
                              </p:par>
                              <p:par>
                                <p:cTn id="255" presetID="1" presetClass="entr" presetSubtype="0" fill="hold" nodeType="withEffect">
                                  <p:stCondLst>
                                    <p:cond delay="0"/>
                                  </p:stCondLst>
                                  <p:childTnLst>
                                    <p:set>
                                      <p:cBhvr>
                                        <p:cTn id="256" dur="1" fill="hold">
                                          <p:stCondLst>
                                            <p:cond delay="0"/>
                                          </p:stCondLst>
                                        </p:cTn>
                                        <p:tgtEl>
                                          <p:spTgt spid="196"/>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5" grpId="0" animBg="1"/>
      <p:bldP spid="16" grpId="0" animBg="1"/>
      <p:bldP spid="23" grpId="0" animBg="1"/>
      <p:bldP spid="24" grpId="0" animBg="1"/>
      <p:bldP spid="25" grpId="0" animBg="1"/>
      <p:bldP spid="26" grpId="0" animBg="1"/>
      <p:bldP spid="27" grpId="0" animBg="1"/>
      <p:bldP spid="34" grpId="0" animBg="1"/>
      <p:bldP spid="35" grpId="0" animBg="1"/>
      <p:bldP spid="84" grpId="0" animBg="1"/>
      <p:bldP spid="85" grpId="0" animBg="1"/>
      <p:bldP spid="86" grpId="0" animBg="1"/>
      <p:bldP spid="87" grpId="0" animBg="1"/>
      <p:bldP spid="88" grpId="0" animBg="1"/>
      <p:bldP spid="95" grpId="0" animBg="1"/>
      <p:bldP spid="96" grpId="0" animBg="1"/>
      <p:bldP spid="103" grpId="0" animBg="1"/>
      <p:bldP spid="104" grpId="0" animBg="1"/>
      <p:bldP spid="105" grpId="0" animBg="1"/>
      <p:bldP spid="106" grpId="0" animBg="1"/>
      <p:bldP spid="107" grpId="0" animBg="1"/>
      <p:bldP spid="114" grpId="0" animBg="1"/>
      <p:bldP spid="115" grpId="0" animBg="1"/>
      <p:bldP spid="122" grpId="0" animBg="1"/>
      <p:bldP spid="123" grpId="0" animBg="1"/>
      <p:bldP spid="124" grpId="0" animBg="1"/>
      <p:bldP spid="125" grpId="0" animBg="1"/>
      <p:bldP spid="126" grpId="0" animBg="1"/>
      <p:bldP spid="133" grpId="0" animBg="1"/>
      <p:bldP spid="134" grpId="0" animBg="1"/>
      <p:bldP spid="141" grpId="0" animBg="1"/>
      <p:bldP spid="142" grpId="0" animBg="1"/>
      <p:bldP spid="143" grpId="0" animBg="1"/>
      <p:bldP spid="144" grpId="0" animBg="1"/>
      <p:bldP spid="145" grpId="0" animBg="1"/>
      <p:bldP spid="152" grpId="0" animBg="1"/>
      <p:bldP spid="153" grpId="0" animBg="1"/>
      <p:bldP spid="160" grpId="0" animBg="1"/>
      <p:bldP spid="161" grpId="0" animBg="1"/>
      <p:bldP spid="162" grpId="0" animBg="1"/>
      <p:bldP spid="163" grpId="0" animBg="1"/>
      <p:bldP spid="164" grpId="0" animBg="1"/>
      <p:bldP spid="171" grpId="0" animBg="1"/>
      <p:bldP spid="172" grpId="0" animBg="1"/>
      <p:bldP spid="179" grpId="0" animBg="1"/>
      <p:bldP spid="180" grpId="0" animBg="1"/>
      <p:bldP spid="181" grpId="0" animBg="1"/>
      <p:bldP spid="182" grpId="0" animBg="1"/>
      <p:bldP spid="183" grpId="0" animBg="1"/>
      <p:bldP spid="190" grpId="0" animBg="1"/>
      <p:bldP spid="191" grpId="0" animBg="1"/>
      <p:bldP spid="19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B827-F6AD-4E54-8E82-11D59781450D}"/>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Dropout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AF51D7-F8DE-4733-8FDF-5B8E115018CF}"/>
                  </a:ext>
                </a:extLst>
              </p:cNvPr>
              <p:cNvSpPr>
                <a:spLocks noGrp="1"/>
              </p:cNvSpPr>
              <p:nvPr>
                <p:ph sz="quarter" idx="10"/>
              </p:nvPr>
            </p:nvSpPr>
            <p:spPr>
              <a:xfrm>
                <a:off x="378696" y="932035"/>
                <a:ext cx="11525250" cy="5290388"/>
              </a:xfrm>
            </p:spPr>
            <p:txBody>
              <a:bodyPr/>
              <a:lstStyle/>
              <a:p>
                <a:pPr marL="0" indent="0">
                  <a:buNone/>
                </a:pPr>
                <a:r>
                  <a:rPr lang="en-US" sz="2800" dirty="0">
                    <a:latin typeface="+mn-lt"/>
                    <a:cs typeface="Segoe UI" panose="020B0502040204020203" pitchFamily="34" charset="0"/>
                  </a:rPr>
                  <a:t>How can the </a:t>
                </a:r>
                <a:r>
                  <a:rPr lang="en-US" sz="2800" b="1" dirty="0">
                    <a:latin typeface="+mn-lt"/>
                    <a:cs typeface="Segoe UI" panose="020B0502040204020203" pitchFamily="34" charset="0"/>
                  </a:rPr>
                  <a:t>partial derivatives for backpropagation be computed </a:t>
                </a:r>
                <a:r>
                  <a:rPr lang="en-US" sz="2800" dirty="0">
                    <a:latin typeface="+mn-lt"/>
                    <a:cs typeface="Segoe UI" panose="020B0502040204020203" pitchFamily="34" charset="0"/>
                  </a:rPr>
                  <a:t>with dropout regularization?</a:t>
                </a:r>
              </a:p>
              <a:p>
                <a:r>
                  <a:rPr lang="en-US" sz="2800" dirty="0">
                    <a:latin typeface="+mn-lt"/>
                    <a:cs typeface="Segoe UI" panose="020B0502040204020203" pitchFamily="34" charset="0"/>
                  </a:rPr>
                  <a:t>We need partial derivatives of layer activations from a layer with sampled weight tensor </a:t>
                </a:r>
                <a14:m>
                  <m:oMath xmlns:m="http://schemas.openxmlformats.org/officeDocument/2006/math">
                    <m:sSubSup>
                      <m:sSubSupPr>
                        <m:ctrlPr>
                          <a:rPr lang="en-US" sz="2800" i="1">
                            <a:latin typeface="Cambria Math" panose="02040503050406030204" pitchFamily="18" charset="0"/>
                            <a:cs typeface="Segoe UI" panose="020B0502040204020203" pitchFamily="34" charset="0"/>
                          </a:rPr>
                        </m:ctrlPr>
                      </m:sSubSupPr>
                      <m:e>
                        <m:r>
                          <a:rPr lang="en-US" sz="2800" i="1">
                            <a:latin typeface="Cambria Math" panose="02040503050406030204" pitchFamily="18" charset="0"/>
                            <a:cs typeface="Segoe UI" panose="020B0502040204020203" pitchFamily="34" charset="0"/>
                          </a:rPr>
                          <m:t>𝑊</m:t>
                        </m:r>
                      </m:e>
                      <m:sub>
                        <m:r>
                          <a:rPr lang="en-US" sz="2800" i="1">
                            <a:latin typeface="Cambria Math" panose="02040503050406030204" pitchFamily="18" charset="0"/>
                            <a:cs typeface="Segoe UI" panose="020B0502040204020203" pitchFamily="34" charset="0"/>
                          </a:rPr>
                          <m:t> </m:t>
                        </m:r>
                      </m:sub>
                      <m:sup>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𝑙</m:t>
                        </m:r>
                        <m:r>
                          <a:rPr lang="en-US" sz="2800" i="1">
                            <a:latin typeface="Cambria Math" panose="02040503050406030204" pitchFamily="18" charset="0"/>
                            <a:cs typeface="Segoe UI" panose="020B0502040204020203" pitchFamily="34" charset="0"/>
                          </a:rPr>
                          <m:t>)</m:t>
                        </m:r>
                      </m:sup>
                    </m:sSubSup>
                  </m:oMath>
                </a14:m>
                <a:endParaRPr lang="en-US" sz="2800" dirty="0">
                  <a:latin typeface="+mn-lt"/>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sz="2800" i="1">
                              <a:latin typeface="Cambria Math" panose="02040503050406030204" pitchFamily="18" charset="0"/>
                              <a:cs typeface="Segoe UI" panose="020B0502040204020203" pitchFamily="34" charset="0"/>
                            </a:rPr>
                          </m:ctrlPr>
                        </m:sSubSupPr>
                        <m:e>
                          <m:r>
                            <a:rPr lang="en-US" sz="2800" b="0" i="1" smtClean="0">
                              <a:latin typeface="Cambria Math" panose="02040503050406030204" pitchFamily="18" charset="0"/>
                              <a:cs typeface="Segoe UI" panose="020B0502040204020203" pitchFamily="34" charset="0"/>
                            </a:rPr>
                            <m:t>h</m:t>
                          </m:r>
                        </m:e>
                        <m:sub>
                          <m:r>
                            <a:rPr lang="en-US" sz="2800" b="0" i="1" smtClean="0">
                              <a:latin typeface="Cambria Math" panose="02040503050406030204" pitchFamily="18" charset="0"/>
                              <a:cs typeface="Segoe UI" panose="020B0502040204020203" pitchFamily="34" charset="0"/>
                            </a:rPr>
                            <m:t> </m:t>
                          </m:r>
                        </m:sub>
                        <m:sup>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𝑙</m:t>
                          </m:r>
                          <m:r>
                            <a:rPr lang="en-US" sz="2800" b="0" i="1" smtClean="0">
                              <a:latin typeface="Cambria Math" panose="02040503050406030204" pitchFamily="18" charset="0"/>
                              <a:cs typeface="Segoe UI" panose="020B0502040204020203" pitchFamily="34" charset="0"/>
                            </a:rPr>
                            <m:t>+1</m:t>
                          </m:r>
                          <m:r>
                            <a:rPr lang="en-US" sz="2800" i="1">
                              <a:latin typeface="Cambria Math" panose="02040503050406030204" pitchFamily="18" charset="0"/>
                              <a:cs typeface="Segoe UI" panose="020B0502040204020203" pitchFamily="34" charset="0"/>
                            </a:rPr>
                            <m:t>)</m:t>
                          </m:r>
                        </m:sup>
                      </m:sSubSup>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𝜎</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sSubSup>
                        <m:sSubSupPr>
                          <m:ctrlPr>
                            <a:rPr lang="en-US" sz="2800" i="1">
                              <a:latin typeface="Cambria Math" panose="02040503050406030204" pitchFamily="18" charset="0"/>
                              <a:cs typeface="Segoe UI" panose="020B0502040204020203" pitchFamily="34" charset="0"/>
                            </a:rPr>
                          </m:ctrlPr>
                        </m:sSubSupPr>
                        <m:e>
                          <m:r>
                            <a:rPr lang="en-US" sz="2800" b="0" i="1" smtClean="0">
                              <a:latin typeface="Cambria Math" panose="02040503050406030204" pitchFamily="18" charset="0"/>
                              <a:cs typeface="Segoe UI" panose="020B0502040204020203" pitchFamily="34" charset="0"/>
                            </a:rPr>
                            <m:t>𝑊</m:t>
                          </m:r>
                        </m:e>
                        <m:sub>
                          <m:r>
                            <a:rPr lang="en-US" sz="2800" b="0" i="1" smtClean="0">
                              <a:latin typeface="Cambria Math" panose="02040503050406030204" pitchFamily="18" charset="0"/>
                              <a:cs typeface="Segoe UI" panose="020B0502040204020203" pitchFamily="34" charset="0"/>
                            </a:rPr>
                            <m:t> </m:t>
                          </m:r>
                        </m:sub>
                        <m:sup>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𝑙</m:t>
                          </m:r>
                          <m:r>
                            <a:rPr lang="en-US" sz="2800" i="1">
                              <a:latin typeface="Cambria Math" panose="02040503050406030204" pitchFamily="18" charset="0"/>
                              <a:cs typeface="Segoe UI" panose="020B0502040204020203" pitchFamily="34" charset="0"/>
                            </a:rPr>
                            <m:t>)</m:t>
                          </m:r>
                        </m:sup>
                      </m:sSubSup>
                      <m:sSubSup>
                        <m:sSubSupPr>
                          <m:ctrlPr>
                            <a:rPr lang="en-US" sz="2800" i="1">
                              <a:latin typeface="Cambria Math" panose="02040503050406030204" pitchFamily="18" charset="0"/>
                              <a:cs typeface="Segoe UI" panose="020B0502040204020203" pitchFamily="34" charset="0"/>
                            </a:rPr>
                          </m:ctrlPr>
                        </m:sSubSupPr>
                        <m:e>
                          <m:r>
                            <a:rPr lang="en-US" sz="2800" i="1">
                              <a:latin typeface="Cambria Math" panose="02040503050406030204" pitchFamily="18" charset="0"/>
                              <a:cs typeface="Segoe UI" panose="020B0502040204020203" pitchFamily="34" charset="0"/>
                            </a:rPr>
                            <m:t>h</m:t>
                          </m:r>
                        </m:e>
                        <m:sub>
                          <m:r>
                            <a:rPr lang="en-US" sz="2800" i="1">
                              <a:latin typeface="Cambria Math" panose="02040503050406030204" pitchFamily="18" charset="0"/>
                              <a:cs typeface="Segoe UI" panose="020B0502040204020203" pitchFamily="34" charset="0"/>
                            </a:rPr>
                            <m:t> </m:t>
                          </m:r>
                        </m:sub>
                        <m:sup>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𝑙</m:t>
                          </m:r>
                          <m:r>
                            <a:rPr lang="en-US" sz="2800" b="0" i="1" smtClean="0">
                              <a:latin typeface="Cambria Math" panose="02040503050406030204" pitchFamily="18" charset="0"/>
                              <a:cs typeface="Segoe UI" panose="020B0502040204020203" pitchFamily="34" charset="0"/>
                            </a:rPr>
                            <m:t>−1</m:t>
                          </m:r>
                          <m:r>
                            <a:rPr lang="en-US" sz="2800" i="1">
                              <a:latin typeface="Cambria Math" panose="02040503050406030204" pitchFamily="18" charset="0"/>
                              <a:cs typeface="Segoe UI" panose="020B0502040204020203" pitchFamily="34" charset="0"/>
                            </a:rPr>
                            <m:t>)</m:t>
                          </m:r>
                        </m:sup>
                      </m:sSubSup>
                      <m:r>
                        <a:rPr lang="en-US" sz="2800" b="0" i="1" smtClean="0">
                          <a:latin typeface="Cambria Math" panose="02040503050406030204" pitchFamily="18" charset="0"/>
                          <a:ea typeface="Cambria Math" panose="02040503050406030204" pitchFamily="18" charset="0"/>
                          <a:cs typeface="Segoe UI" panose="020B0502040204020203" pitchFamily="34" charset="0"/>
                        </a:rPr>
                        <m:t>)</m:t>
                      </m:r>
                    </m:oMath>
                  </m:oMathPara>
                </a14:m>
                <a:endParaRPr lang="en-US" sz="2800" dirty="0">
                  <a:latin typeface="+mn-lt"/>
                  <a:cs typeface="Segoe UI" panose="020B0502040204020203" pitchFamily="34" charset="0"/>
                </a:endParaRPr>
              </a:p>
              <a:p>
                <a:r>
                  <a:rPr lang="en-US" sz="2800" dirty="0">
                    <a:latin typeface="+mn-lt"/>
                    <a:cs typeface="Segoe UI" panose="020B0502040204020203" pitchFamily="34" charset="0"/>
                  </a:rPr>
                  <a:t>For the dropout layer s is linear, and the derivatives with respect to the weights are: </a:t>
                </a:r>
              </a:p>
              <a:p>
                <a:pPr lvl="1"/>
                <a14:m>
                  <m:oMath xmlns:m="http://schemas.openxmlformats.org/officeDocument/2006/math">
                    <m:sSubSup>
                      <m:sSubSupPr>
                        <m:ctrlPr>
                          <a:rPr lang="en-US" i="1" smtClean="0">
                            <a:latin typeface="Cambria Math" panose="02040503050406030204" pitchFamily="18" charset="0"/>
                            <a:cs typeface="Segoe UI" panose="020B0502040204020203" pitchFamily="34" charset="0"/>
                          </a:rPr>
                        </m:ctrlPr>
                      </m:sSubSupPr>
                      <m:e>
                        <m:r>
                          <a:rPr lang="en-US" b="0" i="1" smtClean="0">
                            <a:latin typeface="Cambria Math" panose="02040503050406030204" pitchFamily="18" charset="0"/>
                            <a:cs typeface="Segoe UI" panose="020B0502040204020203" pitchFamily="34" charset="0"/>
                          </a:rPr>
                          <m:t>𝑤</m:t>
                        </m:r>
                      </m:e>
                      <m:sub>
                        <m:r>
                          <a:rPr lang="en-US" b="0" i="1" smtClean="0">
                            <a:latin typeface="Cambria Math" panose="02040503050406030204" pitchFamily="18" charset="0"/>
                            <a:cs typeface="Segoe UI" panose="020B0502040204020203" pitchFamily="34" charset="0"/>
                          </a:rPr>
                          <m:t>𝑖</m:t>
                        </m:r>
                      </m:sub>
                      <m:sup>
                        <m:r>
                          <a:rPr lang="en-US" b="0" i="1" smtClean="0">
                            <a:latin typeface="Cambria Math" panose="02040503050406030204" pitchFamily="18" charset="0"/>
                            <a:cs typeface="Segoe UI" panose="020B0502040204020203" pitchFamily="34" charset="0"/>
                          </a:rPr>
                          <m:t>(</m:t>
                        </m:r>
                        <m:r>
                          <a:rPr lang="en-US" b="0" i="1" smtClean="0">
                            <a:latin typeface="Cambria Math" panose="02040503050406030204" pitchFamily="18" charset="0"/>
                            <a:cs typeface="Segoe UI" panose="020B0502040204020203" pitchFamily="34" charset="0"/>
                          </a:rPr>
                          <m:t>𝑙</m:t>
                        </m:r>
                        <m:r>
                          <a:rPr lang="en-US" b="0" i="1" smtClean="0">
                            <a:latin typeface="Cambria Math" panose="02040503050406030204" pitchFamily="18" charset="0"/>
                            <a:cs typeface="Segoe UI" panose="020B0502040204020203" pitchFamily="34" charset="0"/>
                          </a:rPr>
                          <m:t>)</m:t>
                        </m:r>
                      </m:sup>
                    </m:sSubSup>
                    <m:r>
                      <a:rPr lang="en-US" b="0" i="1" smtClean="0">
                        <a:latin typeface="Cambria Math" panose="02040503050406030204" pitchFamily="18" charset="0"/>
                        <a:cs typeface="Segoe UI" panose="020B0502040204020203" pitchFamily="34" charset="0"/>
                      </a:rPr>
                      <m:t>=1</m:t>
                    </m:r>
                  </m:oMath>
                </a14:m>
                <a:r>
                  <a:rPr lang="en-US" dirty="0">
                    <a:latin typeface="+mn-lt"/>
                    <a:cs typeface="Segoe UI" panose="020B0502040204020203" pitchFamily="34" charset="0"/>
                  </a:rPr>
                  <a:t>, in which case the partial derivative is nonzero</a:t>
                </a:r>
              </a:p>
              <a:p>
                <a:pPr lvl="1"/>
                <a14:m>
                  <m:oMath xmlns:m="http://schemas.openxmlformats.org/officeDocument/2006/math">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𝑤</m:t>
                        </m:r>
                      </m:e>
                      <m:sub>
                        <m:r>
                          <a:rPr lang="en-US" i="1">
                            <a:latin typeface="Cambria Math" panose="02040503050406030204" pitchFamily="18" charset="0"/>
                            <a:cs typeface="Segoe UI" panose="020B0502040204020203" pitchFamily="34" charset="0"/>
                          </a:rPr>
                          <m:t>𝑖</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𝑙</m:t>
                        </m:r>
                        <m:r>
                          <a:rPr lang="en-US" i="1">
                            <a:latin typeface="Cambria Math" panose="02040503050406030204" pitchFamily="18" charset="0"/>
                            <a:cs typeface="Segoe UI" panose="020B0502040204020203" pitchFamily="34" charset="0"/>
                          </a:rPr>
                          <m:t>)</m:t>
                        </m:r>
                      </m:sup>
                    </m:sSubSup>
                    <m:r>
                      <a:rPr lang="en-US" i="1">
                        <a:latin typeface="Cambria Math" panose="02040503050406030204" pitchFamily="18" charset="0"/>
                        <a:cs typeface="Segoe UI" panose="020B0502040204020203" pitchFamily="34" charset="0"/>
                      </a:rPr>
                      <m:t>=</m:t>
                    </m:r>
                    <m:r>
                      <a:rPr lang="en-US" b="0" i="1" smtClean="0">
                        <a:latin typeface="Cambria Math" panose="02040503050406030204" pitchFamily="18" charset="0"/>
                        <a:cs typeface="Segoe UI" panose="020B0502040204020203" pitchFamily="34" charset="0"/>
                      </a:rPr>
                      <m:t>0</m:t>
                    </m:r>
                  </m:oMath>
                </a14:m>
                <a:r>
                  <a:rPr lang="en-US" sz="2400" dirty="0">
                    <a:cs typeface="Segoe UI" panose="020B0502040204020203" pitchFamily="34" charset="0"/>
                  </a:rPr>
                  <a:t>, </a:t>
                </a:r>
                <a:r>
                  <a:rPr lang="en-US" dirty="0">
                    <a:latin typeface="+mn-lt"/>
                    <a:cs typeface="Segoe UI" panose="020B0502040204020203" pitchFamily="34" charset="0"/>
                  </a:rPr>
                  <a:t>in which case the partial derivative = 0</a:t>
                </a:r>
              </a:p>
              <a:p>
                <a:endParaRPr lang="en-US" dirty="0">
                  <a:latin typeface="Segoe UI" panose="020B0502040204020203" pitchFamily="34" charset="0"/>
                  <a:cs typeface="Segoe UI" panose="020B0502040204020203" pitchFamily="34" charset="0"/>
                </a:endParaRPr>
              </a:p>
              <a:p>
                <a:endParaRPr lang="en-US" u="sng"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80AF51D7-F8DE-4733-8FDF-5B8E115018CF}"/>
                  </a:ext>
                </a:extLst>
              </p:cNvPr>
              <p:cNvSpPr>
                <a:spLocks noGrp="1" noRot="1" noChangeAspect="1" noMove="1" noResize="1" noEditPoints="1" noAdjustHandles="1" noChangeArrowheads="1" noChangeShapeType="1" noTextEdit="1"/>
              </p:cNvSpPr>
              <p:nvPr>
                <p:ph sz="quarter" idx="10"/>
              </p:nvPr>
            </p:nvSpPr>
            <p:spPr>
              <a:xfrm>
                <a:off x="378696" y="932035"/>
                <a:ext cx="11525250" cy="5290388"/>
              </a:xfrm>
              <a:blipFill>
                <a:blip r:embed="rId2"/>
                <a:stretch>
                  <a:fillRect l="-1058" t="-1152"/>
                </a:stretch>
              </a:blipFill>
            </p:spPr>
            <p:txBody>
              <a:bodyPr/>
              <a:lstStyle/>
              <a:p>
                <a:r>
                  <a:rPr lang="en-US">
                    <a:noFill/>
                  </a:rPr>
                  <a:t> </a:t>
                </a:r>
              </a:p>
            </p:txBody>
          </p:sp>
        </mc:Fallback>
      </mc:AlternateContent>
    </p:spTree>
    <p:extLst>
      <p:ext uri="{BB962C8B-B14F-4D97-AF65-F5344CB8AC3E}">
        <p14:creationId xmlns:p14="http://schemas.microsoft.com/office/powerpoint/2010/main" val="3712078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9685343" cy="2015419"/>
          </a:xfrm>
        </p:spPr>
        <p:txBody>
          <a:bodyPr>
            <a:normAutofit/>
          </a:bodyPr>
          <a:lstStyle/>
          <a:p>
            <a:r>
              <a:rPr lang="en-US" sz="4400" b="1" dirty="0"/>
              <a:t>Batch Normalization</a:t>
            </a:r>
          </a:p>
        </p:txBody>
      </p:sp>
    </p:spTree>
    <p:extLst>
      <p:ext uri="{BB962C8B-B14F-4D97-AF65-F5344CB8AC3E}">
        <p14:creationId xmlns:p14="http://schemas.microsoft.com/office/powerpoint/2010/main" val="432397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5565E-0BBD-47F6-AFDE-8A88263104FF}"/>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Batch Normalization</a:t>
            </a:r>
          </a:p>
        </p:txBody>
      </p:sp>
      <p:sp>
        <p:nvSpPr>
          <p:cNvPr id="3" name="Content Placeholder 2">
            <a:extLst>
              <a:ext uri="{FF2B5EF4-FFF2-40B4-BE49-F238E27FC236}">
                <a16:creationId xmlns:a16="http://schemas.microsoft.com/office/drawing/2014/main" id="{006E686C-9E4A-4E92-A621-E08A30C30394}"/>
              </a:ext>
            </a:extLst>
          </p:cNvPr>
          <p:cNvSpPr>
            <a:spLocks noGrp="1"/>
          </p:cNvSpPr>
          <p:nvPr>
            <p:ph sz="quarter" idx="10"/>
          </p:nvPr>
        </p:nvSpPr>
        <p:spPr>
          <a:xfrm>
            <a:off x="379514" y="982461"/>
            <a:ext cx="11525250" cy="5693324"/>
          </a:xfrm>
        </p:spPr>
        <p:txBody>
          <a:bodyPr/>
          <a:lstStyle/>
          <a:p>
            <a:pPr marL="0" indent="0">
              <a:buNone/>
            </a:pPr>
            <a:r>
              <a:rPr lang="en-US" sz="2800" dirty="0">
                <a:latin typeface="+mn-lt"/>
                <a:cs typeface="Segoe UI" panose="020B0502040204020203" pitchFamily="34" charset="0"/>
              </a:rPr>
              <a:t>In deep neural networks there is a high chance that units in a hidden layer have a </a:t>
            </a:r>
            <a:r>
              <a:rPr lang="en-US" sz="2800" b="1" dirty="0">
                <a:latin typeface="+mn-lt"/>
                <a:cs typeface="Segoe UI" panose="020B0502040204020203" pitchFamily="34" charset="0"/>
              </a:rPr>
              <a:t>large range of output values</a:t>
            </a:r>
            <a:r>
              <a:rPr lang="en-US" sz="2400" dirty="0">
                <a:latin typeface="+mn-lt"/>
                <a:cs typeface="Segoe UI" panose="020B0502040204020203" pitchFamily="34" charset="0"/>
              </a:rPr>
              <a:t> </a:t>
            </a:r>
          </a:p>
          <a:p>
            <a:pPr lvl="1">
              <a:buFont typeface="Wingdings" panose="05000000000000000000" pitchFamily="2" charset="2"/>
              <a:buChar char="§"/>
            </a:pPr>
            <a:r>
              <a:rPr lang="en-US" sz="2400" dirty="0">
                <a:latin typeface="+mn-lt"/>
                <a:cs typeface="Segoe UI" panose="020B0502040204020203" pitchFamily="34" charset="0"/>
              </a:rPr>
              <a:t>Leads to </a:t>
            </a:r>
            <a:r>
              <a:rPr lang="en-US" sz="2400" b="1" dirty="0">
                <a:latin typeface="+mn-lt"/>
                <a:cs typeface="Segoe UI" panose="020B0502040204020203" pitchFamily="34" charset="0"/>
              </a:rPr>
              <a:t>difficulty computing the gradient</a:t>
            </a:r>
          </a:p>
          <a:p>
            <a:pPr lvl="1">
              <a:buFont typeface="Wingdings" panose="05000000000000000000" pitchFamily="2" charset="2"/>
              <a:buChar char="§"/>
            </a:pPr>
            <a:r>
              <a:rPr lang="en-US" sz="2400" dirty="0">
                <a:latin typeface="+mn-lt"/>
                <a:cs typeface="Segoe UI" panose="020B0502040204020203" pitchFamily="34" charset="0"/>
              </a:rPr>
              <a:t>Slows convergence</a:t>
            </a:r>
          </a:p>
          <a:p>
            <a:r>
              <a:rPr lang="en-US" sz="2800" dirty="0">
                <a:latin typeface="+mn-lt"/>
                <a:cs typeface="Segoe UI" panose="020B0502040204020203" pitchFamily="34" charset="0"/>
              </a:rPr>
              <a:t>A solution is to normalize the output of the hidden layers in the network as a batch  </a:t>
            </a:r>
          </a:p>
          <a:p>
            <a:r>
              <a:rPr lang="en-US" sz="2800" dirty="0">
                <a:latin typeface="+mn-lt"/>
                <a:cs typeface="Segoe UI" panose="020B0502040204020203" pitchFamily="34" charset="0"/>
              </a:rPr>
              <a:t>This simple idea can be really effective</a:t>
            </a:r>
          </a:p>
          <a:p>
            <a:r>
              <a:rPr lang="en-US" sz="2800" dirty="0">
                <a:latin typeface="+mn-lt"/>
                <a:cs typeface="Segoe UI" panose="020B0502040204020203" pitchFamily="34" charset="0"/>
              </a:rPr>
              <a:t>For more details see </a:t>
            </a:r>
            <a:r>
              <a:rPr lang="en-US" sz="2800" dirty="0">
                <a:latin typeface="+mn-lt"/>
                <a:cs typeface="Segoe UI" panose="020B0502040204020203" pitchFamily="34" charset="0"/>
                <a:hlinkClick r:id="rId2"/>
              </a:rPr>
              <a:t>Sergey and </a:t>
            </a:r>
            <a:r>
              <a:rPr lang="en-US" sz="2800" dirty="0" err="1">
                <a:latin typeface="+mn-lt"/>
                <a:cs typeface="Segoe UI" panose="020B0502040204020203" pitchFamily="34" charset="0"/>
                <a:hlinkClick r:id="rId2"/>
              </a:rPr>
              <a:t>Szegedy</a:t>
            </a:r>
            <a:r>
              <a:rPr lang="en-US" sz="2800" u="sng" dirty="0">
                <a:latin typeface="+mn-lt"/>
                <a:cs typeface="Segoe UI" panose="020B0502040204020203" pitchFamily="34" charset="0"/>
                <a:hlinkClick r:id="rId2"/>
              </a:rPr>
              <a:t>, </a:t>
            </a:r>
            <a:r>
              <a:rPr lang="en-US" sz="2800" dirty="0">
                <a:latin typeface="+mn-lt"/>
                <a:cs typeface="Segoe UI" panose="020B0502040204020203" pitchFamily="34" charset="0"/>
                <a:hlinkClick r:id="rId2"/>
              </a:rPr>
              <a:t>2015</a:t>
            </a:r>
            <a:endParaRPr lang="en-US" sz="2800" dirty="0">
              <a:latin typeface="+mn-lt"/>
            </a:endParaRPr>
          </a:p>
          <a:p>
            <a:r>
              <a:rPr lang="en-US" sz="2800" dirty="0">
                <a:latin typeface="+mn-lt"/>
                <a:cs typeface="Segoe UI" panose="020B0502040204020203" pitchFamily="34" charset="0"/>
              </a:rPr>
              <a:t>For alternative view of smoothing gradient, see </a:t>
            </a:r>
            <a:r>
              <a:rPr lang="en-US" sz="2800" dirty="0" err="1">
                <a:latin typeface="+mn-lt"/>
                <a:cs typeface="Segoe UI" panose="020B0502040204020203" pitchFamily="34" charset="0"/>
                <a:hlinkClick r:id="rId3"/>
              </a:rPr>
              <a:t>Santurkar</a:t>
            </a:r>
            <a:r>
              <a:rPr lang="en-US" sz="2800" dirty="0">
                <a:latin typeface="+mn-lt"/>
                <a:cs typeface="Segoe UI" panose="020B0502040204020203" pitchFamily="34" charset="0"/>
                <a:hlinkClick r:id="rId3"/>
              </a:rPr>
              <a:t>, et. al., 2019</a:t>
            </a:r>
            <a:endParaRPr lang="en-US" sz="2800" dirty="0">
              <a:latin typeface="+mn-lt"/>
              <a:cs typeface="Segoe UI" panose="020B0502040204020203" pitchFamily="34" charset="0"/>
            </a:endParaRPr>
          </a:p>
        </p:txBody>
      </p:sp>
    </p:spTree>
    <p:extLst>
      <p:ext uri="{BB962C8B-B14F-4D97-AF65-F5344CB8AC3E}">
        <p14:creationId xmlns:p14="http://schemas.microsoft.com/office/powerpoint/2010/main" val="152780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4CE1-E278-29A1-4EE0-DB3CE146B5B9}"/>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C3870B3B-3BC8-0A2E-93BD-F6B375E39C67}"/>
              </a:ext>
            </a:extLst>
          </p:cNvPr>
          <p:cNvSpPr>
            <a:spLocks noGrp="1"/>
          </p:cNvSpPr>
          <p:nvPr>
            <p:ph type="subTitle" idx="1"/>
          </p:nvPr>
        </p:nvSpPr>
        <p:spPr>
          <a:xfrm>
            <a:off x="1485165" y="1784284"/>
            <a:ext cx="9685343" cy="2015419"/>
          </a:xfrm>
        </p:spPr>
        <p:txBody>
          <a:bodyPr>
            <a:normAutofit/>
          </a:bodyPr>
          <a:lstStyle/>
          <a:p>
            <a:r>
              <a:rPr lang="en-US" sz="4400" b="1" dirty="0"/>
              <a:t>Weight Decay</a:t>
            </a:r>
          </a:p>
        </p:txBody>
      </p:sp>
    </p:spTree>
    <p:extLst>
      <p:ext uri="{BB962C8B-B14F-4D97-AF65-F5344CB8AC3E}">
        <p14:creationId xmlns:p14="http://schemas.microsoft.com/office/powerpoint/2010/main" val="31962032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AFE9-66A5-E0FC-AA65-5C200D90E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0BC55-C0ED-F6C8-2660-8C0417B9861F}"/>
              </a:ext>
            </a:extLst>
          </p:cNvPr>
          <p:cNvSpPr>
            <a:spLocks noGrp="1"/>
          </p:cNvSpPr>
          <p:nvPr>
            <p:ph type="title"/>
          </p:nvPr>
        </p:nvSpPr>
        <p:spPr>
          <a:xfrm>
            <a:off x="379514" y="182216"/>
            <a:ext cx="11524432" cy="716510"/>
          </a:xfrm>
        </p:spPr>
        <p:txBody>
          <a:bodyPr>
            <a:normAutofit/>
          </a:bodyPr>
          <a:lstStyle/>
          <a:p>
            <a:r>
              <a:rPr lang="en-US" sz="4000" dirty="0">
                <a:latin typeface="Segoe UI" panose="020B0502040204020203" pitchFamily="34" charset="0"/>
                <a:cs typeface="Segoe UI" panose="020B0502040204020203" pitchFamily="34" charset="0"/>
              </a:rPr>
              <a:t>Weight decay</a:t>
            </a:r>
          </a:p>
        </p:txBody>
      </p:sp>
      <p:sp>
        <p:nvSpPr>
          <p:cNvPr id="3" name="Content Placeholder 2">
            <a:extLst>
              <a:ext uri="{FF2B5EF4-FFF2-40B4-BE49-F238E27FC236}">
                <a16:creationId xmlns:a16="http://schemas.microsoft.com/office/drawing/2014/main" id="{AAFBDFE4-FAB0-47E4-698E-D59C75C8EC05}"/>
              </a:ext>
            </a:extLst>
          </p:cNvPr>
          <p:cNvSpPr>
            <a:spLocks noGrp="1"/>
          </p:cNvSpPr>
          <p:nvPr>
            <p:ph sz="quarter" idx="10"/>
          </p:nvPr>
        </p:nvSpPr>
        <p:spPr>
          <a:xfrm>
            <a:off x="379514" y="982461"/>
            <a:ext cx="11525250" cy="5693324"/>
          </a:xfrm>
        </p:spPr>
        <p:txBody>
          <a:bodyPr/>
          <a:lstStyle/>
          <a:p>
            <a:pPr marL="0" indent="0">
              <a:buNone/>
            </a:pPr>
            <a:r>
              <a:rPr lang="en-US" sz="2800" dirty="0">
                <a:latin typeface="+mn-lt"/>
                <a:cs typeface="Segoe UI" panose="020B0502040204020203" pitchFamily="34" charset="0"/>
              </a:rPr>
              <a:t>Weight decay prevents high learning in high-capacity models from becoming stuck </a:t>
            </a:r>
          </a:p>
          <a:p>
            <a:r>
              <a:rPr lang="en-US" sz="2800" dirty="0">
                <a:latin typeface="+mn-lt"/>
                <a:cs typeface="Segoe UI" panose="020B0502040204020203" pitchFamily="34" charset="0"/>
              </a:rPr>
              <a:t>Learning for high capacity (large number of parameter models) can become stuck at </a:t>
            </a:r>
            <a:r>
              <a:rPr lang="en-US" sz="2800" b="1" dirty="0">
                <a:latin typeface="+mn-lt"/>
                <a:cs typeface="Segoe UI" panose="020B0502040204020203" pitchFamily="34" charset="0"/>
              </a:rPr>
              <a:t>local minimums of the loss function </a:t>
            </a:r>
          </a:p>
          <a:p>
            <a:r>
              <a:rPr lang="en-US" sz="2800" dirty="0">
                <a:latin typeface="+mn-lt"/>
                <a:cs typeface="Segoe UI" panose="020B0502040204020203" pitchFamily="34" charset="0"/>
              </a:rPr>
              <a:t>Weight decay forces a small amount of ‘un-learning’ to move toward better optimum   </a:t>
            </a:r>
          </a:p>
          <a:p>
            <a:r>
              <a:rPr lang="en-US" sz="2800" dirty="0">
                <a:latin typeface="+mn-lt"/>
                <a:cs typeface="Segoe UI" panose="020B0502040204020203" pitchFamily="34" charset="0"/>
              </a:rPr>
              <a:t>Typically use an exponential decay schedule </a:t>
            </a:r>
          </a:p>
        </p:txBody>
      </p:sp>
    </p:spTree>
    <p:extLst>
      <p:ext uri="{BB962C8B-B14F-4D97-AF65-F5344CB8AC3E}">
        <p14:creationId xmlns:p14="http://schemas.microsoft.com/office/powerpoint/2010/main" val="262633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9685343" cy="2015419"/>
          </a:xfrm>
        </p:spPr>
        <p:txBody>
          <a:bodyPr>
            <a:normAutofit/>
          </a:bodyPr>
          <a:lstStyle/>
          <a:p>
            <a:r>
              <a:rPr lang="en-US" sz="4400" b="1" dirty="0"/>
              <a:t>Architectures for Fully Connected NNs</a:t>
            </a:r>
          </a:p>
        </p:txBody>
      </p:sp>
    </p:spTree>
    <p:extLst>
      <p:ext uri="{BB962C8B-B14F-4D97-AF65-F5344CB8AC3E}">
        <p14:creationId xmlns:p14="http://schemas.microsoft.com/office/powerpoint/2010/main" val="3691409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0CB54-112A-E6C2-B055-A426F5080725}"/>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64D7669-D125-5A6C-0FED-F4BAFCE08B3C}"/>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Fully connected networks have multiple layers   </a:t>
            </a:r>
          </a:p>
          <a:p>
            <a:r>
              <a:rPr lang="en-GB" sz="2800" dirty="0">
                <a:latin typeface="+mn-lt"/>
                <a:ea typeface="Segoe UI" panose="020B0502040204020203" pitchFamily="34" charset="0"/>
                <a:cs typeface="Segoe UI" panose="020B0502040204020203" pitchFamily="34" charset="0"/>
              </a:rPr>
              <a:t>Layers connected into </a:t>
            </a:r>
            <a:r>
              <a:rPr lang="en-GB" sz="2800" b="1" dirty="0">
                <a:latin typeface="+mn-lt"/>
                <a:ea typeface="Segoe UI" panose="020B0502040204020203" pitchFamily="34" charset="0"/>
                <a:cs typeface="Segoe UI" panose="020B0502040204020203" pitchFamily="34" charset="0"/>
              </a:rPr>
              <a:t>sequential networks</a:t>
            </a:r>
          </a:p>
          <a:p>
            <a:r>
              <a:rPr lang="en-GB" sz="2800" dirty="0">
                <a:latin typeface="+mn-lt"/>
                <a:ea typeface="Segoe UI" panose="020B0502040204020203" pitchFamily="34" charset="0"/>
                <a:cs typeface="Segoe UI" panose="020B0502040204020203" pitchFamily="34" charset="0"/>
              </a:rPr>
              <a:t>Capacity of model determined by:</a:t>
            </a:r>
          </a:p>
          <a:p>
            <a:pPr lvl="1"/>
            <a:r>
              <a:rPr lang="en-GB" sz="2400" dirty="0">
                <a:latin typeface="+mn-lt"/>
                <a:ea typeface="Segoe UI" panose="020B0502040204020203" pitchFamily="34" charset="0"/>
                <a:cs typeface="Segoe UI" panose="020B0502040204020203" pitchFamily="34" charset="0"/>
              </a:rPr>
              <a:t>Depth or number of layers</a:t>
            </a:r>
          </a:p>
          <a:p>
            <a:pPr lvl="1"/>
            <a:r>
              <a:rPr lang="en-GB" sz="2400" dirty="0">
                <a:latin typeface="+mn-lt"/>
                <a:ea typeface="Segoe UI" panose="020B0502040204020203" pitchFamily="34" charset="0"/>
                <a:cs typeface="Segoe UI" panose="020B0502040204020203" pitchFamily="34" charset="0"/>
              </a:rPr>
              <a:t>Width of the layers in units   </a:t>
            </a:r>
          </a:p>
          <a:p>
            <a:r>
              <a:rPr lang="en-GB" sz="2800" dirty="0">
                <a:latin typeface="+mn-lt"/>
                <a:ea typeface="Segoe UI" panose="020B0502040204020203" pitchFamily="34" charset="0"/>
                <a:cs typeface="Segoe UI" panose="020B0502040204020203" pitchFamily="34" charset="0"/>
              </a:rPr>
              <a:t>Deeper and wider models have greater capacity  </a:t>
            </a:r>
          </a:p>
          <a:p>
            <a:r>
              <a:rPr lang="en-GB" sz="2800" dirty="0">
                <a:latin typeface="+mn-lt"/>
                <a:ea typeface="Segoe UI" panose="020B0502040204020203" pitchFamily="34" charset="0"/>
                <a:cs typeface="Segoe UI" panose="020B0502040204020203" pitchFamily="34" charset="0"/>
              </a:rPr>
              <a:t>Deeper and wider models are harder to train </a:t>
            </a:r>
          </a:p>
          <a:p>
            <a:pPr lvl="1"/>
            <a:r>
              <a:rPr lang="en-GB" sz="2400" dirty="0">
                <a:latin typeface="+mn-lt"/>
                <a:ea typeface="Segoe UI" panose="020B0502040204020203" pitchFamily="34" charset="0"/>
                <a:cs typeface="Segoe UI" panose="020B0502040204020203" pitchFamily="34" charset="0"/>
              </a:rPr>
              <a:t>More parameters </a:t>
            </a:r>
          </a:p>
          <a:p>
            <a:pPr lvl="1"/>
            <a:r>
              <a:rPr lang="en-GB" sz="2400" dirty="0">
                <a:latin typeface="+mn-lt"/>
                <a:ea typeface="Segoe UI" panose="020B0502040204020203" pitchFamily="34" charset="0"/>
                <a:cs typeface="Segoe UI" panose="020B0502040204020203" pitchFamily="34" charset="0"/>
              </a:rPr>
              <a:t>Require greater regularization</a:t>
            </a:r>
          </a:p>
          <a:p>
            <a:pPr lvl="1"/>
            <a:r>
              <a:rPr lang="en-GB" sz="2400" dirty="0">
                <a:latin typeface="+mn-lt"/>
                <a:ea typeface="Segoe UI" panose="020B0502040204020203" pitchFamily="34" charset="0"/>
                <a:cs typeface="Segoe UI" panose="020B0502040204020203" pitchFamily="34" charset="0"/>
              </a:rPr>
              <a:t>Consume more CPU/GPU capacity </a:t>
            </a: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84554DC3-9D1F-B35E-3D4F-6F07F04FBD16}"/>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Architectures for Fully Connected NNs</a:t>
            </a:r>
          </a:p>
        </p:txBody>
      </p:sp>
    </p:spTree>
    <p:extLst>
      <p:ext uri="{BB962C8B-B14F-4D97-AF65-F5344CB8AC3E}">
        <p14:creationId xmlns:p14="http://schemas.microsoft.com/office/powerpoint/2010/main" val="417492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61D1-6FF1-A22A-ACA9-F20A950A60E4}"/>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7E39353-F353-12BC-FF3A-9AC009225038}"/>
              </a:ext>
            </a:extLst>
          </p:cNvPr>
          <p:cNvSpPr>
            <a:spLocks noGrp="1"/>
          </p:cNvSpPr>
          <p:nvPr>
            <p:ph sz="quarter" idx="10"/>
          </p:nvPr>
        </p:nvSpPr>
        <p:spPr>
          <a:xfrm>
            <a:off x="167205" y="1425673"/>
            <a:ext cx="4378669" cy="5203489"/>
          </a:xfrm>
        </p:spPr>
        <p:txBody>
          <a:bodyPr>
            <a:normAutofit/>
          </a:bodyPr>
          <a:lstStyle/>
          <a:p>
            <a:pPr marL="0" indent="0">
              <a:buNone/>
            </a:pPr>
            <a:r>
              <a:rPr lang="en-GB" sz="2200" dirty="0">
                <a:latin typeface="+mn-lt"/>
                <a:ea typeface="Segoe UI" panose="020B0502040204020203" pitchFamily="34" charset="0"/>
                <a:cs typeface="Segoe UI" panose="020B0502040204020203" pitchFamily="34" charset="0"/>
              </a:rPr>
              <a:t>Example of sequential model </a:t>
            </a:r>
          </a:p>
          <a:p>
            <a:r>
              <a:rPr lang="en-GB" sz="2200" dirty="0">
                <a:latin typeface="+mn-lt"/>
                <a:ea typeface="Segoe UI" panose="020B0502040204020203" pitchFamily="34" charset="0"/>
                <a:cs typeface="Segoe UI" panose="020B0502040204020203" pitchFamily="34" charset="0"/>
              </a:rPr>
              <a:t>Set the shape of the expected input tensor with unknown number of images</a:t>
            </a:r>
          </a:p>
          <a:p>
            <a:r>
              <a:rPr lang="en-GB" sz="2200" dirty="0">
                <a:latin typeface="+mn-lt"/>
                <a:ea typeface="Segoe UI" panose="020B0502040204020203" pitchFamily="34" charset="0"/>
                <a:cs typeface="Segoe UI" panose="020B0502040204020203" pitchFamily="34" charset="0"/>
              </a:rPr>
              <a:t>Define a hidden layer with 512 units with </a:t>
            </a:r>
            <a:r>
              <a:rPr lang="en-GB" sz="2200" dirty="0" err="1">
                <a:latin typeface="+mn-lt"/>
                <a:ea typeface="Segoe UI" panose="020B0502040204020203" pitchFamily="34" charset="0"/>
                <a:cs typeface="Segoe UI" panose="020B0502040204020203" pitchFamily="34" charset="0"/>
              </a:rPr>
              <a:t>ReLu</a:t>
            </a:r>
            <a:r>
              <a:rPr lang="en-GB" sz="2200" dirty="0">
                <a:latin typeface="+mn-lt"/>
                <a:ea typeface="Segoe UI" panose="020B0502040204020203" pitchFamily="34" charset="0"/>
                <a:cs typeface="Segoe UI" panose="020B0502040204020203" pitchFamily="34" charset="0"/>
              </a:rPr>
              <a:t> activation</a:t>
            </a:r>
          </a:p>
          <a:p>
            <a:r>
              <a:rPr lang="en-GB" sz="2200" dirty="0">
                <a:latin typeface="+mn-lt"/>
                <a:ea typeface="Segoe UI" panose="020B0502040204020203" pitchFamily="34" charset="0"/>
                <a:cs typeface="Segoe UI" panose="020B0502040204020203" pitchFamily="34" charset="0"/>
              </a:rPr>
              <a:t>L2 regularization applied to kernel weights </a:t>
            </a:r>
          </a:p>
          <a:p>
            <a:r>
              <a:rPr lang="en-GB" sz="2200" dirty="0">
                <a:latin typeface="+mn-lt"/>
                <a:ea typeface="Segoe UI" panose="020B0502040204020203" pitchFamily="34" charset="0"/>
                <a:cs typeface="Segoe UI" panose="020B0502040204020203" pitchFamily="34" charset="0"/>
              </a:rPr>
              <a:t>Dropout regularization layer</a:t>
            </a:r>
          </a:p>
          <a:p>
            <a:r>
              <a:rPr lang="en-GB" sz="2200" dirty="0">
                <a:latin typeface="+mn-lt"/>
                <a:ea typeface="Segoe UI" panose="020B0502040204020203" pitchFamily="34" charset="0"/>
                <a:cs typeface="Segoe UI" panose="020B0502040204020203" pitchFamily="34" charset="0"/>
              </a:rPr>
              <a:t>Output layer with 10 units using </a:t>
            </a:r>
            <a:r>
              <a:rPr lang="en-GB" sz="2200" dirty="0" err="1">
                <a:latin typeface="+mn-lt"/>
                <a:ea typeface="Segoe UI" panose="020B0502040204020203" pitchFamily="34" charset="0"/>
                <a:cs typeface="Segoe UI" panose="020B0502040204020203" pitchFamily="34" charset="0"/>
              </a:rPr>
              <a:t>softmax</a:t>
            </a:r>
            <a:r>
              <a:rPr lang="en-GB" sz="2200" dirty="0">
                <a:latin typeface="+mn-lt"/>
                <a:ea typeface="Segoe UI" panose="020B0502040204020203" pitchFamily="34" charset="0"/>
                <a:cs typeface="Segoe UI" panose="020B0502040204020203" pitchFamily="34" charset="0"/>
              </a:rPr>
              <a:t> activation for multi-class classification </a:t>
            </a:r>
          </a:p>
          <a:p>
            <a:pPr lvl="1">
              <a:buFont typeface="Wingdings" panose="05000000000000000000" pitchFamily="2" charset="2"/>
              <a:buChar char="§"/>
            </a:pPr>
            <a:endParaRPr lang="en-GB" sz="2400" dirty="0">
              <a:latin typeface="Segoe UI" panose="020B0502040204020203" pitchFamily="34" charset="0"/>
              <a:ea typeface="Segoe UI" panose="020B0502040204020203" pitchFamily="34" charset="0"/>
              <a:cs typeface="Segoe UI" panose="020B0502040204020203" pitchFamily="34" charset="0"/>
            </a:endParaRPr>
          </a:p>
          <a:p>
            <a:endParaRPr lang="en-GB" sz="24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A2C8AF56-2E47-853C-25E6-8047BF1D8D36}"/>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Architectures for Fully Connected NNs</a:t>
            </a:r>
          </a:p>
        </p:txBody>
      </p:sp>
      <p:sp>
        <p:nvSpPr>
          <p:cNvPr id="3" name="Content Placeholder 6">
            <a:extLst>
              <a:ext uri="{FF2B5EF4-FFF2-40B4-BE49-F238E27FC236}">
                <a16:creationId xmlns:a16="http://schemas.microsoft.com/office/drawing/2014/main" id="{BEEF3975-D993-053E-72BF-E243919CE02E}"/>
              </a:ext>
            </a:extLst>
          </p:cNvPr>
          <p:cNvSpPr txBox="1">
            <a:spLocks/>
          </p:cNvSpPr>
          <p:nvPr/>
        </p:nvSpPr>
        <p:spPr>
          <a:xfrm>
            <a:off x="4499718" y="2170253"/>
            <a:ext cx="7692282" cy="4468568"/>
          </a:xfrm>
          <a:prstGeom prst="rect">
            <a:avLst/>
          </a:prstGeom>
        </p:spPr>
        <p:txBody>
          <a:bodyPr>
            <a:normAutofit/>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GB" sz="2200" dirty="0" err="1">
                <a:latin typeface="Courier New" panose="02070309020205020404" pitchFamily="49" charset="0"/>
                <a:ea typeface="Segoe UI" panose="020B0502040204020203" pitchFamily="34" charset="0"/>
                <a:cs typeface="Courier New" panose="02070309020205020404" pitchFamily="49" charset="0"/>
              </a:rPr>
              <a:t>nndo</a:t>
            </a:r>
            <a:r>
              <a:rPr lang="en-GB" sz="2200" dirty="0">
                <a:latin typeface="Courier New" panose="02070309020205020404" pitchFamily="49" charset="0"/>
                <a:ea typeface="Segoe UI" panose="020B0502040204020203" pitchFamily="34" charset="0"/>
                <a:cs typeface="Courier New" panose="02070309020205020404" pitchFamily="49" charset="0"/>
              </a:rPr>
              <a:t> = </a:t>
            </a:r>
            <a:r>
              <a:rPr lang="en-GB" sz="2200" dirty="0" err="1">
                <a:latin typeface="Courier New" panose="02070309020205020404" pitchFamily="49" charset="0"/>
                <a:ea typeface="Segoe UI" panose="020B0502040204020203" pitchFamily="34" charset="0"/>
                <a:cs typeface="Courier New" panose="02070309020205020404" pitchFamily="49" charset="0"/>
              </a:rPr>
              <a:t>models.Sequential</a:t>
            </a:r>
            <a:r>
              <a:rPr lang="en-GB" sz="2200" dirty="0">
                <a:latin typeface="Courier New" panose="02070309020205020404" pitchFamily="49" charset="0"/>
                <a:ea typeface="Segoe UI" panose="020B0502040204020203" pitchFamily="34" charset="0"/>
                <a:cs typeface="Courier New" panose="02070309020205020404" pitchFamily="49" charset="0"/>
              </a:rPr>
              <a:t>()</a:t>
            </a:r>
          </a:p>
          <a:p>
            <a:pPr marL="0" indent="0">
              <a:spcBef>
                <a:spcPts val="0"/>
              </a:spcBef>
              <a:buNone/>
            </a:pPr>
            <a:r>
              <a:rPr lang="en-GB" sz="2200" dirty="0" err="1">
                <a:latin typeface="Courier New" panose="02070309020205020404" pitchFamily="49" charset="0"/>
                <a:ea typeface="Segoe UI" panose="020B0502040204020203" pitchFamily="34" charset="0"/>
                <a:cs typeface="Courier New" panose="02070309020205020404" pitchFamily="49" charset="0"/>
              </a:rPr>
              <a:t>nndo.add</a:t>
            </a:r>
            <a:r>
              <a:rPr lang="en-GB" sz="2200" dirty="0">
                <a:latin typeface="Courier New" panose="02070309020205020404" pitchFamily="49" charset="0"/>
                <a:ea typeface="Segoe UI" panose="020B0502040204020203" pitchFamily="34" charset="0"/>
                <a:cs typeface="Courier New" panose="02070309020205020404" pitchFamily="49" charset="0"/>
              </a:rPr>
              <a:t>(</a:t>
            </a:r>
            <a:r>
              <a:rPr lang="en-GB" sz="2200" dirty="0" err="1">
                <a:latin typeface="Courier New" panose="02070309020205020404" pitchFamily="49" charset="0"/>
                <a:ea typeface="Segoe UI" panose="020B0502040204020203" pitchFamily="34" charset="0"/>
                <a:cs typeface="Courier New" panose="02070309020205020404" pitchFamily="49" charset="0"/>
              </a:rPr>
              <a:t>layers.Input</a:t>
            </a:r>
            <a:r>
              <a:rPr lang="en-GB" sz="2200" dirty="0">
                <a:latin typeface="Courier New" panose="02070309020205020404" pitchFamily="49" charset="0"/>
                <a:ea typeface="Segoe UI" panose="020B0502040204020203" pitchFamily="34" charset="0"/>
                <a:cs typeface="Courier New" panose="02070309020205020404" pitchFamily="49" charset="0"/>
              </a:rPr>
              <a:t>(shape=(28*28,)))</a:t>
            </a:r>
          </a:p>
          <a:p>
            <a:pPr marL="0" indent="0">
              <a:spcBef>
                <a:spcPts val="0"/>
              </a:spcBef>
              <a:buNone/>
            </a:pPr>
            <a:r>
              <a:rPr lang="en-GB" sz="2200" dirty="0" err="1">
                <a:latin typeface="Courier New" panose="02070309020205020404" pitchFamily="49" charset="0"/>
                <a:ea typeface="Segoe UI" panose="020B0502040204020203" pitchFamily="34" charset="0"/>
                <a:cs typeface="Courier New" panose="02070309020205020404" pitchFamily="49" charset="0"/>
              </a:rPr>
              <a:t>nndo.add</a:t>
            </a:r>
            <a:r>
              <a:rPr lang="en-GB" sz="2200" dirty="0">
                <a:latin typeface="Courier New" panose="02070309020205020404" pitchFamily="49" charset="0"/>
                <a:ea typeface="Segoe UI" panose="020B0502040204020203" pitchFamily="34" charset="0"/>
                <a:cs typeface="Courier New" panose="02070309020205020404" pitchFamily="49" charset="0"/>
              </a:rPr>
              <a:t>(</a:t>
            </a:r>
            <a:r>
              <a:rPr lang="en-GB" sz="2200" dirty="0" err="1">
                <a:latin typeface="Courier New" panose="02070309020205020404" pitchFamily="49" charset="0"/>
                <a:ea typeface="Segoe UI" panose="020B0502040204020203" pitchFamily="34" charset="0"/>
                <a:cs typeface="Courier New" panose="02070309020205020404" pitchFamily="49" charset="0"/>
              </a:rPr>
              <a:t>layers.Dense</a:t>
            </a:r>
            <a:r>
              <a:rPr lang="en-GB" sz="2200" dirty="0">
                <a:latin typeface="Courier New" panose="02070309020205020404" pitchFamily="49" charset="0"/>
                <a:ea typeface="Segoe UI" panose="020B0502040204020203" pitchFamily="34" charset="0"/>
                <a:cs typeface="Courier New" panose="02070309020205020404" pitchFamily="49" charset="0"/>
              </a:rPr>
              <a:t>(512, </a:t>
            </a:r>
          </a:p>
          <a:p>
            <a:pPr marL="0" indent="0">
              <a:spcBef>
                <a:spcPts val="0"/>
              </a:spcBef>
              <a:buNone/>
            </a:pPr>
            <a:r>
              <a:rPr lang="en-GB" sz="2200" dirty="0">
                <a:latin typeface="Courier New" panose="02070309020205020404" pitchFamily="49" charset="0"/>
                <a:ea typeface="Segoe UI" panose="020B0502040204020203" pitchFamily="34" charset="0"/>
                <a:cs typeface="Courier New" panose="02070309020205020404" pitchFamily="49" charset="0"/>
              </a:rPr>
              <a:t>  activation = '</a:t>
            </a:r>
            <a:r>
              <a:rPr lang="en-GB" sz="2200" dirty="0" err="1">
                <a:latin typeface="Courier New" panose="02070309020205020404" pitchFamily="49" charset="0"/>
                <a:ea typeface="Segoe UI" panose="020B0502040204020203" pitchFamily="34" charset="0"/>
                <a:cs typeface="Courier New" panose="02070309020205020404" pitchFamily="49" charset="0"/>
              </a:rPr>
              <a:t>relu</a:t>
            </a:r>
            <a:r>
              <a:rPr lang="en-GB" sz="2200" dirty="0">
                <a:latin typeface="Courier New" panose="02070309020205020404" pitchFamily="49" charset="0"/>
                <a:ea typeface="Segoe UI" panose="020B0502040204020203" pitchFamily="34" charset="0"/>
                <a:cs typeface="Courier New" panose="02070309020205020404" pitchFamily="49" charset="0"/>
              </a:rPr>
              <a:t>’,</a:t>
            </a:r>
          </a:p>
          <a:p>
            <a:pPr marL="0" indent="0">
              <a:spcBef>
                <a:spcPts val="0"/>
              </a:spcBef>
              <a:buNone/>
            </a:pPr>
            <a:r>
              <a:rPr lang="en-GB" sz="2200" dirty="0">
                <a:latin typeface="Courier New" panose="02070309020205020404" pitchFamily="49" charset="0"/>
                <a:ea typeface="Segoe UI" panose="020B0502040204020203" pitchFamily="34" charset="0"/>
                <a:cs typeface="Courier New" panose="02070309020205020404" pitchFamily="49" charset="0"/>
              </a:rPr>
              <a:t>  </a:t>
            </a:r>
            <a:r>
              <a:rPr lang="en-GB" sz="2200" dirty="0" err="1">
                <a:latin typeface="Courier New" panose="02070309020205020404" pitchFamily="49" charset="0"/>
                <a:ea typeface="Segoe UI" panose="020B0502040204020203" pitchFamily="34" charset="0"/>
                <a:cs typeface="Courier New" panose="02070309020205020404" pitchFamily="49" charset="0"/>
              </a:rPr>
              <a:t>kernel_regularizer</a:t>
            </a:r>
            <a:r>
              <a:rPr lang="en-GB" sz="2200" dirty="0">
                <a:latin typeface="Courier New" panose="02070309020205020404" pitchFamily="49" charset="0"/>
                <a:ea typeface="Segoe UI" panose="020B0502040204020203" pitchFamily="34" charset="0"/>
                <a:cs typeface="Courier New" panose="02070309020205020404" pitchFamily="49" charset="0"/>
              </a:rPr>
              <a:t>=regularizers.l2(0.0002)</a:t>
            </a:r>
          </a:p>
          <a:p>
            <a:pPr marL="0" indent="0">
              <a:spcBef>
                <a:spcPts val="0"/>
              </a:spcBef>
              <a:buNone/>
            </a:pPr>
            <a:r>
              <a:rPr lang="en-GB" sz="2200" dirty="0">
                <a:latin typeface="Courier New" panose="02070309020205020404" pitchFamily="49" charset="0"/>
                <a:ea typeface="Segoe UI" panose="020B0502040204020203" pitchFamily="34" charset="0"/>
                <a:cs typeface="Courier New" panose="02070309020205020404" pitchFamily="49" charset="0"/>
              </a:rPr>
              <a:t>      ))  </a:t>
            </a:r>
          </a:p>
          <a:p>
            <a:pPr marL="0" indent="0">
              <a:spcBef>
                <a:spcPts val="0"/>
              </a:spcBef>
              <a:buNone/>
            </a:pPr>
            <a:r>
              <a:rPr lang="en-GB" sz="2200" dirty="0" err="1">
                <a:latin typeface="Courier New" panose="02070309020205020404" pitchFamily="49" charset="0"/>
                <a:ea typeface="Segoe UI" panose="020B0502040204020203" pitchFamily="34" charset="0"/>
                <a:cs typeface="Courier New" panose="02070309020205020404" pitchFamily="49" charset="0"/>
              </a:rPr>
              <a:t>nndo.add</a:t>
            </a:r>
            <a:r>
              <a:rPr lang="en-GB" sz="2200" dirty="0">
                <a:latin typeface="Courier New" panose="02070309020205020404" pitchFamily="49" charset="0"/>
                <a:ea typeface="Segoe UI" panose="020B0502040204020203" pitchFamily="34" charset="0"/>
                <a:cs typeface="Courier New" panose="02070309020205020404" pitchFamily="49" charset="0"/>
              </a:rPr>
              <a:t>(</a:t>
            </a:r>
            <a:r>
              <a:rPr lang="en-GB" sz="2200" dirty="0" err="1">
                <a:latin typeface="Courier New" panose="02070309020205020404" pitchFamily="49" charset="0"/>
                <a:ea typeface="Segoe UI" panose="020B0502040204020203" pitchFamily="34" charset="0"/>
                <a:cs typeface="Courier New" panose="02070309020205020404" pitchFamily="49" charset="0"/>
              </a:rPr>
              <a:t>layers.Dropout</a:t>
            </a:r>
            <a:r>
              <a:rPr lang="en-GB" sz="2200" dirty="0">
                <a:latin typeface="Courier New" panose="02070309020205020404" pitchFamily="49" charset="0"/>
                <a:ea typeface="Segoe UI" panose="020B0502040204020203" pitchFamily="34" charset="0"/>
                <a:cs typeface="Courier New" panose="02070309020205020404" pitchFamily="49" charset="0"/>
              </a:rPr>
              <a:t>(rate=0.1))</a:t>
            </a:r>
          </a:p>
          <a:p>
            <a:pPr marL="0" indent="0">
              <a:spcBef>
                <a:spcPts val="0"/>
              </a:spcBef>
              <a:buNone/>
            </a:pPr>
            <a:r>
              <a:rPr lang="en-GB" sz="2200" dirty="0" err="1">
                <a:latin typeface="Courier New" panose="02070309020205020404" pitchFamily="49" charset="0"/>
                <a:ea typeface="Segoe UI" panose="020B0502040204020203" pitchFamily="34" charset="0"/>
                <a:cs typeface="Courier New" panose="02070309020205020404" pitchFamily="49" charset="0"/>
              </a:rPr>
              <a:t>nndo.add</a:t>
            </a:r>
            <a:r>
              <a:rPr lang="en-GB" sz="2200" dirty="0">
                <a:latin typeface="Courier New" panose="02070309020205020404" pitchFamily="49" charset="0"/>
                <a:ea typeface="Segoe UI" panose="020B0502040204020203" pitchFamily="34" charset="0"/>
                <a:cs typeface="Courier New" panose="02070309020205020404" pitchFamily="49" charset="0"/>
              </a:rPr>
              <a:t>(</a:t>
            </a:r>
            <a:r>
              <a:rPr lang="en-GB" sz="2200" dirty="0" err="1">
                <a:latin typeface="Courier New" panose="02070309020205020404" pitchFamily="49" charset="0"/>
                <a:ea typeface="Segoe UI" panose="020B0502040204020203" pitchFamily="34" charset="0"/>
                <a:cs typeface="Courier New" panose="02070309020205020404" pitchFamily="49" charset="0"/>
              </a:rPr>
              <a:t>layers.Dense</a:t>
            </a:r>
            <a:r>
              <a:rPr lang="en-GB" sz="2200" dirty="0">
                <a:latin typeface="Courier New" panose="02070309020205020404" pitchFamily="49" charset="0"/>
                <a:ea typeface="Segoe UI" panose="020B0502040204020203" pitchFamily="34" charset="0"/>
                <a:cs typeface="Courier New" panose="02070309020205020404" pitchFamily="49" charset="0"/>
              </a:rPr>
              <a:t>(10, </a:t>
            </a:r>
          </a:p>
          <a:p>
            <a:pPr marL="0" indent="0">
              <a:spcBef>
                <a:spcPts val="0"/>
              </a:spcBef>
              <a:buNone/>
            </a:pPr>
            <a:r>
              <a:rPr lang="en-GB" sz="2200" dirty="0">
                <a:latin typeface="Courier New" panose="02070309020205020404" pitchFamily="49" charset="0"/>
                <a:ea typeface="Segoe UI" panose="020B0502040204020203" pitchFamily="34" charset="0"/>
                <a:cs typeface="Courier New" panose="02070309020205020404" pitchFamily="49" charset="0"/>
              </a:rPr>
              <a:t>  activation = '</a:t>
            </a:r>
            <a:r>
              <a:rPr lang="en-GB" sz="2200" dirty="0" err="1">
                <a:latin typeface="Courier New" panose="02070309020205020404" pitchFamily="49" charset="0"/>
                <a:ea typeface="Segoe UI" panose="020B0502040204020203" pitchFamily="34" charset="0"/>
                <a:cs typeface="Courier New" panose="02070309020205020404" pitchFamily="49" charset="0"/>
              </a:rPr>
              <a:t>softmax</a:t>
            </a:r>
            <a:r>
              <a:rPr lang="en-GB" sz="2200" dirty="0">
                <a:latin typeface="Courier New" panose="02070309020205020404" pitchFamily="49" charset="0"/>
                <a:ea typeface="Segoe UI" panose="020B0502040204020203" pitchFamily="34" charset="0"/>
                <a:cs typeface="Courier New" panose="02070309020205020404" pitchFamily="49" charset="0"/>
              </a:rPr>
              <a:t>'))</a:t>
            </a:r>
            <a:endParaRPr lang="en-GB" dirty="0">
              <a:latin typeface="Segoe UI" panose="020B0502040204020203" pitchFamily="34" charset="0"/>
              <a:ea typeface="Segoe UI" panose="020B0502040204020203" pitchFamily="34" charset="0"/>
              <a:cs typeface="Segoe UI" panose="020B0502040204020203" pitchFamily="34" charset="0"/>
            </a:endParaRPr>
          </a:p>
        </p:txBody>
      </p:sp>
      <p:cxnSp>
        <p:nvCxnSpPr>
          <p:cNvPr id="5" name="Straight Arrow Connector 4">
            <a:extLst>
              <a:ext uri="{FF2B5EF4-FFF2-40B4-BE49-F238E27FC236}">
                <a16:creationId xmlns:a16="http://schemas.microsoft.com/office/drawing/2014/main" id="{F06CE158-AF3F-FF1B-3174-0374D5A09EAD}"/>
              </a:ext>
            </a:extLst>
          </p:cNvPr>
          <p:cNvCxnSpPr>
            <a:cxnSpLocks/>
          </p:cNvCxnSpPr>
          <p:nvPr/>
        </p:nvCxnSpPr>
        <p:spPr>
          <a:xfrm>
            <a:off x="3961755" y="2303749"/>
            <a:ext cx="610245" cy="424529"/>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F4D4DBE-FD0C-AF2A-C596-52A85CB18037}"/>
              </a:ext>
            </a:extLst>
          </p:cNvPr>
          <p:cNvCxnSpPr>
            <a:cxnSpLocks/>
          </p:cNvCxnSpPr>
          <p:nvPr/>
        </p:nvCxnSpPr>
        <p:spPr>
          <a:xfrm>
            <a:off x="3631747" y="1650421"/>
            <a:ext cx="1148597" cy="61243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8728B5B-5E7E-2A4B-0166-A171C0AD1C6D}"/>
              </a:ext>
            </a:extLst>
          </p:cNvPr>
          <p:cNvCxnSpPr>
            <a:cxnSpLocks/>
          </p:cNvCxnSpPr>
          <p:nvPr/>
        </p:nvCxnSpPr>
        <p:spPr>
          <a:xfrm flipV="1">
            <a:off x="4181354" y="3181924"/>
            <a:ext cx="364520" cy="235973"/>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0BDB8FB-A818-422A-43E5-09520BD93151}"/>
              </a:ext>
            </a:extLst>
          </p:cNvPr>
          <p:cNvCxnSpPr>
            <a:cxnSpLocks/>
          </p:cNvCxnSpPr>
          <p:nvPr/>
        </p:nvCxnSpPr>
        <p:spPr>
          <a:xfrm flipV="1">
            <a:off x="3840480" y="3843231"/>
            <a:ext cx="1049801" cy="397231"/>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F9D114E-FA1A-3A5D-9E00-D1DBEF3071DD}"/>
              </a:ext>
            </a:extLst>
          </p:cNvPr>
          <p:cNvCxnSpPr>
            <a:cxnSpLocks/>
          </p:cNvCxnSpPr>
          <p:nvPr/>
        </p:nvCxnSpPr>
        <p:spPr>
          <a:xfrm flipV="1">
            <a:off x="3840480" y="4580931"/>
            <a:ext cx="572285" cy="445656"/>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B22F862-9C69-0C96-E31E-BF7E6100E29D}"/>
              </a:ext>
            </a:extLst>
          </p:cNvPr>
          <p:cNvCxnSpPr>
            <a:cxnSpLocks/>
          </p:cNvCxnSpPr>
          <p:nvPr/>
        </p:nvCxnSpPr>
        <p:spPr>
          <a:xfrm flipV="1">
            <a:off x="4257554" y="4880283"/>
            <a:ext cx="424174" cy="663594"/>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35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5B091-1649-A513-5A0E-B180A5F3224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D0DD814-62D0-258D-D6B6-4B994E3A9971}"/>
              </a:ext>
            </a:extLst>
          </p:cNvPr>
          <p:cNvSpPr>
            <a:spLocks noGrp="1"/>
          </p:cNvSpPr>
          <p:nvPr>
            <p:ph type="subTitle" idx="1"/>
          </p:nvPr>
        </p:nvSpPr>
        <p:spPr>
          <a:xfrm>
            <a:off x="1485165" y="1784284"/>
            <a:ext cx="9685343" cy="2015419"/>
          </a:xfrm>
        </p:spPr>
        <p:txBody>
          <a:bodyPr>
            <a:normAutofit/>
          </a:bodyPr>
          <a:lstStyle/>
          <a:p>
            <a:r>
              <a:rPr lang="en-US" sz="4400" b="1" dirty="0"/>
              <a:t>Training Deep NN Models</a:t>
            </a:r>
          </a:p>
        </p:txBody>
      </p:sp>
    </p:spTree>
    <p:extLst>
      <p:ext uri="{BB962C8B-B14F-4D97-AF65-F5344CB8AC3E}">
        <p14:creationId xmlns:p14="http://schemas.microsoft.com/office/powerpoint/2010/main" val="4228618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553CE-11C1-F3EC-1B54-AADD8401D839}"/>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C06C4B0-9F8D-CEF8-4BE8-335481856DAD}"/>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CV tasks require high-capacity models</a:t>
            </a:r>
          </a:p>
          <a:p>
            <a:r>
              <a:rPr lang="en-GB" sz="2800" dirty="0">
                <a:latin typeface="+mn-lt"/>
                <a:ea typeface="Segoe UI" panose="020B0502040204020203" pitchFamily="34" charset="0"/>
                <a:cs typeface="Segoe UI" panose="020B0502040204020203" pitchFamily="34" charset="0"/>
              </a:rPr>
              <a:t>High-capacity models are difficult to train    </a:t>
            </a:r>
          </a:p>
          <a:p>
            <a:r>
              <a:rPr lang="en-GB" sz="2800" dirty="0">
                <a:latin typeface="+mn-lt"/>
                <a:ea typeface="Segoe UI" panose="020B0502040204020203" pitchFamily="34" charset="0"/>
                <a:cs typeface="Segoe UI" panose="020B0502040204020203" pitchFamily="34" charset="0"/>
              </a:rPr>
              <a:t>Trade-off between training time (epochs) and </a:t>
            </a:r>
            <a:r>
              <a:rPr lang="en-GB" sz="2400" dirty="0">
                <a:latin typeface="+mn-lt"/>
                <a:ea typeface="Segoe UI" panose="020B0502040204020203" pitchFamily="34" charset="0"/>
                <a:cs typeface="Segoe UI" panose="020B0502040204020203" pitchFamily="34" charset="0"/>
              </a:rPr>
              <a:t>over-fitting    </a:t>
            </a:r>
          </a:p>
          <a:p>
            <a:pPr lvl="1"/>
            <a:r>
              <a:rPr lang="en-GB" sz="2400" dirty="0">
                <a:latin typeface="+mn-lt"/>
                <a:ea typeface="Segoe UI" panose="020B0502040204020203" pitchFamily="34" charset="0"/>
                <a:cs typeface="Segoe UI" panose="020B0502040204020203" pitchFamily="34" charset="0"/>
              </a:rPr>
              <a:t>Slower training less likely to over-fit</a:t>
            </a:r>
          </a:p>
          <a:p>
            <a:pPr lvl="1"/>
            <a:r>
              <a:rPr lang="en-GB" sz="2400" dirty="0">
                <a:latin typeface="+mn-lt"/>
                <a:ea typeface="Segoe UI" panose="020B0502040204020203" pitchFamily="34" charset="0"/>
                <a:cs typeface="Segoe UI" panose="020B0502040204020203" pitchFamily="34" charset="0"/>
              </a:rPr>
              <a:t>Slower training requires more epochs (time) and CPU/GPU use</a:t>
            </a:r>
          </a:p>
          <a:p>
            <a:r>
              <a:rPr lang="en-GB" sz="2800" dirty="0">
                <a:latin typeface="+mn-lt"/>
                <a:ea typeface="Segoe UI" panose="020B0502040204020203" pitchFamily="34" charset="0"/>
                <a:cs typeface="Segoe UI" panose="020B0502040204020203" pitchFamily="34" charset="0"/>
              </a:rPr>
              <a:t>Large toolbox to prevent overfitting of high-capacity CV models   </a:t>
            </a:r>
          </a:p>
          <a:p>
            <a:pPr lvl="1"/>
            <a:r>
              <a:rPr lang="en-GB" sz="2400" dirty="0">
                <a:latin typeface="+mn-lt"/>
                <a:ea typeface="Segoe UI" panose="020B0502040204020203" pitchFamily="34" charset="0"/>
                <a:cs typeface="Segoe UI" panose="020B0502040204020203" pitchFamily="34" charset="0"/>
              </a:rPr>
              <a:t>Apply multiple regularizations simultaneously, L1, L2, dropout, weight decay     </a:t>
            </a:r>
          </a:p>
          <a:p>
            <a:pPr lvl="1"/>
            <a:r>
              <a:rPr lang="en-GB" sz="2400" dirty="0">
                <a:latin typeface="+mn-lt"/>
                <a:ea typeface="Segoe UI" panose="020B0502040204020203" pitchFamily="34" charset="0"/>
                <a:cs typeface="Segoe UI" panose="020B0502040204020203" pitchFamily="34" charset="0"/>
              </a:rPr>
              <a:t>Lower learning rate reduces overfitting   </a:t>
            </a:r>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7ED618D3-525C-FC63-76A8-8264917B4F20}"/>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spTree>
    <p:extLst>
      <p:ext uri="{BB962C8B-B14F-4D97-AF65-F5344CB8AC3E}">
        <p14:creationId xmlns:p14="http://schemas.microsoft.com/office/powerpoint/2010/main" val="382351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9094-8576-03CF-06DC-DB2450FC2E85}"/>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43B791A-79FC-6917-6F1E-905159B1AF03}"/>
              </a:ext>
            </a:extLst>
          </p:cNvPr>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CV tasks require high-capacity models</a:t>
            </a:r>
          </a:p>
          <a:p>
            <a:r>
              <a:rPr lang="en-GB" sz="2800" dirty="0">
                <a:latin typeface="+mn-lt"/>
                <a:ea typeface="Segoe UI" panose="020B0502040204020203" pitchFamily="34" charset="0"/>
                <a:cs typeface="Segoe UI" panose="020B0502040204020203" pitchFamily="34" charset="0"/>
              </a:rPr>
              <a:t>High-capacity models are difficult to train    </a:t>
            </a:r>
          </a:p>
          <a:p>
            <a:r>
              <a:rPr lang="en-GB" sz="2800" dirty="0">
                <a:latin typeface="+mn-lt"/>
                <a:ea typeface="Segoe UI" panose="020B0502040204020203" pitchFamily="34" charset="0"/>
                <a:cs typeface="Segoe UI" panose="020B0502040204020203" pitchFamily="34" charset="0"/>
              </a:rPr>
              <a:t>Essential to pick suitable learning rate   </a:t>
            </a:r>
            <a:endParaRPr lang="en-GB" sz="2400" dirty="0">
              <a:latin typeface="+mn-lt"/>
              <a:ea typeface="Segoe UI" panose="020B0502040204020203" pitchFamily="34" charset="0"/>
              <a:cs typeface="Segoe UI" panose="020B0502040204020203" pitchFamily="34" charset="0"/>
            </a:endParaRPr>
          </a:p>
          <a:p>
            <a:pPr lvl="1"/>
            <a:r>
              <a:rPr lang="en-GB" sz="2400" dirty="0">
                <a:latin typeface="+mn-lt"/>
                <a:ea typeface="Segoe UI" panose="020B0502040204020203" pitchFamily="34" charset="0"/>
                <a:cs typeface="Segoe UI" panose="020B0502040204020203" pitchFamily="34" charset="0"/>
              </a:rPr>
              <a:t>High learning rates good initially, but lead to overfitting   </a:t>
            </a:r>
          </a:p>
          <a:p>
            <a:pPr lvl="1"/>
            <a:r>
              <a:rPr lang="en-GB" sz="2400" dirty="0">
                <a:latin typeface="+mn-lt"/>
                <a:ea typeface="Segoe UI" panose="020B0502040204020203" pitchFamily="34" charset="0"/>
                <a:cs typeface="Segoe UI" panose="020B0502040204020203" pitchFamily="34" charset="0"/>
              </a:rPr>
              <a:t>Low learning rates require excessive computing to converge   </a:t>
            </a:r>
          </a:p>
          <a:p>
            <a:r>
              <a:rPr lang="en-GB" sz="2800" dirty="0">
                <a:latin typeface="+mn-lt"/>
                <a:ea typeface="Segoe UI" panose="020B0502040204020203" pitchFamily="34" charset="0"/>
                <a:cs typeface="Segoe UI" panose="020B0502040204020203" pitchFamily="34" charset="0"/>
              </a:rPr>
              <a:t>Variable learning rates are often good choice   </a:t>
            </a:r>
          </a:p>
          <a:p>
            <a:pPr lvl="1"/>
            <a:r>
              <a:rPr lang="en-GB" sz="2400" dirty="0">
                <a:latin typeface="+mn-lt"/>
                <a:ea typeface="Segoe UI" panose="020B0502040204020203" pitchFamily="34" charset="0"/>
                <a:cs typeface="Segoe UI" panose="020B0502040204020203" pitchFamily="34" charset="0"/>
              </a:rPr>
              <a:t>Learning rate decays with epochs  </a:t>
            </a:r>
          </a:p>
          <a:p>
            <a:pPr lvl="1"/>
            <a:r>
              <a:rPr lang="en-GB" sz="2400" dirty="0">
                <a:latin typeface="+mn-lt"/>
                <a:ea typeface="Segoe UI" panose="020B0502040204020203" pitchFamily="34" charset="0"/>
                <a:cs typeface="Segoe UI" panose="020B0502040204020203" pitchFamily="34" charset="0"/>
              </a:rPr>
              <a:t>Linear decay</a:t>
            </a:r>
          </a:p>
          <a:p>
            <a:pPr lvl="1"/>
            <a:r>
              <a:rPr lang="en-GB" sz="2400" dirty="0">
                <a:latin typeface="+mn-lt"/>
                <a:ea typeface="Segoe UI" panose="020B0502040204020203" pitchFamily="34" charset="0"/>
                <a:cs typeface="Segoe UI" panose="020B0502040204020203" pitchFamily="34" charset="0"/>
              </a:rPr>
              <a:t>Exponential weight decay </a:t>
            </a:r>
          </a:p>
          <a:p>
            <a:pPr lvl="1"/>
            <a:r>
              <a:rPr lang="en-GB" sz="2400" dirty="0">
                <a:latin typeface="+mn-lt"/>
                <a:ea typeface="Segoe UI" panose="020B0502040204020203" pitchFamily="34" charset="0"/>
                <a:cs typeface="Segoe UI" panose="020B0502040204020203" pitchFamily="34" charset="0"/>
              </a:rPr>
              <a:t>Etc. </a:t>
            </a:r>
          </a:p>
          <a:p>
            <a:endParaRPr lang="en-GB" sz="2800"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A27004F7-1DED-13BC-89B7-9933699D73A8}"/>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spTree>
    <p:extLst>
      <p:ext uri="{BB962C8B-B14F-4D97-AF65-F5344CB8AC3E}">
        <p14:creationId xmlns:p14="http://schemas.microsoft.com/office/powerpoint/2010/main" val="321969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70D1-B251-4158-41C7-1BE8FEBC74C9}"/>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F790761-E222-42DA-41AD-3D6254284D27}"/>
              </a:ext>
            </a:extLst>
          </p:cNvPr>
          <p:cNvSpPr>
            <a:spLocks noGrp="1"/>
          </p:cNvSpPr>
          <p:nvPr>
            <p:ph sz="quarter" idx="10"/>
          </p:nvPr>
        </p:nvSpPr>
        <p:spPr>
          <a:xfrm>
            <a:off x="666751" y="1388226"/>
            <a:ext cx="5429249" cy="5203489"/>
          </a:xfrm>
        </p:spPr>
        <p:txBody>
          <a:bodyPr>
            <a:normAutofit lnSpcReduction="10000"/>
          </a:bodyPr>
          <a:lstStyle/>
          <a:p>
            <a:pPr marL="0" indent="0">
              <a:buNone/>
            </a:pPr>
            <a:r>
              <a:rPr lang="en-GB" sz="2800" dirty="0">
                <a:latin typeface="+mn-lt"/>
                <a:ea typeface="Segoe UI" panose="020B0502040204020203" pitchFamily="34" charset="0"/>
                <a:cs typeface="Segoe UI" panose="020B0502040204020203" pitchFamily="34" charset="0"/>
              </a:rPr>
              <a:t>CV tasks require high-capacity models</a:t>
            </a:r>
          </a:p>
          <a:p>
            <a:pPr marL="0" indent="0">
              <a:buNone/>
            </a:pPr>
            <a:r>
              <a:rPr lang="en-GB" sz="2800" dirty="0">
                <a:latin typeface="+mn-lt"/>
                <a:ea typeface="Segoe UI" panose="020B0502040204020203" pitchFamily="34" charset="0"/>
                <a:cs typeface="Segoe UI" panose="020B0502040204020203" pitchFamily="34" charset="0"/>
              </a:rPr>
              <a:t>Example of model not learning:</a:t>
            </a:r>
          </a:p>
          <a:p>
            <a:r>
              <a:rPr lang="en-GB" sz="2800" dirty="0">
                <a:latin typeface="+mn-lt"/>
                <a:ea typeface="Segoe UI" panose="020B0502040204020203" pitchFamily="34" charset="0"/>
                <a:cs typeface="Segoe UI" panose="020B0502040204020203" pitchFamily="34" charset="0"/>
              </a:rPr>
              <a:t>Too high of learning rate</a:t>
            </a:r>
          </a:p>
          <a:p>
            <a:r>
              <a:rPr lang="en-GB" sz="2800" dirty="0">
                <a:latin typeface="+mn-lt"/>
                <a:ea typeface="Segoe UI" panose="020B0502040204020203" pitchFamily="34" charset="0"/>
                <a:cs typeface="Segoe UI" panose="020B0502040204020203" pitchFamily="34" charset="0"/>
              </a:rPr>
              <a:t>Validation loss not decreasing</a:t>
            </a:r>
          </a:p>
          <a:p>
            <a:r>
              <a:rPr lang="en-GB" sz="2800" dirty="0">
                <a:latin typeface="+mn-lt"/>
                <a:ea typeface="Segoe UI" panose="020B0502040204020203" pitchFamily="34" charset="0"/>
                <a:cs typeface="Segoe UI" panose="020B0502040204020203" pitchFamily="34" charset="0"/>
              </a:rPr>
              <a:t>Insufficient regularization  </a:t>
            </a:r>
          </a:p>
          <a:p>
            <a:r>
              <a:rPr lang="en-GB" sz="2800" dirty="0">
                <a:latin typeface="+mn-lt"/>
                <a:ea typeface="Segoe UI" panose="020B0502040204020203" pitchFamily="34" charset="0"/>
                <a:cs typeface="Segoe UI" panose="020B0502040204020203" pitchFamily="34" charset="0"/>
              </a:rPr>
              <a:t>Loss curves show erratic behaviour  </a:t>
            </a:r>
          </a:p>
          <a:p>
            <a:r>
              <a:rPr lang="en-GB" sz="2800" dirty="0">
                <a:latin typeface="+mn-lt"/>
                <a:ea typeface="Segoe UI" panose="020B0502040204020203" pitchFamily="34" charset="0"/>
                <a:cs typeface="Segoe UI" panose="020B0502040204020203" pitchFamily="34" charset="0"/>
              </a:rPr>
              <a:t>Divergence between training and test loss</a:t>
            </a:r>
          </a:p>
          <a:p>
            <a:endParaRPr lang="en-GB" sz="2400" dirty="0">
              <a:latin typeface="+mn-lt"/>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9D464E7F-AF4C-81B1-8B9D-7D26A4FA88F2}"/>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pic>
        <p:nvPicPr>
          <p:cNvPr id="4" name="Picture 3">
            <a:extLst>
              <a:ext uri="{FF2B5EF4-FFF2-40B4-BE49-F238E27FC236}">
                <a16:creationId xmlns:a16="http://schemas.microsoft.com/office/drawing/2014/main" id="{96550335-4A04-227E-2BB0-728297934DD0}"/>
              </a:ext>
            </a:extLst>
          </p:cNvPr>
          <p:cNvPicPr>
            <a:picLocks noChangeAspect="1"/>
          </p:cNvPicPr>
          <p:nvPr/>
        </p:nvPicPr>
        <p:blipFill>
          <a:blip r:embed="rId3"/>
          <a:stretch>
            <a:fillRect/>
          </a:stretch>
        </p:blipFill>
        <p:spPr>
          <a:xfrm>
            <a:off x="5910323" y="1444192"/>
            <a:ext cx="5993522" cy="4756425"/>
          </a:xfrm>
          <a:prstGeom prst="rect">
            <a:avLst/>
          </a:prstGeom>
        </p:spPr>
      </p:pic>
      <p:sp>
        <p:nvSpPr>
          <p:cNvPr id="3" name="Oval 2">
            <a:extLst>
              <a:ext uri="{FF2B5EF4-FFF2-40B4-BE49-F238E27FC236}">
                <a16:creationId xmlns:a16="http://schemas.microsoft.com/office/drawing/2014/main" id="{CAD4D2CD-994A-FB81-036F-03798D858E31}"/>
              </a:ext>
            </a:extLst>
          </p:cNvPr>
          <p:cNvSpPr/>
          <p:nvPr/>
        </p:nvSpPr>
        <p:spPr>
          <a:xfrm rot="18339504">
            <a:off x="8383296" y="1682989"/>
            <a:ext cx="1164752" cy="484124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2CBEAC7-3AC4-B525-371E-0569F5957C29}"/>
              </a:ext>
            </a:extLst>
          </p:cNvPr>
          <p:cNvCxnSpPr>
            <a:cxnSpLocks/>
          </p:cNvCxnSpPr>
          <p:nvPr/>
        </p:nvCxnSpPr>
        <p:spPr>
          <a:xfrm flipV="1">
            <a:off x="4603351" y="3103735"/>
            <a:ext cx="2957431" cy="1807899"/>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D9472F9-B2F2-24DC-52EE-F84C3FBB74CB}"/>
              </a:ext>
            </a:extLst>
          </p:cNvPr>
          <p:cNvCxnSpPr>
            <a:cxnSpLocks/>
          </p:cNvCxnSpPr>
          <p:nvPr/>
        </p:nvCxnSpPr>
        <p:spPr>
          <a:xfrm flipV="1">
            <a:off x="5951922" y="2166158"/>
            <a:ext cx="5272173" cy="3559475"/>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727733B-6F29-B2AC-071E-0363EFA34048}"/>
              </a:ext>
            </a:extLst>
          </p:cNvPr>
          <p:cNvCxnSpPr>
            <a:cxnSpLocks/>
          </p:cNvCxnSpPr>
          <p:nvPr/>
        </p:nvCxnSpPr>
        <p:spPr>
          <a:xfrm flipV="1">
            <a:off x="5951922" y="5178056"/>
            <a:ext cx="4164957" cy="547577"/>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0728A25-BF65-17EB-536C-B68DF3FD6EED}"/>
              </a:ext>
            </a:extLst>
          </p:cNvPr>
          <p:cNvCxnSpPr>
            <a:cxnSpLocks/>
          </p:cNvCxnSpPr>
          <p:nvPr/>
        </p:nvCxnSpPr>
        <p:spPr>
          <a:xfrm flipV="1">
            <a:off x="5467700" y="2081202"/>
            <a:ext cx="1451587" cy="164414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536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0383-428B-56FE-1C20-E96D3F8A7567}"/>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4EA530C-D1F8-662B-ACB0-2F24E71CFBF1}"/>
              </a:ext>
            </a:extLst>
          </p:cNvPr>
          <p:cNvSpPr>
            <a:spLocks noGrp="1"/>
          </p:cNvSpPr>
          <p:nvPr>
            <p:ph sz="quarter" idx="10"/>
          </p:nvPr>
        </p:nvSpPr>
        <p:spPr>
          <a:xfrm>
            <a:off x="666751" y="1388226"/>
            <a:ext cx="5525044"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CV tasks require high capacity models</a:t>
            </a:r>
          </a:p>
          <a:p>
            <a:pPr marL="0" indent="0">
              <a:buNone/>
            </a:pPr>
            <a:r>
              <a:rPr lang="en-GB" sz="2800" dirty="0">
                <a:latin typeface="+mn-lt"/>
                <a:ea typeface="Segoe UI" panose="020B0502040204020203" pitchFamily="34" charset="0"/>
                <a:cs typeface="Segoe UI" panose="020B0502040204020203" pitchFamily="34" charset="0"/>
              </a:rPr>
              <a:t>Example of poor (fixed and aggressive) learning rate:</a:t>
            </a:r>
          </a:p>
          <a:p>
            <a:r>
              <a:rPr lang="en-GB" sz="2800" dirty="0">
                <a:latin typeface="+mn-lt"/>
                <a:ea typeface="Segoe UI" panose="020B0502040204020203" pitchFamily="34" charset="0"/>
                <a:cs typeface="Segoe UI" panose="020B0502040204020203" pitchFamily="34" charset="0"/>
              </a:rPr>
              <a:t>Notice sharp elbow in loss curves </a:t>
            </a:r>
          </a:p>
          <a:p>
            <a:r>
              <a:rPr lang="en-GB" sz="2800" dirty="0">
                <a:latin typeface="+mn-lt"/>
                <a:ea typeface="Segoe UI" panose="020B0502040204020203" pitchFamily="34" charset="0"/>
                <a:cs typeface="Segoe UI" panose="020B0502040204020203" pitchFamily="34" charset="0"/>
              </a:rPr>
              <a:t>Learning slow after only 10 epochs, but continues after 80 epochs </a:t>
            </a:r>
          </a:p>
          <a:p>
            <a:r>
              <a:rPr lang="en-GB" sz="2800" dirty="0">
                <a:latin typeface="+mn-lt"/>
                <a:ea typeface="Segoe UI" panose="020B0502040204020203" pitchFamily="34" charset="0"/>
                <a:cs typeface="Segoe UI" panose="020B0502040204020203" pitchFamily="34" charset="0"/>
              </a:rPr>
              <a:t>Smooth curves indicate sufficient regularization  </a:t>
            </a:r>
            <a:r>
              <a:rPr lang="en-GB" sz="2400" dirty="0">
                <a:latin typeface="+mn-lt"/>
                <a:ea typeface="Segoe UI" panose="020B0502040204020203" pitchFamily="34" charset="0"/>
                <a:cs typeface="Segoe UI" panose="020B0502040204020203" pitchFamily="34" charset="0"/>
              </a:rPr>
              <a:t>  </a:t>
            </a:r>
          </a:p>
          <a:p>
            <a:endParaRPr lang="en-GB" sz="2400" dirty="0">
              <a:latin typeface="+mn-lt"/>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D7524796-BD41-D834-0698-5FBC7FCF506C}"/>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pic>
        <p:nvPicPr>
          <p:cNvPr id="5" name="Picture 4">
            <a:extLst>
              <a:ext uri="{FF2B5EF4-FFF2-40B4-BE49-F238E27FC236}">
                <a16:creationId xmlns:a16="http://schemas.microsoft.com/office/drawing/2014/main" id="{6480EBC8-C041-0FEE-EB19-1EE9A5798E43}"/>
              </a:ext>
            </a:extLst>
          </p:cNvPr>
          <p:cNvPicPr>
            <a:picLocks noChangeAspect="1"/>
          </p:cNvPicPr>
          <p:nvPr/>
        </p:nvPicPr>
        <p:blipFill>
          <a:blip r:embed="rId3"/>
          <a:stretch>
            <a:fillRect/>
          </a:stretch>
        </p:blipFill>
        <p:spPr>
          <a:xfrm>
            <a:off x="6142707" y="1361895"/>
            <a:ext cx="5881447" cy="4584317"/>
          </a:xfrm>
          <a:prstGeom prst="rect">
            <a:avLst/>
          </a:prstGeom>
        </p:spPr>
      </p:pic>
      <p:sp>
        <p:nvSpPr>
          <p:cNvPr id="3" name="Oval 2">
            <a:extLst>
              <a:ext uri="{FF2B5EF4-FFF2-40B4-BE49-F238E27FC236}">
                <a16:creationId xmlns:a16="http://schemas.microsoft.com/office/drawing/2014/main" id="{97D743F8-C1AA-E8CB-1BF7-26D765C0D8C0}"/>
              </a:ext>
            </a:extLst>
          </p:cNvPr>
          <p:cNvSpPr/>
          <p:nvPr/>
        </p:nvSpPr>
        <p:spPr>
          <a:xfrm>
            <a:off x="6730409" y="4067256"/>
            <a:ext cx="1244010" cy="138193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D5AF7D09-A623-9A68-104B-913112EF0ACA}"/>
              </a:ext>
            </a:extLst>
          </p:cNvPr>
          <p:cNvCxnSpPr>
            <a:cxnSpLocks/>
          </p:cNvCxnSpPr>
          <p:nvPr/>
        </p:nvCxnSpPr>
        <p:spPr>
          <a:xfrm>
            <a:off x="5911702" y="3822405"/>
            <a:ext cx="930349" cy="54757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D81B25B-9232-D623-CCB8-7DAACDDC1139}"/>
              </a:ext>
            </a:extLst>
          </p:cNvPr>
          <p:cNvCxnSpPr>
            <a:cxnSpLocks/>
          </p:cNvCxnSpPr>
          <p:nvPr/>
        </p:nvCxnSpPr>
        <p:spPr>
          <a:xfrm>
            <a:off x="5246043" y="4326418"/>
            <a:ext cx="2994007" cy="830798"/>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303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0F6CB-6DF1-95FF-2B67-40941878CC23}"/>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1B8D5F2-9949-1364-3A1E-C6FEE279CBF4}"/>
              </a:ext>
            </a:extLst>
          </p:cNvPr>
          <p:cNvSpPr>
            <a:spLocks noGrp="1"/>
          </p:cNvSpPr>
          <p:nvPr>
            <p:ph sz="quarter" idx="10"/>
          </p:nvPr>
        </p:nvSpPr>
        <p:spPr>
          <a:xfrm>
            <a:off x="666751" y="1388226"/>
            <a:ext cx="5525044" cy="5203489"/>
          </a:xfrm>
        </p:spPr>
        <p:txBody>
          <a:bodyPr>
            <a:normAutofit lnSpcReduction="10000"/>
          </a:bodyPr>
          <a:lstStyle/>
          <a:p>
            <a:pPr marL="0" indent="0">
              <a:buNone/>
            </a:pPr>
            <a:r>
              <a:rPr lang="en-GB" sz="2800" dirty="0">
                <a:latin typeface="+mn-lt"/>
                <a:ea typeface="Segoe UI" panose="020B0502040204020203" pitchFamily="34" charset="0"/>
                <a:cs typeface="Segoe UI" panose="020B0502040204020203" pitchFamily="34" charset="0"/>
              </a:rPr>
              <a:t>CV tasks require high capacity models</a:t>
            </a:r>
          </a:p>
          <a:p>
            <a:pPr marL="0" indent="0">
              <a:buNone/>
            </a:pPr>
            <a:r>
              <a:rPr lang="en-GB" sz="2800" dirty="0">
                <a:latin typeface="+mn-lt"/>
                <a:ea typeface="Segoe UI" panose="020B0502040204020203" pitchFamily="34" charset="0"/>
                <a:cs typeface="Segoe UI" panose="020B0502040204020203" pitchFamily="34" charset="0"/>
              </a:rPr>
              <a:t>Example of good learning:</a:t>
            </a:r>
          </a:p>
          <a:p>
            <a:r>
              <a:rPr lang="en-GB" sz="2800" dirty="0">
                <a:latin typeface="+mn-lt"/>
                <a:ea typeface="Segoe UI" panose="020B0502040204020203" pitchFamily="34" charset="0"/>
                <a:cs typeface="Segoe UI" panose="020B0502040204020203" pitchFamily="34" charset="0"/>
              </a:rPr>
              <a:t>Exponential decay learning rate</a:t>
            </a:r>
          </a:p>
          <a:p>
            <a:r>
              <a:rPr lang="en-GB" sz="2800" dirty="0">
                <a:latin typeface="+mn-lt"/>
                <a:ea typeface="Segoe UI" panose="020B0502040204020203" pitchFamily="34" charset="0"/>
                <a:cs typeface="Segoe UI" panose="020B0502040204020203" pitchFamily="34" charset="0"/>
              </a:rPr>
              <a:t>Multiple regularizations</a:t>
            </a:r>
          </a:p>
          <a:p>
            <a:pPr lvl="1"/>
            <a:r>
              <a:rPr lang="en-GB" sz="2400" dirty="0">
                <a:latin typeface="+mn-lt"/>
                <a:ea typeface="Segoe UI" panose="020B0502040204020203" pitchFamily="34" charset="0"/>
                <a:cs typeface="Segoe UI" panose="020B0502040204020203" pitchFamily="34" charset="0"/>
              </a:rPr>
              <a:t>L2 </a:t>
            </a:r>
          </a:p>
          <a:p>
            <a:pPr lvl="1"/>
            <a:r>
              <a:rPr lang="en-GB" sz="2400" dirty="0">
                <a:latin typeface="+mn-lt"/>
                <a:ea typeface="Segoe UI" panose="020B0502040204020203" pitchFamily="34" charset="0"/>
                <a:cs typeface="Segoe UI" panose="020B0502040204020203" pitchFamily="34" charset="0"/>
              </a:rPr>
              <a:t>Dropout</a:t>
            </a:r>
          </a:p>
          <a:p>
            <a:pPr lvl="1"/>
            <a:r>
              <a:rPr lang="en-GB" sz="2400" dirty="0">
                <a:latin typeface="+mn-lt"/>
                <a:ea typeface="Segoe UI" panose="020B0502040204020203" pitchFamily="34" charset="0"/>
                <a:cs typeface="Segoe UI" panose="020B0502040204020203" pitchFamily="34" charset="0"/>
              </a:rPr>
              <a:t>Weight decay</a:t>
            </a:r>
          </a:p>
          <a:p>
            <a:r>
              <a:rPr lang="en-GB" sz="2800" dirty="0">
                <a:latin typeface="+mn-lt"/>
                <a:ea typeface="Segoe UI" panose="020B0502040204020203" pitchFamily="34" charset="0"/>
                <a:cs typeface="Segoe UI" panose="020B0502040204020203" pitchFamily="34" charset="0"/>
              </a:rPr>
              <a:t>Loss curves decrease smoothly with little learning at end of epochs</a:t>
            </a:r>
          </a:p>
          <a:p>
            <a:endParaRPr lang="en-GB" sz="2400" dirty="0">
              <a:latin typeface="+mn-lt"/>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64FA6B7C-DC94-DC1C-3281-EB6F059A225C}"/>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pic>
        <p:nvPicPr>
          <p:cNvPr id="5" name="Picture 4">
            <a:extLst>
              <a:ext uri="{FF2B5EF4-FFF2-40B4-BE49-F238E27FC236}">
                <a16:creationId xmlns:a16="http://schemas.microsoft.com/office/drawing/2014/main" id="{396815B1-0ED4-D2C4-2C4A-9388194F4319}"/>
              </a:ext>
            </a:extLst>
          </p:cNvPr>
          <p:cNvPicPr>
            <a:picLocks noChangeAspect="1"/>
          </p:cNvPicPr>
          <p:nvPr/>
        </p:nvPicPr>
        <p:blipFill>
          <a:blip r:embed="rId3"/>
          <a:stretch>
            <a:fillRect/>
          </a:stretch>
        </p:blipFill>
        <p:spPr>
          <a:xfrm>
            <a:off x="5967598" y="1531196"/>
            <a:ext cx="6144651" cy="4587445"/>
          </a:xfrm>
          <a:prstGeom prst="rect">
            <a:avLst/>
          </a:prstGeom>
        </p:spPr>
      </p:pic>
    </p:spTree>
    <p:extLst>
      <p:ext uri="{BB962C8B-B14F-4D97-AF65-F5344CB8AC3E}">
        <p14:creationId xmlns:p14="http://schemas.microsoft.com/office/powerpoint/2010/main" val="102945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893F-474E-1545-810C-B769320FE9EA}"/>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5359647-7820-B1AB-F108-DD78DAB8BEAA}"/>
              </a:ext>
            </a:extLst>
          </p:cNvPr>
          <p:cNvSpPr>
            <a:spLocks noGrp="1"/>
          </p:cNvSpPr>
          <p:nvPr>
            <p:ph sz="quarter" idx="10"/>
          </p:nvPr>
        </p:nvSpPr>
        <p:spPr>
          <a:xfrm>
            <a:off x="666750" y="1388227"/>
            <a:ext cx="11525250" cy="539852"/>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Training high-capacity models requires significant experimentation </a:t>
            </a:r>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B2060602-0E72-077A-3C05-721A0A21E080}"/>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Neural Networks</a:t>
            </a:r>
          </a:p>
        </p:txBody>
      </p:sp>
      <p:pic>
        <p:nvPicPr>
          <p:cNvPr id="4" name="Picture 3">
            <a:extLst>
              <a:ext uri="{FF2B5EF4-FFF2-40B4-BE49-F238E27FC236}">
                <a16:creationId xmlns:a16="http://schemas.microsoft.com/office/drawing/2014/main" id="{F5D718D0-28EE-F31B-0663-8B57A0B8032A}"/>
              </a:ext>
            </a:extLst>
          </p:cNvPr>
          <p:cNvPicPr>
            <a:picLocks noChangeAspect="1"/>
          </p:cNvPicPr>
          <p:nvPr/>
        </p:nvPicPr>
        <p:blipFill>
          <a:blip r:embed="rId3"/>
          <a:stretch>
            <a:fillRect/>
          </a:stretch>
        </p:blipFill>
        <p:spPr>
          <a:xfrm>
            <a:off x="1493761" y="2011680"/>
            <a:ext cx="9109544" cy="4692178"/>
          </a:xfrm>
          <a:prstGeom prst="rect">
            <a:avLst/>
          </a:prstGeom>
        </p:spPr>
      </p:pic>
      <p:sp>
        <p:nvSpPr>
          <p:cNvPr id="3" name="Oval 2">
            <a:extLst>
              <a:ext uri="{FF2B5EF4-FFF2-40B4-BE49-F238E27FC236}">
                <a16:creationId xmlns:a16="http://schemas.microsoft.com/office/drawing/2014/main" id="{1DA54831-2D74-9CED-BC77-B2A3884E6797}"/>
              </a:ext>
            </a:extLst>
          </p:cNvPr>
          <p:cNvSpPr/>
          <p:nvPr/>
        </p:nvSpPr>
        <p:spPr>
          <a:xfrm>
            <a:off x="549797" y="6299274"/>
            <a:ext cx="10452700" cy="44674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28545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BC91C-D332-5798-7C7D-F0C4443D1A9A}"/>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F496893-BCF4-FCE9-4EF4-F05AEB924590}"/>
              </a:ext>
            </a:extLst>
          </p:cNvPr>
          <p:cNvSpPr>
            <a:spLocks noGrp="1"/>
          </p:cNvSpPr>
          <p:nvPr>
            <p:ph sz="quarter" idx="10"/>
          </p:nvPr>
        </p:nvSpPr>
        <p:spPr>
          <a:xfrm>
            <a:off x="167205" y="1425673"/>
            <a:ext cx="4723076" cy="5267735"/>
          </a:xfrm>
        </p:spPr>
        <p:txBody>
          <a:bodyPr>
            <a:normAutofit/>
          </a:bodyPr>
          <a:lstStyle/>
          <a:p>
            <a:pPr marL="0" indent="0">
              <a:buNone/>
            </a:pPr>
            <a:r>
              <a:rPr lang="en-GB" sz="2200" dirty="0">
                <a:latin typeface="+mn-lt"/>
                <a:ea typeface="Segoe UI" panose="020B0502040204020203" pitchFamily="34" charset="0"/>
                <a:cs typeface="Segoe UI" panose="020B0502040204020203" pitchFamily="34" charset="0"/>
              </a:rPr>
              <a:t>Example of training NN model</a:t>
            </a:r>
          </a:p>
          <a:p>
            <a:r>
              <a:rPr lang="en-GB" sz="2200" dirty="0">
                <a:latin typeface="+mn-lt"/>
                <a:ea typeface="Segoe UI" panose="020B0502040204020203" pitchFamily="34" charset="0"/>
                <a:cs typeface="Segoe UI" panose="020B0502040204020203" pitchFamily="34" charset="0"/>
              </a:rPr>
              <a:t>Define an exponentially decaying learning rate</a:t>
            </a:r>
          </a:p>
          <a:p>
            <a:r>
              <a:rPr lang="en-GB" sz="2200" dirty="0">
                <a:latin typeface="+mn-lt"/>
                <a:ea typeface="Segoe UI" panose="020B0502040204020203" pitchFamily="34" charset="0"/>
                <a:cs typeface="Segoe UI" panose="020B0502040204020203" pitchFamily="34" charset="0"/>
              </a:rPr>
              <a:t>Compile the model </a:t>
            </a:r>
          </a:p>
          <a:p>
            <a:pPr lvl="1"/>
            <a:r>
              <a:rPr lang="en-GB" sz="1800" dirty="0">
                <a:latin typeface="+mn-lt"/>
                <a:ea typeface="Segoe UI" panose="020B0502040204020203" pitchFamily="34" charset="0"/>
                <a:cs typeface="Segoe UI" panose="020B0502040204020203" pitchFamily="34" charset="0"/>
              </a:rPr>
              <a:t>Define optimizer with learning rate schedule and decay</a:t>
            </a:r>
          </a:p>
          <a:p>
            <a:pPr lvl="1"/>
            <a:r>
              <a:rPr lang="en-GB" sz="1800" dirty="0">
                <a:latin typeface="+mn-lt"/>
                <a:ea typeface="Segoe UI" panose="020B0502040204020203" pitchFamily="34" charset="0"/>
                <a:cs typeface="Segoe UI" panose="020B0502040204020203" pitchFamily="34" charset="0"/>
              </a:rPr>
              <a:t>Specify loss function</a:t>
            </a:r>
          </a:p>
          <a:p>
            <a:pPr lvl="1"/>
            <a:r>
              <a:rPr lang="en-GB" sz="1800" dirty="0">
                <a:latin typeface="+mn-lt"/>
                <a:ea typeface="Segoe UI" panose="020B0502040204020203" pitchFamily="34" charset="0"/>
                <a:cs typeface="Segoe UI" panose="020B0502040204020203" pitchFamily="34" charset="0"/>
              </a:rPr>
              <a:t>Specify performance metric</a:t>
            </a:r>
          </a:p>
          <a:p>
            <a:r>
              <a:rPr lang="en-GB" sz="2200" dirty="0">
                <a:latin typeface="+mn-lt"/>
                <a:ea typeface="Segoe UI" panose="020B0502040204020203" pitchFamily="34" charset="0"/>
                <a:cs typeface="Segoe UI" panose="020B0502040204020203" pitchFamily="34" charset="0"/>
              </a:rPr>
              <a:t>Fit the model with training dataset</a:t>
            </a:r>
          </a:p>
          <a:p>
            <a:pPr lvl="1"/>
            <a:r>
              <a:rPr lang="en-GB" sz="1800" dirty="0">
                <a:latin typeface="+mn-lt"/>
                <a:ea typeface="Segoe UI" panose="020B0502040204020203" pitchFamily="34" charset="0"/>
                <a:cs typeface="Segoe UI" panose="020B0502040204020203" pitchFamily="34" charset="0"/>
              </a:rPr>
              <a:t>Limit number of training epochs – </a:t>
            </a:r>
            <a:r>
              <a:rPr lang="en-GB" sz="1800" b="1" dirty="0">
                <a:latin typeface="+mn-lt"/>
                <a:ea typeface="Segoe UI" panose="020B0502040204020203" pitchFamily="34" charset="0"/>
                <a:cs typeface="Segoe UI" panose="020B0502040204020203" pitchFamily="34" charset="0"/>
              </a:rPr>
              <a:t>80 is a small number!</a:t>
            </a:r>
          </a:p>
          <a:p>
            <a:pPr lvl="1"/>
            <a:r>
              <a:rPr lang="en-GB" sz="1800" dirty="0">
                <a:latin typeface="+mn-lt"/>
                <a:ea typeface="Segoe UI" panose="020B0502040204020203" pitchFamily="34" charset="0"/>
                <a:cs typeface="Segoe UI" panose="020B0502040204020203" pitchFamily="34" charset="0"/>
              </a:rPr>
              <a:t>Batch size for optimizer</a:t>
            </a:r>
          </a:p>
          <a:p>
            <a:pPr lvl="1"/>
            <a:r>
              <a:rPr lang="en-GB" sz="1800" dirty="0">
                <a:latin typeface="+mn-lt"/>
                <a:ea typeface="Segoe UI" panose="020B0502040204020203" pitchFamily="34" charset="0"/>
                <a:cs typeface="Segoe UI" panose="020B0502040204020203" pitchFamily="34" charset="0"/>
              </a:rPr>
              <a:t>Define dataset for model validation</a:t>
            </a:r>
          </a:p>
          <a:p>
            <a:pPr lvl="1">
              <a:buFont typeface="Wingdings" panose="05000000000000000000" pitchFamily="2" charset="2"/>
              <a:buChar char="§"/>
            </a:pPr>
            <a:endParaRPr lang="en-GB" sz="2400" dirty="0">
              <a:latin typeface="Segoe UI" panose="020B0502040204020203" pitchFamily="34" charset="0"/>
              <a:ea typeface="Segoe UI" panose="020B0502040204020203" pitchFamily="34" charset="0"/>
              <a:cs typeface="Segoe UI" panose="020B0502040204020203" pitchFamily="34" charset="0"/>
            </a:endParaRPr>
          </a:p>
          <a:p>
            <a:endParaRPr lang="en-GB" sz="24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747E0122-2ED4-FC54-406F-CB7879CE6A41}"/>
              </a:ext>
            </a:extLst>
          </p:cNvPr>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Training deep NN Models</a:t>
            </a:r>
          </a:p>
        </p:txBody>
      </p:sp>
      <p:sp>
        <p:nvSpPr>
          <p:cNvPr id="3" name="Content Placeholder 6">
            <a:extLst>
              <a:ext uri="{FF2B5EF4-FFF2-40B4-BE49-F238E27FC236}">
                <a16:creationId xmlns:a16="http://schemas.microsoft.com/office/drawing/2014/main" id="{B73FF8FA-6291-6C76-5A09-EB93D6852960}"/>
              </a:ext>
            </a:extLst>
          </p:cNvPr>
          <p:cNvSpPr txBox="1">
            <a:spLocks/>
          </p:cNvSpPr>
          <p:nvPr/>
        </p:nvSpPr>
        <p:spPr>
          <a:xfrm>
            <a:off x="4786230" y="1650421"/>
            <a:ext cx="7405769" cy="4875782"/>
          </a:xfrm>
          <a:prstGeom prst="rect">
            <a:avLst/>
          </a:prstGeom>
        </p:spPr>
        <p:txBody>
          <a:bodyPr>
            <a:normAutofit/>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GB" sz="2000" dirty="0" err="1">
                <a:latin typeface="Courier New" panose="02070309020205020404" pitchFamily="49" charset="0"/>
                <a:ea typeface="Segoe UI" panose="020B0502040204020203" pitchFamily="34" charset="0"/>
                <a:cs typeface="Courier New" panose="02070309020205020404" pitchFamily="49" charset="0"/>
              </a:rPr>
              <a:t>nndo</a:t>
            </a: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lr_schedule</a:t>
            </a:r>
            <a:r>
              <a:rPr lang="en-GB" sz="2000" dirty="0">
                <a:latin typeface="Courier New" panose="02070309020205020404" pitchFamily="49" charset="0"/>
                <a:ea typeface="Segoe UI" panose="020B0502040204020203" pitchFamily="34" charset="0"/>
                <a:cs typeface="Courier New" panose="02070309020205020404" pitchFamily="49" charset="0"/>
              </a:rPr>
              <a:t> = </a:t>
            </a:r>
            <a:r>
              <a:rPr lang="en-GB" sz="2000" dirty="0" err="1">
                <a:latin typeface="Courier New" panose="02070309020205020404" pitchFamily="49" charset="0"/>
                <a:ea typeface="Segoe UI" panose="020B0502040204020203" pitchFamily="34" charset="0"/>
                <a:cs typeface="Courier New" panose="02070309020205020404" pitchFamily="49" charset="0"/>
              </a:rPr>
              <a:t>ExponentialDecay</a:t>
            </a:r>
            <a:r>
              <a:rPr lang="en-GB" sz="2000" dirty="0">
                <a:latin typeface="Courier New" panose="02070309020205020404" pitchFamily="49" charset="0"/>
                <a:ea typeface="Segoe UI" panose="020B0502040204020203" pitchFamily="34" charset="0"/>
                <a:cs typeface="Courier New" panose="02070309020205020404" pitchFamily="49" charset="0"/>
              </a:rPr>
              <a:t>(</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initial_learning_rate</a:t>
            </a:r>
            <a:r>
              <a:rPr lang="en-GB" sz="2000" dirty="0">
                <a:latin typeface="Courier New" panose="02070309020205020404" pitchFamily="49" charset="0"/>
                <a:ea typeface="Segoe UI" panose="020B0502040204020203" pitchFamily="34" charset="0"/>
                <a:cs typeface="Courier New" panose="02070309020205020404" pitchFamily="49" charset="0"/>
              </a:rPr>
              <a:t>=5e-4,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decay_steps</a:t>
            </a:r>
            <a:r>
              <a:rPr lang="en-GB" sz="2000" dirty="0">
                <a:latin typeface="Courier New" panose="02070309020205020404" pitchFamily="49" charset="0"/>
                <a:ea typeface="Segoe UI" panose="020B0502040204020203" pitchFamily="34" charset="0"/>
                <a:cs typeface="Courier New" panose="02070309020205020404" pitchFamily="49" charset="0"/>
              </a:rPr>
              <a:t>=1000,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decay_rate</a:t>
            </a:r>
            <a:r>
              <a:rPr lang="en-GB" sz="2000" dirty="0">
                <a:latin typeface="Courier New" panose="02070309020205020404" pitchFamily="49" charset="0"/>
                <a:ea typeface="Segoe UI" panose="020B0502040204020203" pitchFamily="34" charset="0"/>
                <a:cs typeface="Courier New" panose="02070309020205020404" pitchFamily="49" charset="0"/>
              </a:rPr>
              <a:t>=0.9)</a:t>
            </a:r>
          </a:p>
          <a:p>
            <a:pPr marL="0" indent="0">
              <a:spcBef>
                <a:spcPts val="0"/>
              </a:spcBef>
              <a:buNone/>
            </a:pPr>
            <a:r>
              <a:rPr lang="en-GB" sz="2000" dirty="0" err="1">
                <a:latin typeface="Courier New" panose="02070309020205020404" pitchFamily="49" charset="0"/>
                <a:ea typeface="Segoe UI" panose="020B0502040204020203" pitchFamily="34" charset="0"/>
                <a:cs typeface="Courier New" panose="02070309020205020404" pitchFamily="49" charset="0"/>
              </a:rPr>
              <a:t>nndo.compile</a:t>
            </a:r>
            <a:r>
              <a:rPr lang="en-GB" sz="2000" dirty="0">
                <a:latin typeface="Courier New" panose="02070309020205020404" pitchFamily="49" charset="0"/>
                <a:ea typeface="Segoe UI" panose="020B0502040204020203" pitchFamily="34" charset="0"/>
                <a:cs typeface="Courier New" panose="02070309020205020404" pitchFamily="49" charset="0"/>
              </a:rPr>
              <a:t>(</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optimizer=RMSprop(</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learning_rate</a:t>
            </a:r>
            <a:r>
              <a:rPr lang="en-GB" sz="2000" dirty="0">
                <a:latin typeface="Courier New" panose="02070309020205020404" pitchFamily="49" charset="0"/>
                <a:ea typeface="Segoe UI" panose="020B0502040204020203" pitchFamily="34" charset="0"/>
                <a:cs typeface="Courier New" panose="02070309020205020404" pitchFamily="49" charset="0"/>
              </a:rPr>
              <a:t>=</a:t>
            </a:r>
            <a:r>
              <a:rPr lang="en-GB" sz="2000" dirty="0" err="1">
                <a:latin typeface="Courier New" panose="02070309020205020404" pitchFamily="49" charset="0"/>
                <a:ea typeface="Segoe UI" panose="020B0502040204020203" pitchFamily="34" charset="0"/>
                <a:cs typeface="Courier New" panose="02070309020205020404" pitchFamily="49" charset="0"/>
              </a:rPr>
              <a:t>lr_schedule</a:t>
            </a:r>
            <a:r>
              <a:rPr lang="en-GB" sz="2000" dirty="0">
                <a:latin typeface="Courier New" panose="02070309020205020404" pitchFamily="49" charset="0"/>
                <a:ea typeface="Segoe UI" panose="020B0502040204020203" pitchFamily="34" charset="0"/>
                <a:cs typeface="Courier New" panose="02070309020205020404" pitchFamily="49" charset="0"/>
              </a:rPr>
              <a:t>,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weight_decay</a:t>
            </a:r>
            <a:r>
              <a:rPr lang="en-GB" sz="2000" dirty="0">
                <a:latin typeface="Courier New" panose="02070309020205020404" pitchFamily="49" charset="0"/>
                <a:ea typeface="Segoe UI" panose="020B0502040204020203" pitchFamily="34" charset="0"/>
                <a:cs typeface="Courier New" panose="02070309020205020404" pitchFamily="49" charset="0"/>
              </a:rPr>
              <a:t>=0.0001),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loss = '</a:t>
            </a:r>
            <a:r>
              <a:rPr lang="en-GB" sz="2000" dirty="0" err="1">
                <a:latin typeface="Courier New" panose="02070309020205020404" pitchFamily="49" charset="0"/>
                <a:ea typeface="Segoe UI" panose="020B0502040204020203" pitchFamily="34" charset="0"/>
                <a:cs typeface="Courier New" panose="02070309020205020404" pitchFamily="49" charset="0"/>
              </a:rPr>
              <a:t>categorical_crossentropy</a:t>
            </a:r>
            <a:r>
              <a:rPr lang="en-GB" sz="2000" dirty="0">
                <a:latin typeface="Courier New" panose="02070309020205020404" pitchFamily="49" charset="0"/>
                <a:ea typeface="Segoe UI" panose="020B0502040204020203" pitchFamily="34" charset="0"/>
                <a:cs typeface="Courier New" panose="02070309020205020404" pitchFamily="49" charset="0"/>
              </a:rPr>
              <a:t>’,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metrics = ['accuracy’])</a:t>
            </a:r>
          </a:p>
          <a:p>
            <a:pPr marL="0" indent="0">
              <a:spcBef>
                <a:spcPts val="0"/>
              </a:spcBef>
              <a:buNone/>
            </a:pPr>
            <a:r>
              <a:rPr lang="en-GB" sz="2000" dirty="0" err="1">
                <a:latin typeface="Courier New" panose="02070309020205020404" pitchFamily="49" charset="0"/>
                <a:ea typeface="Segoe UI" panose="020B0502040204020203" pitchFamily="34" charset="0"/>
                <a:cs typeface="Courier New" panose="02070309020205020404" pitchFamily="49" charset="0"/>
              </a:rPr>
              <a:t>history_do</a:t>
            </a: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nndo.fit</a:t>
            </a:r>
            <a:r>
              <a:rPr lang="en-GB" sz="2000" dirty="0">
                <a:latin typeface="Courier New" panose="02070309020205020404" pitchFamily="49" charset="0"/>
                <a:ea typeface="Segoe UI" panose="020B0502040204020203" pitchFamily="34" charset="0"/>
                <a:cs typeface="Courier New" panose="02070309020205020404" pitchFamily="49" charset="0"/>
              </a:rPr>
              <a:t>(</a:t>
            </a:r>
            <a:r>
              <a:rPr lang="en-GB" sz="2000" dirty="0" err="1">
                <a:latin typeface="Courier New" panose="02070309020205020404" pitchFamily="49" charset="0"/>
                <a:ea typeface="Segoe UI" panose="020B0502040204020203" pitchFamily="34" charset="0"/>
                <a:cs typeface="Courier New" panose="02070309020205020404" pitchFamily="49" charset="0"/>
              </a:rPr>
              <a:t>train_images</a:t>
            </a:r>
            <a:r>
              <a:rPr lang="en-GB" sz="2000" dirty="0">
                <a:latin typeface="Courier New" panose="02070309020205020404" pitchFamily="49" charset="0"/>
                <a:ea typeface="Segoe UI" panose="020B0502040204020203" pitchFamily="34" charset="0"/>
                <a:cs typeface="Courier New" panose="02070309020205020404" pitchFamily="49" charset="0"/>
              </a:rPr>
              <a:t>,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train_labels</a:t>
            </a:r>
            <a:r>
              <a:rPr lang="en-GB" sz="2000" dirty="0">
                <a:latin typeface="Courier New" panose="02070309020205020404" pitchFamily="49" charset="0"/>
                <a:ea typeface="Segoe UI" panose="020B0502040204020203" pitchFamily="34" charset="0"/>
                <a:cs typeface="Courier New" panose="02070309020205020404" pitchFamily="49" charset="0"/>
              </a:rPr>
              <a:t>,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epochs = 80,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batch_size</a:t>
            </a:r>
            <a:r>
              <a:rPr lang="en-GB" sz="2000" dirty="0">
                <a:latin typeface="Courier New" panose="02070309020205020404" pitchFamily="49" charset="0"/>
                <a:ea typeface="Segoe UI" panose="020B0502040204020203" pitchFamily="34" charset="0"/>
                <a:cs typeface="Courier New" panose="02070309020205020404" pitchFamily="49" charset="0"/>
              </a:rPr>
              <a:t> = 128,                  </a:t>
            </a:r>
          </a:p>
          <a:p>
            <a:pPr marL="0" indent="0">
              <a:spcBef>
                <a:spcPts val="0"/>
              </a:spcBef>
              <a:buNone/>
            </a:pP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validation_data</a:t>
            </a:r>
            <a:r>
              <a:rPr lang="en-GB" sz="2000" dirty="0">
                <a:latin typeface="Courier New" panose="02070309020205020404" pitchFamily="49" charset="0"/>
                <a:ea typeface="Segoe UI" panose="020B0502040204020203" pitchFamily="34" charset="0"/>
                <a:cs typeface="Courier New" panose="02070309020205020404" pitchFamily="49" charset="0"/>
              </a:rPr>
              <a:t> = (</a:t>
            </a:r>
            <a:r>
              <a:rPr lang="en-GB" sz="2000" dirty="0" err="1">
                <a:latin typeface="Courier New" panose="02070309020205020404" pitchFamily="49" charset="0"/>
                <a:ea typeface="Segoe UI" panose="020B0502040204020203" pitchFamily="34" charset="0"/>
                <a:cs typeface="Courier New" panose="02070309020205020404" pitchFamily="49" charset="0"/>
              </a:rPr>
              <a:t>test_images</a:t>
            </a:r>
            <a:r>
              <a:rPr lang="en-GB" sz="2000" dirty="0">
                <a:latin typeface="Courier New" panose="02070309020205020404" pitchFamily="49" charset="0"/>
                <a:ea typeface="Segoe UI" panose="020B0502040204020203" pitchFamily="34" charset="0"/>
                <a:cs typeface="Courier New" panose="02070309020205020404" pitchFamily="49" charset="0"/>
              </a:rPr>
              <a:t>, </a:t>
            </a:r>
            <a:r>
              <a:rPr lang="en-GB" sz="2000" dirty="0" err="1">
                <a:latin typeface="Courier New" panose="02070309020205020404" pitchFamily="49" charset="0"/>
                <a:ea typeface="Segoe UI" panose="020B0502040204020203" pitchFamily="34" charset="0"/>
                <a:cs typeface="Courier New" panose="02070309020205020404" pitchFamily="49" charset="0"/>
              </a:rPr>
              <a:t>test_labels</a:t>
            </a:r>
            <a:r>
              <a:rPr lang="en-GB" sz="2000" dirty="0">
                <a:latin typeface="Courier New" panose="02070309020205020404" pitchFamily="49" charset="0"/>
                <a:ea typeface="Segoe UI" panose="020B0502040204020203" pitchFamily="34" charset="0"/>
                <a:cs typeface="Courier New" panose="02070309020205020404" pitchFamily="49" charset="0"/>
              </a:rPr>
              <a:t>))</a:t>
            </a:r>
            <a:endParaRPr lang="en-GB" sz="2000" dirty="0">
              <a:latin typeface="Segoe UI" panose="020B0502040204020203" pitchFamily="34" charset="0"/>
              <a:ea typeface="Segoe UI" panose="020B0502040204020203" pitchFamily="34" charset="0"/>
              <a:cs typeface="Segoe UI" panose="020B0502040204020203" pitchFamily="34" charset="0"/>
            </a:endParaRPr>
          </a:p>
        </p:txBody>
      </p:sp>
      <p:cxnSp>
        <p:nvCxnSpPr>
          <p:cNvPr id="8" name="Straight Arrow Connector 7">
            <a:extLst>
              <a:ext uri="{FF2B5EF4-FFF2-40B4-BE49-F238E27FC236}">
                <a16:creationId xmlns:a16="http://schemas.microsoft.com/office/drawing/2014/main" id="{D19BCADB-2856-1F2F-4750-A4B3827FB2CF}"/>
              </a:ext>
            </a:extLst>
          </p:cNvPr>
          <p:cNvCxnSpPr>
            <a:cxnSpLocks/>
          </p:cNvCxnSpPr>
          <p:nvPr/>
        </p:nvCxnSpPr>
        <p:spPr>
          <a:xfrm flipV="1">
            <a:off x="4433388" y="1901952"/>
            <a:ext cx="352842" cy="331544"/>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F14CCE-A793-452E-54C4-9EFFC3099F7A}"/>
              </a:ext>
            </a:extLst>
          </p:cNvPr>
          <p:cNvCxnSpPr>
            <a:cxnSpLocks/>
          </p:cNvCxnSpPr>
          <p:nvPr/>
        </p:nvCxnSpPr>
        <p:spPr>
          <a:xfrm>
            <a:off x="2993638" y="3999547"/>
            <a:ext cx="2027724" cy="270097"/>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12C1A9E-2F04-65F8-BA8A-1BA50193FC34}"/>
              </a:ext>
            </a:extLst>
          </p:cNvPr>
          <p:cNvCxnSpPr>
            <a:cxnSpLocks/>
          </p:cNvCxnSpPr>
          <p:nvPr/>
        </p:nvCxnSpPr>
        <p:spPr>
          <a:xfrm>
            <a:off x="3704626" y="4340386"/>
            <a:ext cx="1316736" cy="206157"/>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C7B0792-0A25-6D98-15C4-A90DE7F77234}"/>
              </a:ext>
            </a:extLst>
          </p:cNvPr>
          <p:cNvCxnSpPr>
            <a:cxnSpLocks/>
          </p:cNvCxnSpPr>
          <p:nvPr/>
        </p:nvCxnSpPr>
        <p:spPr>
          <a:xfrm>
            <a:off x="3381153" y="5820842"/>
            <a:ext cx="1744712" cy="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38330A1-AAE4-78FE-F74E-285DC839B8A5}"/>
              </a:ext>
            </a:extLst>
          </p:cNvPr>
          <p:cNvCxnSpPr>
            <a:cxnSpLocks/>
          </p:cNvCxnSpPr>
          <p:nvPr/>
        </p:nvCxnSpPr>
        <p:spPr>
          <a:xfrm flipV="1">
            <a:off x="4433388" y="6161628"/>
            <a:ext cx="650676" cy="24941"/>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83610AA-F50F-068C-5F2C-15F1B46F0AD5}"/>
              </a:ext>
            </a:extLst>
          </p:cNvPr>
          <p:cNvCxnSpPr>
            <a:cxnSpLocks/>
          </p:cNvCxnSpPr>
          <p:nvPr/>
        </p:nvCxnSpPr>
        <p:spPr>
          <a:xfrm>
            <a:off x="4786230" y="5295919"/>
            <a:ext cx="339635" cy="206156"/>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B6DF375-C9CD-D33D-E003-EFE42A8BBA3F}"/>
              </a:ext>
            </a:extLst>
          </p:cNvPr>
          <p:cNvCxnSpPr>
            <a:cxnSpLocks/>
          </p:cNvCxnSpPr>
          <p:nvPr/>
        </p:nvCxnSpPr>
        <p:spPr>
          <a:xfrm>
            <a:off x="4572000" y="4887328"/>
            <a:ext cx="292238" cy="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56FAE2A-0EDB-EF10-82D4-F6199DF3588D}"/>
              </a:ext>
            </a:extLst>
          </p:cNvPr>
          <p:cNvCxnSpPr>
            <a:cxnSpLocks/>
          </p:cNvCxnSpPr>
          <p:nvPr/>
        </p:nvCxnSpPr>
        <p:spPr>
          <a:xfrm>
            <a:off x="4352544" y="3376005"/>
            <a:ext cx="1421239" cy="368814"/>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B1D0C14-AF2E-7803-4D38-B2DBB61F8A8F}"/>
              </a:ext>
            </a:extLst>
          </p:cNvPr>
          <p:cNvCxnSpPr>
            <a:cxnSpLocks/>
          </p:cNvCxnSpPr>
          <p:nvPr/>
        </p:nvCxnSpPr>
        <p:spPr>
          <a:xfrm>
            <a:off x="2915630" y="3009522"/>
            <a:ext cx="1870600" cy="89584"/>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6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666750" y="1388226"/>
            <a:ext cx="11525250" cy="5203489"/>
          </a:xfrm>
        </p:spPr>
        <p:txBody>
          <a:bodyPr>
            <a:normAutofit/>
          </a:bodyPr>
          <a:lstStyle/>
          <a:p>
            <a:pPr marL="0" indent="0">
              <a:buNone/>
            </a:pPr>
            <a:r>
              <a:rPr lang="en-GB" sz="2800" dirty="0">
                <a:latin typeface="+mn-lt"/>
                <a:ea typeface="Segoe UI" panose="020B0502040204020203" pitchFamily="34" charset="0"/>
                <a:cs typeface="Segoe UI" panose="020B0502040204020203" pitchFamily="34" charset="0"/>
              </a:rPr>
              <a:t>Key points for this lesson</a:t>
            </a:r>
          </a:p>
          <a:p>
            <a:r>
              <a:rPr lang="en-GB" sz="2800" dirty="0">
                <a:latin typeface="+mn-lt"/>
                <a:ea typeface="Segoe UI" panose="020B0502040204020203" pitchFamily="34" charset="0"/>
                <a:cs typeface="Segoe UI" panose="020B0502040204020203" pitchFamily="34" charset="0"/>
              </a:rPr>
              <a:t>Generative vs. predictive CV tasks</a:t>
            </a:r>
          </a:p>
          <a:p>
            <a:r>
              <a:rPr lang="en-GB" sz="2800" dirty="0" err="1">
                <a:latin typeface="+mn-lt"/>
                <a:ea typeface="Segoe UI" panose="020B0502040204020203" pitchFamily="34" charset="0"/>
                <a:cs typeface="Segoe UI" panose="020B0502040204020203" pitchFamily="34" charset="0"/>
              </a:rPr>
              <a:t>Preceptron</a:t>
            </a:r>
            <a:r>
              <a:rPr lang="en-GB" sz="2800" dirty="0">
                <a:latin typeface="+mn-lt"/>
                <a:ea typeface="Segoe UI" panose="020B0502040204020203" pitchFamily="34" charset="0"/>
                <a:cs typeface="Segoe UI" panose="020B0502040204020203" pitchFamily="34" charset="0"/>
              </a:rPr>
              <a:t> and forward propagation</a:t>
            </a:r>
          </a:p>
          <a:p>
            <a:r>
              <a:rPr lang="en-GB" sz="2800" dirty="0">
                <a:latin typeface="+mn-lt"/>
                <a:ea typeface="Segoe UI" panose="020B0502040204020203" pitchFamily="34" charset="0"/>
                <a:cs typeface="Segoe UI" panose="020B0502040204020203" pitchFamily="34" charset="0"/>
              </a:rPr>
              <a:t>Depth, breath and model capacity</a:t>
            </a:r>
          </a:p>
          <a:p>
            <a:r>
              <a:rPr lang="en-GB" sz="2800" dirty="0">
                <a:latin typeface="+mn-lt"/>
                <a:ea typeface="Segoe UI" panose="020B0502040204020203" pitchFamily="34" charset="0"/>
                <a:cs typeface="Segoe UI" panose="020B0502040204020203" pitchFamily="34" charset="0"/>
              </a:rPr>
              <a:t>Nonlinearity and activation functions</a:t>
            </a:r>
          </a:p>
          <a:p>
            <a:r>
              <a:rPr lang="en-GB" sz="2800" dirty="0">
                <a:latin typeface="+mn-lt"/>
                <a:ea typeface="Segoe UI" panose="020B0502040204020203" pitchFamily="34" charset="0"/>
                <a:cs typeface="Segoe UI" panose="020B0502040204020203" pitchFamily="34" charset="0"/>
              </a:rPr>
              <a:t>Loss functions</a:t>
            </a:r>
          </a:p>
          <a:p>
            <a:r>
              <a:rPr lang="en-GB" sz="2800" dirty="0">
                <a:latin typeface="+mn-lt"/>
                <a:ea typeface="Segoe UI" panose="020B0502040204020203" pitchFamily="34" charset="0"/>
                <a:cs typeface="Segoe UI" panose="020B0502040204020203" pitchFamily="34" charset="0"/>
              </a:rPr>
              <a:t>Regularization for deep learning</a:t>
            </a:r>
          </a:p>
          <a:p>
            <a:r>
              <a:rPr lang="en-GB" sz="2800" dirty="0">
                <a:latin typeface="+mn-lt"/>
                <a:ea typeface="Segoe UI" panose="020B0502040204020203" pitchFamily="34" charset="0"/>
                <a:cs typeface="Segoe UI" panose="020B0502040204020203" pitchFamily="34" charset="0"/>
              </a:rPr>
              <a:t>Learning and overfitting in deep NNs </a:t>
            </a: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buFont typeface="Wingdings" panose="05000000000000000000" pitchFamily="2" charset="2"/>
              <a:buChar char="§"/>
            </a:pPr>
            <a:endParaRPr lang="en-GB" dirty="0">
              <a:latin typeface="Segoe UI" panose="020B0502040204020203" pitchFamily="34" charset="0"/>
              <a:ea typeface="Segoe UI" panose="020B0502040204020203" pitchFamily="34" charset="0"/>
              <a:cs typeface="Segoe UI" panose="020B0502040204020203" pitchFamily="34" charset="0"/>
            </a:endParaRPr>
          </a:p>
          <a:p>
            <a:endParaRPr lang="en-GB" sz="2800" dirty="0">
              <a:latin typeface="Segoe UI" panose="020B0502040204020203" pitchFamily="34" charset="0"/>
              <a:ea typeface="Segoe UI" panose="020B0502040204020203" pitchFamily="34" charset="0"/>
              <a:cs typeface="Segoe UI" panose="020B0502040204020203" pitchFamily="34" charset="0"/>
            </a:endParaRPr>
          </a:p>
          <a:p>
            <a:pPr lvl="1"/>
            <a:endParaRPr lang="en-GB" dirty="0">
              <a:latin typeface="Segoe UI" panose="020B0502040204020203" pitchFamily="34" charset="0"/>
              <a:ea typeface="Segoe UI" panose="020B0502040204020203" pitchFamily="34" charset="0"/>
              <a:cs typeface="Segoe UI" panose="020B0502040204020203" pitchFamily="34" charset="0"/>
            </a:endParaRPr>
          </a:p>
        </p:txBody>
      </p:sp>
      <p:sp>
        <p:nvSpPr>
          <p:cNvPr id="2" name="Title 1"/>
          <p:cNvSpPr>
            <a:spLocks noGrp="1"/>
          </p:cNvSpPr>
          <p:nvPr>
            <p:ph type="title"/>
          </p:nvPr>
        </p:nvSpPr>
        <p:spPr>
          <a:xfrm>
            <a:off x="0" y="1"/>
            <a:ext cx="11903845" cy="1196787"/>
          </a:xfrm>
        </p:spPr>
        <p:txBody>
          <a:bodyPr/>
          <a:lstStyle/>
          <a:p>
            <a:br>
              <a:rPr lang="en-US" dirty="0">
                <a:latin typeface="Segoe"/>
              </a:rPr>
            </a:br>
            <a:r>
              <a:rPr lang="en-US" dirty="0">
                <a:latin typeface="Segoe"/>
              </a:rPr>
              <a:t>   </a:t>
            </a:r>
            <a:r>
              <a:rPr lang="en-US" sz="4000" dirty="0">
                <a:latin typeface="+mn-lt"/>
              </a:rPr>
              <a:t>Summary</a:t>
            </a:r>
          </a:p>
        </p:txBody>
      </p:sp>
    </p:spTree>
    <p:extLst>
      <p:ext uri="{BB962C8B-B14F-4D97-AF65-F5344CB8AC3E}">
        <p14:creationId xmlns:p14="http://schemas.microsoft.com/office/powerpoint/2010/main" val="591917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2B41D70-8836-483A-8138-BCB7A352D451}"/>
              </a:ext>
            </a:extLst>
          </p:cNvPr>
          <p:cNvSpPr>
            <a:spLocks noGrp="1"/>
          </p:cNvSpPr>
          <p:nvPr>
            <p:ph type="subTitle" idx="1"/>
          </p:nvPr>
        </p:nvSpPr>
        <p:spPr>
          <a:xfrm>
            <a:off x="1485165" y="1784284"/>
            <a:ext cx="9611203" cy="2015419"/>
          </a:xfrm>
        </p:spPr>
        <p:txBody>
          <a:bodyPr>
            <a:normAutofit/>
          </a:bodyPr>
          <a:lstStyle/>
          <a:p>
            <a:r>
              <a:rPr lang="en-US" sz="4400" b="1" dirty="0"/>
              <a:t>Computing gradients and the chain rule</a:t>
            </a:r>
          </a:p>
        </p:txBody>
      </p:sp>
    </p:spTree>
    <p:extLst>
      <p:ext uri="{BB962C8B-B14F-4D97-AF65-F5344CB8AC3E}">
        <p14:creationId xmlns:p14="http://schemas.microsoft.com/office/powerpoint/2010/main" val="31347911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4C0-D26C-48A0-B069-C60C2F124F13}"/>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Chain Rule of Calculus </a:t>
            </a:r>
          </a:p>
        </p:txBody>
      </p:sp>
      <p:sp>
        <p:nvSpPr>
          <p:cNvPr id="3" name="Content Placeholder 2">
            <a:extLst>
              <a:ext uri="{FF2B5EF4-FFF2-40B4-BE49-F238E27FC236}">
                <a16:creationId xmlns:a16="http://schemas.microsoft.com/office/drawing/2014/main" id="{A0BBD29B-609A-4B70-910B-C0EF8A612175}"/>
              </a:ext>
            </a:extLst>
          </p:cNvPr>
          <p:cNvSpPr>
            <a:spLocks noGrp="1"/>
          </p:cNvSpPr>
          <p:nvPr>
            <p:ph sz="quarter" idx="10"/>
          </p:nvPr>
        </p:nvSpPr>
        <p:spPr>
          <a:xfrm>
            <a:off x="304800" y="1245702"/>
            <a:ext cx="11525250" cy="1146174"/>
          </a:xfrm>
        </p:spPr>
        <p:txBody>
          <a:bodyPr/>
          <a:lstStyle/>
          <a:p>
            <a:r>
              <a:rPr lang="en-US" sz="2800" dirty="0">
                <a:latin typeface="Segoe UI" panose="020B0502040204020203" pitchFamily="34" charset="0"/>
                <a:cs typeface="Segoe UI" panose="020B0502040204020203" pitchFamily="34" charset="0"/>
              </a:rPr>
              <a:t>In order to compute the gradients of the loss function though the layers of a deep neural network we need to apply the </a:t>
            </a:r>
            <a:r>
              <a:rPr lang="en-US" sz="2800" b="1" dirty="0">
                <a:latin typeface="Segoe UI" panose="020B0502040204020203" pitchFamily="34" charset="0"/>
                <a:cs typeface="Segoe UI" panose="020B0502040204020203" pitchFamily="34" charset="0"/>
              </a:rPr>
              <a:t>chain rule of calculus</a:t>
            </a:r>
          </a:p>
          <a:p>
            <a:r>
              <a:rPr lang="en-US" sz="2800" dirty="0">
                <a:latin typeface="Segoe UI" panose="020B0502040204020203" pitchFamily="34" charset="0"/>
                <a:cs typeface="Segoe UI" panose="020B0502040204020203" pitchFamily="34" charset="0"/>
              </a:rPr>
              <a:t>To consider a function </a:t>
            </a:r>
            <a:r>
              <a:rPr lang="pl-PL" sz="2800" i="1" dirty="0">
                <a:latin typeface="Segoe UI" panose="020B0502040204020203" pitchFamily="34" charset="0"/>
                <a:cs typeface="Segoe UI" panose="020B0502040204020203" pitchFamily="34" charset="0"/>
              </a:rPr>
              <a:t>z = f(</a:t>
            </a:r>
            <a:r>
              <a:rPr lang="pl-PL" sz="2800" b="1" i="1" dirty="0">
                <a:latin typeface="Segoe UI" panose="020B0502040204020203" pitchFamily="34" charset="0"/>
                <a:cs typeface="Segoe UI" panose="020B0502040204020203" pitchFamily="34" charset="0"/>
              </a:rPr>
              <a:t>y</a:t>
            </a:r>
            <a:r>
              <a:rPr lang="pl-PL" sz="2800" i="1" dirty="0">
                <a:latin typeface="Segoe UI" panose="020B0502040204020203" pitchFamily="34" charset="0"/>
                <a:cs typeface="Segoe UI" panose="020B0502040204020203" pitchFamily="34" charset="0"/>
              </a:rPr>
              <a:t>)</a:t>
            </a:r>
            <a:r>
              <a:rPr lang="en-US" sz="2800" dirty="0">
                <a:latin typeface="Segoe UI" panose="020B0502040204020203" pitchFamily="34" charset="0"/>
                <a:cs typeface="Segoe UI" panose="020B0502040204020203" pitchFamily="34" charset="0"/>
              </a:rPr>
              <a:t>, where </a:t>
            </a:r>
            <a:r>
              <a:rPr lang="en-US" sz="2800" b="1" dirty="0">
                <a:latin typeface="Segoe UI" panose="020B0502040204020203" pitchFamily="34" charset="0"/>
                <a:cs typeface="Segoe UI" panose="020B0502040204020203" pitchFamily="34" charset="0"/>
              </a:rPr>
              <a:t>y</a:t>
            </a:r>
            <a:r>
              <a:rPr lang="en-US" sz="2800" dirty="0">
                <a:latin typeface="Segoe UI" panose="020B0502040204020203" pitchFamily="34" charset="0"/>
                <a:cs typeface="Segoe UI" panose="020B0502040204020203" pitchFamily="34" charset="0"/>
              </a:rPr>
              <a:t> = g(</a:t>
            </a:r>
            <a:r>
              <a:rPr lang="en-US" sz="2800" b="1" dirty="0">
                <a:latin typeface="Segoe UI" panose="020B0502040204020203" pitchFamily="34" charset="0"/>
                <a:cs typeface="Segoe UI" panose="020B0502040204020203" pitchFamily="34" charset="0"/>
              </a:rPr>
              <a:t>x</a:t>
            </a:r>
            <a:r>
              <a:rPr lang="en-US" sz="2800" dirty="0">
                <a:latin typeface="Segoe UI" panose="020B0502040204020203" pitchFamily="34" charset="0"/>
                <a:cs typeface="Segoe UI" panose="020B0502040204020203" pitchFamily="34" charset="0"/>
              </a:rPr>
              <a:t>); then </a:t>
            </a:r>
            <a:r>
              <a:rPr lang="pl-PL" sz="2800" i="1" dirty="0">
                <a:latin typeface="Segoe UI" panose="020B0502040204020203" pitchFamily="34" charset="0"/>
                <a:cs typeface="Segoe UI" panose="020B0502040204020203" pitchFamily="34" charset="0"/>
              </a:rPr>
              <a:t>z = f(g(</a:t>
            </a:r>
            <a:r>
              <a:rPr lang="pl-PL" sz="2800" b="1" i="1" dirty="0">
                <a:latin typeface="Segoe UI" panose="020B0502040204020203" pitchFamily="34" charset="0"/>
                <a:cs typeface="Segoe UI" panose="020B0502040204020203" pitchFamily="34" charset="0"/>
              </a:rPr>
              <a:t>x</a:t>
            </a:r>
            <a:r>
              <a:rPr lang="pl-PL" sz="2800" i="1" dirty="0">
                <a:latin typeface="Segoe UI" panose="020B0502040204020203" pitchFamily="34" charset="0"/>
                <a:cs typeface="Segoe UI" panose="020B0502040204020203" pitchFamily="34" charset="0"/>
              </a:rPr>
              <a:t>))</a:t>
            </a:r>
            <a:r>
              <a:rPr lang="en-US" sz="2800" dirty="0">
                <a:latin typeface="Segoe UI" panose="020B0502040204020203" pitchFamily="34" charset="0"/>
                <a:cs typeface="Segoe UI" panose="020B0502040204020203" pitchFamily="34" charset="0"/>
              </a:rPr>
              <a:t>. Then the derivative of z with respect to x is:</a:t>
            </a:r>
          </a:p>
        </p:txBody>
      </p:sp>
      <p:pic>
        <p:nvPicPr>
          <p:cNvPr id="7" name="Picture 6">
            <a:extLst>
              <a:ext uri="{FF2B5EF4-FFF2-40B4-BE49-F238E27FC236}">
                <a16:creationId xmlns:a16="http://schemas.microsoft.com/office/drawing/2014/main" id="{FBC97D57-9AD7-42AD-B0CB-B2CF3FC66CC0}"/>
              </a:ext>
            </a:extLst>
          </p:cNvPr>
          <p:cNvPicPr>
            <a:picLocks noChangeAspect="1"/>
          </p:cNvPicPr>
          <p:nvPr/>
        </p:nvPicPr>
        <p:blipFill>
          <a:blip r:embed="rId2"/>
          <a:stretch>
            <a:fillRect/>
          </a:stretch>
        </p:blipFill>
        <p:spPr>
          <a:xfrm>
            <a:off x="4786911" y="3899691"/>
            <a:ext cx="2044483" cy="928042"/>
          </a:xfrm>
          <a:prstGeom prst="rect">
            <a:avLst/>
          </a:prstGeom>
        </p:spPr>
      </p:pic>
    </p:spTree>
    <p:extLst>
      <p:ext uri="{BB962C8B-B14F-4D97-AF65-F5344CB8AC3E}">
        <p14:creationId xmlns:p14="http://schemas.microsoft.com/office/powerpoint/2010/main" val="2857180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4C0-D26C-48A0-B069-C60C2F124F13}"/>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Chain Rule of Calculus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BBD29B-609A-4B70-910B-C0EF8A612175}"/>
                  </a:ext>
                </a:extLst>
              </p:cNvPr>
              <p:cNvSpPr>
                <a:spLocks noGrp="1"/>
              </p:cNvSpPr>
              <p:nvPr>
                <p:ph sz="quarter" idx="10"/>
              </p:nvPr>
            </p:nvSpPr>
            <p:spPr>
              <a:xfrm>
                <a:off x="223665" y="913035"/>
                <a:ext cx="11525250" cy="5681195"/>
              </a:xfrm>
            </p:spPr>
            <p:txBody>
              <a:bodyPr/>
              <a:lstStyle/>
              <a:p>
                <a:pPr marL="0" indent="0">
                  <a:buNone/>
                </a:pPr>
                <a:r>
                  <a:rPr lang="en-US" sz="2800" dirty="0">
                    <a:latin typeface="Segoe UI" panose="020B0502040204020203" pitchFamily="34" charset="0"/>
                    <a:cs typeface="Segoe UI" panose="020B0502040204020203" pitchFamily="34" charset="0"/>
                  </a:rPr>
                  <a:t>How to compute the gradient of real-valued loss function, J, given a </a:t>
                </a:r>
                <a:r>
                  <a:rPr lang="en-US" sz="2800" b="1" dirty="0">
                    <a:latin typeface="Segoe UI" panose="020B0502040204020203" pitchFamily="34" charset="0"/>
                    <a:cs typeface="Segoe UI" panose="020B0502040204020203" pitchFamily="34" charset="0"/>
                  </a:rPr>
                  <a:t>M</a:t>
                </a:r>
                <a:r>
                  <a:rPr lang="en-US" sz="2800" dirty="0">
                    <a:latin typeface="Segoe UI" panose="020B0502040204020203" pitchFamily="34" charset="0"/>
                    <a:cs typeface="Segoe UI" panose="020B0502040204020203" pitchFamily="34" charset="0"/>
                  </a:rPr>
                  <a:t> dimensional weight tensor, W</a:t>
                </a:r>
              </a:p>
              <a:p>
                <a:r>
                  <a:rPr lang="en-US" sz="2800" dirty="0">
                    <a:latin typeface="Segoe UI" panose="020B0502040204020203" pitchFamily="34" charset="0"/>
                    <a:cs typeface="Segoe UI" panose="020B0502040204020203" pitchFamily="34" charset="0"/>
                  </a:rPr>
                  <a:t>In this case we have a vector valued function to differentiate</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Segoe UI" panose="020B0502040204020203" pitchFamily="34" charset="0"/>
                        </a:rPr>
                        <m:t>𝑧</m:t>
                      </m:r>
                      <m:d>
                        <m:dPr>
                          <m:ctrlPr>
                            <a:rPr lang="en-US" sz="2800" b="0" i="1" smtClean="0">
                              <a:latin typeface="Cambria Math" panose="02040503050406030204" pitchFamily="18" charset="0"/>
                              <a:cs typeface="Segoe UI" panose="020B0502040204020203" pitchFamily="34" charset="0"/>
                            </a:rPr>
                          </m:ctrlPr>
                        </m:dPr>
                        <m:e>
                          <m:r>
                            <a:rPr lang="en-US" sz="2800" b="1" i="1" smtClean="0">
                              <a:latin typeface="Cambria Math" panose="02040503050406030204" pitchFamily="18" charset="0"/>
                              <a:cs typeface="Segoe UI" panose="020B0502040204020203" pitchFamily="34" charset="0"/>
                            </a:rPr>
                            <m:t>𝒀</m:t>
                          </m:r>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𝑓</m:t>
                      </m:r>
                      <m:d>
                        <m:dPr>
                          <m:ctrlPr>
                            <a:rPr lang="en-US" sz="2800" b="0" i="1" smtClean="0">
                              <a:latin typeface="Cambria Math" panose="02040503050406030204" pitchFamily="18" charset="0"/>
                              <a:cs typeface="Segoe UI" panose="020B0502040204020203" pitchFamily="34" charset="0"/>
                            </a:rPr>
                          </m:ctrlPr>
                        </m:dPr>
                        <m:e>
                          <m:d>
                            <m:dPr>
                              <m:begChr m:val="["/>
                              <m:endChr m:val="]"/>
                              <m:ctrlPr>
                                <a:rPr lang="en-US" sz="2800" b="0" i="1" smtClean="0">
                                  <a:latin typeface="Cambria Math" panose="02040503050406030204" pitchFamily="18" charset="0"/>
                                  <a:cs typeface="Segoe UI" panose="020B0502040204020203" pitchFamily="34" charset="0"/>
                                </a:rPr>
                              </m:ctrlPr>
                            </m:dPr>
                            <m:e>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1</m:t>
                                  </m:r>
                                </m:sub>
                              </m:sSub>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2</m:t>
                                  </m:r>
                                </m:sub>
                              </m:sSub>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𝑀</m:t>
                                  </m:r>
                                </m:sub>
                              </m:sSub>
                            </m:e>
                          </m:d>
                        </m:e>
                      </m:d>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𝑓</m:t>
                      </m:r>
                      <m:r>
                        <a:rPr lang="en-US" sz="2800" b="0" i="1" smtClean="0">
                          <a:latin typeface="Cambria Math" panose="02040503050406030204" pitchFamily="18" charset="0"/>
                          <a:cs typeface="Segoe UI" panose="020B0502040204020203" pitchFamily="34" charset="0"/>
                        </a:rPr>
                        <m:t>(</m:t>
                      </m:r>
                      <m:d>
                        <m:dPr>
                          <m:begChr m:val="["/>
                          <m:endChr m:val="]"/>
                          <m:ctrlPr>
                            <a:rPr lang="en-US" sz="2800" b="0" i="1" smtClean="0">
                              <a:latin typeface="Cambria Math" panose="02040503050406030204" pitchFamily="18" charset="0"/>
                              <a:cs typeface="Segoe UI" panose="020B0502040204020203" pitchFamily="34" charset="0"/>
                            </a:rPr>
                          </m:ctrlPr>
                        </m:dPr>
                        <m:e>
                          <m:r>
                            <a:rPr lang="en-US" sz="2800" b="0" i="1" smtClean="0">
                              <a:latin typeface="Cambria Math" panose="02040503050406030204" pitchFamily="18" charset="0"/>
                              <a:cs typeface="Segoe UI" panose="020B0502040204020203" pitchFamily="34" charset="0"/>
                            </a:rPr>
                            <m:t>𝑔</m:t>
                          </m:r>
                          <m:d>
                            <m:dPr>
                              <m:ctrlPr>
                                <a:rPr lang="en-US" sz="2800" b="0" i="1" smtClean="0">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1</m:t>
                                  </m:r>
                                </m:sub>
                              </m:sSub>
                            </m:e>
                          </m:d>
                          <m:r>
                            <a:rPr lang="en-US" sz="2800" i="1">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𝑔</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2</m:t>
                                  </m:r>
                                </m:sub>
                              </m:sSub>
                            </m:e>
                          </m:d>
                          <m:r>
                            <a:rPr lang="en-US" sz="2800" b="0" i="1" smtClean="0">
                              <a:latin typeface="Cambria Math" panose="02040503050406030204" pitchFamily="18" charset="0"/>
                              <a:cs typeface="Segoe UI" panose="020B0502040204020203" pitchFamily="34" charset="0"/>
                            </a:rPr>
                            <m:t>,…,</m:t>
                          </m:r>
                          <m:r>
                            <a:rPr lang="en-US" sz="2800" i="1">
                              <a:latin typeface="Cambria Math" panose="02040503050406030204" pitchFamily="18" charset="0"/>
                              <a:cs typeface="Segoe UI" panose="020B0502040204020203" pitchFamily="34" charset="0"/>
                            </a:rPr>
                            <m:t>𝑔</m:t>
                          </m:r>
                          <m:d>
                            <m:dPr>
                              <m:ctrlPr>
                                <a:rPr lang="en-US" sz="2800" i="1">
                                  <a:latin typeface="Cambria Math" panose="02040503050406030204" pitchFamily="18" charset="0"/>
                                  <a:cs typeface="Segoe UI" panose="020B0502040204020203" pitchFamily="34" charset="0"/>
                                </a:rPr>
                              </m:ctrlPr>
                            </m:dPr>
                            <m:e>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𝑀</m:t>
                                  </m:r>
                                </m:sub>
                              </m:sSub>
                            </m:e>
                          </m:d>
                        </m:e>
                      </m:d>
                      <m:r>
                        <a:rPr lang="en-US" sz="2800" b="0" i="1" smtClean="0">
                          <a:latin typeface="Cambria Math" panose="02040503050406030204" pitchFamily="18" charset="0"/>
                          <a:cs typeface="Segoe UI" panose="020B0502040204020203" pitchFamily="34" charset="0"/>
                        </a:rPr>
                        <m:t>)</m:t>
                      </m:r>
                    </m:oMath>
                  </m:oMathPara>
                </a14:m>
                <a:endParaRPr lang="en-US" sz="2800" dirty="0">
                  <a:latin typeface="Segoe UI" panose="020B0502040204020203" pitchFamily="34" charset="0"/>
                  <a:cs typeface="Segoe UI" panose="020B0502040204020203" pitchFamily="34" charset="0"/>
                </a:endParaRPr>
              </a:p>
              <a:p>
                <a:r>
                  <a:rPr lang="en-US" sz="2800" dirty="0">
                    <a:latin typeface="Segoe UI" panose="020B0502040204020203" pitchFamily="34" charset="0"/>
                    <a:cs typeface="Segoe UI" panose="020B0502040204020203" pitchFamily="34" charset="0"/>
                  </a:rPr>
                  <a:t>This leads to the general vector valued form of the chain rule:</a:t>
                </a:r>
              </a:p>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cs typeface="Segoe UI" panose="020B0502040204020203" pitchFamily="34" charset="0"/>
                            </a:rPr>
                          </m:ctrlPr>
                        </m:fPr>
                        <m:num>
                          <m:r>
                            <a:rPr lang="en-US" sz="280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𝑧</m:t>
                          </m:r>
                        </m:num>
                        <m:den>
                          <m:r>
                            <a:rPr lang="en-US" sz="2800" i="1" smtClean="0">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den>
                      </m:f>
                      <m:r>
                        <a:rPr lang="en-US" sz="2800" b="0" i="1" smtClean="0">
                          <a:latin typeface="Cambria Math" panose="02040503050406030204" pitchFamily="18" charset="0"/>
                          <a:cs typeface="Segoe UI" panose="020B0502040204020203" pitchFamily="34" charset="0"/>
                        </a:rPr>
                        <m:t>=</m:t>
                      </m:r>
                      <m:nary>
                        <m:naryPr>
                          <m:chr m:val="∑"/>
                          <m:supHide m:val="on"/>
                          <m:ctrlPr>
                            <a:rPr lang="en-US" sz="2800" b="0" i="1" smtClean="0">
                              <a:latin typeface="Cambria Math" panose="02040503050406030204" pitchFamily="18" charset="0"/>
                              <a:cs typeface="Segoe UI" panose="020B0502040204020203" pitchFamily="34" charset="0"/>
                            </a:rPr>
                          </m:ctrlPr>
                        </m:naryPr>
                        <m:sub>
                          <m:r>
                            <m:rPr>
                              <m:brk m:alnAt="7"/>
                            </m:rPr>
                            <a:rPr lang="en-US" sz="2800" b="0" i="1" smtClean="0">
                              <a:latin typeface="Cambria Math" panose="02040503050406030204" pitchFamily="18" charset="0"/>
                              <a:cs typeface="Segoe UI" panose="020B0502040204020203" pitchFamily="34" charset="0"/>
                            </a:rPr>
                            <m:t>𝑗</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𝑀</m:t>
                          </m:r>
                        </m:sub>
                        <m:sup/>
                        <m:e>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𝑧</m:t>
                              </m:r>
                            </m:num>
                            <m:den>
                              <m:r>
                                <a:rPr lang="en-US" sz="2800" b="0" i="1" smtClean="0">
                                  <a:latin typeface="Cambria Math" panose="02040503050406030204" pitchFamily="18" charset="0"/>
                                  <a:cs typeface="Segoe UI" panose="020B0502040204020203" pitchFamily="34" charset="0"/>
                                </a:rPr>
                                <m:t>𝜕</m:t>
                              </m:r>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𝑗</m:t>
                                  </m:r>
                                </m:sub>
                              </m:sSub>
                            </m:den>
                          </m:f>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𝑗</m:t>
                                  </m:r>
                                </m:sub>
                              </m:sSub>
                            </m:num>
                            <m:den>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den>
                          </m:f>
                        </m:e>
                      </m:nary>
                    </m:oMath>
                  </m:oMathPara>
                </a14:m>
                <a:endParaRPr lang="en-US" sz="2800" dirty="0">
                  <a:latin typeface="Segoe UI" panose="020B0502040204020203" pitchFamily="34" charset="0"/>
                  <a:cs typeface="Segoe UI" panose="020B0502040204020203" pitchFamily="34" charset="0"/>
                </a:endParaRPr>
              </a:p>
              <a:p>
                <a:pPr marL="0" indent="0">
                  <a:buNone/>
                </a:pPr>
                <a:endParaRPr lang="en-US" sz="2800"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A0BBD29B-609A-4B70-910B-C0EF8A612175}"/>
                  </a:ext>
                </a:extLst>
              </p:cNvPr>
              <p:cNvSpPr>
                <a:spLocks noGrp="1" noRot="1" noChangeAspect="1" noMove="1" noResize="1" noEditPoints="1" noAdjustHandles="1" noChangeArrowheads="1" noChangeShapeType="1" noTextEdit="1"/>
              </p:cNvSpPr>
              <p:nvPr>
                <p:ph sz="quarter" idx="10"/>
              </p:nvPr>
            </p:nvSpPr>
            <p:spPr>
              <a:xfrm>
                <a:off x="223665" y="913035"/>
                <a:ext cx="11525250" cy="5681195"/>
              </a:xfrm>
              <a:blipFill>
                <a:blip r:embed="rId2"/>
                <a:stretch>
                  <a:fillRect l="-1111" t="-1180"/>
                </a:stretch>
              </a:blipFill>
            </p:spPr>
            <p:txBody>
              <a:bodyPr/>
              <a:lstStyle/>
              <a:p>
                <a:r>
                  <a:rPr lang="en-US">
                    <a:noFill/>
                  </a:rPr>
                  <a:t> </a:t>
                </a:r>
              </a:p>
            </p:txBody>
          </p:sp>
        </mc:Fallback>
      </mc:AlternateContent>
    </p:spTree>
    <p:extLst>
      <p:ext uri="{BB962C8B-B14F-4D97-AF65-F5344CB8AC3E}">
        <p14:creationId xmlns:p14="http://schemas.microsoft.com/office/powerpoint/2010/main" val="90669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4C0-D26C-48A0-B069-C60C2F124F13}"/>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Chain Rule of Calculus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BBD29B-609A-4B70-910B-C0EF8A612175}"/>
                  </a:ext>
                </a:extLst>
              </p:cNvPr>
              <p:cNvSpPr>
                <a:spLocks noGrp="1"/>
              </p:cNvSpPr>
              <p:nvPr>
                <p:ph sz="quarter" idx="10"/>
              </p:nvPr>
            </p:nvSpPr>
            <p:spPr>
              <a:xfrm>
                <a:off x="223665" y="913035"/>
                <a:ext cx="11525250" cy="5546379"/>
              </a:xfrm>
            </p:spPr>
            <p:txBody>
              <a:bodyPr/>
              <a:lstStyle/>
              <a:p>
                <a:pPr marL="0" indent="0">
                  <a:buNone/>
                </a:pPr>
                <a:r>
                  <a:rPr lang="en-US" sz="2800" dirty="0">
                    <a:latin typeface="Segoe UI" panose="020B0502040204020203" pitchFamily="34" charset="0"/>
                    <a:cs typeface="Segoe UI" panose="020B0502040204020203" pitchFamily="34" charset="0"/>
                  </a:rPr>
                  <a:t>Vector valued form of the chain rule:</a:t>
                </a:r>
              </a:p>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cs typeface="Segoe UI" panose="020B0502040204020203" pitchFamily="34" charset="0"/>
                            </a:rPr>
                          </m:ctrlPr>
                        </m:fPr>
                        <m:num>
                          <m:r>
                            <a:rPr lang="en-US" sz="280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𝑧</m:t>
                          </m:r>
                        </m:num>
                        <m:den>
                          <m:r>
                            <a:rPr lang="en-US" sz="2800" i="1" smtClean="0">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𝑖</m:t>
                              </m:r>
                            </m:sub>
                          </m:sSub>
                        </m:den>
                      </m:f>
                      <m:r>
                        <a:rPr lang="en-US" sz="2800" b="0" i="1" smtClean="0">
                          <a:latin typeface="Cambria Math" panose="02040503050406030204" pitchFamily="18" charset="0"/>
                          <a:cs typeface="Segoe UI" panose="020B0502040204020203" pitchFamily="34" charset="0"/>
                        </a:rPr>
                        <m:t>=</m:t>
                      </m:r>
                      <m:nary>
                        <m:naryPr>
                          <m:chr m:val="∑"/>
                          <m:supHide m:val="on"/>
                          <m:ctrlPr>
                            <a:rPr lang="en-US" sz="2800" b="0" i="1" smtClean="0">
                              <a:latin typeface="Cambria Math" panose="02040503050406030204" pitchFamily="18" charset="0"/>
                              <a:cs typeface="Segoe UI" panose="020B0502040204020203" pitchFamily="34" charset="0"/>
                            </a:rPr>
                          </m:ctrlPr>
                        </m:naryPr>
                        <m:sub>
                          <m:r>
                            <m:rPr>
                              <m:brk m:alnAt="7"/>
                            </m:rPr>
                            <a:rPr lang="en-US" sz="2800" b="0" i="1" smtClean="0">
                              <a:latin typeface="Cambria Math" panose="02040503050406030204" pitchFamily="18" charset="0"/>
                              <a:cs typeface="Segoe UI" panose="020B0502040204020203" pitchFamily="34" charset="0"/>
                            </a:rPr>
                            <m:t>𝑗</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𝑀</m:t>
                          </m:r>
                        </m:sub>
                        <m:sup/>
                        <m:e>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m:t>
                              </m:r>
                              <m:r>
                                <a:rPr lang="en-US" sz="2800" b="0" i="1" smtClean="0">
                                  <a:latin typeface="Cambria Math" panose="02040503050406030204" pitchFamily="18" charset="0"/>
                                  <a:cs typeface="Segoe UI" panose="020B0502040204020203" pitchFamily="34" charset="0"/>
                                </a:rPr>
                                <m:t>𝑧</m:t>
                              </m:r>
                            </m:num>
                            <m:den>
                              <m:r>
                                <a:rPr lang="en-US" sz="2800" b="0" i="1" smtClean="0">
                                  <a:latin typeface="Cambria Math" panose="02040503050406030204" pitchFamily="18" charset="0"/>
                                  <a:cs typeface="Segoe UI" panose="020B0502040204020203" pitchFamily="34" charset="0"/>
                                </a:rPr>
                                <m:t>𝜕</m:t>
                              </m:r>
                              <m:sSub>
                                <m:sSubPr>
                                  <m:ctrlPr>
                                    <a:rPr lang="en-US" sz="2800" b="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𝑗</m:t>
                                  </m:r>
                                </m:sub>
                              </m:sSub>
                            </m:den>
                          </m:f>
                          <m:f>
                            <m:fPr>
                              <m:ctrlPr>
                                <a:rPr lang="en-US" sz="2800" b="0" i="1" smtClean="0">
                                  <a:latin typeface="Cambria Math" panose="02040503050406030204" pitchFamily="18" charset="0"/>
                                  <a:cs typeface="Segoe UI" panose="020B0502040204020203" pitchFamily="34" charset="0"/>
                                </a:rPr>
                              </m:ctrlPr>
                            </m:fPr>
                            <m:num>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𝑗</m:t>
                                  </m:r>
                                </m:sub>
                              </m:sSub>
                            </m:num>
                            <m:den>
                              <m:r>
                                <a:rPr lang="en-US" sz="2800" b="0" i="1" smtClean="0">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𝑖</m:t>
                                  </m:r>
                                </m:sub>
                              </m:sSub>
                            </m:den>
                          </m:f>
                        </m:e>
                      </m:nary>
                    </m:oMath>
                  </m:oMathPara>
                </a14:m>
                <a:endParaRPr lang="en-US" sz="2800" dirty="0">
                  <a:latin typeface="Segoe UI" panose="020B0502040204020203" pitchFamily="34" charset="0"/>
                  <a:cs typeface="Segoe UI" panose="020B0502040204020203" pitchFamily="34" charset="0"/>
                </a:endParaRPr>
              </a:p>
              <a:p>
                <a:pPr marL="0" indent="0">
                  <a:buNone/>
                </a:pPr>
                <a:r>
                  <a:rPr lang="en-US" sz="2800" dirty="0">
                    <a:latin typeface="Segoe UI" panose="020B0502040204020203" pitchFamily="34" charset="0"/>
                    <a:cs typeface="Segoe UI" panose="020B0502040204020203" pitchFamily="34" charset="0"/>
                  </a:rPr>
                  <a:t>OR</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cs typeface="Segoe UI" panose="020B0502040204020203" pitchFamily="34" charset="0"/>
                            </a:rPr>
                          </m:ctrlPr>
                        </m:dPr>
                        <m:e>
                          <m:m>
                            <m:mPr>
                              <m:mcs>
                                <m:mc>
                                  <m:mcPr>
                                    <m:count m:val="1"/>
                                    <m:mcJc m:val="center"/>
                                  </m:mcPr>
                                </m:mc>
                              </m:mcs>
                              <m:ctrlPr>
                                <a:rPr lang="en-US" sz="280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1</m:t>
                                        </m:r>
                                      </m:sub>
                                    </m:sSub>
                                  </m:den>
                                </m:f>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2</m:t>
                                        </m:r>
                                      </m:sub>
                                    </m:sSub>
                                  </m:den>
                                </m:f>
                              </m:e>
                            </m:mr>
                            <m:mr>
                              <m:e>
                                <m:m>
                                  <m:mPr>
                                    <m:mcs>
                                      <m:mc>
                                        <m:mcPr>
                                          <m:count m:val="1"/>
                                          <m:mcJc m:val="center"/>
                                        </m:mcPr>
                                      </m:mc>
                                    </m:mcs>
                                    <m:ctrlPr>
                                      <a:rPr lang="en-US" sz="2800" i="1" smtClean="0">
                                        <a:latin typeface="Cambria Math" panose="02040503050406030204" pitchFamily="18" charset="0"/>
                                        <a:cs typeface="Segoe UI" panose="020B0502040204020203" pitchFamily="34" charset="0"/>
                                      </a:rPr>
                                    </m:ctrlPr>
                                  </m:mP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𝑁</m:t>
                                              </m:r>
                                            </m:sub>
                                          </m:sSub>
                                        </m:num>
                                        <m:den>
                                          <m:r>
                                            <a:rPr lang="en-US" sz="2800" i="1">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𝑀</m:t>
                                              </m:r>
                                            </m:sub>
                                          </m:sSub>
                                        </m:den>
                                      </m:f>
                                    </m:e>
                                  </m:mr>
                                </m:m>
                              </m:e>
                            </m:mr>
                          </m:m>
                        </m:e>
                      </m:d>
                      <m:r>
                        <a:rPr lang="en-US" sz="2800" b="0" i="1" smtClean="0">
                          <a:latin typeface="Cambria Math" panose="02040503050406030204" pitchFamily="18" charset="0"/>
                          <a:cs typeface="Segoe UI" panose="020B0502040204020203" pitchFamily="34" charset="0"/>
                        </a:rPr>
                        <m:t>=</m:t>
                      </m:r>
                      <m:d>
                        <m:dPr>
                          <m:begChr m:val="["/>
                          <m:endChr m:val="]"/>
                          <m:ctrlPr>
                            <a:rPr lang="en-US" sz="2800" b="0" i="1" smtClean="0">
                              <a:latin typeface="Cambria Math" panose="02040503050406030204" pitchFamily="18" charset="0"/>
                              <a:cs typeface="Segoe UI" panose="020B0502040204020203" pitchFamily="34" charset="0"/>
                            </a:rPr>
                          </m:ctrlPr>
                        </m:dPr>
                        <m:e>
                          <m:m>
                            <m:mPr>
                              <m:mcs>
                                <m:mc>
                                  <m:mcPr>
                                    <m:count m:val="3"/>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smtClean="0">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1</m:t>
                                        </m:r>
                                      </m:sub>
                                    </m:sSub>
                                  </m:den>
                                </m:f>
                              </m:e>
                              <m:e>
                                <m:m>
                                  <m:mPr>
                                    <m:mcs>
                                      <m:mc>
                                        <m:mcPr>
                                          <m:count m:val="2"/>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2</m:t>
                                              </m:r>
                                            </m:sub>
                                          </m:sSub>
                                        </m:den>
                                      </m:f>
                                    </m:e>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𝑁</m:t>
                                        </m:r>
                                      </m:sub>
                                    </m:sSub>
                                  </m:den>
                                </m:f>
                              </m:e>
                            </m:mr>
                            <m:mr>
                              <m:e>
                                <m:m>
                                  <m:mPr>
                                    <m:mcs>
                                      <m:mc>
                                        <m:mcPr>
                                          <m:count m:val="1"/>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1</m:t>
                                              </m:r>
                                            </m:sub>
                                          </m:sSub>
                                        </m:den>
                                      </m:f>
                                    </m:e>
                                  </m:mr>
                                  <m:mr>
                                    <m:e>
                                      <m: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mr>
                                </m:m>
                              </m:e>
                              <m:e>
                                <m:m>
                                  <m:mPr>
                                    <m:mcs>
                                      <m:mc>
                                        <m:mcPr>
                                          <m:count m:val="2"/>
                                          <m:mcJc m:val="center"/>
                                        </m:mcPr>
                                      </m:mc>
                                    </m:mcs>
                                    <m:ctrlPr>
                                      <a:rPr lang="en-US" sz="2800" b="0" i="1" smtClean="0">
                                        <a:latin typeface="Cambria Math" panose="02040503050406030204" pitchFamily="18" charset="0"/>
                                        <a:cs typeface="Segoe UI" panose="020B0502040204020203" pitchFamily="34" charset="0"/>
                                      </a:rPr>
                                    </m:ctrlPr>
                                  </m:mPr>
                                  <m:mr>
                                    <m:e>
                                      <m:m>
                                        <m:mPr>
                                          <m:mcs>
                                            <m:mc>
                                              <m:mcPr>
                                                <m:count m:val="1"/>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2</m:t>
                                                    </m:r>
                                                  </m:sub>
                                                </m:sSub>
                                              </m:den>
                                            </m:f>
                                          </m:e>
                                        </m:mr>
                                        <m:mr>
                                          <m:e>
                                            <m: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mr>
                                      </m:m>
                                    </m:e>
                                    <m:e>
                                      <m:m>
                                        <m:mPr>
                                          <m:mcs>
                                            <m:mc>
                                              <m:mcPr>
                                                <m:count m:val="1"/>
                                                <m:mcJc m:val="center"/>
                                              </m:mcPr>
                                            </m:mc>
                                          </m:mcs>
                                          <m:ctrlPr>
                                            <a:rPr lang="en-US" sz="2800" b="0" i="1" smtClean="0">
                                              <a:latin typeface="Cambria Math" panose="02040503050406030204" pitchFamily="18" charset="0"/>
                                              <a:cs typeface="Segoe UI" panose="020B0502040204020203" pitchFamily="34" charset="0"/>
                                            </a:rPr>
                                          </m:ctrlPr>
                                        </m:mPr>
                                        <m:mr>
                                          <m:e>
                                            <m:r>
                                              <m:rPr>
                                                <m:brk m:alnAt="7"/>
                                              </m:rP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m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mr>
                                </m:m>
                              </m:e>
                              <m:e>
                                <m:m>
                                  <m:mPr>
                                    <m:mcs>
                                      <m:mc>
                                        <m:mcPr>
                                          <m:count m:val="1"/>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𝑁</m:t>
                                              </m:r>
                                            </m:sub>
                                          </m:sSub>
                                        </m:den>
                                      </m:f>
                                    </m:e>
                                  </m:mr>
                                  <m:mr>
                                    <m:e>
                                      <m: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mr>
                                </m:m>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1</m:t>
                                        </m:r>
                                      </m:sub>
                                    </m:sSub>
                                  </m:den>
                                </m:f>
                              </m:e>
                              <m:e>
                                <m:m>
                                  <m:mPr>
                                    <m:mcs>
                                      <m:mc>
                                        <m:mcPr>
                                          <m:count m:val="2"/>
                                          <m:mcJc m:val="center"/>
                                        </m:mcPr>
                                      </m:mc>
                                    </m:mcs>
                                    <m:ctrlPr>
                                      <a:rPr lang="en-US" sz="2800" b="0" i="1" smtClean="0">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2</m:t>
                                              </m:r>
                                            </m:sub>
                                          </m:sSub>
                                        </m:den>
                                      </m:f>
                                    </m:e>
                                    <m:e>
                                      <m:r>
                                        <a:rPr lang="en-US" sz="2800" b="0" i="1" smtClean="0">
                                          <a:latin typeface="Cambria Math" panose="02040503050406030204" pitchFamily="18" charset="0"/>
                                          <a:ea typeface="Cambria Math" panose="02040503050406030204" pitchFamily="18" charset="0"/>
                                          <a:cs typeface="Segoe UI" panose="020B0502040204020203" pitchFamily="34" charset="0"/>
                                        </a:rPr>
                                        <m:t>⋯</m:t>
                                      </m:r>
                                    </m:e>
                                  </m:mr>
                                </m:m>
                              </m:e>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b="0" i="1" smtClean="0">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𝑁</m:t>
                                        </m:r>
                                      </m:sub>
                                    </m:sSub>
                                  </m:den>
                                </m:f>
                              </m:e>
                            </m:mr>
                          </m:m>
                        </m:e>
                      </m:d>
                      <m:d>
                        <m:dPr>
                          <m:begChr m:val="["/>
                          <m:endChr m:val="]"/>
                          <m:ctrlPr>
                            <a:rPr lang="en-US" sz="2800" b="0" i="1" smtClean="0">
                              <a:latin typeface="Cambria Math" panose="02040503050406030204" pitchFamily="18" charset="0"/>
                              <a:cs typeface="Segoe UI" panose="020B0502040204020203" pitchFamily="34" charset="0"/>
                            </a:rPr>
                          </m:ctrlPr>
                        </m:dPr>
                        <m:e>
                          <m:m>
                            <m:mPr>
                              <m:mcs>
                                <m:mc>
                                  <m:mcPr>
                                    <m:count m:val="1"/>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1</m:t>
                                        </m:r>
                                      </m:sub>
                                    </m:sSub>
                                  </m:den>
                                </m:f>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i="1">
                                            <a:latin typeface="Cambria Math" panose="02040503050406030204" pitchFamily="18" charset="0"/>
                                            <a:cs typeface="Segoe UI" panose="020B0502040204020203" pitchFamily="34" charset="0"/>
                                          </a:rPr>
                                          <m:t>2</m:t>
                                        </m:r>
                                      </m:sub>
                                    </m:sSub>
                                  </m:den>
                                </m:f>
                              </m:e>
                            </m:mr>
                            <m:mr>
                              <m:e>
                                <m:m>
                                  <m:mPr>
                                    <m:mcs>
                                      <m:mc>
                                        <m:mcPr>
                                          <m:count m:val="1"/>
                                          <m:mcJc m:val="center"/>
                                        </m:mcPr>
                                      </m:mc>
                                    </m:mcs>
                                    <m:ctrlPr>
                                      <a:rPr lang="en-US" sz="2800" i="1">
                                        <a:latin typeface="Cambria Math" panose="02040503050406030204" pitchFamily="18" charset="0"/>
                                        <a:cs typeface="Segoe UI" panose="020B0502040204020203" pitchFamily="34" charset="0"/>
                                      </a:rPr>
                                    </m:ctrlPr>
                                  </m:mP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b="0" i="1" smtClean="0">
                                                  <a:latin typeface="Cambria Math" panose="02040503050406030204" pitchFamily="18" charset="0"/>
                                                  <a:cs typeface="Segoe UI" panose="020B0502040204020203" pitchFamily="34" charset="0"/>
                                                </a:rPr>
                                                <m:t>𝑦</m:t>
                                              </m:r>
                                            </m:e>
                                            <m:sub>
                                              <m:r>
                                                <a:rPr lang="en-US" sz="2800" b="0" i="1" smtClean="0">
                                                  <a:latin typeface="Cambria Math" panose="02040503050406030204" pitchFamily="18" charset="0"/>
                                                  <a:cs typeface="Segoe UI" panose="020B0502040204020203" pitchFamily="34" charset="0"/>
                                                </a:rPr>
                                                <m:t>𝑁</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𝑥</m:t>
                                              </m:r>
                                            </m:e>
                                            <m:sub>
                                              <m:r>
                                                <a:rPr lang="en-US" sz="2800" b="0" i="1" smtClean="0">
                                                  <a:latin typeface="Cambria Math" panose="02040503050406030204" pitchFamily="18" charset="0"/>
                                                  <a:cs typeface="Segoe UI" panose="020B0502040204020203" pitchFamily="34" charset="0"/>
                                                </a:rPr>
                                                <m:t>𝑀</m:t>
                                              </m:r>
                                            </m:sub>
                                          </m:sSub>
                                        </m:den>
                                      </m:f>
                                    </m:e>
                                  </m:mr>
                                </m:m>
                              </m:e>
                            </m:mr>
                          </m:m>
                        </m:e>
                      </m:d>
                    </m:oMath>
                  </m:oMathPara>
                </a14:m>
                <a:endParaRPr lang="en-US" sz="2800" dirty="0">
                  <a:latin typeface="Segoe UI" panose="020B0502040204020203" pitchFamily="34" charset="0"/>
                  <a:cs typeface="Segoe UI" panose="020B0502040204020203" pitchFamily="34" charset="0"/>
                </a:endParaRPr>
              </a:p>
              <a:p>
                <a:pPr marL="0" indent="0">
                  <a:buNone/>
                </a:pPr>
                <a:endParaRPr lang="en-US" sz="2800"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A0BBD29B-609A-4B70-910B-C0EF8A612175}"/>
                  </a:ext>
                </a:extLst>
              </p:cNvPr>
              <p:cNvSpPr>
                <a:spLocks noGrp="1" noRot="1" noChangeAspect="1" noMove="1" noResize="1" noEditPoints="1" noAdjustHandles="1" noChangeArrowheads="1" noChangeShapeType="1" noTextEdit="1"/>
              </p:cNvSpPr>
              <p:nvPr>
                <p:ph sz="quarter" idx="10"/>
              </p:nvPr>
            </p:nvSpPr>
            <p:spPr>
              <a:xfrm>
                <a:off x="223665" y="913035"/>
                <a:ext cx="11525250" cy="5546379"/>
              </a:xfrm>
              <a:blipFill>
                <a:blip r:embed="rId2"/>
                <a:stretch>
                  <a:fillRect l="-1111" t="-1209"/>
                </a:stretch>
              </a:blipFill>
            </p:spPr>
            <p:txBody>
              <a:bodyPr/>
              <a:lstStyle/>
              <a:p>
                <a:r>
                  <a:rPr lang="en-US">
                    <a:noFill/>
                  </a:rPr>
                  <a:t> </a:t>
                </a:r>
              </a:p>
            </p:txBody>
          </p:sp>
        </mc:Fallback>
      </mc:AlternateContent>
    </p:spTree>
    <p:extLst>
      <p:ext uri="{BB962C8B-B14F-4D97-AF65-F5344CB8AC3E}">
        <p14:creationId xmlns:p14="http://schemas.microsoft.com/office/powerpoint/2010/main" val="200979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4C0-D26C-48A0-B069-C60C2F124F13}"/>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Chain Rule of Calculus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BBD29B-609A-4B70-910B-C0EF8A612175}"/>
                  </a:ext>
                </a:extLst>
              </p:cNvPr>
              <p:cNvSpPr>
                <a:spLocks noGrp="1"/>
              </p:cNvSpPr>
              <p:nvPr>
                <p:ph sz="quarter" idx="10"/>
              </p:nvPr>
            </p:nvSpPr>
            <p:spPr>
              <a:xfrm>
                <a:off x="223665" y="913035"/>
                <a:ext cx="11525250" cy="5546379"/>
              </a:xfrm>
            </p:spPr>
            <p:txBody>
              <a:bodyPr/>
              <a:lstStyle/>
              <a:p>
                <a:pPr marL="0" indent="0">
                  <a:buNone/>
                </a:pPr>
                <a:r>
                  <a:rPr lang="en-US" sz="2800" dirty="0">
                    <a:latin typeface="Segoe UI" panose="020B0502040204020203" pitchFamily="34" charset="0"/>
                    <a:cs typeface="Segoe UI" panose="020B0502040204020203" pitchFamily="34" charset="0"/>
                  </a:rPr>
                  <a:t>We define the </a:t>
                </a:r>
                <a14:m>
                  <m:oMath xmlns:m="http://schemas.openxmlformats.org/officeDocument/2006/math">
                    <m:r>
                      <a:rPr lang="en-US" sz="2800" b="0" i="1" smtClean="0">
                        <a:latin typeface="Cambria Math" panose="02040503050406030204" pitchFamily="18" charset="0"/>
                        <a:cs typeface="Segoe UI" panose="020B0502040204020203" pitchFamily="34" charset="0"/>
                      </a:rPr>
                      <m:t>𝑛</m:t>
                    </m:r>
                    <m:r>
                      <a:rPr lang="en-US" sz="2800" b="0" i="1" smtClean="0">
                        <a:latin typeface="Cambria Math" panose="02040503050406030204" pitchFamily="18" charset="0"/>
                        <a:ea typeface="Cambria Math" panose="02040503050406030204" pitchFamily="18" charset="0"/>
                        <a:cs typeface="Segoe UI" panose="020B0502040204020203" pitchFamily="34" charset="0"/>
                      </a:rPr>
                      <m:t>×</m:t>
                    </m:r>
                    <m:r>
                      <a:rPr lang="en-US" sz="2800" b="0" i="1" smtClean="0">
                        <a:latin typeface="Cambria Math" panose="02040503050406030204" pitchFamily="18" charset="0"/>
                        <a:ea typeface="Cambria Math" panose="02040503050406030204" pitchFamily="18" charset="0"/>
                        <a:cs typeface="Segoe UI" panose="020B0502040204020203" pitchFamily="34" charset="0"/>
                      </a:rPr>
                      <m:t>𝑚</m:t>
                    </m:r>
                  </m:oMath>
                </a14:m>
                <a:r>
                  <a:rPr lang="en-US" sz="2800" dirty="0">
                    <a:latin typeface="Segoe UI" panose="020B0502040204020203" pitchFamily="34" charset="0"/>
                    <a:cs typeface="Segoe UI" panose="020B0502040204020203" pitchFamily="34" charset="0"/>
                  </a:rPr>
                  <a:t> </a:t>
                </a:r>
                <a:r>
                  <a:rPr lang="en-US" sz="2800" b="1" dirty="0">
                    <a:latin typeface="Segoe UI" panose="020B0502040204020203" pitchFamily="34" charset="0"/>
                    <a:cs typeface="Segoe UI" panose="020B0502040204020203" pitchFamily="34" charset="0"/>
                    <a:hlinkClick r:id="rId2"/>
                  </a:rPr>
                  <a:t>Jacobian Matrix</a:t>
                </a:r>
                <a:r>
                  <a:rPr lang="en-US" sz="2800" dirty="0">
                    <a:latin typeface="Segoe UI" panose="020B0502040204020203" pitchFamily="34" charset="0"/>
                    <a:cs typeface="Segoe UI" panose="020B0502040204020203" pitchFamily="34" charset="0"/>
                  </a:rPr>
                  <a:t>, </a:t>
                </a:r>
                <a14:m>
                  <m:oMath xmlns:m="http://schemas.openxmlformats.org/officeDocument/2006/math">
                    <m:r>
                      <a:rPr lang="en-US" sz="2800" b="1" i="1" smtClean="0">
                        <a:latin typeface="Cambria Math" panose="02040503050406030204" pitchFamily="18" charset="0"/>
                        <a:cs typeface="Segoe UI" panose="020B0502040204020203" pitchFamily="34" charset="0"/>
                      </a:rPr>
                      <m:t>𝑱</m:t>
                    </m:r>
                  </m:oMath>
                </a14:m>
                <a:r>
                  <a:rPr lang="en-US" sz="2800" dirty="0">
                    <a:latin typeface="Segoe UI" panose="020B0502040204020203" pitchFamily="34" charset="0"/>
                    <a:cs typeface="Segoe UI" panose="020B0502040204020203" pitchFamily="34" charset="0"/>
                  </a:rPr>
                  <a:t>, as: </a:t>
                </a:r>
              </a:p>
              <a:p>
                <a:pPr marL="0" indent="0">
                  <a:buNone/>
                </a:pPr>
                <a:endParaRPr lang="en-US" sz="2800" dirty="0">
                  <a:latin typeface="Segoe UI" panose="020B0502040204020203" pitchFamily="34" charset="0"/>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800" b="0" i="1" smtClean="0">
                              <a:latin typeface="Cambria Math" panose="02040503050406030204" pitchFamily="18" charset="0"/>
                              <a:cs typeface="Segoe UI" panose="020B0502040204020203" pitchFamily="34" charset="0"/>
                            </a:rPr>
                          </m:ctrlPr>
                        </m:sSupPr>
                        <m:e>
                          <m:r>
                            <a:rPr lang="en-US" sz="2800" b="1" i="1">
                              <a:latin typeface="Cambria Math" panose="02040503050406030204" pitchFamily="18" charset="0"/>
                              <a:cs typeface="Segoe UI" panose="020B0502040204020203" pitchFamily="34" charset="0"/>
                            </a:rPr>
                            <m:t>𝑱</m:t>
                          </m:r>
                        </m:e>
                        <m:sup>
                          <m:r>
                            <a:rPr lang="en-US" sz="2800" b="0" i="1" smtClean="0">
                              <a:latin typeface="Cambria Math" panose="02040503050406030204" pitchFamily="18" charset="0"/>
                              <a:cs typeface="Segoe UI" panose="020B0502040204020203" pitchFamily="34" charset="0"/>
                            </a:rPr>
                            <m:t>𝑇</m:t>
                          </m:r>
                        </m:sup>
                      </m:sSup>
                      <m:r>
                        <a:rPr lang="en-US" sz="2800" b="0" i="1" smtClean="0">
                          <a:latin typeface="Cambria Math" panose="02040503050406030204" pitchFamily="18" charset="0"/>
                          <a:cs typeface="Segoe UI" panose="020B0502040204020203" pitchFamily="34" charset="0"/>
                        </a:rPr>
                        <m:t>=</m:t>
                      </m:r>
                      <m:d>
                        <m:dPr>
                          <m:begChr m:val="["/>
                          <m:endChr m:val="]"/>
                          <m:ctrlPr>
                            <a:rPr lang="en-US" sz="2800" b="0" i="1" smtClean="0">
                              <a:latin typeface="Cambria Math" panose="02040503050406030204" pitchFamily="18" charset="0"/>
                              <a:cs typeface="Segoe UI" panose="020B0502040204020203" pitchFamily="34" charset="0"/>
                            </a:rPr>
                          </m:ctrlPr>
                        </m:dPr>
                        <m:e>
                          <m:m>
                            <m:mPr>
                              <m:mcs>
                                <m:mc>
                                  <m:mcPr>
                                    <m:count m:val="3"/>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1</m:t>
                                        </m:r>
                                      </m:sub>
                                    </m:sSub>
                                  </m:den>
                                </m:f>
                              </m:e>
                              <m:e>
                                <m:m>
                                  <m:mPr>
                                    <m:mcs>
                                      <m:mc>
                                        <m:mcPr>
                                          <m:count m:val="2"/>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2</m:t>
                                              </m:r>
                                            </m:sub>
                                          </m:sSub>
                                        </m:den>
                                      </m:f>
                                    </m:e>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1</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𝑁</m:t>
                                        </m:r>
                                      </m:sub>
                                    </m:sSub>
                                  </m:den>
                                </m:f>
                              </m:e>
                            </m:mr>
                            <m:mr>
                              <m:e>
                                <m:m>
                                  <m:mPr>
                                    <m:mcs>
                                      <m:mc>
                                        <m:mcPr>
                                          <m:count m:val="1"/>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1</m:t>
                                              </m:r>
                                            </m:sub>
                                          </m:sSub>
                                        </m:den>
                                      </m:f>
                                    </m:e>
                                  </m:m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e>
                                <m:m>
                                  <m:mPr>
                                    <m:mcs>
                                      <m:mc>
                                        <m:mcPr>
                                          <m:count m:val="2"/>
                                          <m:mcJc m:val="center"/>
                                        </m:mcPr>
                                      </m:mc>
                                    </m:mcs>
                                    <m:ctrlPr>
                                      <a:rPr lang="en-US" sz="2800" i="1">
                                        <a:latin typeface="Cambria Math" panose="02040503050406030204" pitchFamily="18" charset="0"/>
                                        <a:cs typeface="Segoe UI" panose="020B0502040204020203" pitchFamily="34" charset="0"/>
                                      </a:rPr>
                                    </m:ctrlPr>
                                  </m:mPr>
                                  <m:mr>
                                    <m:e>
                                      <m:m>
                                        <m:mPr>
                                          <m:mcs>
                                            <m:mc>
                                              <m:mcPr>
                                                <m:count m:val="1"/>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2</m:t>
                                                    </m:r>
                                                  </m:sub>
                                                </m:sSub>
                                              </m:den>
                                            </m:f>
                                          </m:e>
                                        </m:m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e>
                                      <m:m>
                                        <m:mPr>
                                          <m:mcs>
                                            <m:mc>
                                              <m:mcPr>
                                                <m:count m:val="1"/>
                                                <m:mcJc m:val="center"/>
                                              </m:mcPr>
                                            </m:mc>
                                          </m:mcs>
                                          <m:ctrlPr>
                                            <a:rPr lang="en-US" sz="2800" i="1">
                                              <a:latin typeface="Cambria Math" panose="02040503050406030204" pitchFamily="18" charset="0"/>
                                              <a:cs typeface="Segoe UI" panose="020B0502040204020203" pitchFamily="34" charset="0"/>
                                            </a:rPr>
                                          </m:ctrlPr>
                                        </m:mPr>
                                        <m:mr>
                                          <m:e>
                                            <m:r>
                                              <m:rPr>
                                                <m:brk m:alnAt="7"/>
                                              </m:rPr>
                                              <a:rPr lang="en-US" sz="2800" i="1">
                                                <a:latin typeface="Cambria Math" panose="02040503050406030204" pitchFamily="18" charset="0"/>
                                                <a:ea typeface="Cambria Math" panose="02040503050406030204" pitchFamily="18" charset="0"/>
                                                <a:cs typeface="Segoe UI" panose="020B0502040204020203" pitchFamily="34" charset="0"/>
                                              </a:rPr>
                                              <m:t>⋯</m:t>
                                            </m:r>
                                          </m:e>
                                        </m:m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mr>
                                </m:m>
                              </m:e>
                              <m:e>
                                <m:m>
                                  <m:mPr>
                                    <m:mcs>
                                      <m:mc>
                                        <m:mcPr>
                                          <m:count m:val="1"/>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2</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𝑁</m:t>
                                              </m:r>
                                            </m:sub>
                                          </m:sSub>
                                        </m:den>
                                      </m:f>
                                    </m:e>
                                  </m:mr>
                                  <m:mr>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m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1</m:t>
                                        </m:r>
                                      </m:sub>
                                    </m:sSub>
                                  </m:den>
                                </m:f>
                              </m:e>
                              <m:e>
                                <m:m>
                                  <m:mPr>
                                    <m:mcs>
                                      <m:mc>
                                        <m:mcPr>
                                          <m:count m:val="2"/>
                                          <m:mcJc m:val="center"/>
                                        </m:mcPr>
                                      </m:mc>
                                    </m:mcs>
                                    <m:ctrlPr>
                                      <a:rPr lang="en-US" sz="2800" i="1">
                                        <a:latin typeface="Cambria Math" panose="02040503050406030204" pitchFamily="18" charset="0"/>
                                        <a:cs typeface="Segoe UI" panose="020B0502040204020203" pitchFamily="34" charset="0"/>
                                      </a:rPr>
                                    </m:ctrlPr>
                                  </m:mPr>
                                  <m:mr>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2</m:t>
                                              </m:r>
                                            </m:sub>
                                          </m:sSub>
                                        </m:den>
                                      </m:f>
                                    </m:e>
                                    <m:e>
                                      <m:r>
                                        <a:rPr lang="en-US" sz="2800" i="1">
                                          <a:latin typeface="Cambria Math" panose="02040503050406030204" pitchFamily="18" charset="0"/>
                                          <a:ea typeface="Cambria Math" panose="02040503050406030204" pitchFamily="18" charset="0"/>
                                          <a:cs typeface="Segoe UI" panose="020B0502040204020203" pitchFamily="34" charset="0"/>
                                        </a:rPr>
                                        <m:t>⋯</m:t>
                                      </m:r>
                                    </m:e>
                                  </m:mr>
                                </m:m>
                              </m:e>
                              <m:e>
                                <m:f>
                                  <m:fPr>
                                    <m:ctrlPr>
                                      <a:rPr lang="en-US" sz="2800" i="1">
                                        <a:latin typeface="Cambria Math" panose="02040503050406030204" pitchFamily="18" charset="0"/>
                                        <a:cs typeface="Segoe UI" panose="020B0502040204020203" pitchFamily="34" charset="0"/>
                                      </a:rPr>
                                    </m:ctrlPr>
                                  </m:fPr>
                                  <m:num>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𝑧</m:t>
                                        </m:r>
                                      </m:e>
                                      <m:sub>
                                        <m:r>
                                          <a:rPr lang="en-US" sz="2800" i="1">
                                            <a:latin typeface="Cambria Math" panose="02040503050406030204" pitchFamily="18" charset="0"/>
                                            <a:cs typeface="Segoe UI" panose="020B0502040204020203" pitchFamily="34" charset="0"/>
                                          </a:rPr>
                                          <m:t>𝑀</m:t>
                                        </m:r>
                                      </m:sub>
                                    </m:sSub>
                                  </m:num>
                                  <m:den>
                                    <m:r>
                                      <a:rPr lang="en-US" sz="2800" i="1">
                                        <a:latin typeface="Cambria Math" panose="02040503050406030204" pitchFamily="18" charset="0"/>
                                        <a:cs typeface="Segoe UI" panose="020B0502040204020203" pitchFamily="34" charset="0"/>
                                      </a:rPr>
                                      <m:t>𝜕</m:t>
                                    </m:r>
                                    <m:sSub>
                                      <m:sSubPr>
                                        <m:ctrlPr>
                                          <a:rPr lang="en-US" sz="2800" i="1">
                                            <a:latin typeface="Cambria Math" panose="02040503050406030204" pitchFamily="18" charset="0"/>
                                            <a:cs typeface="Segoe UI" panose="020B0502040204020203" pitchFamily="34" charset="0"/>
                                          </a:rPr>
                                        </m:ctrlPr>
                                      </m:sSubPr>
                                      <m:e>
                                        <m:r>
                                          <a:rPr lang="en-US" sz="2800" i="1">
                                            <a:latin typeface="Cambria Math" panose="02040503050406030204" pitchFamily="18" charset="0"/>
                                            <a:cs typeface="Segoe UI" panose="020B0502040204020203" pitchFamily="34" charset="0"/>
                                          </a:rPr>
                                          <m:t>𝑦</m:t>
                                        </m:r>
                                      </m:e>
                                      <m:sub>
                                        <m:r>
                                          <a:rPr lang="en-US" sz="2800" i="1">
                                            <a:latin typeface="Cambria Math" panose="02040503050406030204" pitchFamily="18" charset="0"/>
                                            <a:cs typeface="Segoe UI" panose="020B0502040204020203" pitchFamily="34" charset="0"/>
                                          </a:rPr>
                                          <m:t>𝑁</m:t>
                                        </m:r>
                                      </m:sub>
                                    </m:sSub>
                                  </m:den>
                                </m:f>
                              </m:e>
                            </m:mr>
                          </m:m>
                        </m:e>
                      </m:d>
                    </m:oMath>
                  </m:oMathPara>
                </a14:m>
                <a:endParaRPr lang="en-US" sz="2800" dirty="0">
                  <a:latin typeface="Segoe UI" panose="020B0502040204020203" pitchFamily="34" charset="0"/>
                  <a:cs typeface="Segoe UI" panose="020B0502040204020203" pitchFamily="34" charset="0"/>
                </a:endParaRPr>
              </a:p>
              <a:p>
                <a:pPr marL="0" indent="0">
                  <a:buNone/>
                </a:pPr>
                <a:endParaRPr lang="en-US" sz="2800"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A0BBD29B-609A-4B70-910B-C0EF8A612175}"/>
                  </a:ext>
                </a:extLst>
              </p:cNvPr>
              <p:cNvSpPr>
                <a:spLocks noGrp="1" noRot="1" noChangeAspect="1" noMove="1" noResize="1" noEditPoints="1" noAdjustHandles="1" noChangeArrowheads="1" noChangeShapeType="1" noTextEdit="1"/>
              </p:cNvSpPr>
              <p:nvPr>
                <p:ph sz="quarter" idx="10"/>
              </p:nvPr>
            </p:nvSpPr>
            <p:spPr>
              <a:xfrm>
                <a:off x="223665" y="913035"/>
                <a:ext cx="11525250" cy="5546379"/>
              </a:xfrm>
              <a:blipFill>
                <a:blip r:embed="rId3"/>
                <a:stretch>
                  <a:fillRect l="-1111" t="-1209"/>
                </a:stretch>
              </a:blipFill>
            </p:spPr>
            <p:txBody>
              <a:bodyPr/>
              <a:lstStyle/>
              <a:p>
                <a:r>
                  <a:rPr lang="en-US">
                    <a:noFill/>
                  </a:rPr>
                  <a:t> </a:t>
                </a:r>
              </a:p>
            </p:txBody>
          </p:sp>
        </mc:Fallback>
      </mc:AlternateContent>
    </p:spTree>
    <p:extLst>
      <p:ext uri="{BB962C8B-B14F-4D97-AF65-F5344CB8AC3E}">
        <p14:creationId xmlns:p14="http://schemas.microsoft.com/office/powerpoint/2010/main" val="2342911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4C0-D26C-48A0-B069-C60C2F124F13}"/>
              </a:ext>
            </a:extLst>
          </p:cNvPr>
          <p:cNvSpPr>
            <a:spLocks noGrp="1"/>
          </p:cNvSpPr>
          <p:nvPr>
            <p:ph type="title"/>
          </p:nvPr>
        </p:nvSpPr>
        <p:spPr/>
        <p:txBody>
          <a:bodyPr>
            <a:normAutofit/>
          </a:bodyPr>
          <a:lstStyle/>
          <a:p>
            <a:r>
              <a:rPr lang="en-US" sz="4000" dirty="0">
                <a:latin typeface="Segoe UI" panose="020B0502040204020203" pitchFamily="34" charset="0"/>
                <a:cs typeface="Segoe UI" panose="020B0502040204020203" pitchFamily="34" charset="0"/>
              </a:rPr>
              <a:t>The Chain Rule of Calculus </a:t>
            </a:r>
          </a:p>
        </p:txBody>
      </p:sp>
      <p:sp>
        <p:nvSpPr>
          <p:cNvPr id="3" name="Content Placeholder 2">
            <a:extLst>
              <a:ext uri="{FF2B5EF4-FFF2-40B4-BE49-F238E27FC236}">
                <a16:creationId xmlns:a16="http://schemas.microsoft.com/office/drawing/2014/main" id="{A0BBD29B-609A-4B70-910B-C0EF8A612175}"/>
              </a:ext>
            </a:extLst>
          </p:cNvPr>
          <p:cNvSpPr>
            <a:spLocks noGrp="1"/>
          </p:cNvSpPr>
          <p:nvPr>
            <p:ph sz="quarter" idx="10"/>
          </p:nvPr>
        </p:nvSpPr>
        <p:spPr>
          <a:xfrm>
            <a:off x="176772" y="1182882"/>
            <a:ext cx="11525250" cy="1929595"/>
          </a:xfrm>
        </p:spPr>
        <p:txBody>
          <a:bodyPr/>
          <a:lstStyle/>
          <a:p>
            <a:pPr marL="0" indent="0">
              <a:buNone/>
            </a:pPr>
            <a:r>
              <a:rPr lang="en-US" sz="2800" dirty="0">
                <a:latin typeface="Segoe UI" panose="020B0502040204020203" pitchFamily="34" charset="0"/>
                <a:cs typeface="Segoe UI" panose="020B0502040204020203" pitchFamily="34" charset="0"/>
              </a:rPr>
              <a:t>In matrix notation the vector valued gradient then becomes:</a:t>
            </a:r>
          </a:p>
        </p:txBody>
      </p:sp>
      <p:pic>
        <p:nvPicPr>
          <p:cNvPr id="4" name="Picture 3">
            <a:extLst>
              <a:ext uri="{FF2B5EF4-FFF2-40B4-BE49-F238E27FC236}">
                <a16:creationId xmlns:a16="http://schemas.microsoft.com/office/drawing/2014/main" id="{C4F7FBC3-37DA-4DA4-A116-AB6DFB4F9776}"/>
              </a:ext>
            </a:extLst>
          </p:cNvPr>
          <p:cNvPicPr>
            <a:picLocks noChangeAspect="1"/>
          </p:cNvPicPr>
          <p:nvPr/>
        </p:nvPicPr>
        <p:blipFill>
          <a:blip r:embed="rId2"/>
          <a:stretch>
            <a:fillRect/>
          </a:stretch>
        </p:blipFill>
        <p:spPr>
          <a:xfrm>
            <a:off x="4334197" y="2035958"/>
            <a:ext cx="3210399" cy="1030035"/>
          </a:xfrm>
          <a:prstGeom prst="rect">
            <a:avLst/>
          </a:prstGeom>
        </p:spPr>
      </p:pic>
      <p:sp>
        <p:nvSpPr>
          <p:cNvPr id="5" name="Content Placeholder 2">
            <a:extLst>
              <a:ext uri="{FF2B5EF4-FFF2-40B4-BE49-F238E27FC236}">
                <a16:creationId xmlns:a16="http://schemas.microsoft.com/office/drawing/2014/main" id="{3CFC9CCB-79E3-4D42-95DA-BCB36C476C24}"/>
              </a:ext>
            </a:extLst>
          </p:cNvPr>
          <p:cNvSpPr txBox="1">
            <a:spLocks/>
          </p:cNvSpPr>
          <p:nvPr/>
        </p:nvSpPr>
        <p:spPr>
          <a:xfrm>
            <a:off x="453103" y="3323142"/>
            <a:ext cx="11680281" cy="642158"/>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Where,         = is the </a:t>
            </a:r>
            <a:r>
              <a:rPr lang="en-US" sz="2800" dirty="0" err="1">
                <a:latin typeface="Segoe UI" panose="020B0502040204020203" pitchFamily="34" charset="0"/>
                <a:cs typeface="Segoe UI" panose="020B0502040204020203" pitchFamily="34" charset="0"/>
              </a:rPr>
              <a:t>nxm</a:t>
            </a:r>
            <a:r>
              <a:rPr lang="en-US" sz="2800" dirty="0">
                <a:latin typeface="Segoe UI" panose="020B0502040204020203" pitchFamily="34" charset="0"/>
                <a:cs typeface="Segoe UI" panose="020B0502040204020203" pitchFamily="34" charset="0"/>
              </a:rPr>
              <a:t> </a:t>
            </a:r>
            <a:r>
              <a:rPr lang="en-US" sz="2800" b="1" dirty="0">
                <a:latin typeface="Segoe UI" panose="020B0502040204020203" pitchFamily="34" charset="0"/>
                <a:cs typeface="Segoe UI" panose="020B0502040204020203" pitchFamily="34" charset="0"/>
              </a:rPr>
              <a:t>Jacobian matrix</a:t>
            </a:r>
            <a:r>
              <a:rPr lang="en-US" sz="2800" dirty="0">
                <a:latin typeface="Segoe UI" panose="020B0502040204020203" pitchFamily="34" charset="0"/>
                <a:cs typeface="Segoe UI" panose="020B0502040204020203" pitchFamily="34" charset="0"/>
              </a:rPr>
              <a:t> of partial derivatives</a:t>
            </a:r>
          </a:p>
        </p:txBody>
      </p:sp>
      <p:pic>
        <p:nvPicPr>
          <p:cNvPr id="6" name="Picture 5">
            <a:extLst>
              <a:ext uri="{FF2B5EF4-FFF2-40B4-BE49-F238E27FC236}">
                <a16:creationId xmlns:a16="http://schemas.microsoft.com/office/drawing/2014/main" id="{D87E58A9-90A7-4590-925E-7F0FA20EE7E3}"/>
              </a:ext>
            </a:extLst>
          </p:cNvPr>
          <p:cNvPicPr>
            <a:picLocks noChangeAspect="1"/>
          </p:cNvPicPr>
          <p:nvPr/>
        </p:nvPicPr>
        <p:blipFill>
          <a:blip r:embed="rId3"/>
          <a:stretch>
            <a:fillRect/>
          </a:stretch>
        </p:blipFill>
        <p:spPr>
          <a:xfrm>
            <a:off x="1857286" y="3170803"/>
            <a:ext cx="538368" cy="1052631"/>
          </a:xfrm>
          <a:prstGeom prst="rect">
            <a:avLst/>
          </a:prstGeom>
        </p:spPr>
      </p:pic>
      <p:pic>
        <p:nvPicPr>
          <p:cNvPr id="7" name="Picture 6">
            <a:extLst>
              <a:ext uri="{FF2B5EF4-FFF2-40B4-BE49-F238E27FC236}">
                <a16:creationId xmlns:a16="http://schemas.microsoft.com/office/drawing/2014/main" id="{A6405672-38FE-4522-BA5F-915DAD30AED0}"/>
              </a:ext>
            </a:extLst>
          </p:cNvPr>
          <p:cNvPicPr>
            <a:picLocks noChangeAspect="1"/>
          </p:cNvPicPr>
          <p:nvPr/>
        </p:nvPicPr>
        <p:blipFill>
          <a:blip r:embed="rId4"/>
          <a:stretch>
            <a:fillRect/>
          </a:stretch>
        </p:blipFill>
        <p:spPr>
          <a:xfrm>
            <a:off x="1968957" y="4329305"/>
            <a:ext cx="853394" cy="642158"/>
          </a:xfrm>
          <a:prstGeom prst="rect">
            <a:avLst/>
          </a:prstGeom>
        </p:spPr>
      </p:pic>
      <p:sp>
        <p:nvSpPr>
          <p:cNvPr id="8" name="Content Placeholder 2">
            <a:extLst>
              <a:ext uri="{FF2B5EF4-FFF2-40B4-BE49-F238E27FC236}">
                <a16:creationId xmlns:a16="http://schemas.microsoft.com/office/drawing/2014/main" id="{E6467AEC-8167-4A78-B876-5A090B38EFC6}"/>
              </a:ext>
            </a:extLst>
          </p:cNvPr>
          <p:cNvSpPr txBox="1">
            <a:spLocks/>
          </p:cNvSpPr>
          <p:nvPr/>
        </p:nvSpPr>
        <p:spPr>
          <a:xfrm>
            <a:off x="2776381" y="4329305"/>
            <a:ext cx="9357003" cy="642158"/>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latin typeface="Segoe UI" panose="020B0502040204020203" pitchFamily="34" charset="0"/>
                <a:cs typeface="Segoe UI" panose="020B0502040204020203" pitchFamily="34" charset="0"/>
              </a:rPr>
              <a:t>= </a:t>
            </a:r>
            <a:r>
              <a:rPr lang="en-US" sz="2800" dirty="0">
                <a:latin typeface="Segoe UI" panose="020B0502040204020203" pitchFamily="34" charset="0"/>
                <a:cs typeface="Segoe UI" panose="020B0502040204020203" pitchFamily="34" charset="0"/>
              </a:rPr>
              <a:t>the gradient of z with respect to y</a:t>
            </a:r>
          </a:p>
        </p:txBody>
      </p:sp>
    </p:spTree>
    <p:extLst>
      <p:ext uri="{BB962C8B-B14F-4D97-AF65-F5344CB8AC3E}">
        <p14:creationId xmlns:p14="http://schemas.microsoft.com/office/powerpoint/2010/main" val="352318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1885-3B64-44C2-B5DD-55545C269FF0}"/>
              </a:ext>
            </a:extLst>
          </p:cNvPr>
          <p:cNvSpPr>
            <a:spLocks noGrp="1"/>
          </p:cNvSpPr>
          <p:nvPr>
            <p:ph type="title"/>
          </p:nvPr>
        </p:nvSpPr>
        <p:spPr>
          <a:xfrm>
            <a:off x="379514" y="182216"/>
            <a:ext cx="11524432" cy="817910"/>
          </a:xfrm>
        </p:spPr>
        <p:txBody>
          <a:bodyPr>
            <a:normAutofit/>
          </a:bodyPr>
          <a:lstStyle/>
          <a:p>
            <a:r>
              <a:rPr lang="en-US" sz="4000" dirty="0">
                <a:latin typeface="Segoe UI" panose="020B0502040204020203" pitchFamily="34" charset="0"/>
                <a:cs typeface="Segoe UI" panose="020B0502040204020203" pitchFamily="34" charset="0"/>
              </a:rPr>
              <a:t>Example: Computing a Gradient</a:t>
            </a:r>
          </a:p>
        </p:txBody>
      </p:sp>
      <p:sp>
        <p:nvSpPr>
          <p:cNvPr id="3" name="Oval 2">
            <a:extLst>
              <a:ext uri="{FF2B5EF4-FFF2-40B4-BE49-F238E27FC236}">
                <a16:creationId xmlns:a16="http://schemas.microsoft.com/office/drawing/2014/main" id="{D1AAEA8E-E0E7-4C55-A1CF-AF1B96B7D513}"/>
              </a:ext>
            </a:extLst>
          </p:cNvPr>
          <p:cNvSpPr/>
          <p:nvPr/>
        </p:nvSpPr>
        <p:spPr>
          <a:xfrm>
            <a:off x="6803716" y="2357344"/>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14F9E361-E165-40D1-B714-E67D9900E562}"/>
              </a:ext>
            </a:extLst>
          </p:cNvPr>
          <p:cNvCxnSpPr>
            <a:cxnSpLocks/>
            <a:stCxn id="3" idx="6"/>
          </p:cNvCxnSpPr>
          <p:nvPr/>
        </p:nvCxnSpPr>
        <p:spPr>
          <a:xfrm>
            <a:off x="8905158" y="3328334"/>
            <a:ext cx="780997" cy="1588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FEA8519-63CC-43E3-9BB9-02E6936FC3AD}"/>
              </a:ext>
            </a:extLst>
          </p:cNvPr>
          <p:cNvSpPr txBox="1"/>
          <p:nvPr/>
        </p:nvSpPr>
        <p:spPr>
          <a:xfrm>
            <a:off x="314325" y="1690903"/>
            <a:ext cx="643095" cy="584775"/>
          </a:xfrm>
          <a:prstGeom prst="rect">
            <a:avLst/>
          </a:prstGeom>
          <a:noFill/>
        </p:spPr>
        <p:txBody>
          <a:bodyPr wrap="square" rtlCol="0">
            <a:spAutoFit/>
          </a:bodyPr>
          <a:lstStyle/>
          <a:p>
            <a:r>
              <a:rPr lang="en-US" sz="3200" b="1" dirty="0"/>
              <a:t>X</a:t>
            </a:r>
            <a:r>
              <a:rPr lang="en-US" sz="3200" b="1" baseline="-25000" dirty="0"/>
              <a:t>1</a:t>
            </a:r>
          </a:p>
        </p:txBody>
      </p:sp>
      <p:sp>
        <p:nvSpPr>
          <p:cNvPr id="6" name="TextBox 5">
            <a:extLst>
              <a:ext uri="{FF2B5EF4-FFF2-40B4-BE49-F238E27FC236}">
                <a16:creationId xmlns:a16="http://schemas.microsoft.com/office/drawing/2014/main" id="{0E74CFA3-5532-4C90-87B2-140C52C4227B}"/>
              </a:ext>
            </a:extLst>
          </p:cNvPr>
          <p:cNvSpPr txBox="1"/>
          <p:nvPr/>
        </p:nvSpPr>
        <p:spPr>
          <a:xfrm>
            <a:off x="6892260" y="3051827"/>
            <a:ext cx="1957555"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3</a:t>
            </a:r>
            <a:r>
              <a:rPr lang="en-US" sz="3200" b="1" dirty="0">
                <a:latin typeface="Symbol" panose="05050102010706020507" pitchFamily="18" charset="2"/>
              </a:rPr>
              <a:t> = S</a:t>
            </a:r>
            <a:r>
              <a:rPr lang="en-US" sz="3200" b="1" dirty="0"/>
              <a:t> </a:t>
            </a:r>
            <a:endParaRPr lang="en-US" sz="2800" b="1" dirty="0">
              <a:latin typeface="Symbol" panose="05050102010706020507" pitchFamily="18" charset="2"/>
            </a:endParaRPr>
          </a:p>
        </p:txBody>
      </p:sp>
      <p:cxnSp>
        <p:nvCxnSpPr>
          <p:cNvPr id="7" name="Straight Arrow Connector 6">
            <a:extLst>
              <a:ext uri="{FF2B5EF4-FFF2-40B4-BE49-F238E27FC236}">
                <a16:creationId xmlns:a16="http://schemas.microsoft.com/office/drawing/2014/main" id="{523064D0-6830-4BCA-B62D-5D038E560C6C}"/>
              </a:ext>
            </a:extLst>
          </p:cNvPr>
          <p:cNvCxnSpPr>
            <a:cxnSpLocks/>
            <a:stCxn id="5" idx="3"/>
          </p:cNvCxnSpPr>
          <p:nvPr/>
        </p:nvCxnSpPr>
        <p:spPr>
          <a:xfrm flipV="1">
            <a:off x="957420" y="1630368"/>
            <a:ext cx="2500135" cy="35292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A65915-424C-4B17-B027-AE2748073352}"/>
              </a:ext>
            </a:extLst>
          </p:cNvPr>
          <p:cNvSpPr txBox="1"/>
          <p:nvPr/>
        </p:nvSpPr>
        <p:spPr>
          <a:xfrm>
            <a:off x="370316" y="3598216"/>
            <a:ext cx="643095" cy="584775"/>
          </a:xfrm>
          <a:prstGeom prst="rect">
            <a:avLst/>
          </a:prstGeom>
          <a:noFill/>
        </p:spPr>
        <p:txBody>
          <a:bodyPr wrap="square" rtlCol="0">
            <a:spAutoFit/>
          </a:bodyPr>
          <a:lstStyle/>
          <a:p>
            <a:r>
              <a:rPr lang="en-US" sz="3200" b="1" dirty="0"/>
              <a:t>X</a:t>
            </a:r>
            <a:r>
              <a:rPr lang="en-US" sz="3200" b="1" baseline="-25000" dirty="0"/>
              <a:t>2</a:t>
            </a:r>
          </a:p>
        </p:txBody>
      </p:sp>
      <p:cxnSp>
        <p:nvCxnSpPr>
          <p:cNvPr id="9" name="Straight Arrow Connector 8">
            <a:extLst>
              <a:ext uri="{FF2B5EF4-FFF2-40B4-BE49-F238E27FC236}">
                <a16:creationId xmlns:a16="http://schemas.microsoft.com/office/drawing/2014/main" id="{D13B5D6C-2491-4096-B273-51EC38304D64}"/>
              </a:ext>
            </a:extLst>
          </p:cNvPr>
          <p:cNvCxnSpPr>
            <a:cxnSpLocks/>
          </p:cNvCxnSpPr>
          <p:nvPr/>
        </p:nvCxnSpPr>
        <p:spPr>
          <a:xfrm>
            <a:off x="984634" y="2193216"/>
            <a:ext cx="2670406" cy="182682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71DAEFA-CEBF-4620-AD87-874E9B09E176}"/>
              </a:ext>
            </a:extLst>
          </p:cNvPr>
          <p:cNvSpPr txBox="1"/>
          <p:nvPr/>
        </p:nvSpPr>
        <p:spPr>
          <a:xfrm>
            <a:off x="5881405" y="1710213"/>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1</a:t>
            </a:r>
          </a:p>
        </p:txBody>
      </p:sp>
      <p:sp>
        <p:nvSpPr>
          <p:cNvPr id="11" name="Oval 10">
            <a:extLst>
              <a:ext uri="{FF2B5EF4-FFF2-40B4-BE49-F238E27FC236}">
                <a16:creationId xmlns:a16="http://schemas.microsoft.com/office/drawing/2014/main" id="{87668850-8671-4D89-9ADE-12B7E62BCCC8}"/>
              </a:ext>
            </a:extLst>
          </p:cNvPr>
          <p:cNvSpPr/>
          <p:nvPr/>
        </p:nvSpPr>
        <p:spPr>
          <a:xfrm>
            <a:off x="3380062" y="1043824"/>
            <a:ext cx="2134679" cy="2008507"/>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474654-22DD-44F7-8115-656C75EFBA57}"/>
              </a:ext>
            </a:extLst>
          </p:cNvPr>
          <p:cNvSpPr txBox="1"/>
          <p:nvPr/>
        </p:nvSpPr>
        <p:spPr>
          <a:xfrm>
            <a:off x="3380063" y="1804331"/>
            <a:ext cx="2067656"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1</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 </a:t>
            </a:r>
          </a:p>
        </p:txBody>
      </p:sp>
      <p:sp>
        <p:nvSpPr>
          <p:cNvPr id="13" name="Oval 12">
            <a:extLst>
              <a:ext uri="{FF2B5EF4-FFF2-40B4-BE49-F238E27FC236}">
                <a16:creationId xmlns:a16="http://schemas.microsoft.com/office/drawing/2014/main" id="{FE38B29A-B777-42DB-BF49-6A3F695A3C4E}"/>
              </a:ext>
            </a:extLst>
          </p:cNvPr>
          <p:cNvSpPr/>
          <p:nvPr/>
        </p:nvSpPr>
        <p:spPr>
          <a:xfrm>
            <a:off x="3457555" y="3566348"/>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9C4F589-B936-439F-B26A-544DC5E65057}"/>
              </a:ext>
            </a:extLst>
          </p:cNvPr>
          <p:cNvSpPr txBox="1"/>
          <p:nvPr/>
        </p:nvSpPr>
        <p:spPr>
          <a:xfrm>
            <a:off x="3514725" y="4260831"/>
            <a:ext cx="1988929" cy="584775"/>
          </a:xfrm>
          <a:prstGeom prst="rect">
            <a:avLst/>
          </a:prstGeom>
          <a:noFill/>
        </p:spPr>
        <p:txBody>
          <a:bodyPr wrap="square" rtlCol="0">
            <a:spAutoFit/>
          </a:bodyPr>
          <a:lstStyle/>
          <a:p>
            <a:pPr algn="ctr"/>
            <a:r>
              <a:rPr lang="en-US" sz="3200" b="1" dirty="0"/>
              <a:t>S</a:t>
            </a:r>
            <a:r>
              <a:rPr lang="en-US" sz="3200" b="1" baseline="-25000" dirty="0">
                <a:latin typeface="Symbol" panose="05050102010706020507" pitchFamily="18" charset="2"/>
              </a:rPr>
              <a:t>2</a:t>
            </a:r>
            <a:r>
              <a:rPr lang="en-US" sz="3200" b="1" dirty="0">
                <a:latin typeface="Symbol" panose="05050102010706020507" pitchFamily="18" charset="2"/>
              </a:rPr>
              <a:t> = </a:t>
            </a:r>
            <a:r>
              <a:rPr lang="en-US" sz="3200" b="1" dirty="0" err="1">
                <a:latin typeface="Symbol" panose="05050102010706020507" pitchFamily="18" charset="2"/>
              </a:rPr>
              <a:t>s</a:t>
            </a:r>
            <a:r>
              <a:rPr lang="en-US" sz="3200" b="1" baseline="-25000" dirty="0" err="1"/>
              <a:t>h</a:t>
            </a:r>
            <a:r>
              <a:rPr lang="en-US" sz="3200" b="1" dirty="0">
                <a:latin typeface="Symbol" panose="05050102010706020507" pitchFamily="18" charset="2"/>
              </a:rPr>
              <a:t>(S</a:t>
            </a:r>
            <a:r>
              <a:rPr lang="en-US" sz="3200" b="1" dirty="0"/>
              <a:t> </a:t>
            </a:r>
            <a:r>
              <a:rPr lang="en-US" sz="3200" b="1" dirty="0">
                <a:latin typeface="Symbol" panose="05050102010706020507" pitchFamily="18" charset="2"/>
              </a:rPr>
              <a:t>)</a:t>
            </a:r>
          </a:p>
        </p:txBody>
      </p:sp>
      <p:cxnSp>
        <p:nvCxnSpPr>
          <p:cNvPr id="15" name="Straight Arrow Connector 14">
            <a:extLst>
              <a:ext uri="{FF2B5EF4-FFF2-40B4-BE49-F238E27FC236}">
                <a16:creationId xmlns:a16="http://schemas.microsoft.com/office/drawing/2014/main" id="{B6A31ED5-1A12-4386-96AC-4990BFAE79C3}"/>
              </a:ext>
            </a:extLst>
          </p:cNvPr>
          <p:cNvCxnSpPr>
            <a:cxnSpLocks/>
          </p:cNvCxnSpPr>
          <p:nvPr/>
        </p:nvCxnSpPr>
        <p:spPr>
          <a:xfrm>
            <a:off x="5447718" y="2286009"/>
            <a:ext cx="1512683" cy="62428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94BF3E5-9920-40EF-8ABC-F33625280E43}"/>
              </a:ext>
            </a:extLst>
          </p:cNvPr>
          <p:cNvCxnSpPr>
            <a:cxnSpLocks/>
          </p:cNvCxnSpPr>
          <p:nvPr/>
        </p:nvCxnSpPr>
        <p:spPr>
          <a:xfrm flipV="1">
            <a:off x="5592198" y="3822778"/>
            <a:ext cx="1368203" cy="69480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6874676-2C51-439E-8B43-7D12802FE95A}"/>
              </a:ext>
            </a:extLst>
          </p:cNvPr>
          <p:cNvSpPr txBox="1"/>
          <p:nvPr/>
        </p:nvSpPr>
        <p:spPr>
          <a:xfrm>
            <a:off x="5742903" y="3471149"/>
            <a:ext cx="922311" cy="584775"/>
          </a:xfrm>
          <a:prstGeom prst="rect">
            <a:avLst/>
          </a:prstGeom>
          <a:noFill/>
        </p:spPr>
        <p:txBody>
          <a:bodyPr wrap="square" rtlCol="0">
            <a:spAutoFit/>
          </a:bodyPr>
          <a:lstStyle/>
          <a:p>
            <a:r>
              <a:rPr lang="en-US" sz="3200" b="1" dirty="0"/>
              <a:t>w</a:t>
            </a:r>
            <a:r>
              <a:rPr lang="en-US" sz="3200" b="1" baseline="30000" dirty="0"/>
              <a:t>2</a:t>
            </a:r>
            <a:r>
              <a:rPr lang="en-US" sz="3200" b="1" baseline="-25000" dirty="0"/>
              <a:t>2</a:t>
            </a:r>
          </a:p>
        </p:txBody>
      </p:sp>
      <p:cxnSp>
        <p:nvCxnSpPr>
          <p:cNvPr id="18" name="Straight Arrow Connector 17">
            <a:extLst>
              <a:ext uri="{FF2B5EF4-FFF2-40B4-BE49-F238E27FC236}">
                <a16:creationId xmlns:a16="http://schemas.microsoft.com/office/drawing/2014/main" id="{C0AC225E-7B66-425E-83E2-D319B7A24CBA}"/>
              </a:ext>
            </a:extLst>
          </p:cNvPr>
          <p:cNvCxnSpPr>
            <a:cxnSpLocks/>
            <a:stCxn id="8" idx="3"/>
          </p:cNvCxnSpPr>
          <p:nvPr/>
        </p:nvCxnSpPr>
        <p:spPr>
          <a:xfrm flipV="1">
            <a:off x="1013411" y="2705489"/>
            <a:ext cx="2551648" cy="118511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FD9AB54-370F-45C7-AD72-303F9F96BCA4}"/>
              </a:ext>
            </a:extLst>
          </p:cNvPr>
          <p:cNvCxnSpPr>
            <a:cxnSpLocks/>
          </p:cNvCxnSpPr>
          <p:nvPr/>
        </p:nvCxnSpPr>
        <p:spPr>
          <a:xfrm>
            <a:off x="1094501" y="4133328"/>
            <a:ext cx="2470558" cy="89567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DAAF402-A705-4383-892A-CA3E9E762F52}"/>
              </a:ext>
            </a:extLst>
          </p:cNvPr>
          <p:cNvSpPr txBox="1"/>
          <p:nvPr/>
        </p:nvSpPr>
        <p:spPr>
          <a:xfrm>
            <a:off x="1582197" y="1094572"/>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11</a:t>
            </a:r>
          </a:p>
        </p:txBody>
      </p:sp>
      <p:sp>
        <p:nvSpPr>
          <p:cNvPr id="21" name="TextBox 20">
            <a:extLst>
              <a:ext uri="{FF2B5EF4-FFF2-40B4-BE49-F238E27FC236}">
                <a16:creationId xmlns:a16="http://schemas.microsoft.com/office/drawing/2014/main" id="{52DA6726-2072-42E3-BD6E-49922B6D2CFB}"/>
              </a:ext>
            </a:extLst>
          </p:cNvPr>
          <p:cNvSpPr txBox="1"/>
          <p:nvPr/>
        </p:nvSpPr>
        <p:spPr>
          <a:xfrm>
            <a:off x="1660366" y="2019614"/>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12</a:t>
            </a:r>
          </a:p>
        </p:txBody>
      </p:sp>
      <p:sp>
        <p:nvSpPr>
          <p:cNvPr id="22" name="TextBox 21">
            <a:extLst>
              <a:ext uri="{FF2B5EF4-FFF2-40B4-BE49-F238E27FC236}">
                <a16:creationId xmlns:a16="http://schemas.microsoft.com/office/drawing/2014/main" id="{59DAE396-4CE3-436B-A0A9-86A695CA314F}"/>
              </a:ext>
            </a:extLst>
          </p:cNvPr>
          <p:cNvSpPr txBox="1"/>
          <p:nvPr/>
        </p:nvSpPr>
        <p:spPr>
          <a:xfrm>
            <a:off x="1190383" y="2797950"/>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21</a:t>
            </a:r>
          </a:p>
        </p:txBody>
      </p:sp>
      <p:sp>
        <p:nvSpPr>
          <p:cNvPr id="23" name="TextBox 22">
            <a:extLst>
              <a:ext uri="{FF2B5EF4-FFF2-40B4-BE49-F238E27FC236}">
                <a16:creationId xmlns:a16="http://schemas.microsoft.com/office/drawing/2014/main" id="{42DFEFAC-6D98-4746-96B2-D4B5C1AC43A0}"/>
              </a:ext>
            </a:extLst>
          </p:cNvPr>
          <p:cNvSpPr txBox="1"/>
          <p:nvPr/>
        </p:nvSpPr>
        <p:spPr>
          <a:xfrm>
            <a:off x="1459584" y="3681323"/>
            <a:ext cx="922311" cy="584775"/>
          </a:xfrm>
          <a:prstGeom prst="rect">
            <a:avLst/>
          </a:prstGeom>
          <a:noFill/>
        </p:spPr>
        <p:txBody>
          <a:bodyPr wrap="square" rtlCol="0">
            <a:spAutoFit/>
          </a:bodyPr>
          <a:lstStyle/>
          <a:p>
            <a:r>
              <a:rPr lang="en-US" sz="3200" b="1" dirty="0"/>
              <a:t>w</a:t>
            </a:r>
            <a:r>
              <a:rPr lang="en-US" sz="3200" b="1" baseline="30000" dirty="0"/>
              <a:t>1</a:t>
            </a:r>
            <a:r>
              <a:rPr lang="en-US" sz="3200" b="1" baseline="-25000" dirty="0"/>
              <a:t>22</a:t>
            </a:r>
          </a:p>
        </p:txBody>
      </p:sp>
      <p:sp>
        <p:nvSpPr>
          <p:cNvPr id="24" name="Right Brace 23">
            <a:extLst>
              <a:ext uri="{FF2B5EF4-FFF2-40B4-BE49-F238E27FC236}">
                <a16:creationId xmlns:a16="http://schemas.microsoft.com/office/drawing/2014/main" id="{96D6117D-4019-4427-A18F-4260A079657B}"/>
              </a:ext>
            </a:extLst>
          </p:cNvPr>
          <p:cNvSpPr/>
          <p:nvPr/>
        </p:nvSpPr>
        <p:spPr>
          <a:xfrm rot="5400000">
            <a:off x="4345926" y="4715267"/>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DB815669-E028-4585-88F5-7E296B2C6175}"/>
              </a:ext>
            </a:extLst>
          </p:cNvPr>
          <p:cNvSpPr txBox="1"/>
          <p:nvPr/>
        </p:nvSpPr>
        <p:spPr>
          <a:xfrm>
            <a:off x="3651149" y="6206407"/>
            <a:ext cx="1860064" cy="420628"/>
          </a:xfrm>
          <a:prstGeom prst="rect">
            <a:avLst/>
          </a:prstGeom>
          <a:noFill/>
        </p:spPr>
        <p:txBody>
          <a:bodyPr wrap="square" rtlCol="0">
            <a:spAutoFit/>
          </a:bodyPr>
          <a:lstStyle/>
          <a:p>
            <a:pPr algn="ctr"/>
            <a:r>
              <a:rPr lang="en-US" sz="3200" b="1" baseline="-25000" dirty="0"/>
              <a:t>Hidden Layer</a:t>
            </a:r>
          </a:p>
        </p:txBody>
      </p:sp>
      <p:sp>
        <p:nvSpPr>
          <p:cNvPr id="26" name="Right Brace 25">
            <a:extLst>
              <a:ext uri="{FF2B5EF4-FFF2-40B4-BE49-F238E27FC236}">
                <a16:creationId xmlns:a16="http://schemas.microsoft.com/office/drawing/2014/main" id="{9B7E1084-AB93-4472-8E10-50647C11B1EC}"/>
              </a:ext>
            </a:extLst>
          </p:cNvPr>
          <p:cNvSpPr/>
          <p:nvPr/>
        </p:nvSpPr>
        <p:spPr>
          <a:xfrm rot="5400000">
            <a:off x="7588194" y="4714804"/>
            <a:ext cx="426408" cy="2456822"/>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327FD46C-7E7F-4E54-9633-5A9ECDDA00BD}"/>
              </a:ext>
            </a:extLst>
          </p:cNvPr>
          <p:cNvSpPr txBox="1"/>
          <p:nvPr/>
        </p:nvSpPr>
        <p:spPr>
          <a:xfrm>
            <a:off x="6893417" y="6205944"/>
            <a:ext cx="1860064" cy="420628"/>
          </a:xfrm>
          <a:prstGeom prst="rect">
            <a:avLst/>
          </a:prstGeom>
          <a:noFill/>
        </p:spPr>
        <p:txBody>
          <a:bodyPr wrap="square" rtlCol="0">
            <a:spAutoFit/>
          </a:bodyPr>
          <a:lstStyle/>
          <a:p>
            <a:pPr algn="ctr"/>
            <a:r>
              <a:rPr lang="en-US" sz="3200" b="1" baseline="-25000" dirty="0"/>
              <a:t>Output Layer</a:t>
            </a:r>
          </a:p>
        </p:txBody>
      </p:sp>
      <p:sp>
        <p:nvSpPr>
          <p:cNvPr id="28" name="Right Brace 27">
            <a:extLst>
              <a:ext uri="{FF2B5EF4-FFF2-40B4-BE49-F238E27FC236}">
                <a16:creationId xmlns:a16="http://schemas.microsoft.com/office/drawing/2014/main" id="{2661F912-56BE-499A-832C-19D7CDAF76C9}"/>
              </a:ext>
            </a:extLst>
          </p:cNvPr>
          <p:cNvSpPr/>
          <p:nvPr/>
        </p:nvSpPr>
        <p:spPr>
          <a:xfrm rot="5400000">
            <a:off x="861120" y="5417261"/>
            <a:ext cx="426408" cy="1015746"/>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9C8141-DFF0-4D5F-B1C7-286D1EE3A78C}"/>
              </a:ext>
            </a:extLst>
          </p:cNvPr>
          <p:cNvSpPr txBox="1"/>
          <p:nvPr/>
        </p:nvSpPr>
        <p:spPr>
          <a:xfrm>
            <a:off x="238707" y="6179150"/>
            <a:ext cx="1671234" cy="420628"/>
          </a:xfrm>
          <a:prstGeom prst="rect">
            <a:avLst/>
          </a:prstGeom>
          <a:noFill/>
        </p:spPr>
        <p:txBody>
          <a:bodyPr wrap="square" rtlCol="0">
            <a:spAutoFit/>
          </a:bodyPr>
          <a:lstStyle/>
          <a:p>
            <a:pPr algn="ctr"/>
            <a:r>
              <a:rPr lang="en-US" sz="3200" b="1" baseline="-25000" dirty="0"/>
              <a:t>Input Layer</a:t>
            </a:r>
          </a:p>
        </p:txBody>
      </p:sp>
      <p:sp>
        <p:nvSpPr>
          <p:cNvPr id="30" name="Oval 29">
            <a:extLst>
              <a:ext uri="{FF2B5EF4-FFF2-40B4-BE49-F238E27FC236}">
                <a16:creationId xmlns:a16="http://schemas.microsoft.com/office/drawing/2014/main" id="{2ECACC13-B2BB-449A-91D9-0AC30B3CB5CA}"/>
              </a:ext>
            </a:extLst>
          </p:cNvPr>
          <p:cNvSpPr/>
          <p:nvPr/>
        </p:nvSpPr>
        <p:spPr>
          <a:xfrm>
            <a:off x="9665146" y="2357343"/>
            <a:ext cx="2101442" cy="1941979"/>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E110A2A-C91C-494F-96E7-BD4C529723F9}"/>
              </a:ext>
            </a:extLst>
          </p:cNvPr>
          <p:cNvSpPr txBox="1"/>
          <p:nvPr/>
        </p:nvSpPr>
        <p:spPr>
          <a:xfrm>
            <a:off x="9652348" y="3005658"/>
            <a:ext cx="1957555" cy="584775"/>
          </a:xfrm>
          <a:prstGeom prst="rect">
            <a:avLst/>
          </a:prstGeom>
          <a:noFill/>
        </p:spPr>
        <p:txBody>
          <a:bodyPr wrap="square" rtlCol="0">
            <a:spAutoFit/>
          </a:bodyPr>
          <a:lstStyle/>
          <a:p>
            <a:pPr algn="ctr"/>
            <a:r>
              <a:rPr lang="en-US" sz="3200" b="1" dirty="0"/>
              <a:t>J(W)</a:t>
            </a:r>
            <a:endParaRPr lang="en-US" sz="2800" b="1" dirty="0">
              <a:latin typeface="Symbol" panose="05050102010706020507" pitchFamily="18" charset="2"/>
            </a:endParaRPr>
          </a:p>
        </p:txBody>
      </p:sp>
      <p:sp>
        <p:nvSpPr>
          <p:cNvPr id="32" name="TextBox 31">
            <a:extLst>
              <a:ext uri="{FF2B5EF4-FFF2-40B4-BE49-F238E27FC236}">
                <a16:creationId xmlns:a16="http://schemas.microsoft.com/office/drawing/2014/main" id="{47B2BCD7-3BE7-4C44-8339-A559589BBC9F}"/>
              </a:ext>
            </a:extLst>
          </p:cNvPr>
          <p:cNvSpPr txBox="1"/>
          <p:nvPr/>
        </p:nvSpPr>
        <p:spPr>
          <a:xfrm>
            <a:off x="9511520" y="4870773"/>
            <a:ext cx="454339" cy="584775"/>
          </a:xfrm>
          <a:prstGeom prst="rect">
            <a:avLst/>
          </a:prstGeom>
          <a:noFill/>
        </p:spPr>
        <p:txBody>
          <a:bodyPr wrap="square" rtlCol="0">
            <a:spAutoFit/>
          </a:bodyPr>
          <a:lstStyle/>
          <a:p>
            <a:r>
              <a:rPr lang="en-US" sz="3200" b="1" dirty="0"/>
              <a:t>Y</a:t>
            </a:r>
          </a:p>
        </p:txBody>
      </p:sp>
      <p:cxnSp>
        <p:nvCxnSpPr>
          <p:cNvPr id="33" name="Straight Arrow Connector 32">
            <a:extLst>
              <a:ext uri="{FF2B5EF4-FFF2-40B4-BE49-F238E27FC236}">
                <a16:creationId xmlns:a16="http://schemas.microsoft.com/office/drawing/2014/main" id="{5CB66A7D-414A-46D8-BD98-E8547FA61BF9}"/>
              </a:ext>
            </a:extLst>
          </p:cNvPr>
          <p:cNvCxnSpPr>
            <a:cxnSpLocks/>
            <a:stCxn id="32" idx="0"/>
          </p:cNvCxnSpPr>
          <p:nvPr/>
        </p:nvCxnSpPr>
        <p:spPr>
          <a:xfrm flipV="1">
            <a:off x="9738690" y="4191417"/>
            <a:ext cx="454339" cy="679356"/>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4" name="Right Brace 33">
            <a:extLst>
              <a:ext uri="{FF2B5EF4-FFF2-40B4-BE49-F238E27FC236}">
                <a16:creationId xmlns:a16="http://schemas.microsoft.com/office/drawing/2014/main" id="{80ADD6CB-E516-457A-A87A-B3D394BA85AD}"/>
              </a:ext>
            </a:extLst>
          </p:cNvPr>
          <p:cNvSpPr/>
          <p:nvPr/>
        </p:nvSpPr>
        <p:spPr>
          <a:xfrm rot="5400000">
            <a:off x="10525075" y="4870081"/>
            <a:ext cx="381579" cy="2101440"/>
          </a:xfrm>
          <a:prstGeom prst="rightBrace">
            <a:avLst>
              <a:gd name="adj1" fmla="val 0"/>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3D4DA628-CF2F-4BBD-8F88-60EADDA13EB1}"/>
              </a:ext>
            </a:extLst>
          </p:cNvPr>
          <p:cNvSpPr txBox="1"/>
          <p:nvPr/>
        </p:nvSpPr>
        <p:spPr>
          <a:xfrm>
            <a:off x="9665144" y="6192182"/>
            <a:ext cx="2101441" cy="420628"/>
          </a:xfrm>
          <a:prstGeom prst="rect">
            <a:avLst/>
          </a:prstGeom>
          <a:noFill/>
        </p:spPr>
        <p:txBody>
          <a:bodyPr wrap="square" rtlCol="0">
            <a:spAutoFit/>
          </a:bodyPr>
          <a:lstStyle/>
          <a:p>
            <a:pPr algn="ctr"/>
            <a:r>
              <a:rPr lang="en-US" sz="3200" b="1" baseline="-25000" dirty="0"/>
              <a:t>Loss Function</a:t>
            </a:r>
          </a:p>
        </p:txBody>
      </p:sp>
    </p:spTree>
    <p:extLst>
      <p:ext uri="{BB962C8B-B14F-4D97-AF65-F5344CB8AC3E}">
        <p14:creationId xmlns:p14="http://schemas.microsoft.com/office/powerpoint/2010/main" val="36124849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99529" y="1000126"/>
            <a:ext cx="10781881" cy="3514724"/>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Start with forward propagation relationships</a:t>
            </a:r>
          </a:p>
          <a:p>
            <a:r>
              <a:rPr lang="en-US" sz="2800" dirty="0">
                <a:latin typeface="Segoe UI" panose="020B0502040204020203" pitchFamily="34" charset="0"/>
                <a:cs typeface="Segoe UI" panose="020B0502040204020203" pitchFamily="34" charset="0"/>
              </a:rPr>
              <a:t>The output of the hidden units are computed as:</a:t>
            </a:r>
          </a:p>
          <a:p>
            <a:pPr marL="0" indent="0">
              <a:buNone/>
            </a:pPr>
            <a:endParaRPr lang="en-US" sz="2800" dirty="0">
              <a:latin typeface="Segoe UI" panose="020B0502040204020203" pitchFamily="34" charset="0"/>
              <a:cs typeface="Segoe UI" panose="020B0502040204020203" pitchFamily="34" charset="0"/>
            </a:endParaRPr>
          </a:p>
          <a:p>
            <a:pPr marL="0" indent="0">
              <a:buNone/>
            </a:pPr>
            <a:endParaRPr lang="en-US" sz="2800" dirty="0">
              <a:latin typeface="Segoe UI" panose="020B0502040204020203" pitchFamily="34" charset="0"/>
              <a:cs typeface="Segoe UI" panose="020B0502040204020203" pitchFamily="34" charset="0"/>
            </a:endParaRPr>
          </a:p>
          <a:p>
            <a:r>
              <a:rPr lang="en-US" sz="2800" dirty="0">
                <a:latin typeface="Segoe UI" panose="020B0502040204020203" pitchFamily="34" charset="0"/>
                <a:cs typeface="Segoe UI" panose="020B0502040204020203" pitchFamily="34" charset="0"/>
              </a:rPr>
              <a:t>The output unit relation is: </a:t>
            </a:r>
          </a:p>
          <a:p>
            <a:pPr marL="0" indent="0">
              <a:buNone/>
            </a:pPr>
            <a:endParaRPr lang="en-US"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347F6E7B-C630-4932-B198-76B25A29797F}"/>
              </a:ext>
            </a:extLst>
          </p:cNvPr>
          <p:cNvPicPr>
            <a:picLocks noChangeAspect="1"/>
          </p:cNvPicPr>
          <p:nvPr/>
        </p:nvPicPr>
        <p:blipFill>
          <a:blip r:embed="rId2"/>
          <a:stretch>
            <a:fillRect/>
          </a:stretch>
        </p:blipFill>
        <p:spPr>
          <a:xfrm>
            <a:off x="910590" y="2258317"/>
            <a:ext cx="5851208" cy="998342"/>
          </a:xfrm>
          <a:prstGeom prst="rect">
            <a:avLst/>
          </a:prstGeom>
        </p:spPr>
      </p:pic>
      <p:pic>
        <p:nvPicPr>
          <p:cNvPr id="3" name="Picture 2">
            <a:extLst>
              <a:ext uri="{FF2B5EF4-FFF2-40B4-BE49-F238E27FC236}">
                <a16:creationId xmlns:a16="http://schemas.microsoft.com/office/drawing/2014/main" id="{F3B8BB3A-6CC9-47F4-A1C7-788557646375}"/>
              </a:ext>
            </a:extLst>
          </p:cNvPr>
          <p:cNvPicPr>
            <a:picLocks noChangeAspect="1"/>
          </p:cNvPicPr>
          <p:nvPr/>
        </p:nvPicPr>
        <p:blipFill>
          <a:blip r:embed="rId3"/>
          <a:stretch>
            <a:fillRect/>
          </a:stretch>
        </p:blipFill>
        <p:spPr>
          <a:xfrm>
            <a:off x="958271" y="4278182"/>
            <a:ext cx="6296418" cy="1086839"/>
          </a:xfrm>
          <a:prstGeom prst="rect">
            <a:avLst/>
          </a:prstGeom>
        </p:spPr>
      </p:pic>
    </p:spTree>
    <p:extLst>
      <p:ext uri="{BB962C8B-B14F-4D97-AF65-F5344CB8AC3E}">
        <p14:creationId xmlns:p14="http://schemas.microsoft.com/office/powerpoint/2010/main" val="54931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60210" y="2466192"/>
            <a:ext cx="4032466" cy="714374"/>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The loss function is:</a:t>
            </a:r>
          </a:p>
          <a:p>
            <a:pPr marL="0" indent="0">
              <a:buNone/>
            </a:pPr>
            <a:endParaRPr lang="en-US"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91B1490F-394B-48C8-9D3C-F08E362571E8}"/>
              </a:ext>
            </a:extLst>
          </p:cNvPr>
          <p:cNvPicPr>
            <a:picLocks noChangeAspect="1"/>
          </p:cNvPicPr>
          <p:nvPr/>
        </p:nvPicPr>
        <p:blipFill>
          <a:blip r:embed="rId2"/>
          <a:stretch>
            <a:fillRect/>
          </a:stretch>
        </p:blipFill>
        <p:spPr>
          <a:xfrm>
            <a:off x="550964" y="3482155"/>
            <a:ext cx="3678136" cy="1045432"/>
          </a:xfrm>
          <a:prstGeom prst="rect">
            <a:avLst/>
          </a:prstGeom>
        </p:spPr>
      </p:pic>
      <p:sp>
        <p:nvSpPr>
          <p:cNvPr id="6" name="Content Placeholder 2">
            <a:extLst>
              <a:ext uri="{FF2B5EF4-FFF2-40B4-BE49-F238E27FC236}">
                <a16:creationId xmlns:a16="http://schemas.microsoft.com/office/drawing/2014/main" id="{998DBC2E-25D2-4B26-87C0-0F65D10A5AA1}"/>
              </a:ext>
            </a:extLst>
          </p:cNvPr>
          <p:cNvSpPr>
            <a:spLocks noGrp="1"/>
          </p:cNvSpPr>
          <p:nvPr>
            <p:ph sz="quarter" idx="10"/>
          </p:nvPr>
        </p:nvSpPr>
        <p:spPr>
          <a:xfrm>
            <a:off x="5130594" y="1000126"/>
            <a:ext cx="6335611" cy="565784"/>
          </a:xfrm>
        </p:spPr>
        <p:txBody>
          <a:bodyPr/>
          <a:lstStyle/>
          <a:p>
            <a:pPr marL="0" indent="0">
              <a:buNone/>
            </a:pPr>
            <a:r>
              <a:rPr lang="en-US" sz="2800" dirty="0">
                <a:latin typeface="Segoe UI" panose="020B0502040204020203" pitchFamily="34" charset="0"/>
                <a:cs typeface="Segoe UI" panose="020B0502040204020203" pitchFamily="34" charset="0"/>
              </a:rPr>
              <a:t>Goal is to compute the gradient:</a:t>
            </a:r>
          </a:p>
        </p:txBody>
      </p:sp>
      <p:pic>
        <p:nvPicPr>
          <p:cNvPr id="8" name="Picture 7">
            <a:extLst>
              <a:ext uri="{FF2B5EF4-FFF2-40B4-BE49-F238E27FC236}">
                <a16:creationId xmlns:a16="http://schemas.microsoft.com/office/drawing/2014/main" id="{2D5540D9-CEFE-4BD0-9FBA-8BF26695B218}"/>
              </a:ext>
            </a:extLst>
          </p:cNvPr>
          <p:cNvPicPr>
            <a:picLocks noChangeAspect="1"/>
          </p:cNvPicPr>
          <p:nvPr/>
        </p:nvPicPr>
        <p:blipFill>
          <a:blip r:embed="rId3"/>
          <a:stretch>
            <a:fillRect/>
          </a:stretch>
        </p:blipFill>
        <p:spPr>
          <a:xfrm>
            <a:off x="6203877" y="1511106"/>
            <a:ext cx="2987187" cy="5002297"/>
          </a:xfrm>
          <a:prstGeom prst="rect">
            <a:avLst/>
          </a:prstGeom>
        </p:spPr>
      </p:pic>
    </p:spTree>
    <p:extLst>
      <p:ext uri="{BB962C8B-B14F-4D97-AF65-F5344CB8AC3E}">
        <p14:creationId xmlns:p14="http://schemas.microsoft.com/office/powerpoint/2010/main" val="390191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99529" y="1000126"/>
            <a:ext cx="10781881" cy="990039"/>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Start with the easier case of the gradient with respect to the output tensor.</a:t>
            </a:r>
          </a:p>
          <a:p>
            <a:r>
              <a:rPr lang="en-US" sz="2800" dirty="0">
                <a:latin typeface="Segoe UI" panose="020B0502040204020203" pitchFamily="34" charset="0"/>
                <a:cs typeface="Segoe UI" panose="020B0502040204020203" pitchFamily="34" charset="0"/>
              </a:rPr>
              <a:t>Applying the chain rule yields:</a:t>
            </a:r>
          </a:p>
          <a:p>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DF2BF5F9-7528-4933-8159-3F74F4BC42DB}"/>
              </a:ext>
            </a:extLst>
          </p:cNvPr>
          <p:cNvPicPr>
            <a:picLocks noChangeAspect="1"/>
          </p:cNvPicPr>
          <p:nvPr/>
        </p:nvPicPr>
        <p:blipFill>
          <a:blip r:embed="rId2"/>
          <a:stretch>
            <a:fillRect/>
          </a:stretch>
        </p:blipFill>
        <p:spPr>
          <a:xfrm>
            <a:off x="3609975" y="2790825"/>
            <a:ext cx="3653790" cy="1115213"/>
          </a:xfrm>
          <a:prstGeom prst="rect">
            <a:avLst/>
          </a:prstGeom>
        </p:spPr>
      </p:pic>
    </p:spTree>
    <p:extLst>
      <p:ext uri="{BB962C8B-B14F-4D97-AF65-F5344CB8AC3E}">
        <p14:creationId xmlns:p14="http://schemas.microsoft.com/office/powerpoint/2010/main" val="14864211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379514" y="789005"/>
            <a:ext cx="10781881" cy="1274444"/>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The first partial derivative is:</a:t>
            </a: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T</a:t>
            </a:r>
            <a:r>
              <a:rPr lang="en-US" sz="2800" dirty="0">
                <a:latin typeface="Segoe UI" panose="020B0502040204020203" pitchFamily="34" charset="0"/>
                <a:cs typeface="Segoe UI" panose="020B0502040204020203" pitchFamily="34" charset="0"/>
              </a:rPr>
              <a:t>he second partial derivative is:</a:t>
            </a: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sz="2800" dirty="0">
                <a:latin typeface="Segoe UI" panose="020B0502040204020203" pitchFamily="34" charset="0"/>
                <a:cs typeface="Segoe UI" panose="020B0502040204020203" pitchFamily="34" charset="0"/>
              </a:rPr>
              <a:t>And the gradient with respect to the output tensor is then:</a:t>
            </a:r>
          </a:p>
          <a:p>
            <a:pPr marL="0" indent="0">
              <a:buNone/>
            </a:pPr>
            <a:endParaRPr lang="en-US"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A8C079E0-258B-4246-8098-D4895CCBEAAE}"/>
              </a:ext>
            </a:extLst>
          </p:cNvPr>
          <p:cNvPicPr>
            <a:picLocks noChangeAspect="1"/>
          </p:cNvPicPr>
          <p:nvPr/>
        </p:nvPicPr>
        <p:blipFill>
          <a:blip r:embed="rId2"/>
          <a:stretch>
            <a:fillRect/>
          </a:stretch>
        </p:blipFill>
        <p:spPr>
          <a:xfrm>
            <a:off x="1872615" y="1589437"/>
            <a:ext cx="5768641" cy="1113944"/>
          </a:xfrm>
          <a:prstGeom prst="rect">
            <a:avLst/>
          </a:prstGeom>
        </p:spPr>
      </p:pic>
      <p:pic>
        <p:nvPicPr>
          <p:cNvPr id="5" name="Picture 4">
            <a:extLst>
              <a:ext uri="{FF2B5EF4-FFF2-40B4-BE49-F238E27FC236}">
                <a16:creationId xmlns:a16="http://schemas.microsoft.com/office/drawing/2014/main" id="{628F5111-ABD9-417F-83F1-2A492A475EB3}"/>
              </a:ext>
            </a:extLst>
          </p:cNvPr>
          <p:cNvPicPr>
            <a:picLocks noChangeAspect="1"/>
          </p:cNvPicPr>
          <p:nvPr/>
        </p:nvPicPr>
        <p:blipFill>
          <a:blip r:embed="rId3"/>
          <a:stretch>
            <a:fillRect/>
          </a:stretch>
        </p:blipFill>
        <p:spPr>
          <a:xfrm>
            <a:off x="1985486" y="3539887"/>
            <a:ext cx="4602714" cy="1072118"/>
          </a:xfrm>
          <a:prstGeom prst="rect">
            <a:avLst/>
          </a:prstGeom>
        </p:spPr>
      </p:pic>
      <p:pic>
        <p:nvPicPr>
          <p:cNvPr id="6" name="Picture 5">
            <a:extLst>
              <a:ext uri="{FF2B5EF4-FFF2-40B4-BE49-F238E27FC236}">
                <a16:creationId xmlns:a16="http://schemas.microsoft.com/office/drawing/2014/main" id="{2EA344DD-E2CB-48B9-B250-64B8B214BF54}"/>
              </a:ext>
            </a:extLst>
          </p:cNvPr>
          <p:cNvPicPr>
            <a:picLocks noChangeAspect="1"/>
          </p:cNvPicPr>
          <p:nvPr/>
        </p:nvPicPr>
        <p:blipFill>
          <a:blip r:embed="rId4"/>
          <a:stretch>
            <a:fillRect/>
          </a:stretch>
        </p:blipFill>
        <p:spPr>
          <a:xfrm>
            <a:off x="1985486" y="5448511"/>
            <a:ext cx="4963954" cy="1008405"/>
          </a:xfrm>
          <a:prstGeom prst="rect">
            <a:avLst/>
          </a:prstGeom>
        </p:spPr>
      </p:pic>
    </p:spTree>
    <p:extLst>
      <p:ext uri="{BB962C8B-B14F-4D97-AF65-F5344CB8AC3E}">
        <p14:creationId xmlns:p14="http://schemas.microsoft.com/office/powerpoint/2010/main" val="18093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99529" y="1000125"/>
            <a:ext cx="10781881" cy="1958227"/>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The gradient with respect to the input tensor is a bit more complicated</a:t>
            </a:r>
          </a:p>
          <a:p>
            <a:r>
              <a:rPr lang="en-US" sz="2800" dirty="0">
                <a:latin typeface="Segoe UI" panose="020B0502040204020203" pitchFamily="34" charset="0"/>
                <a:cs typeface="Segoe UI" panose="020B0502040204020203" pitchFamily="34" charset="0"/>
              </a:rPr>
              <a:t>Apply the chain rule twice to get:</a:t>
            </a: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C808F476-E3C0-451D-8E71-57428EAF3D78}"/>
              </a:ext>
            </a:extLst>
          </p:cNvPr>
          <p:cNvPicPr>
            <a:picLocks noChangeAspect="1"/>
          </p:cNvPicPr>
          <p:nvPr/>
        </p:nvPicPr>
        <p:blipFill>
          <a:blip r:embed="rId2"/>
          <a:stretch>
            <a:fillRect/>
          </a:stretch>
        </p:blipFill>
        <p:spPr>
          <a:xfrm>
            <a:off x="3116075" y="2971799"/>
            <a:ext cx="4577183" cy="1172297"/>
          </a:xfrm>
          <a:prstGeom prst="rect">
            <a:avLst/>
          </a:prstGeom>
        </p:spPr>
      </p:pic>
    </p:spTree>
    <p:extLst>
      <p:ext uri="{BB962C8B-B14F-4D97-AF65-F5344CB8AC3E}">
        <p14:creationId xmlns:p14="http://schemas.microsoft.com/office/powerpoint/2010/main" val="18534032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19519" y="1203008"/>
            <a:ext cx="10781881" cy="4061515"/>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The output layer has linear activation so the left most partial derivative is just 1.</a:t>
            </a:r>
          </a:p>
          <a:p>
            <a:pPr marL="0" indent="0">
              <a:buNone/>
            </a:pPr>
            <a:r>
              <a:rPr lang="en-US" sz="2800" dirty="0">
                <a:latin typeface="Segoe UI" panose="020B0502040204020203" pitchFamily="34" charset="0"/>
                <a:cs typeface="Segoe UI" panose="020B0502040204020203" pitchFamily="34" charset="0"/>
              </a:rPr>
              <a:t>The middle partial derivative :</a:t>
            </a:r>
          </a:p>
          <a:p>
            <a:pPr marL="0" indent="0">
              <a:buNone/>
            </a:pPr>
            <a:endParaRPr lang="en-US" sz="2800" dirty="0">
              <a:latin typeface="Segoe UI" panose="020B0502040204020203" pitchFamily="34" charset="0"/>
              <a:cs typeface="Segoe UI" panose="020B0502040204020203" pitchFamily="34" charset="0"/>
            </a:endParaRPr>
          </a:p>
          <a:p>
            <a:pPr marL="0" indent="0">
              <a:buNone/>
            </a:pPr>
            <a:endParaRPr lang="en-US" sz="2800" dirty="0">
              <a:latin typeface="Segoe UI" panose="020B0502040204020203" pitchFamily="34" charset="0"/>
              <a:cs typeface="Segoe UI" panose="020B0502040204020203" pitchFamily="34" charset="0"/>
            </a:endParaRPr>
          </a:p>
          <a:p>
            <a:pPr marL="0" indent="0">
              <a:buNone/>
            </a:pPr>
            <a:r>
              <a:rPr lang="en-US" sz="2800" dirty="0">
                <a:latin typeface="Segoe UI" panose="020B0502040204020203" pitchFamily="34" charset="0"/>
                <a:cs typeface="Segoe UI" panose="020B0502040204020203" pitchFamily="34" charset="0"/>
              </a:rPr>
              <a:t>The right most partial derivative, given </a:t>
            </a:r>
            <a:r>
              <a:rPr lang="en-US" sz="2800" dirty="0" err="1">
                <a:latin typeface="Segoe UI" panose="020B0502040204020203" pitchFamily="34" charset="0"/>
                <a:cs typeface="Segoe UI" panose="020B0502040204020203" pitchFamily="34" charset="0"/>
              </a:rPr>
              <a:t>ReLU</a:t>
            </a:r>
            <a:r>
              <a:rPr lang="en-US" sz="2800" dirty="0">
                <a:latin typeface="Segoe UI" panose="020B0502040204020203" pitchFamily="34" charset="0"/>
                <a:cs typeface="Segoe UI" panose="020B0502040204020203" pitchFamily="34" charset="0"/>
              </a:rPr>
              <a:t> activation:</a:t>
            </a:r>
          </a:p>
          <a:p>
            <a:pPr marL="0" indent="0">
              <a:buNone/>
            </a:pPr>
            <a:endParaRPr lang="en-US"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DDA31818-2B68-4CC3-9921-DF0BAB9199A7}"/>
              </a:ext>
            </a:extLst>
          </p:cNvPr>
          <p:cNvPicPr>
            <a:picLocks noChangeAspect="1"/>
          </p:cNvPicPr>
          <p:nvPr/>
        </p:nvPicPr>
        <p:blipFill>
          <a:blip r:embed="rId3"/>
          <a:stretch>
            <a:fillRect/>
          </a:stretch>
        </p:blipFill>
        <p:spPr>
          <a:xfrm>
            <a:off x="2256681" y="4631914"/>
            <a:ext cx="3553778" cy="1670982"/>
          </a:xfrm>
          <a:prstGeom prst="rect">
            <a:avLst/>
          </a:prstGeom>
        </p:spPr>
      </p:pic>
      <p:pic>
        <p:nvPicPr>
          <p:cNvPr id="3" name="Picture 2">
            <a:extLst>
              <a:ext uri="{FF2B5EF4-FFF2-40B4-BE49-F238E27FC236}">
                <a16:creationId xmlns:a16="http://schemas.microsoft.com/office/drawing/2014/main" id="{135C2867-E56D-434A-BD41-23A0ACF06C9A}"/>
              </a:ext>
            </a:extLst>
          </p:cNvPr>
          <p:cNvPicPr>
            <a:picLocks noChangeAspect="1"/>
          </p:cNvPicPr>
          <p:nvPr/>
        </p:nvPicPr>
        <p:blipFill>
          <a:blip r:embed="rId4"/>
          <a:stretch>
            <a:fillRect/>
          </a:stretch>
        </p:blipFill>
        <p:spPr>
          <a:xfrm>
            <a:off x="5539421" y="4836545"/>
            <a:ext cx="3806621" cy="1378843"/>
          </a:xfrm>
          <a:prstGeom prst="rect">
            <a:avLst/>
          </a:prstGeom>
        </p:spPr>
      </p:pic>
      <p:pic>
        <p:nvPicPr>
          <p:cNvPr id="5" name="Picture 4">
            <a:extLst>
              <a:ext uri="{FF2B5EF4-FFF2-40B4-BE49-F238E27FC236}">
                <a16:creationId xmlns:a16="http://schemas.microsoft.com/office/drawing/2014/main" id="{6066F083-1255-4F14-A815-0FF9AC9A2F47}"/>
              </a:ext>
            </a:extLst>
          </p:cNvPr>
          <p:cNvPicPr>
            <a:picLocks noChangeAspect="1"/>
          </p:cNvPicPr>
          <p:nvPr/>
        </p:nvPicPr>
        <p:blipFill>
          <a:blip r:embed="rId5"/>
          <a:stretch>
            <a:fillRect/>
          </a:stretch>
        </p:blipFill>
        <p:spPr>
          <a:xfrm>
            <a:off x="2779340" y="2712007"/>
            <a:ext cx="2014537" cy="1167961"/>
          </a:xfrm>
          <a:prstGeom prst="rect">
            <a:avLst/>
          </a:prstGeom>
        </p:spPr>
      </p:pic>
    </p:spTree>
    <p:extLst>
      <p:ext uri="{BB962C8B-B14F-4D97-AF65-F5344CB8AC3E}">
        <p14:creationId xmlns:p14="http://schemas.microsoft.com/office/powerpoint/2010/main" val="104627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10D9F0-FC20-447B-B1BD-3C35D75FFBA4}"/>
              </a:ext>
            </a:extLst>
          </p:cNvPr>
          <p:cNvSpPr>
            <a:spLocks noGrp="1"/>
          </p:cNvSpPr>
          <p:nvPr>
            <p:ph type="title"/>
          </p:nvPr>
        </p:nvSpPr>
        <p:spPr>
          <a:xfrm>
            <a:off x="379514" y="182216"/>
            <a:ext cx="11524432" cy="817910"/>
          </a:xfrm>
        </p:spPr>
        <p:txBody>
          <a:bodyPr>
            <a:normAutofit fontScale="90000"/>
          </a:bodyPr>
          <a:lstStyle/>
          <a:p>
            <a:r>
              <a:rPr lang="en-US" dirty="0">
                <a:latin typeface="Segoe UI" panose="020B0502040204020203" pitchFamily="34" charset="0"/>
                <a:cs typeface="Segoe UI" panose="020B0502040204020203" pitchFamily="34" charset="0"/>
              </a:rPr>
              <a:t>Example: Computing a Gradient</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7" name="Content Placeholder 2">
            <a:extLst>
              <a:ext uri="{FF2B5EF4-FFF2-40B4-BE49-F238E27FC236}">
                <a16:creationId xmlns:a16="http://schemas.microsoft.com/office/drawing/2014/main" id="{D540246E-A6D6-495B-AE44-13F90AB180B0}"/>
              </a:ext>
            </a:extLst>
          </p:cNvPr>
          <p:cNvSpPr txBox="1">
            <a:spLocks/>
          </p:cNvSpPr>
          <p:nvPr/>
        </p:nvSpPr>
        <p:spPr>
          <a:xfrm>
            <a:off x="499529" y="1337982"/>
            <a:ext cx="10781881" cy="936588"/>
          </a:xfrm>
          <a:prstGeom prst="rect">
            <a:avLst/>
          </a:prstGeom>
        </p:spPr>
        <p:txBody>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latin typeface="Segoe UI" panose="020B0502040204020203" pitchFamily="34" charset="0"/>
                <a:cs typeface="Segoe UI" panose="020B0502040204020203" pitchFamily="34" charset="0"/>
              </a:rPr>
              <a:t>The gradient with respect to the input weights is then:</a:t>
            </a:r>
          </a:p>
          <a:p>
            <a:pPr marL="0" indent="0">
              <a:buNone/>
            </a:pPr>
            <a:endParaRPr lang="en-US"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90F1CB30-0B31-4F09-85FD-BF80E5B405AD}"/>
              </a:ext>
            </a:extLst>
          </p:cNvPr>
          <p:cNvPicPr>
            <a:picLocks noChangeAspect="1"/>
          </p:cNvPicPr>
          <p:nvPr/>
        </p:nvPicPr>
        <p:blipFill>
          <a:blip r:embed="rId2"/>
          <a:stretch>
            <a:fillRect/>
          </a:stretch>
        </p:blipFill>
        <p:spPr>
          <a:xfrm>
            <a:off x="547687" y="2188122"/>
            <a:ext cx="4577183" cy="1172297"/>
          </a:xfrm>
          <a:prstGeom prst="rect">
            <a:avLst/>
          </a:prstGeom>
        </p:spPr>
      </p:pic>
      <p:pic>
        <p:nvPicPr>
          <p:cNvPr id="2" name="Picture 1">
            <a:extLst>
              <a:ext uri="{FF2B5EF4-FFF2-40B4-BE49-F238E27FC236}">
                <a16:creationId xmlns:a16="http://schemas.microsoft.com/office/drawing/2014/main" id="{5A749B7E-013A-44A2-8E9B-912CF177ECA1}"/>
              </a:ext>
            </a:extLst>
          </p:cNvPr>
          <p:cNvPicPr>
            <a:picLocks noChangeAspect="1"/>
          </p:cNvPicPr>
          <p:nvPr/>
        </p:nvPicPr>
        <p:blipFill>
          <a:blip r:embed="rId3"/>
          <a:stretch>
            <a:fillRect/>
          </a:stretch>
        </p:blipFill>
        <p:spPr>
          <a:xfrm>
            <a:off x="5244885" y="2036084"/>
            <a:ext cx="5946691" cy="1324335"/>
          </a:xfrm>
          <a:prstGeom prst="rect">
            <a:avLst/>
          </a:prstGeom>
        </p:spPr>
      </p:pic>
    </p:spTree>
    <p:extLst>
      <p:ext uri="{BB962C8B-B14F-4D97-AF65-F5344CB8AC3E}">
        <p14:creationId xmlns:p14="http://schemas.microsoft.com/office/powerpoint/2010/main" val="264358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8E6AF3-7615-4BD1-878E-A94C93E98F90}"/>
              </a:ext>
            </a:extLst>
          </p:cNvPr>
          <p:cNvSpPr>
            <a:spLocks noGrp="1"/>
          </p:cNvSpPr>
          <p:nvPr>
            <p:ph idx="1"/>
          </p:nvPr>
        </p:nvSpPr>
        <p:spPr>
          <a:xfrm>
            <a:off x="784412" y="1149531"/>
            <a:ext cx="10515600" cy="5345322"/>
          </a:xfrm>
        </p:spPr>
        <p:txBody>
          <a:bodyPr>
            <a:normAutofit/>
          </a:bodyPr>
          <a:lstStyle/>
          <a:p>
            <a:pPr marL="0" indent="0">
              <a:buNone/>
            </a:pPr>
            <a:r>
              <a:rPr lang="en-US" sz="3000" b="0" dirty="0">
                <a:latin typeface="+mj-lt"/>
              </a:rPr>
              <a:t>In practice, how do we perform the differentiation </a:t>
            </a:r>
          </a:p>
          <a:p>
            <a:r>
              <a:rPr lang="en-US" sz="3000" b="0" dirty="0">
                <a:latin typeface="+mj-lt"/>
              </a:rPr>
              <a:t>Computing all the required derivatives by hand is impractical </a:t>
            </a:r>
          </a:p>
          <a:p>
            <a:pPr lvl="1"/>
            <a:r>
              <a:rPr lang="en-US" sz="2400" dirty="0">
                <a:latin typeface="+mj-lt"/>
              </a:rPr>
              <a:t>Complexity grows with NN depth</a:t>
            </a:r>
          </a:p>
          <a:p>
            <a:pPr lvl="1"/>
            <a:r>
              <a:rPr lang="en-US" sz="2400" dirty="0">
                <a:latin typeface="+mj-lt"/>
              </a:rPr>
              <a:t>Too many opportunities for error</a:t>
            </a:r>
          </a:p>
          <a:p>
            <a:r>
              <a:rPr lang="en-US" sz="3000" b="0" dirty="0">
                <a:latin typeface="+mj-lt"/>
              </a:rPr>
              <a:t>Use </a:t>
            </a:r>
            <a:r>
              <a:rPr lang="en-US" sz="3000" dirty="0">
                <a:latin typeface="+mj-lt"/>
                <a:hlinkClick r:id="rId2"/>
              </a:rPr>
              <a:t>automatic differentiation </a:t>
            </a:r>
            <a:endParaRPr lang="en-US" sz="3000" b="0" dirty="0">
              <a:latin typeface="+mj-lt"/>
            </a:endParaRPr>
          </a:p>
          <a:p>
            <a:pPr lvl="1"/>
            <a:r>
              <a:rPr lang="en-US" sz="2400" dirty="0">
                <a:latin typeface="+mj-lt"/>
              </a:rPr>
              <a:t>Automatic differentiators handle the complexity of deep architectures </a:t>
            </a:r>
          </a:p>
          <a:p>
            <a:pPr lvl="1"/>
            <a:r>
              <a:rPr lang="en-US" sz="2400" dirty="0">
                <a:latin typeface="+mj-lt"/>
              </a:rPr>
              <a:t>Automatic differentiators built into all deep learning platforms</a:t>
            </a:r>
          </a:p>
          <a:p>
            <a:r>
              <a:rPr lang="en-US" sz="2800" b="0" dirty="0">
                <a:latin typeface="+mj-lt"/>
              </a:rPr>
              <a:t>See the review paper by </a:t>
            </a:r>
            <a:r>
              <a:rPr lang="en-US" sz="2800" b="0" dirty="0" err="1">
                <a:latin typeface="+mj-lt"/>
                <a:hlinkClick r:id="rId3"/>
              </a:rPr>
              <a:t>Baydin</a:t>
            </a:r>
            <a:r>
              <a:rPr lang="en-US" sz="2800" b="0" dirty="0">
                <a:latin typeface="+mj-lt"/>
                <a:hlinkClick r:id="rId3"/>
              </a:rPr>
              <a:t> et.al. (2015)</a:t>
            </a:r>
            <a:r>
              <a:rPr lang="en-US" sz="2800" b="0" dirty="0">
                <a:latin typeface="+mj-lt"/>
              </a:rPr>
              <a:t> or the </a:t>
            </a:r>
            <a:r>
              <a:rPr lang="en-US" sz="2800" b="0" dirty="0">
                <a:latin typeface="+mj-lt"/>
                <a:hlinkClick r:id="rId4"/>
              </a:rPr>
              <a:t>TensorFlow automatic differentiation tutorial</a:t>
            </a:r>
            <a:endParaRPr lang="en-US" sz="2800" b="0" dirty="0">
              <a:latin typeface="+mj-lt"/>
            </a:endParaRPr>
          </a:p>
          <a:p>
            <a:endParaRPr lang="en-US" sz="3000" dirty="0">
              <a:latin typeface="+mj-lt"/>
            </a:endParaRPr>
          </a:p>
        </p:txBody>
      </p:sp>
      <p:sp>
        <p:nvSpPr>
          <p:cNvPr id="6" name="Title 1">
            <a:extLst>
              <a:ext uri="{FF2B5EF4-FFF2-40B4-BE49-F238E27FC236}">
                <a16:creationId xmlns:a16="http://schemas.microsoft.com/office/drawing/2014/main" id="{CD29F70F-B868-451B-A65D-8721F4C7A2D9}"/>
              </a:ext>
            </a:extLst>
          </p:cNvPr>
          <p:cNvSpPr txBox="1">
            <a:spLocks/>
          </p:cNvSpPr>
          <p:nvPr/>
        </p:nvSpPr>
        <p:spPr>
          <a:xfrm>
            <a:off x="838200" y="-6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mn-lt"/>
              </a:rPr>
              <a:t>Automatic Differentiation </a:t>
            </a:r>
          </a:p>
        </p:txBody>
      </p:sp>
    </p:spTree>
    <p:extLst>
      <p:ext uri="{BB962C8B-B14F-4D97-AF65-F5344CB8AC3E}">
        <p14:creationId xmlns:p14="http://schemas.microsoft.com/office/powerpoint/2010/main" val="221054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91E57C78B9F604FB8BAD296D1460E2A" ma:contentTypeVersion="1" ma:contentTypeDescription="Create a new document." ma:contentTypeScope="" ma:versionID="fb382fe2362acd2155f454904f478e4d">
  <xsd:schema xmlns:xsd="http://www.w3.org/2001/XMLSchema" xmlns:xs="http://www.w3.org/2001/XMLSchema" xmlns:p="http://schemas.microsoft.com/office/2006/metadata/properties" xmlns:ns3="636b0322-90fb-440c-9cbc-22749e7231e9" targetNamespace="http://schemas.microsoft.com/office/2006/metadata/properties" ma:root="true" ma:fieldsID="b9887c63ce4710c1aeb75a5f03aecb69" ns3:_="">
    <xsd:import namespace="636b0322-90fb-440c-9cbc-22749e7231e9"/>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6b0322-90fb-440c-9cbc-22749e7231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25FDD9-4C58-4084-9F89-0E6ADD6FFF55}">
  <ds:schemaRef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636b0322-90fb-440c-9cbc-22749e7231e9"/>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B0CA13EC-1D3C-4D6F-8D1C-E8A452CFC79A}">
  <ds:schemaRefs>
    <ds:schemaRef ds:uri="http://schemas.microsoft.com/sharepoint/v3/contenttype/forms"/>
  </ds:schemaRefs>
</ds:datastoreItem>
</file>

<file path=customXml/itemProps3.xml><?xml version="1.0" encoding="utf-8"?>
<ds:datastoreItem xmlns:ds="http://schemas.openxmlformats.org/officeDocument/2006/customXml" ds:itemID="{C6DB243D-F585-435F-A2EA-E3678FDD33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6b0322-90fb-440c-9cbc-22749e7231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26960</TotalTime>
  <Words>3975</Words>
  <Application>Microsoft Office PowerPoint</Application>
  <PresentationFormat>Widescreen</PresentationFormat>
  <Paragraphs>718</Paragraphs>
  <Slides>85</Slides>
  <Notes>35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85</vt:i4>
      </vt:variant>
    </vt:vector>
  </HeadingPairs>
  <TitlesOfParts>
    <vt:vector size="98" baseType="lpstr">
      <vt:lpstr>Arial</vt:lpstr>
      <vt:lpstr>Calibri</vt:lpstr>
      <vt:lpstr>Calibri Light</vt:lpstr>
      <vt:lpstr>Cambria Math</vt:lpstr>
      <vt:lpstr>Courier New</vt:lpstr>
      <vt:lpstr>Segoe</vt:lpstr>
      <vt:lpstr>Segoe UI</vt:lpstr>
      <vt:lpstr>Segoe UI Emoji</vt:lpstr>
      <vt:lpstr>Segoe UI Light</vt:lpstr>
      <vt:lpstr>Symbol</vt:lpstr>
      <vt:lpstr>Wingdings</vt:lpstr>
      <vt:lpstr>1_Office Theme</vt:lpstr>
      <vt:lpstr>Office Theme</vt:lpstr>
      <vt:lpstr>CSCI E-25 Computer Vision</vt:lpstr>
      <vt:lpstr>    Building Blocks of Deep Learning</vt:lpstr>
      <vt:lpstr> Function Approximation with Deep Neural Networks </vt:lpstr>
      <vt:lpstr>Essential Elements of AI Agents </vt:lpstr>
      <vt:lpstr>Why Fully Connected Neural Networks in CV</vt:lpstr>
      <vt:lpstr>    Building Blocks of Deep Learning</vt:lpstr>
      <vt:lpstr>PowerPoint Presentation</vt:lpstr>
      <vt:lpstr>    Predictive vs. Generative CV tasks</vt:lpstr>
      <vt:lpstr>Predictive Models for CV</vt:lpstr>
      <vt:lpstr>Predictive Models for CV</vt:lpstr>
      <vt:lpstr>    Predictive vs. Generative CV tasks</vt:lpstr>
      <vt:lpstr>PowerPoint Presentation</vt:lpstr>
      <vt:lpstr>Representation: Linear Neural Network</vt:lpstr>
      <vt:lpstr>Representation: Linear Neural Network</vt:lpstr>
      <vt:lpstr>Representation: Perceptron </vt:lpstr>
      <vt:lpstr>We Need a Better Deep Representation</vt:lpstr>
      <vt:lpstr>We Need a Better Deep Representation</vt:lpstr>
      <vt:lpstr>We Need a Better Deep Representation</vt:lpstr>
      <vt:lpstr>PowerPoint Presentation</vt:lpstr>
      <vt:lpstr>Model Capacity</vt:lpstr>
      <vt:lpstr>Model Capacity</vt:lpstr>
      <vt:lpstr>Model Capacity</vt:lpstr>
      <vt:lpstr>PowerPoint Presentation</vt:lpstr>
      <vt:lpstr>Activation functions</vt:lpstr>
      <vt:lpstr>Activation functions</vt:lpstr>
      <vt:lpstr>Activation functions</vt:lpstr>
      <vt:lpstr>Activation Functions </vt:lpstr>
      <vt:lpstr>Activation functions</vt:lpstr>
      <vt:lpstr>PowerPoint Presentation</vt:lpstr>
      <vt:lpstr>The Backpropagation Algorithm</vt:lpstr>
      <vt:lpstr>The Backpropagation Algorithm</vt:lpstr>
      <vt:lpstr>The Backpropagation Algorithm</vt:lpstr>
      <vt:lpstr>The Back Propagation Algorithm</vt:lpstr>
      <vt:lpstr>PowerPoint Presentation</vt:lpstr>
      <vt:lpstr>Loss Functions for Training Neural Networks</vt:lpstr>
      <vt:lpstr>Loss Functions for Training Neural Networks</vt:lpstr>
      <vt:lpstr>Loss Functions for Training Neural Networks </vt:lpstr>
      <vt:lpstr>Loss Functions for Training Neural Networks</vt:lpstr>
      <vt:lpstr>Loss Functions for Training Neural Networks</vt:lpstr>
      <vt:lpstr>Loss Functions for Training Neural Networks</vt:lpstr>
      <vt:lpstr>Loss Functions for Training Neural Networks</vt:lpstr>
      <vt:lpstr>Loss Functions for Training Neural Networks</vt:lpstr>
      <vt:lpstr>Loss Functions for Training Neural Networks</vt:lpstr>
      <vt:lpstr>Performance Metrics for Deep NNs</vt:lpstr>
      <vt:lpstr>PowerPoint Presentation</vt:lpstr>
      <vt:lpstr> Regularization for Deep Learning</vt:lpstr>
      <vt:lpstr> Regularization for Deep Learning</vt:lpstr>
      <vt:lpstr>PowerPoint Presentation</vt:lpstr>
      <vt:lpstr>Dropout regularization</vt:lpstr>
      <vt:lpstr>Dropout regularization</vt:lpstr>
      <vt:lpstr>Dropout regularization</vt:lpstr>
      <vt:lpstr>Dropout regularization</vt:lpstr>
      <vt:lpstr>Dropout regularization</vt:lpstr>
      <vt:lpstr>Dropout regularization</vt:lpstr>
      <vt:lpstr>PowerPoint Presentation</vt:lpstr>
      <vt:lpstr>Batch Normalization</vt:lpstr>
      <vt:lpstr>PowerPoint Presentation</vt:lpstr>
      <vt:lpstr>Weight decay</vt:lpstr>
      <vt:lpstr>PowerPoint Presentation</vt:lpstr>
      <vt:lpstr>    Architectures for Fully Connected NNs</vt:lpstr>
      <vt:lpstr>    Architectures for Fully Connected NNs</vt:lpstr>
      <vt:lpstr>PowerPoint Presentation</vt:lpstr>
      <vt:lpstr>    Training Deep Neural Networks</vt:lpstr>
      <vt:lpstr>    Training Deep Neural Networks</vt:lpstr>
      <vt:lpstr>    Training Deep Neural Networks</vt:lpstr>
      <vt:lpstr>    Training Deep Neural Networks</vt:lpstr>
      <vt:lpstr>    Training Deep Neural Networks</vt:lpstr>
      <vt:lpstr>    Training Deep Neural Networks</vt:lpstr>
      <vt:lpstr>    Training deep NN Models</vt:lpstr>
      <vt:lpstr>    Summary</vt:lpstr>
      <vt:lpstr>PowerPoint Presentation</vt:lpstr>
      <vt:lpstr>The Chain Rule of Calculus </vt:lpstr>
      <vt:lpstr>The Chain Rule of Calculus </vt:lpstr>
      <vt:lpstr>The Chain Rule of Calculus </vt:lpstr>
      <vt:lpstr>The Chain Rule of Calculus </vt:lpstr>
      <vt:lpstr>The Chain Rule of Calculus </vt:lpstr>
      <vt:lpstr>Example: Computing a Gradient</vt:lpstr>
      <vt:lpstr>Example: Computing a Gradient </vt:lpstr>
      <vt:lpstr>Example: Computing a Gradient </vt:lpstr>
      <vt:lpstr>Example: Computing a Gradient </vt:lpstr>
      <vt:lpstr>Example: Computing a Gradient </vt:lpstr>
      <vt:lpstr>Example: Computing a Gradient </vt:lpstr>
      <vt:lpstr>Example: Computing a Gradient </vt:lpstr>
      <vt:lpstr>Example: Computing a Gradient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Stephen Elston</cp:lastModifiedBy>
  <cp:revision>703</cp:revision>
  <dcterms:created xsi:type="dcterms:W3CDTF">2013-02-15T23:12:42Z</dcterms:created>
  <dcterms:modified xsi:type="dcterms:W3CDTF">2026-02-14T02:43:54Z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0x010100391E57C78B9F604FB8BAD296D1460E2A</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y fmtid="{D5CDD505-2E9C-101B-9397-08002B2CF9AE}" pid="6" name="TaxKeyword">
    <vt:lpwstr/>
  </property>
  <property fmtid="{D5CDD505-2E9C-101B-9397-08002B2CF9AE}" pid="7" name="DocVizPreviewMetadata_Count">
    <vt:i4>12</vt:i4>
  </property>
  <property fmtid="{D5CDD505-2E9C-101B-9397-08002B2CF9AE}" pid="8" name="DocVizPreviewMetadata_0">
    <vt:lpwstr>300x168x2</vt:lpwstr>
  </property>
</Properties>
</file>