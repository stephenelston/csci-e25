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4"/>
  </p:notesMasterIdLst>
  <p:handoutMasterIdLst>
    <p:handoutMasterId r:id="rId85"/>
  </p:handoutMasterIdLst>
  <p:sldIdLst>
    <p:sldId id="375" r:id="rId5"/>
    <p:sldId id="377" r:id="rId6"/>
    <p:sldId id="466" r:id="rId7"/>
    <p:sldId id="465" r:id="rId8"/>
    <p:sldId id="467" r:id="rId9"/>
    <p:sldId id="427" r:id="rId10"/>
    <p:sldId id="428" r:id="rId11"/>
    <p:sldId id="426" r:id="rId12"/>
    <p:sldId id="469" r:id="rId13"/>
    <p:sldId id="443" r:id="rId14"/>
    <p:sldId id="378" r:id="rId15"/>
    <p:sldId id="379" r:id="rId16"/>
    <p:sldId id="417" r:id="rId17"/>
    <p:sldId id="418" r:id="rId18"/>
    <p:sldId id="436" r:id="rId19"/>
    <p:sldId id="411" r:id="rId20"/>
    <p:sldId id="416" r:id="rId21"/>
    <p:sldId id="413" r:id="rId22"/>
    <p:sldId id="414" r:id="rId23"/>
    <p:sldId id="415" r:id="rId24"/>
    <p:sldId id="433" r:id="rId25"/>
    <p:sldId id="381" r:id="rId26"/>
    <p:sldId id="446" r:id="rId27"/>
    <p:sldId id="450" r:id="rId28"/>
    <p:sldId id="439" r:id="rId29"/>
    <p:sldId id="382" r:id="rId30"/>
    <p:sldId id="434" r:id="rId31"/>
    <p:sldId id="383" r:id="rId32"/>
    <p:sldId id="384" r:id="rId33"/>
    <p:sldId id="385" r:id="rId34"/>
    <p:sldId id="386" r:id="rId35"/>
    <p:sldId id="387" r:id="rId36"/>
    <p:sldId id="388" r:id="rId37"/>
    <p:sldId id="441" r:id="rId38"/>
    <p:sldId id="442" r:id="rId39"/>
    <p:sldId id="435" r:id="rId40"/>
    <p:sldId id="389" r:id="rId41"/>
    <p:sldId id="392" r:id="rId42"/>
    <p:sldId id="393" r:id="rId43"/>
    <p:sldId id="394" r:id="rId44"/>
    <p:sldId id="400" r:id="rId45"/>
    <p:sldId id="401" r:id="rId46"/>
    <p:sldId id="402" r:id="rId47"/>
    <p:sldId id="395" r:id="rId48"/>
    <p:sldId id="403" r:id="rId49"/>
    <p:sldId id="404" r:id="rId50"/>
    <p:sldId id="405" r:id="rId51"/>
    <p:sldId id="396" r:id="rId52"/>
    <p:sldId id="406" r:id="rId53"/>
    <p:sldId id="407" r:id="rId54"/>
    <p:sldId id="422" r:id="rId55"/>
    <p:sldId id="399" r:id="rId56"/>
    <p:sldId id="409" r:id="rId57"/>
    <p:sldId id="430" r:id="rId58"/>
    <p:sldId id="429" r:id="rId59"/>
    <p:sldId id="437" r:id="rId60"/>
    <p:sldId id="444" r:id="rId61"/>
    <p:sldId id="452" r:id="rId62"/>
    <p:sldId id="457" r:id="rId63"/>
    <p:sldId id="453" r:id="rId64"/>
    <p:sldId id="458" r:id="rId65"/>
    <p:sldId id="456" r:id="rId66"/>
    <p:sldId id="460" r:id="rId67"/>
    <p:sldId id="461" r:id="rId68"/>
    <p:sldId id="463" r:id="rId69"/>
    <p:sldId id="464" r:id="rId70"/>
    <p:sldId id="459" r:id="rId71"/>
    <p:sldId id="451" r:id="rId72"/>
    <p:sldId id="420" r:id="rId73"/>
    <p:sldId id="421" r:id="rId74"/>
    <p:sldId id="424" r:id="rId75"/>
    <p:sldId id="423" r:id="rId76"/>
    <p:sldId id="425" r:id="rId77"/>
    <p:sldId id="468" r:id="rId78"/>
    <p:sldId id="438" r:id="rId79"/>
    <p:sldId id="432" r:id="rId80"/>
    <p:sldId id="408" r:id="rId81"/>
    <p:sldId id="380" r:id="rId82"/>
    <p:sldId id="298" r:id="rId8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33"/>
    <a:srgbClr val="002050"/>
    <a:srgbClr val="86C400"/>
    <a:srgbClr val="82BF36"/>
    <a:srgbClr val="7FBA00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4921" autoAdjust="0"/>
  </p:normalViewPr>
  <p:slideViewPr>
    <p:cSldViewPr snapToGrid="0">
      <p:cViewPr varScale="1">
        <p:scale>
          <a:sx n="73" d="100"/>
          <a:sy n="73" d="100"/>
        </p:scale>
        <p:origin x="55" y="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79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12E7B4A-039C-48A2-9B2C-AF16AA3873D8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F5FCDD8-505C-48BF-B1E5-CD9B25893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922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A005A0C-54D9-45AA-87D4-C551D08DFCE1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CFD207A-07DF-40AD-A916-9872E089CE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1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55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18F4-D5AA-08FC-7327-45EF6D1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8F997-34C5-610F-0139-93B37C342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856FE-7188-BD29-3B17-C831AAB34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1F74B-F27E-321E-CEC8-415CED4DC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730B6-965F-4F9E-8ED1-1D018A85F5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4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AD8D-36AD-8747-A5B0-3AB33AE5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0ACD8-045D-EF82-C175-41F0CCAC2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F31DA-D9A3-0FF8-C8C4-BAB9F909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EDCF6-1428-53FF-9579-5DBDB80C7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6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31A8-DA35-82E8-3219-11A1FFC8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4B790-354C-6F99-F93D-472A4BAD4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522A7-26C0-30E2-95B4-AF84B825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gre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5F0B-D0A1-546E-AFD0-2D3DE0E87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41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6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81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4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D770-A4A1-7F9B-7CDB-B07A22D0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D1481-399C-E79A-EAD4-43D323000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78963-A4C4-8EAC-1854-D1153E7D1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F1279-FA15-679E-0FA4-167E4AEB6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969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1AA7-1F4C-0288-1AC3-FEEB0189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11458-2919-4A88-5D2B-5C19699E4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3FD5C-BD9B-89AE-313D-0C4D52E80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5B46A-4EDE-5EA3-A69B-82D1259BC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413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86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78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927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59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942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372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62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8016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969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00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3C3C-D9DD-67C9-DBC2-F4FF6D5F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6C54A-5C4E-8CB0-7963-C3D936F53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21CB9-D932-77AC-E934-7BAECC01D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2FD71-6369-1663-BFC3-5BD77DD7B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196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DC0A-551F-D50F-4A1D-1036D172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B3DE6-AF05-C1B6-5230-1B724223B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F7CBF-3EE3-BC30-ACF6-E6D485650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BE1C7-B69A-B7D5-4A4E-3AC16BB1F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74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453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01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901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98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9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47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545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3580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305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07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12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507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7223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04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97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401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78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858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8950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3561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9789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583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713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056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661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2404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84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0FA4B-1C32-98B0-4D7F-149D6784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3FF9E-16E2-0548-5A6B-0E8FF9E9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B1A60-1A11-8B20-A0A4-C792E8752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B21AF-F80A-AC2A-6F80-15F5E4582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5108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6120-6FFD-9D41-2689-EEF0190A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86E14-C3A0-EE27-C1C0-DAD36F8FF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B84CD-E602-2657-534C-C51E6D273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81C58-5730-DA2F-29FB-B917FE1E5D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844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EF9B-9A5E-8940-1974-9E39013C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8249C-9145-13CD-34B2-C2F82DE4F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97134-2E2A-9CB5-D9DC-91085A3D3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FC779-9354-430A-B6E4-DAA67BED6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733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B180-A873-32E0-591D-24A1D3F4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210E9-77FC-D413-390B-448ACCAD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F68A3-0F9D-1CC6-7B73-5C9BDB8DA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91FA4-B543-2313-8DCB-32EBFCA7B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31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FA9F-8261-E72A-A540-6D5E695F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EAA52-EFD4-97EE-E453-DA4DA7EBE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42960-B583-8D69-4089-C30A6FC58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E0BC6-DFCE-16CB-5E1D-8728B4317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489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98EB-21A4-B846-58FB-AB0D6DE8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7ECC-DFC3-018C-D51D-5410FCCC8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0C584-8B89-AEDE-55AD-B707D6AAD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EC00D-E945-A8B9-F5A6-382B8C0FF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423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A141-12ED-5C57-EAC3-D41C123B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37EAA-0FCA-B84D-25D9-C3294D2CD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7F692-3D56-E627-3E51-F44386269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EB0F9-6195-16BE-8747-FD657E4B1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819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27052-F850-0F0A-2B56-49CBEA5B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F9131-860F-EBCF-D1CA-69301A716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3559-4038-2DFD-4BF9-D8BB071C3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1CB67-DADA-8AE9-4A1A-F48BB3F5D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963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828A-2F6A-EB92-81D2-8B54CD4B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16E99-553E-6B58-D91F-3E51A999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D41FC-D548-CB05-7144-71238610F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CAF07-6B79-A6F4-5D31-694D345F8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627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9ABF-BD29-D0DF-0EFF-22B1F384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EE2B0-2403-F2B6-659D-B2410A9A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28F39-5B3F-DEC1-F023-DD8E572B6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74B41-C05E-BB41-F7C6-D499B096F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78273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52A5-442F-0052-DBC3-741AC46A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55078-8D8C-98B6-0206-2864B26CB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D1B52-5CA6-5BBE-DBC1-7E34C53FC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7A0C4-3CC8-E767-81D1-A695BFEB7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917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0291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796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0392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15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6059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681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3228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32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774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09C4-331A-4F8E-9C63-303C3145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F34A-2443-468B-9DEC-057918C7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C0A4-0B19-4954-BD29-F08BE611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FD81-5068-48B4-9648-85B0D12C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328E-80D6-472E-8A1E-831F3904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6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D0A5-98B8-47C2-BC21-375887FB1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68318-E12E-4EA0-9BD6-C20460FE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E19B-BF66-49E0-8127-A8A836F6B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60B3F-A4A2-44B7-B52D-29D732D67836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AD8C-142B-4667-A04D-243860D0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3FC3-ACBA-4ECC-B2AB-7E35B9BD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B68-4B74-4B19-B125-9E4E9F21B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78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5" r:id="rId2"/>
    <p:sldLayoutId id="2147483686" r:id="rId3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zeliski.org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Panono#:~:text=The%20camera%20captures%20full%2Dspherical,a%20resolution%20of%20108%20megapixels.&amp;text=The%20Panono%20camera%20features%20a,directions%20at%20its%20highest%20point.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360.com/?_gl=1*1rgtpzy*_up*MQ..*_ga*Mjc4ODIwNzA4LjE3NzcxNjgxMjI.*_ga_ZMDD1VX0M1*czE3NzcxNjgxMjEkbzEkZzEkdDE3NzcxNjg1MTckajYwJGwwJGgw*_ga_7TV2BE92TS*czE3NzcxNjgxMjIkbzEkZzEkdDE3NzcxNjg1MTgkajYwJGwwJGg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bots.ox.ac.uk/~vgg/hzbook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-estimator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Huber_loss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sample_consensus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szeliski.org/Book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2.04645v2" TargetMode="External"/><Relationship Id="rId7" Type="http://schemas.openxmlformats.org/officeDocument/2006/relationships/hyperlink" Target="https://arxiv.org/abs/2404.14951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302.08207" TargetMode="External"/><Relationship Id="rId5" Type="http://schemas.openxmlformats.org/officeDocument/2006/relationships/hyperlink" Target="https://arxiv.org/abs/2106.12859" TargetMode="External"/><Relationship Id="rId4" Type="http://schemas.openxmlformats.org/officeDocument/2006/relationships/hyperlink" Target="https://arxiv.org/pdf/2107.02524v2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2.08207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2.08207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arxiv.org/abs/2302.08207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hyperlink" Target="https://arxiv.org/abs/2302.08207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hyperlink" Target="https://arxiv.org/abs/2302.08207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302.08207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404.14951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arxiv.org/abs/2404.14951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hyperlink" Target="https://arxiv.org/abs/2404.14951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ikit-image/skimage-tutorials/blob/main/lectures/solutions/adv3_panorama-stitching-solution.ipynb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www-bcs.mit.edu/people/adelson/publications/abstracts/spline83.html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am_carving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examples/vision/keypoint_detection/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955" y="273713"/>
            <a:ext cx="96012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E-25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555" y="3946867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93" y="4750441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69F207C-EF37-41D2-8510-622FD323B072}"/>
              </a:ext>
            </a:extLst>
          </p:cNvPr>
          <p:cNvSpPr txBox="1">
            <a:spLocks/>
          </p:cNvSpPr>
          <p:nvPr/>
        </p:nvSpPr>
        <p:spPr>
          <a:xfrm>
            <a:off x="1382693" y="6306671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2022, 2023, 2024, 2025, 2026, Stephen F Elston. 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37018-A4F9-4B1C-806D-0E7F64A950E8}"/>
              </a:ext>
            </a:extLst>
          </p:cNvPr>
          <p:cNvSpPr txBox="1"/>
          <p:nvPr/>
        </p:nvSpPr>
        <p:spPr>
          <a:xfrm>
            <a:off x="788724" y="2851645"/>
            <a:ext cx="11036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 Stitching</a:t>
            </a:r>
          </a:p>
        </p:txBody>
      </p:sp>
    </p:spTree>
    <p:extLst>
      <p:ext uri="{BB962C8B-B14F-4D97-AF65-F5344CB8AC3E}">
        <p14:creationId xmlns:p14="http://schemas.microsoft.com/office/powerpoint/2010/main" val="226106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 goal of image stitching is to create a mosaic image from multiple original images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Mosaic should look like one continuous image</a:t>
            </a:r>
          </a:p>
          <a:p>
            <a:pPr marL="857114" lvl="2" indent="-457200">
              <a:buClr>
                <a:srgbClr val="000000"/>
              </a:buClr>
              <a:tabLst>
                <a:tab pos="744538" algn="l"/>
              </a:tabLst>
            </a:pPr>
            <a:r>
              <a:rPr lang="en-US" dirty="0">
                <a:latin typeface="+mn-lt"/>
              </a:rPr>
              <a:t>No seams</a:t>
            </a:r>
          </a:p>
          <a:p>
            <a:pPr marL="857114" lvl="2" indent="-457200">
              <a:buClr>
                <a:srgbClr val="000000"/>
              </a:buClr>
              <a:tabLst>
                <a:tab pos="744538" algn="l"/>
              </a:tabLst>
            </a:pPr>
            <a:r>
              <a:rPr lang="en-US" dirty="0">
                <a:latin typeface="+mn-lt"/>
              </a:rPr>
              <a:t>Consistent illumination and pixel values </a:t>
            </a:r>
          </a:p>
          <a:p>
            <a:pPr marL="857114" lvl="2" indent="-457200">
              <a:buClr>
                <a:srgbClr val="000000"/>
              </a:buClr>
              <a:tabLst>
                <a:tab pos="744538" algn="l"/>
              </a:tabLst>
            </a:pPr>
            <a:r>
              <a:rPr lang="en-US" dirty="0">
                <a:latin typeface="+mn-lt"/>
              </a:rPr>
              <a:t>Preserve straight lines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Must align and blend images to create a mosaic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In this lesson we examine some of the basic CV image stitching algorithms</a:t>
            </a:r>
          </a:p>
          <a:p>
            <a:pPr marL="399914" lvl="2" indent="0">
              <a:buClr>
                <a:srgbClr val="000000"/>
              </a:buClr>
              <a:buNone/>
              <a:tabLst>
                <a:tab pos="744538" algn="l"/>
              </a:tabLst>
            </a:pPr>
            <a:endParaRPr lang="en-US" dirty="0">
              <a:latin typeface="+mn-lt"/>
            </a:endParaRPr>
          </a:p>
          <a:p>
            <a:pPr marL="399914" lvl="2" indent="0">
              <a:buClr>
                <a:srgbClr val="000000"/>
              </a:buClr>
              <a:buNone/>
              <a:tabLst>
                <a:tab pos="744538" algn="l"/>
              </a:tabLst>
            </a:pPr>
            <a:r>
              <a:rPr lang="en-US" dirty="0">
                <a:latin typeface="+mn-lt"/>
              </a:rPr>
              <a:t>For a detailed view of classical image </a:t>
            </a:r>
            <a:r>
              <a:rPr lang="en-US">
                <a:latin typeface="+mn-lt"/>
              </a:rPr>
              <a:t>stitching algorithms </a:t>
            </a:r>
            <a:r>
              <a:rPr lang="en-US" dirty="0">
                <a:latin typeface="+mn-lt"/>
              </a:rPr>
              <a:t>and image blending see Chapter 8 of </a:t>
            </a:r>
            <a:r>
              <a:rPr lang="en-US" dirty="0">
                <a:latin typeface="+mn-lt"/>
                <a:hlinkClick r:id="rId3"/>
              </a:rPr>
              <a:t>Computer Vision: Algorithms and Applications, 2nd ed., Springer, 2022</a:t>
            </a:r>
            <a:endParaRPr lang="en-US" dirty="0">
              <a:latin typeface="+mn-lt"/>
            </a:endParaRPr>
          </a:p>
          <a:p>
            <a:pPr marL="399914" lvl="2" indent="0">
              <a:buClr>
                <a:srgbClr val="000000"/>
              </a:buClr>
              <a:buNone/>
              <a:tabLst>
                <a:tab pos="744538" algn="l"/>
              </a:tabLst>
            </a:pPr>
            <a:r>
              <a:rPr lang="en-US" dirty="0">
                <a:latin typeface="+mn-lt"/>
              </a:rPr>
              <a:t>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endParaRPr lang="en-GB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78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5C4E-4EB8-65D2-C907-2E2FC7C0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D5AF-AE50-CAEC-7427-8C7B086C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40193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Optical Flow vs. Image Stitching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D614-55F1-DA83-2C67-BB311464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01" y="1124339"/>
            <a:ext cx="10515600" cy="5593468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>
                <a:latin typeface="+mn-lt"/>
              </a:rPr>
              <a:t>Compare optical flow models to projective transform models</a:t>
            </a:r>
          </a:p>
          <a:p>
            <a:r>
              <a:rPr lang="en-US" sz="2400" b="0" dirty="0">
                <a:latin typeface="+mn-lt"/>
              </a:rPr>
              <a:t>Both booth tasks use image matching and warping </a:t>
            </a:r>
          </a:p>
          <a:p>
            <a:r>
              <a:rPr lang="en-US" sz="2400" b="0" dirty="0">
                <a:latin typeface="+mn-lt"/>
              </a:rPr>
              <a:t>Optical flow is a </a:t>
            </a:r>
            <a:r>
              <a:rPr lang="en-US" sz="2400" dirty="0">
                <a:latin typeface="+mn-lt"/>
              </a:rPr>
              <a:t>dense task </a:t>
            </a:r>
            <a:r>
              <a:rPr lang="en-US" sz="2400" b="0" dirty="0">
                <a:latin typeface="+mn-lt"/>
              </a:rPr>
              <a:t>estimated pixel-by-pixel </a:t>
            </a:r>
          </a:p>
          <a:p>
            <a:pPr lvl="1"/>
            <a:r>
              <a:rPr lang="en-US" sz="2400" dirty="0">
                <a:latin typeface="+mn-lt"/>
              </a:rPr>
              <a:t>Warping on a pixel-by-pixel basis   </a:t>
            </a:r>
          </a:p>
          <a:p>
            <a:pPr lvl="1"/>
            <a:r>
              <a:rPr lang="en-US" sz="2400" dirty="0">
                <a:latin typeface="+mn-lt"/>
              </a:rPr>
              <a:t>Localized small motion  </a:t>
            </a:r>
          </a:p>
          <a:p>
            <a:r>
              <a:rPr lang="en-US" sz="2400" b="0" dirty="0">
                <a:latin typeface="+mn-lt"/>
              </a:rPr>
              <a:t>Image stitching uses </a:t>
            </a:r>
            <a:r>
              <a:rPr lang="en-US" sz="2400" dirty="0">
                <a:latin typeface="+mn-lt"/>
              </a:rPr>
              <a:t>a projective transform </a:t>
            </a:r>
            <a:r>
              <a:rPr lang="en-US" sz="2400" b="0" dirty="0">
                <a:latin typeface="+mn-lt"/>
              </a:rPr>
              <a:t>to rectify images  </a:t>
            </a:r>
          </a:p>
          <a:p>
            <a:pPr lvl="1"/>
            <a:r>
              <a:rPr lang="en-US" sz="2400" b="0" dirty="0">
                <a:latin typeface="+mn-lt"/>
              </a:rPr>
              <a:t>Parameters for projective transformation models are estimated for large areas</a:t>
            </a:r>
          </a:p>
          <a:p>
            <a:pPr lvl="1"/>
            <a:r>
              <a:rPr lang="en-US" sz="2400" dirty="0">
                <a:latin typeface="+mn-lt"/>
              </a:rPr>
              <a:t>A single transform is applied to the entire image or patches of image   </a:t>
            </a:r>
          </a:p>
          <a:p>
            <a:pPr lvl="1"/>
            <a:r>
              <a:rPr lang="en-US" sz="2400" dirty="0">
                <a:latin typeface="+mn-lt"/>
              </a:rPr>
              <a:t>Wide baseline </a:t>
            </a:r>
          </a:p>
          <a:p>
            <a:pPr lvl="1"/>
            <a:r>
              <a:rPr lang="en-US" sz="2400" dirty="0">
                <a:latin typeface="+mn-lt"/>
              </a:rPr>
              <a:t>Cannot localize motion  </a:t>
            </a:r>
          </a:p>
          <a:p>
            <a:r>
              <a:rPr lang="en-US" sz="2400" b="0" dirty="0">
                <a:latin typeface="+mn-lt"/>
              </a:rPr>
              <a:t>Some optical flow algorithms use a projective transform to model global flow</a:t>
            </a:r>
          </a:p>
        </p:txBody>
      </p:sp>
    </p:spTree>
    <p:extLst>
      <p:ext uri="{BB962C8B-B14F-4D97-AF65-F5344CB8AC3E}">
        <p14:creationId xmlns:p14="http://schemas.microsoft.com/office/powerpoint/2010/main" val="318574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1231-8AD4-4B31-D41E-FD4114F8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3766-9A69-F1A3-9C3E-22CEAFB7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19F8DB7-A6B0-7117-6D26-B39078B41C9E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6531316" cy="542405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Many applications of image stitching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Panoramic imaging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Sport event photography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Augmented reality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Autonomous vehicles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Security systems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Medical imaging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>
                <a:latin typeface="+mn-lt"/>
              </a:rPr>
              <a:t>Scientific imaging </a:t>
            </a:r>
          </a:p>
          <a:p>
            <a:pPr marL="457200" lvl="1" indent="-457200"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744538" algn="l"/>
              </a:tabLst>
            </a:pPr>
            <a:r>
              <a:rPr lang="en-US" dirty="0" err="1">
                <a:latin typeface="+mn-lt"/>
              </a:rPr>
              <a:t>etc</a:t>
            </a:r>
            <a:r>
              <a:rPr lang="en-US" dirty="0">
                <a:latin typeface="+mn-lt"/>
              </a:rPr>
              <a:t>,.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endParaRPr lang="en-GB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BA37E-509B-CE00-E3BF-15B19F5ED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897" y="1143000"/>
            <a:ext cx="4970387" cy="3338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114407-1E63-928A-3F0F-05D5AA9726E3}"/>
              </a:ext>
            </a:extLst>
          </p:cNvPr>
          <p:cNvSpPr txBox="1"/>
          <p:nvPr/>
        </p:nvSpPr>
        <p:spPr>
          <a:xfrm>
            <a:off x="7278624" y="4942985"/>
            <a:ext cx="44518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of sophisticated image stitching; A spherical camera from the now bankrupt </a:t>
            </a:r>
            <a:r>
              <a:rPr lang="en-US" sz="2400" dirty="0" err="1">
                <a:hlinkClick r:id="rId4"/>
              </a:rPr>
              <a:t>Pano</a:t>
            </a:r>
            <a:r>
              <a:rPr lang="en-US" sz="2400" dirty="0">
                <a:hlinkClick r:id="rId4"/>
              </a:rPr>
              <a:t> company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60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78D6-93B7-291C-A124-0A081230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2D3EB-34EC-2847-3539-25573419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EDFB5FA-AC17-00B8-756B-334388DC89C8}"/>
              </a:ext>
            </a:extLst>
          </p:cNvPr>
          <p:cNvSpPr txBox="1">
            <a:spLocks/>
          </p:cNvSpPr>
          <p:nvPr/>
        </p:nvSpPr>
        <p:spPr>
          <a:xfrm>
            <a:off x="465149" y="1143001"/>
            <a:ext cx="11207819" cy="602198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Newer products use Pairs of ultra-short focal length lenses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C5567-904F-806B-1A28-678E4243C057}"/>
              </a:ext>
            </a:extLst>
          </p:cNvPr>
          <p:cNvSpPr txBox="1"/>
          <p:nvPr/>
        </p:nvSpPr>
        <p:spPr>
          <a:xfrm>
            <a:off x="6693408" y="5803826"/>
            <a:ext cx="5321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Drone and VR googles using 360-degree camera by </a:t>
            </a:r>
            <a:r>
              <a:rPr lang="en-US" sz="2400" dirty="0">
                <a:hlinkClick r:id="rId3"/>
              </a:rPr>
              <a:t>Insta360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C9A669-6E4D-51E8-B611-173460AED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753820"/>
            <a:ext cx="5321649" cy="3938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19AC46-25C8-A9E0-5DCA-88DCF0FB8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88" y="1724521"/>
            <a:ext cx="3613653" cy="40793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291AE3-9C1A-E8EB-687C-2FD07269AD4C}"/>
              </a:ext>
            </a:extLst>
          </p:cNvPr>
          <p:cNvSpPr txBox="1"/>
          <p:nvPr/>
        </p:nvSpPr>
        <p:spPr>
          <a:xfrm>
            <a:off x="1222683" y="5807744"/>
            <a:ext cx="4122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GoPro MAX2 360 Camera</a:t>
            </a:r>
            <a:endParaRPr lang="en-US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261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175092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Image stitching has a long history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Performed manually from 1920s into 1980s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Example, a mosaic image of the Hitomaro Mars crater – Mariner 9, 1970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75C7D5-DBE2-4924-BCE0-4055CC02C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914" y="2965026"/>
            <a:ext cx="6697227" cy="367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2F6C79-D718-4D41-BA49-745F20099539}"/>
              </a:ext>
            </a:extLst>
          </p:cNvPr>
          <p:cNvSpPr txBox="1"/>
          <p:nvPr/>
        </p:nvSpPr>
        <p:spPr>
          <a:xfrm>
            <a:off x="8686800" y="6194809"/>
            <a:ext cx="287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Credit, Wikipedia commons</a:t>
            </a:r>
          </a:p>
        </p:txBody>
      </p:sp>
    </p:spTree>
    <p:extLst>
      <p:ext uri="{BB962C8B-B14F-4D97-AF65-F5344CB8AC3E}">
        <p14:creationId xmlns:p14="http://schemas.microsoft.com/office/powerpoint/2010/main" val="221619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175092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Image stitching has a long history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Before CV methods photo mosaics were manually assembled for decades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Example, assembling Mariner 9 Mars images in 1970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F6C79-D718-4D41-BA49-745F20099539}"/>
              </a:ext>
            </a:extLst>
          </p:cNvPr>
          <p:cNvSpPr txBox="1"/>
          <p:nvPr/>
        </p:nvSpPr>
        <p:spPr>
          <a:xfrm>
            <a:off x="9666514" y="5215095"/>
            <a:ext cx="2029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Credit, The Planetary Society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D041B90-5871-46D7-B9A1-E5A98B74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36" y="2893925"/>
            <a:ext cx="8934694" cy="358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30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What are the steps for stitching images?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Take a sequence of images from different camera poses</a:t>
            </a:r>
          </a:p>
          <a:p>
            <a:pPr marL="914400" lvl="2" indent="-514350">
              <a:buClr>
                <a:srgbClr val="000000"/>
              </a:buClr>
              <a:tabLst>
                <a:tab pos="744538" algn="l"/>
              </a:tabLst>
            </a:pPr>
            <a:r>
              <a:rPr lang="en-US" dirty="0">
                <a:latin typeface="+mn-lt"/>
              </a:rPr>
              <a:t>E.g. rotate the camera about its optical center</a:t>
            </a:r>
          </a:p>
          <a:p>
            <a:pPr marL="914400" lvl="2" indent="-514350">
              <a:buClr>
                <a:srgbClr val="000000"/>
              </a:buClr>
              <a:tabLst>
                <a:tab pos="744538" algn="l"/>
              </a:tabLst>
            </a:pPr>
            <a:r>
              <a:rPr lang="en-US" dirty="0">
                <a:latin typeface="+mn-lt"/>
              </a:rPr>
              <a:t>Or, moving camera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Compute transformation to rectify a source image (R) to match overlapping area of the reference images (L)   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Warp the source image onto the image plane of the reference image – right warped to left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Fuse images into mosaic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Rectangle mosaic 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If more images, repeat steps 2-4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r>
              <a:rPr lang="en-US" dirty="0">
                <a:latin typeface="+mn-lt"/>
              </a:rPr>
              <a:t>Crop mosaic to rectangle</a:t>
            </a:r>
          </a:p>
          <a:p>
            <a:pPr marL="514350" lvl="1" indent="-514350">
              <a:buClr>
                <a:srgbClr val="000000"/>
              </a:buClr>
              <a:buFont typeface="+mj-lt"/>
              <a:buAutoNum type="arabicPeriod"/>
              <a:tabLst>
                <a:tab pos="744538" algn="l"/>
              </a:tabLst>
            </a:pPr>
            <a:endParaRPr lang="en-GB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23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514C-0007-DD18-3836-B8947155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7C6A-520B-CBA9-08DF-28E8BA27E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318215F8-AC89-5459-7C49-1118D0AC3874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5690068" cy="130482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 image stitching pipeline has 4 stages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Compute transformation to reactivity images</a:t>
            </a: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26223-7788-F8B4-E149-7E741045F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02" y="2447826"/>
            <a:ext cx="10934177" cy="2983604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FC6FBD3-D8BF-D64C-5E9E-76278B214283}"/>
              </a:ext>
            </a:extLst>
          </p:cNvPr>
          <p:cNvSpPr txBox="1">
            <a:spLocks/>
          </p:cNvSpPr>
          <p:nvPr/>
        </p:nvSpPr>
        <p:spPr>
          <a:xfrm>
            <a:off x="465150" y="5760720"/>
            <a:ext cx="5690068" cy="1000616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Fusion integrates the image and heals seams</a:t>
            </a: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3775AEAF-8B4F-6B88-7FAB-C830CE57D33E}"/>
              </a:ext>
            </a:extLst>
          </p:cNvPr>
          <p:cNvSpPr txBox="1">
            <a:spLocks/>
          </p:cNvSpPr>
          <p:nvPr/>
        </p:nvSpPr>
        <p:spPr>
          <a:xfrm>
            <a:off x="6369561" y="5805569"/>
            <a:ext cx="5690068" cy="955767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Crop mosaics to rectangles   </a:t>
            </a: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F39ABC-3028-A16D-F323-FE820010E07F}"/>
              </a:ext>
            </a:extLst>
          </p:cNvPr>
          <p:cNvCxnSpPr>
            <a:cxnSpLocks/>
          </p:cNvCxnSpPr>
          <p:nvPr/>
        </p:nvCxnSpPr>
        <p:spPr>
          <a:xfrm flipH="1">
            <a:off x="2160814" y="2356757"/>
            <a:ext cx="810986" cy="83820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1B5D1D-6D51-C23C-471E-44D15DD24F5C}"/>
              </a:ext>
            </a:extLst>
          </p:cNvPr>
          <p:cNvCxnSpPr>
            <a:cxnSpLocks/>
          </p:cNvCxnSpPr>
          <p:nvPr/>
        </p:nvCxnSpPr>
        <p:spPr>
          <a:xfrm flipV="1">
            <a:off x="5784233" y="5431430"/>
            <a:ext cx="1337637" cy="374139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F7C7A8-586B-B240-53C2-EB9DBC21EF2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9214595" y="5470725"/>
            <a:ext cx="1298392" cy="334844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B9F1E4F6-919B-4A2C-DACC-5375A81D6413}"/>
              </a:ext>
            </a:extLst>
          </p:cNvPr>
          <p:cNvSpPr txBox="1">
            <a:spLocks/>
          </p:cNvSpPr>
          <p:nvPr/>
        </p:nvSpPr>
        <p:spPr>
          <a:xfrm>
            <a:off x="6501932" y="994528"/>
            <a:ext cx="4883654" cy="119480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Registration transforms the images to a common image plane</a:t>
            </a:r>
          </a:p>
          <a:p>
            <a:pPr marL="0" indent="0">
              <a:buNone/>
            </a:pPr>
            <a:endParaRPr lang="en-GB" sz="2800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53AFF5-D1DE-84A8-A5BA-B6F155F1E034}"/>
              </a:ext>
            </a:extLst>
          </p:cNvPr>
          <p:cNvCxnSpPr>
            <a:cxnSpLocks/>
          </p:cNvCxnSpPr>
          <p:nvPr/>
        </p:nvCxnSpPr>
        <p:spPr>
          <a:xfrm flipH="1">
            <a:off x="4404795" y="1832728"/>
            <a:ext cx="2664823" cy="1194807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63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B58BD-BE23-1AC5-FAA0-DE15472F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48B8-4547-BED3-A63D-85CC0429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980A8799-A608-1F96-B8FB-2F6A186998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Example: finding the transform between images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Extract interest points between a 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reference image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and a 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source image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Find matching features between a reference image and the source image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Solve equations to compute </a:t>
                </a:r>
                <a:r>
                  <a:rPr lang="en-GB" sz="2800" b="1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homography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𝓗</m:t>
                    </m:r>
                  </m:oMath>
                </a14:m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Apply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ℋ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to the source image to transform to the image plane of the reference image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sz="280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Fuse 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images in area of overlap 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980A8799-A608-1F96-B8FB-2F6A18699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35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Acquire multiple images by changes of camera pose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B177F-4D80-4FFF-8583-5CEBE5C1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97" y="1947057"/>
            <a:ext cx="9603213" cy="44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77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Find interest points and match descriptors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AF846-1D1E-4AFE-A41F-5811364F9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52" y="1778697"/>
            <a:ext cx="9455392" cy="48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09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Transform images to same image plane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5471EE-A251-4001-979D-5D9F8EC9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76" y="1898230"/>
            <a:ext cx="5369924" cy="4092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18F83C-97FF-41EB-AE01-FB441E7E4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502" y="1898230"/>
            <a:ext cx="5387588" cy="40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01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Image Stitching 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Image mosaic formed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46281DE-C06E-4372-A09A-22D40357E9F5}"/>
              </a:ext>
            </a:extLst>
          </p:cNvPr>
          <p:cNvSpPr/>
          <p:nvPr/>
        </p:nvSpPr>
        <p:spPr>
          <a:xfrm rot="5400000">
            <a:off x="5613896" y="4567972"/>
            <a:ext cx="280495" cy="273380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BEC37-98CE-4162-AFC6-FD9B479D8A96}"/>
              </a:ext>
            </a:extLst>
          </p:cNvPr>
          <p:cNvSpPr txBox="1"/>
          <p:nvPr/>
        </p:nvSpPr>
        <p:spPr>
          <a:xfrm>
            <a:off x="4564418" y="6075122"/>
            <a:ext cx="237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Region of overlap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F2650-9639-427D-91E3-10DD7576F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118" y="1562520"/>
            <a:ext cx="5602167" cy="427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6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Image Warping</a:t>
            </a:r>
          </a:p>
        </p:txBody>
      </p:sp>
    </p:spTree>
    <p:extLst>
      <p:ext uri="{BB962C8B-B14F-4D97-AF65-F5344CB8AC3E}">
        <p14:creationId xmlns:p14="http://schemas.microsoft.com/office/powerpoint/2010/main" val="914302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Warping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2999"/>
                <a:ext cx="11525250" cy="553337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Use an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homography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to warp one image to coordinate system to another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Can use forward mapping of pixels between coordinate systems,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Source or </a:t>
                </a:r>
                <a:r>
                  <a:rPr lang="en-GB" sz="24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target image</a:t>
                </a:r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Transformed target image to coordinates of the reference image,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Segoe UI" panose="020B0502040204020203" pitchFamily="34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Segoe UI" panose="020B0502040204020203" pitchFamily="34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Segoe UI" panose="020B0502040204020203" pitchFamily="34" charset="0"/>
                                <a:cs typeface="Segoe UI" panose="020B0502040204020203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sz="2800" dirty="0"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Can use inverse mapping of pixels between coordinate systems</a:t>
                </a:r>
                <a:r>
                  <a:rPr lang="en-GB" sz="2800" dirty="0"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′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GB" sz="2800" dirty="0"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ℋ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ℋ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transforms image plane of </a:t>
                </a:r>
                <a:r>
                  <a:rPr lang="en-GB" sz="24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regerence</a:t>
                </a:r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image to image plane of target image  </a:t>
                </a:r>
              </a:p>
              <a:p>
                <a:pPr lvl="1"/>
                <a:r>
                  <a:rPr lang="en-GB" sz="24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Scikit Image follows this convention and uses inverse transform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2999"/>
                <a:ext cx="11525250" cy="5533373"/>
              </a:xfrm>
              <a:prstGeom prst="rect">
                <a:avLst/>
              </a:prstGeom>
              <a:blipFill>
                <a:blip r:embed="rId3"/>
                <a:stretch>
                  <a:fillRect l="-1058" t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5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Warping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2999"/>
                <a:ext cx="11525250" cy="553337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Use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homography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to warp one image to coordinate system to another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Can use forward mapping of pixels between coordinate systems,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Segoe UI" panose="020B0502040204020203" pitchFamily="34" charset="0"/>
                                  <a:cs typeface="Segoe UI" panose="020B0502040204020203" pitchFamily="34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ℋ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sz="2800" dirty="0"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Can use inverse mapping of pixels between coordinate systems</a:t>
                </a:r>
                <a:r>
                  <a:rPr lang="en-GB" sz="2800" dirty="0"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′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⟹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</m:oMath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GB" sz="2800" dirty="0"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ℋ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Segoe UI" panose="020B0502040204020203" pitchFamily="34" charset="0"/>
                              <a:cs typeface="Segoe UI" panose="020B0502040204020203" pitchFamily="34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Which direction should you map?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Depends on which image is the target and which is reference – Be careful!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Usually apply the inverse transform 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2999"/>
                <a:ext cx="11525250" cy="5533373"/>
              </a:xfrm>
              <a:prstGeom prst="rect">
                <a:avLst/>
              </a:prstGeom>
              <a:blipFill>
                <a:blip r:embed="rId3"/>
                <a:stretch>
                  <a:fillRect l="-1058" t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09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Warping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2999"/>
                <a:ext cx="11525250" cy="155908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Use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homography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to warp one image to coordinate system to another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When warping an image there is no guarantee that source pixels land within target grid boundaries – no constraint   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2999"/>
                <a:ext cx="11525250" cy="1559089"/>
              </a:xfrm>
              <a:prstGeom prst="rect">
                <a:avLst/>
              </a:prstGeom>
              <a:blipFill>
                <a:blip r:embed="rId3"/>
                <a:stretch>
                  <a:fillRect l="-1058" t="-3516" b="-10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80FDDA-C507-4FBF-94C4-5A74AE66D72B}"/>
              </a:ext>
            </a:extLst>
          </p:cNvPr>
          <p:cNvCxnSpPr/>
          <p:nvPr/>
        </p:nvCxnSpPr>
        <p:spPr>
          <a:xfrm>
            <a:off x="1388040" y="2876409"/>
            <a:ext cx="0" cy="232984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261469-13A9-4833-9E0F-CCD93CAB2827}"/>
              </a:ext>
            </a:extLst>
          </p:cNvPr>
          <p:cNvCxnSpPr/>
          <p:nvPr/>
        </p:nvCxnSpPr>
        <p:spPr>
          <a:xfrm>
            <a:off x="2018516" y="2876409"/>
            <a:ext cx="0" cy="232984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0336B5-6E34-4679-AC27-E3F02E688ECB}"/>
              </a:ext>
            </a:extLst>
          </p:cNvPr>
          <p:cNvCxnSpPr/>
          <p:nvPr/>
        </p:nvCxnSpPr>
        <p:spPr>
          <a:xfrm>
            <a:off x="2648992" y="2876409"/>
            <a:ext cx="0" cy="232984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A2DDA8-86E5-4B89-84D6-0D881A303E1B}"/>
              </a:ext>
            </a:extLst>
          </p:cNvPr>
          <p:cNvCxnSpPr>
            <a:cxnSpLocks/>
          </p:cNvCxnSpPr>
          <p:nvPr/>
        </p:nvCxnSpPr>
        <p:spPr>
          <a:xfrm>
            <a:off x="1024786" y="3073694"/>
            <a:ext cx="263672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619D33-8221-4494-AD95-6CB40C323158}"/>
              </a:ext>
            </a:extLst>
          </p:cNvPr>
          <p:cNvCxnSpPr/>
          <p:nvPr/>
        </p:nvCxnSpPr>
        <p:spPr>
          <a:xfrm>
            <a:off x="3317048" y="2876409"/>
            <a:ext cx="0" cy="232984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B1F8DD-194D-4C51-83E1-048535AA16D0}"/>
              </a:ext>
            </a:extLst>
          </p:cNvPr>
          <p:cNvCxnSpPr>
            <a:cxnSpLocks/>
          </p:cNvCxnSpPr>
          <p:nvPr/>
        </p:nvCxnSpPr>
        <p:spPr>
          <a:xfrm>
            <a:off x="1024786" y="3779326"/>
            <a:ext cx="263672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524C3F-EFEE-452B-8345-159AA6573E94}"/>
              </a:ext>
            </a:extLst>
          </p:cNvPr>
          <p:cNvCxnSpPr>
            <a:cxnSpLocks/>
          </p:cNvCxnSpPr>
          <p:nvPr/>
        </p:nvCxnSpPr>
        <p:spPr>
          <a:xfrm>
            <a:off x="1024786" y="4484958"/>
            <a:ext cx="263672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968BD1-1EF8-482C-A8A2-79557987AE63}"/>
              </a:ext>
            </a:extLst>
          </p:cNvPr>
          <p:cNvCxnSpPr>
            <a:cxnSpLocks/>
          </p:cNvCxnSpPr>
          <p:nvPr/>
        </p:nvCxnSpPr>
        <p:spPr>
          <a:xfrm>
            <a:off x="1024786" y="5031928"/>
            <a:ext cx="263672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968B1D-5878-497A-8C11-9A3AD3C1CD11}"/>
              </a:ext>
            </a:extLst>
          </p:cNvPr>
          <p:cNvSpPr txBox="1"/>
          <p:nvPr/>
        </p:nvSpPr>
        <p:spPr>
          <a:xfrm>
            <a:off x="782851" y="5253336"/>
            <a:ext cx="3120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Source Image Pixel Grid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93D47D-8014-4685-B795-1079C924D7BC}"/>
              </a:ext>
            </a:extLst>
          </p:cNvPr>
          <p:cNvSpPr txBox="1"/>
          <p:nvPr/>
        </p:nvSpPr>
        <p:spPr>
          <a:xfrm>
            <a:off x="9304550" y="3826214"/>
            <a:ext cx="1862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Target Image</a:t>
            </a:r>
          </a:p>
          <a:p>
            <a:r>
              <a:rPr lang="en-US" sz="2400" dirty="0"/>
              <a:t>Pixel Grid</a:t>
            </a:r>
          </a:p>
        </p:txBody>
      </p:sp>
      <p:sp>
        <p:nvSpPr>
          <p:cNvPr id="31" name="Arrow: Curved Down 30">
            <a:extLst>
              <a:ext uri="{FF2B5EF4-FFF2-40B4-BE49-F238E27FC236}">
                <a16:creationId xmlns:a16="http://schemas.microsoft.com/office/drawing/2014/main" id="{718D7978-AAE1-4627-8F6F-B96702F3A8FA}"/>
              </a:ext>
            </a:extLst>
          </p:cNvPr>
          <p:cNvSpPr/>
          <p:nvPr/>
        </p:nvSpPr>
        <p:spPr>
          <a:xfrm rot="486036">
            <a:off x="2294171" y="3925827"/>
            <a:ext cx="5931216" cy="63176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6B35E9-EEEA-4BC3-A14D-83E28F49A807}"/>
                  </a:ext>
                </a:extLst>
              </p:cNvPr>
              <p:cNvSpPr txBox="1"/>
              <p:nvPr/>
            </p:nvSpPr>
            <p:spPr>
              <a:xfrm>
                <a:off x="3761610" y="3239632"/>
                <a:ext cx="23208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tx2"/>
                    </a:solidFill>
                    <a:ea typeface="Segoe UI" panose="020B0502040204020203" pitchFamily="34" charset="0"/>
                    <a:cs typeface="Segoe UI" panose="020B0502040204020203" pitchFamily="34" charset="0"/>
                  </a:rPr>
                  <a:t>Homography,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6B35E9-EEEA-4BC3-A14D-83E28F49A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10" y="3239632"/>
                <a:ext cx="2320831" cy="461665"/>
              </a:xfrm>
              <a:prstGeom prst="rect">
                <a:avLst/>
              </a:prstGeom>
              <a:blipFill>
                <a:blip r:embed="rId4"/>
                <a:stretch>
                  <a:fillRect l="-393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E309B7C-926F-42E3-912A-2767B9368B7B}"/>
              </a:ext>
            </a:extLst>
          </p:cNvPr>
          <p:cNvSpPr txBox="1"/>
          <p:nvPr/>
        </p:nvSpPr>
        <p:spPr>
          <a:xfrm>
            <a:off x="5768560" y="6010902"/>
            <a:ext cx="4592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Warped Reference Image Pixel Grid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35091A-F533-7CB4-BD1B-93B596B7F10F}"/>
              </a:ext>
            </a:extLst>
          </p:cNvPr>
          <p:cNvCxnSpPr/>
          <p:nvPr/>
        </p:nvCxnSpPr>
        <p:spPr>
          <a:xfrm>
            <a:off x="6861740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A5E3D6-F1E6-3BCC-DA63-6C3004A8DB82}"/>
              </a:ext>
            </a:extLst>
          </p:cNvPr>
          <p:cNvCxnSpPr/>
          <p:nvPr/>
        </p:nvCxnSpPr>
        <p:spPr>
          <a:xfrm>
            <a:off x="7492216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7AE3F1-C904-EF4C-F262-32C022988E74}"/>
              </a:ext>
            </a:extLst>
          </p:cNvPr>
          <p:cNvCxnSpPr/>
          <p:nvPr/>
        </p:nvCxnSpPr>
        <p:spPr>
          <a:xfrm>
            <a:off x="8122692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950260D-1F87-E67B-AE01-08E797A39C35}"/>
              </a:ext>
            </a:extLst>
          </p:cNvPr>
          <p:cNvCxnSpPr>
            <a:cxnSpLocks/>
          </p:cNvCxnSpPr>
          <p:nvPr/>
        </p:nvCxnSpPr>
        <p:spPr>
          <a:xfrm>
            <a:off x="6498486" y="3517322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54CD4E6-AD1D-4F9F-ABDA-5ADA9005AC98}"/>
              </a:ext>
            </a:extLst>
          </p:cNvPr>
          <p:cNvCxnSpPr/>
          <p:nvPr/>
        </p:nvCxnSpPr>
        <p:spPr>
          <a:xfrm>
            <a:off x="8790748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6E87759-2290-8B7E-725E-E6D0092D7F2B}"/>
              </a:ext>
            </a:extLst>
          </p:cNvPr>
          <p:cNvCxnSpPr>
            <a:cxnSpLocks/>
          </p:cNvCxnSpPr>
          <p:nvPr/>
        </p:nvCxnSpPr>
        <p:spPr>
          <a:xfrm>
            <a:off x="6545512" y="4218777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0624DB-4410-D159-E641-9E3F56F3FE74}"/>
              </a:ext>
            </a:extLst>
          </p:cNvPr>
          <p:cNvCxnSpPr>
            <a:cxnSpLocks/>
          </p:cNvCxnSpPr>
          <p:nvPr/>
        </p:nvCxnSpPr>
        <p:spPr>
          <a:xfrm>
            <a:off x="6498486" y="492858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623549-7C6C-B3A6-5A16-2AEE01E29214}"/>
              </a:ext>
            </a:extLst>
          </p:cNvPr>
          <p:cNvCxnSpPr>
            <a:cxnSpLocks/>
          </p:cNvCxnSpPr>
          <p:nvPr/>
        </p:nvCxnSpPr>
        <p:spPr>
          <a:xfrm>
            <a:off x="6498486" y="547555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2F26F0-6084-9B0F-C918-010C0E2E0119}"/>
              </a:ext>
            </a:extLst>
          </p:cNvPr>
          <p:cNvCxnSpPr>
            <a:cxnSpLocks/>
          </p:cNvCxnSpPr>
          <p:nvPr/>
        </p:nvCxnSpPr>
        <p:spPr>
          <a:xfrm>
            <a:off x="7097423" y="3327131"/>
            <a:ext cx="0" cy="251764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264358E-5883-373C-F4CF-17715EF7758B}"/>
              </a:ext>
            </a:extLst>
          </p:cNvPr>
          <p:cNvCxnSpPr/>
          <p:nvPr/>
        </p:nvCxnSpPr>
        <p:spPr>
          <a:xfrm>
            <a:off x="7713638" y="3376405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3E0E4C9-421F-8F80-22A4-30C5B52B2941}"/>
              </a:ext>
            </a:extLst>
          </p:cNvPr>
          <p:cNvCxnSpPr/>
          <p:nvPr/>
        </p:nvCxnSpPr>
        <p:spPr>
          <a:xfrm>
            <a:off x="8429007" y="3338977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A31AA58-7454-824B-26F1-EFCAE5116016}"/>
              </a:ext>
            </a:extLst>
          </p:cNvPr>
          <p:cNvCxnSpPr>
            <a:cxnSpLocks/>
          </p:cNvCxnSpPr>
          <p:nvPr/>
        </p:nvCxnSpPr>
        <p:spPr>
          <a:xfrm flipV="1">
            <a:off x="6603357" y="3567431"/>
            <a:ext cx="2531857" cy="5875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24182FF-2B9C-544A-D6DD-5294BB6E97C8}"/>
              </a:ext>
            </a:extLst>
          </p:cNvPr>
          <p:cNvCxnSpPr/>
          <p:nvPr/>
        </p:nvCxnSpPr>
        <p:spPr>
          <a:xfrm>
            <a:off x="8942722" y="3329038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7DDCFF2-E039-FAC6-B17D-0D3B617D8CF1}"/>
              </a:ext>
            </a:extLst>
          </p:cNvPr>
          <p:cNvCxnSpPr>
            <a:cxnSpLocks/>
          </p:cNvCxnSpPr>
          <p:nvPr/>
        </p:nvCxnSpPr>
        <p:spPr>
          <a:xfrm flipV="1">
            <a:off x="6580881" y="4133295"/>
            <a:ext cx="2565990" cy="68778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D485862-180E-99E8-C3B2-9C876983E4BE}"/>
              </a:ext>
            </a:extLst>
          </p:cNvPr>
          <p:cNvCxnSpPr>
            <a:cxnSpLocks/>
          </p:cNvCxnSpPr>
          <p:nvPr/>
        </p:nvCxnSpPr>
        <p:spPr>
          <a:xfrm flipV="1">
            <a:off x="6717496" y="5031928"/>
            <a:ext cx="2656410" cy="62695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31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  <p:bldP spid="40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arallelogram 30">
            <a:extLst>
              <a:ext uri="{FF2B5EF4-FFF2-40B4-BE49-F238E27FC236}">
                <a16:creationId xmlns:a16="http://schemas.microsoft.com/office/drawing/2014/main" id="{F2BD1D03-BF53-C133-E68C-03860807E5CB}"/>
              </a:ext>
            </a:extLst>
          </p:cNvPr>
          <p:cNvSpPr/>
          <p:nvPr/>
        </p:nvSpPr>
        <p:spPr>
          <a:xfrm rot="5400000" flipV="1">
            <a:off x="6984996" y="3867821"/>
            <a:ext cx="1603099" cy="1401523"/>
          </a:xfrm>
          <a:prstGeom prst="parallelogram">
            <a:avLst/>
          </a:prstGeom>
          <a:solidFill>
            <a:schemeClr val="tx1">
              <a:lumMod val="50000"/>
              <a:lumOff val="50000"/>
              <a:alpha val="7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6FB36-63C8-4296-8BA9-1BD0923B679B}"/>
              </a:ext>
            </a:extLst>
          </p:cNvPr>
          <p:cNvSpPr/>
          <p:nvPr/>
        </p:nvSpPr>
        <p:spPr>
          <a:xfrm>
            <a:off x="7466954" y="4203963"/>
            <a:ext cx="630475" cy="70563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Warping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2999"/>
                <a:ext cx="11525250" cy="155908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Use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homography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to warp one image to coordinate system to another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When warping an image there is no guarantee that source pixels land within target grid boundaries  - no constraint   </a:t>
                </a: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2999"/>
                <a:ext cx="11525250" cy="1559089"/>
              </a:xfrm>
              <a:prstGeom prst="rect">
                <a:avLst/>
              </a:prstGeom>
              <a:blipFill>
                <a:blip r:embed="rId3"/>
                <a:stretch>
                  <a:fillRect l="-1058" t="-3516" b="-10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293D47D-8014-4685-B795-1079C924D7BC}"/>
              </a:ext>
            </a:extLst>
          </p:cNvPr>
          <p:cNvSpPr txBox="1"/>
          <p:nvPr/>
        </p:nvSpPr>
        <p:spPr>
          <a:xfrm>
            <a:off x="9304550" y="3826214"/>
            <a:ext cx="1862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Target Image</a:t>
            </a:r>
          </a:p>
          <a:p>
            <a:r>
              <a:rPr lang="en-US" sz="2400" dirty="0"/>
              <a:t>Pixel Grid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309B7C-926F-42E3-912A-2767B9368B7B}"/>
              </a:ext>
            </a:extLst>
          </p:cNvPr>
          <p:cNvSpPr txBox="1"/>
          <p:nvPr/>
        </p:nvSpPr>
        <p:spPr>
          <a:xfrm>
            <a:off x="6154506" y="5948976"/>
            <a:ext cx="4692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Warped </a:t>
            </a:r>
            <a:r>
              <a:rPr lang="en-GB" sz="2400" dirty="0" err="1">
                <a:solidFill>
                  <a:srgbClr val="FF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Regerence</a:t>
            </a:r>
            <a:r>
              <a:rPr lang="en-GB" sz="2400" dirty="0">
                <a:solidFill>
                  <a:srgbClr val="FF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Image Pixel Grid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234D4780-42FB-4CC2-ACC2-9E1ED6B90072}"/>
              </a:ext>
            </a:extLst>
          </p:cNvPr>
          <p:cNvSpPr txBox="1">
            <a:spLocks/>
          </p:cNvSpPr>
          <p:nvPr/>
        </p:nvSpPr>
        <p:spPr>
          <a:xfrm>
            <a:off x="478821" y="2733602"/>
            <a:ext cx="5572197" cy="3615448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Values of warped pixel fall into several target pixels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Warped pixel values influence several cells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Apply other Composing methods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1BAC52-CE75-50C9-FE40-7DAF3E37B94E}"/>
              </a:ext>
            </a:extLst>
          </p:cNvPr>
          <p:cNvCxnSpPr/>
          <p:nvPr/>
        </p:nvCxnSpPr>
        <p:spPr>
          <a:xfrm>
            <a:off x="6861740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C209B6-41D6-93E5-72ED-3375DB7E6A58}"/>
              </a:ext>
            </a:extLst>
          </p:cNvPr>
          <p:cNvCxnSpPr/>
          <p:nvPr/>
        </p:nvCxnSpPr>
        <p:spPr>
          <a:xfrm>
            <a:off x="7492216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D14334-F1A0-C0B6-E83B-A50F99B95B3D}"/>
              </a:ext>
            </a:extLst>
          </p:cNvPr>
          <p:cNvCxnSpPr/>
          <p:nvPr/>
        </p:nvCxnSpPr>
        <p:spPr>
          <a:xfrm>
            <a:off x="8122692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75BC5B-AD13-05FF-453D-361E0EE51820}"/>
              </a:ext>
            </a:extLst>
          </p:cNvPr>
          <p:cNvCxnSpPr>
            <a:cxnSpLocks/>
          </p:cNvCxnSpPr>
          <p:nvPr/>
        </p:nvCxnSpPr>
        <p:spPr>
          <a:xfrm>
            <a:off x="6498486" y="3517322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B9EE43-2907-6D5E-2679-F1504B8EC242}"/>
              </a:ext>
            </a:extLst>
          </p:cNvPr>
          <p:cNvCxnSpPr/>
          <p:nvPr/>
        </p:nvCxnSpPr>
        <p:spPr>
          <a:xfrm>
            <a:off x="8790748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25EFDC-339B-0054-CB75-AB8EE056DE85}"/>
              </a:ext>
            </a:extLst>
          </p:cNvPr>
          <p:cNvCxnSpPr>
            <a:cxnSpLocks/>
          </p:cNvCxnSpPr>
          <p:nvPr/>
        </p:nvCxnSpPr>
        <p:spPr>
          <a:xfrm>
            <a:off x="6545512" y="4218777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A4B8AB-C163-26ED-8D0E-CAC8E1BD2A7E}"/>
              </a:ext>
            </a:extLst>
          </p:cNvPr>
          <p:cNvCxnSpPr>
            <a:cxnSpLocks/>
          </p:cNvCxnSpPr>
          <p:nvPr/>
        </p:nvCxnSpPr>
        <p:spPr>
          <a:xfrm>
            <a:off x="6498486" y="492858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6A363D-329F-D645-789E-EBCD6017B256}"/>
              </a:ext>
            </a:extLst>
          </p:cNvPr>
          <p:cNvCxnSpPr>
            <a:cxnSpLocks/>
          </p:cNvCxnSpPr>
          <p:nvPr/>
        </p:nvCxnSpPr>
        <p:spPr>
          <a:xfrm>
            <a:off x="6498486" y="547555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B0A873-ECDE-8DF5-40AF-2306A6988DB0}"/>
              </a:ext>
            </a:extLst>
          </p:cNvPr>
          <p:cNvCxnSpPr>
            <a:cxnSpLocks/>
          </p:cNvCxnSpPr>
          <p:nvPr/>
        </p:nvCxnSpPr>
        <p:spPr>
          <a:xfrm>
            <a:off x="7097423" y="3327131"/>
            <a:ext cx="0" cy="251764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047E3B-81A7-50BF-6659-8D53129C8987}"/>
              </a:ext>
            </a:extLst>
          </p:cNvPr>
          <p:cNvCxnSpPr/>
          <p:nvPr/>
        </p:nvCxnSpPr>
        <p:spPr>
          <a:xfrm>
            <a:off x="7713638" y="3376405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02E000-1991-7535-E195-D73FF7B46E88}"/>
              </a:ext>
            </a:extLst>
          </p:cNvPr>
          <p:cNvCxnSpPr/>
          <p:nvPr/>
        </p:nvCxnSpPr>
        <p:spPr>
          <a:xfrm>
            <a:off x="8429007" y="3338977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F62115-4AD4-8A7B-6122-807B419FEA40}"/>
              </a:ext>
            </a:extLst>
          </p:cNvPr>
          <p:cNvCxnSpPr>
            <a:cxnSpLocks/>
          </p:cNvCxnSpPr>
          <p:nvPr/>
        </p:nvCxnSpPr>
        <p:spPr>
          <a:xfrm flipV="1">
            <a:off x="6545512" y="3567431"/>
            <a:ext cx="2589702" cy="67428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AEEA3D-B2E2-9400-A184-E72E285C3CD0}"/>
              </a:ext>
            </a:extLst>
          </p:cNvPr>
          <p:cNvCxnSpPr/>
          <p:nvPr/>
        </p:nvCxnSpPr>
        <p:spPr>
          <a:xfrm>
            <a:off x="8942722" y="3329038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700E2B-755F-79E8-4460-9748EAF25701}"/>
              </a:ext>
            </a:extLst>
          </p:cNvPr>
          <p:cNvCxnSpPr>
            <a:cxnSpLocks/>
          </p:cNvCxnSpPr>
          <p:nvPr/>
        </p:nvCxnSpPr>
        <p:spPr>
          <a:xfrm flipV="1">
            <a:off x="6580881" y="4133295"/>
            <a:ext cx="2565990" cy="68778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27169E-52AC-52C7-1AB5-8F673295E275}"/>
              </a:ext>
            </a:extLst>
          </p:cNvPr>
          <p:cNvCxnSpPr>
            <a:cxnSpLocks/>
          </p:cNvCxnSpPr>
          <p:nvPr/>
        </p:nvCxnSpPr>
        <p:spPr>
          <a:xfrm flipV="1">
            <a:off x="6603357" y="4859628"/>
            <a:ext cx="2656410" cy="62695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17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Warping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21081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When warping an image there is no guarantee that source pixels land within target grid boundaries  - no constraint 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Interpolate fill pixel values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Scikit Image supports several of possible methods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167604-E6AE-44D6-B192-9B360CC573A8}"/>
              </a:ext>
            </a:extLst>
          </p:cNvPr>
          <p:cNvCxnSpPr/>
          <p:nvPr/>
        </p:nvCxnSpPr>
        <p:spPr>
          <a:xfrm>
            <a:off x="6861740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A74976-BA85-48B8-8350-D1ACF8CD7884}"/>
              </a:ext>
            </a:extLst>
          </p:cNvPr>
          <p:cNvCxnSpPr/>
          <p:nvPr/>
        </p:nvCxnSpPr>
        <p:spPr>
          <a:xfrm>
            <a:off x="7492216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06BC0C-A3AC-4E76-B223-96994A65D6A3}"/>
              </a:ext>
            </a:extLst>
          </p:cNvPr>
          <p:cNvCxnSpPr/>
          <p:nvPr/>
        </p:nvCxnSpPr>
        <p:spPr>
          <a:xfrm>
            <a:off x="8122692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DC2DFF-0717-444A-B21E-9F783A8DD2C7}"/>
              </a:ext>
            </a:extLst>
          </p:cNvPr>
          <p:cNvCxnSpPr>
            <a:cxnSpLocks/>
          </p:cNvCxnSpPr>
          <p:nvPr/>
        </p:nvCxnSpPr>
        <p:spPr>
          <a:xfrm>
            <a:off x="6498486" y="3517322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39B6D1-275C-4A58-9EA5-6B978C1FC269}"/>
              </a:ext>
            </a:extLst>
          </p:cNvPr>
          <p:cNvCxnSpPr/>
          <p:nvPr/>
        </p:nvCxnSpPr>
        <p:spPr>
          <a:xfrm>
            <a:off x="8790748" y="3320037"/>
            <a:ext cx="0" cy="232984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7E44AC-9F69-4B6E-BCC1-78D67A9DBA3A}"/>
              </a:ext>
            </a:extLst>
          </p:cNvPr>
          <p:cNvCxnSpPr>
            <a:cxnSpLocks/>
          </p:cNvCxnSpPr>
          <p:nvPr/>
        </p:nvCxnSpPr>
        <p:spPr>
          <a:xfrm>
            <a:off x="6498486" y="4222954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5BD05E-05F5-47F9-AA06-6A9755FC621D}"/>
              </a:ext>
            </a:extLst>
          </p:cNvPr>
          <p:cNvCxnSpPr>
            <a:cxnSpLocks/>
          </p:cNvCxnSpPr>
          <p:nvPr/>
        </p:nvCxnSpPr>
        <p:spPr>
          <a:xfrm>
            <a:off x="6498486" y="492858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850CCB-CDB3-4054-A787-00EB620A0E5C}"/>
              </a:ext>
            </a:extLst>
          </p:cNvPr>
          <p:cNvCxnSpPr>
            <a:cxnSpLocks/>
          </p:cNvCxnSpPr>
          <p:nvPr/>
        </p:nvCxnSpPr>
        <p:spPr>
          <a:xfrm>
            <a:off x="6498486" y="5475556"/>
            <a:ext cx="263672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93D47D-8014-4685-B795-1079C924D7BC}"/>
              </a:ext>
            </a:extLst>
          </p:cNvPr>
          <p:cNvSpPr txBox="1"/>
          <p:nvPr/>
        </p:nvSpPr>
        <p:spPr>
          <a:xfrm>
            <a:off x="9304550" y="3826214"/>
            <a:ext cx="1862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Target Image</a:t>
            </a:r>
          </a:p>
          <a:p>
            <a:r>
              <a:rPr lang="en-US" sz="2400" dirty="0"/>
              <a:t>Pixel Grid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CBA78B-2811-4616-9432-140B015D6AE1}"/>
              </a:ext>
            </a:extLst>
          </p:cNvPr>
          <p:cNvCxnSpPr/>
          <p:nvPr/>
        </p:nvCxnSpPr>
        <p:spPr>
          <a:xfrm>
            <a:off x="7031076" y="3638409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E33F81-7D81-42AC-BD23-DC261043EB23}"/>
              </a:ext>
            </a:extLst>
          </p:cNvPr>
          <p:cNvCxnSpPr/>
          <p:nvPr/>
        </p:nvCxnSpPr>
        <p:spPr>
          <a:xfrm>
            <a:off x="7661552" y="3638409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7F9032C-0138-435D-947D-B6A30DD03D77}"/>
              </a:ext>
            </a:extLst>
          </p:cNvPr>
          <p:cNvCxnSpPr/>
          <p:nvPr/>
        </p:nvCxnSpPr>
        <p:spPr>
          <a:xfrm>
            <a:off x="8292028" y="3638409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0271D24-46D6-4E18-BC4B-E975C8B0EF56}"/>
              </a:ext>
            </a:extLst>
          </p:cNvPr>
          <p:cNvCxnSpPr>
            <a:cxnSpLocks/>
          </p:cNvCxnSpPr>
          <p:nvPr/>
        </p:nvCxnSpPr>
        <p:spPr>
          <a:xfrm>
            <a:off x="6667822" y="3835694"/>
            <a:ext cx="26367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7DA325C-DFCE-4F0C-A3D3-9CEE176743A6}"/>
              </a:ext>
            </a:extLst>
          </p:cNvPr>
          <p:cNvCxnSpPr/>
          <p:nvPr/>
        </p:nvCxnSpPr>
        <p:spPr>
          <a:xfrm>
            <a:off x="8960084" y="3638409"/>
            <a:ext cx="0" cy="232984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DE443F-7345-42E9-B212-DFA073AFF410}"/>
              </a:ext>
            </a:extLst>
          </p:cNvPr>
          <p:cNvCxnSpPr>
            <a:cxnSpLocks/>
          </p:cNvCxnSpPr>
          <p:nvPr/>
        </p:nvCxnSpPr>
        <p:spPr>
          <a:xfrm>
            <a:off x="6667822" y="4541326"/>
            <a:ext cx="26367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E60745-47A9-47B4-9B89-E456FCE4E484}"/>
              </a:ext>
            </a:extLst>
          </p:cNvPr>
          <p:cNvCxnSpPr>
            <a:cxnSpLocks/>
          </p:cNvCxnSpPr>
          <p:nvPr/>
        </p:nvCxnSpPr>
        <p:spPr>
          <a:xfrm>
            <a:off x="6667822" y="5246958"/>
            <a:ext cx="26367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141753-FA7D-4C12-AC20-A70C59AD4F98}"/>
              </a:ext>
            </a:extLst>
          </p:cNvPr>
          <p:cNvCxnSpPr>
            <a:cxnSpLocks/>
          </p:cNvCxnSpPr>
          <p:nvPr/>
        </p:nvCxnSpPr>
        <p:spPr>
          <a:xfrm>
            <a:off x="6667822" y="5793928"/>
            <a:ext cx="263672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E309B7C-926F-42E3-912A-2767B9368B7B}"/>
              </a:ext>
            </a:extLst>
          </p:cNvPr>
          <p:cNvSpPr txBox="1"/>
          <p:nvPr/>
        </p:nvSpPr>
        <p:spPr>
          <a:xfrm>
            <a:off x="6426741" y="6010902"/>
            <a:ext cx="333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Warped Image Pixel Grid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234D4780-42FB-4CC2-ACC2-9E1ED6B90072}"/>
              </a:ext>
            </a:extLst>
          </p:cNvPr>
          <p:cNvSpPr txBox="1">
            <a:spLocks/>
          </p:cNvSpPr>
          <p:nvPr/>
        </p:nvSpPr>
        <p:spPr>
          <a:xfrm>
            <a:off x="347785" y="3174879"/>
            <a:ext cx="5572197" cy="3615448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Nearest-neighbor</a:t>
            </a:r>
          </a:p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Bi-linear (default)</a:t>
            </a:r>
          </a:p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Bi-quadratic</a:t>
            </a:r>
          </a:p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Bi-cubic</a:t>
            </a:r>
          </a:p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Bi-quartic</a:t>
            </a:r>
          </a:p>
          <a:p>
            <a:pPr marL="914246" lvl="1" indent="-457200">
              <a:buFont typeface="+mj-lt"/>
              <a:buAutoNum type="arabicPeriod"/>
            </a:pPr>
            <a:r>
              <a:rPr lang="en-US" sz="2400" dirty="0">
                <a:latin typeface="+mn-lt"/>
              </a:rPr>
              <a:t>Bi-quintic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6FB36-63C8-4296-8BA9-1BD0923B679B}"/>
              </a:ext>
            </a:extLst>
          </p:cNvPr>
          <p:cNvSpPr/>
          <p:nvPr/>
        </p:nvSpPr>
        <p:spPr>
          <a:xfrm>
            <a:off x="7661552" y="4541326"/>
            <a:ext cx="630475" cy="70563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401D9-ABDF-48C5-AED4-44BC83A34CAA}"/>
              </a:ext>
            </a:extLst>
          </p:cNvPr>
          <p:cNvSpPr/>
          <p:nvPr/>
        </p:nvSpPr>
        <p:spPr>
          <a:xfrm>
            <a:off x="7492216" y="4222954"/>
            <a:ext cx="1292727" cy="1252599"/>
          </a:xfrm>
          <a:prstGeom prst="rect">
            <a:avLst/>
          </a:prstGeom>
          <a:solidFill>
            <a:schemeClr val="tx1">
              <a:lumMod val="50000"/>
              <a:lumOff val="50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2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Planar Transformations for </a:t>
            </a: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Image Stitching</a:t>
            </a:r>
          </a:p>
        </p:txBody>
      </p:sp>
    </p:spTree>
    <p:extLst>
      <p:ext uri="{BB962C8B-B14F-4D97-AF65-F5344CB8AC3E}">
        <p14:creationId xmlns:p14="http://schemas.microsoft.com/office/powerpoint/2010/main" val="3211274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Planar transformations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Can use different approximations for image stitching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Cylindrical coordinates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Assume camera rotates about an axis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Spherical coordinates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Allows unrestricted camera rotation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Planar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Good approximation if objects far from camera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Good approximation for small changes in camera pose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Our focus here for simplicity  </a:t>
            </a: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B0D9-0E99-F20D-A434-DA91052C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9EC4-A2E2-37D1-0042-E40F4422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Planar transformations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4EECC5E3-D1AF-BFF5-F896-57ABEEC50A0F}"/>
              </a:ext>
            </a:extLst>
          </p:cNvPr>
          <p:cNvSpPr txBox="1">
            <a:spLocks/>
          </p:cNvSpPr>
          <p:nvPr/>
        </p:nvSpPr>
        <p:spPr>
          <a:xfrm>
            <a:off x="465150" y="1143001"/>
            <a:ext cx="11525250" cy="203010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Planar transformation maps one image plan to another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Top view of two image planes with a common camera centre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Project one image plane onto the other</a:t>
            </a:r>
          </a:p>
          <a:p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Homographies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only accurate for single plane</a:t>
            </a: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2EB7C1-AFD8-581D-3407-0B7585BB37E1}"/>
              </a:ext>
            </a:extLst>
          </p:cNvPr>
          <p:cNvSpPr/>
          <p:nvPr/>
        </p:nvSpPr>
        <p:spPr>
          <a:xfrm>
            <a:off x="5061633" y="6334814"/>
            <a:ext cx="200417" cy="187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C5C2F-E27F-A906-4E89-2BE95BCF4D33}"/>
              </a:ext>
            </a:extLst>
          </p:cNvPr>
          <p:cNvSpPr txBox="1"/>
          <p:nvPr/>
        </p:nvSpPr>
        <p:spPr>
          <a:xfrm>
            <a:off x="5495871" y="6023342"/>
            <a:ext cx="1244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Camera Center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CB183B-08A7-7656-B074-DB20663D96EB}"/>
              </a:ext>
            </a:extLst>
          </p:cNvPr>
          <p:cNvCxnSpPr/>
          <p:nvPr/>
        </p:nvCxnSpPr>
        <p:spPr>
          <a:xfrm>
            <a:off x="3182729" y="3535247"/>
            <a:ext cx="3933173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BF6DED-8C7B-0639-2E01-724266370BCD}"/>
              </a:ext>
            </a:extLst>
          </p:cNvPr>
          <p:cNvCxnSpPr>
            <a:cxnSpLocks/>
          </p:cNvCxnSpPr>
          <p:nvPr/>
        </p:nvCxnSpPr>
        <p:spPr>
          <a:xfrm>
            <a:off x="4677502" y="3239537"/>
            <a:ext cx="3565742" cy="145510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0344AE-CD3D-86D1-0E72-963EE28316F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5105474" y="3528984"/>
            <a:ext cx="56368" cy="280583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1ECC3-49F9-A63A-3EC9-F181CBB61C57}"/>
              </a:ext>
            </a:extLst>
          </p:cNvPr>
          <p:cNvCxnSpPr>
            <a:cxnSpLocks/>
            <a:stCxn id="3" idx="4"/>
          </p:cNvCxnSpPr>
          <p:nvPr/>
        </p:nvCxnSpPr>
        <p:spPr>
          <a:xfrm flipH="1" flipV="1">
            <a:off x="3226570" y="3541511"/>
            <a:ext cx="1935272" cy="298119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890D19-AB20-0269-A6DE-1C8D8CC928D3}"/>
              </a:ext>
            </a:extLst>
          </p:cNvPr>
          <p:cNvCxnSpPr>
            <a:cxnSpLocks/>
            <a:stCxn id="3" idx="4"/>
          </p:cNvCxnSpPr>
          <p:nvPr/>
        </p:nvCxnSpPr>
        <p:spPr>
          <a:xfrm flipH="1" flipV="1">
            <a:off x="4677502" y="3239537"/>
            <a:ext cx="484340" cy="3283168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7B0279-FEF5-C500-E127-0D3C5E4D5665}"/>
              </a:ext>
            </a:extLst>
          </p:cNvPr>
          <p:cNvCxnSpPr>
            <a:cxnSpLocks/>
          </p:cNvCxnSpPr>
          <p:nvPr/>
        </p:nvCxnSpPr>
        <p:spPr>
          <a:xfrm>
            <a:off x="3182729" y="3513328"/>
            <a:ext cx="7114784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CE679B-BF36-9A95-CDD6-C26DDBE60D46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5061633" y="3528984"/>
            <a:ext cx="5235880" cy="289977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B85DE0-4892-7DDC-8F41-94894F7DA92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5090983" y="3491410"/>
            <a:ext cx="1649138" cy="3003779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707709-1ECA-C434-A5E8-2489294C9E08}"/>
              </a:ext>
            </a:extLst>
          </p:cNvPr>
          <p:cNvCxnSpPr>
            <a:cxnSpLocks/>
          </p:cNvCxnSpPr>
          <p:nvPr/>
        </p:nvCxnSpPr>
        <p:spPr>
          <a:xfrm>
            <a:off x="4712993" y="3316489"/>
            <a:ext cx="58452" cy="2195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83C8F1-B95D-0D7E-E140-3C6675C1A71C}"/>
              </a:ext>
            </a:extLst>
          </p:cNvPr>
          <p:cNvCxnSpPr>
            <a:cxnSpLocks/>
          </p:cNvCxnSpPr>
          <p:nvPr/>
        </p:nvCxnSpPr>
        <p:spPr>
          <a:xfrm flipV="1">
            <a:off x="8198603" y="3554672"/>
            <a:ext cx="1895960" cy="109553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41EAF5-375C-1690-9E19-7264AAA647FC}"/>
              </a:ext>
            </a:extLst>
          </p:cNvPr>
          <p:cNvSpPr txBox="1"/>
          <p:nvPr/>
        </p:nvSpPr>
        <p:spPr>
          <a:xfrm>
            <a:off x="7050663" y="3481363"/>
            <a:ext cx="2044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Homography</a:t>
            </a:r>
            <a:r>
              <a:rPr lang="en-US" sz="2400" dirty="0"/>
              <a:t> projects plane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84B115-AC0C-D8F3-6F0A-0C35919703A0}"/>
              </a:ext>
            </a:extLst>
          </p:cNvPr>
          <p:cNvCxnSpPr>
            <a:cxnSpLocks/>
          </p:cNvCxnSpPr>
          <p:nvPr/>
        </p:nvCxnSpPr>
        <p:spPr>
          <a:xfrm>
            <a:off x="4727604" y="3491410"/>
            <a:ext cx="5569909" cy="44584"/>
          </a:xfrm>
          <a:prstGeom prst="line">
            <a:avLst/>
          </a:prstGeom>
          <a:ln w="47625">
            <a:solidFill>
              <a:schemeClr val="accent4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998C64-C4F9-A380-586A-BCE85A7D86E2}"/>
              </a:ext>
            </a:extLst>
          </p:cNvPr>
          <p:cNvCxnSpPr>
            <a:cxnSpLocks/>
          </p:cNvCxnSpPr>
          <p:nvPr/>
        </p:nvCxnSpPr>
        <p:spPr>
          <a:xfrm flipV="1">
            <a:off x="6520826" y="3554672"/>
            <a:ext cx="219295" cy="38423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B4A07FB-6F6E-CC59-A18E-6D1A8DD0E48C}"/>
              </a:ext>
            </a:extLst>
          </p:cNvPr>
          <p:cNvSpPr txBox="1"/>
          <p:nvPr/>
        </p:nvSpPr>
        <p:spPr>
          <a:xfrm>
            <a:off x="1650162" y="3231601"/>
            <a:ext cx="1504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Reference Image Plane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A35F07-5CE5-5DFF-8CC7-F68F1ABEB04D}"/>
              </a:ext>
            </a:extLst>
          </p:cNvPr>
          <p:cNvSpPr txBox="1"/>
          <p:nvPr/>
        </p:nvSpPr>
        <p:spPr>
          <a:xfrm>
            <a:off x="8299612" y="4514670"/>
            <a:ext cx="1504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Target Image Plane</a:t>
            </a:r>
          </a:p>
        </p:txBody>
      </p:sp>
    </p:spTree>
    <p:extLst>
      <p:ext uri="{BB962C8B-B14F-4D97-AF65-F5344CB8AC3E}">
        <p14:creationId xmlns:p14="http://schemas.microsoft.com/office/powerpoint/2010/main" val="287166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1" grpId="0"/>
      <p:bldP spid="33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03AB-05EE-2450-1961-4FB10AE2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202604-3D04-08E1-1589-32C0D71D9ABE}"/>
              </a:ext>
            </a:extLst>
          </p:cNvPr>
          <p:cNvCxnSpPr>
            <a:cxnSpLocks/>
          </p:cNvCxnSpPr>
          <p:nvPr/>
        </p:nvCxnSpPr>
        <p:spPr>
          <a:xfrm>
            <a:off x="4688378" y="4990032"/>
            <a:ext cx="1989513" cy="0"/>
          </a:xfrm>
          <a:prstGeom prst="line">
            <a:avLst/>
          </a:prstGeom>
          <a:ln w="47625">
            <a:solidFill>
              <a:schemeClr val="accent3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324888B-9521-E914-FDA5-A7AA1063A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Planar transformations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92885ECE-279E-5826-9975-E40DB6699E5E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185991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 single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homography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only accurate transforms one plane  </a:t>
            </a:r>
          </a:p>
          <a:p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Homography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can transform image planes with different camera centres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Applying same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Homography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to planes at different distances results in 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parallax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error  </a:t>
            </a: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82BAAA-A94D-960F-60EF-D2131A1F4083}"/>
              </a:ext>
            </a:extLst>
          </p:cNvPr>
          <p:cNvSpPr/>
          <p:nvPr/>
        </p:nvSpPr>
        <p:spPr>
          <a:xfrm>
            <a:off x="3702997" y="6333671"/>
            <a:ext cx="200417" cy="187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21853-A9EB-107B-1E34-506D468FD76D}"/>
              </a:ext>
            </a:extLst>
          </p:cNvPr>
          <p:cNvSpPr txBox="1"/>
          <p:nvPr/>
        </p:nvSpPr>
        <p:spPr>
          <a:xfrm>
            <a:off x="2404616" y="5860813"/>
            <a:ext cx="121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Camera Center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DA9277-B3DE-9FE7-73E8-C7AF18BCFF96}"/>
              </a:ext>
            </a:extLst>
          </p:cNvPr>
          <p:cNvCxnSpPr/>
          <p:nvPr/>
        </p:nvCxnSpPr>
        <p:spPr>
          <a:xfrm>
            <a:off x="1824093" y="3534104"/>
            <a:ext cx="3933173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A319F3-82E2-A062-D307-3FA8E62E25CC}"/>
              </a:ext>
            </a:extLst>
          </p:cNvPr>
          <p:cNvCxnSpPr>
            <a:cxnSpLocks/>
          </p:cNvCxnSpPr>
          <p:nvPr/>
        </p:nvCxnSpPr>
        <p:spPr>
          <a:xfrm>
            <a:off x="4596582" y="3248730"/>
            <a:ext cx="2857163" cy="1212715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EE121E-F8BF-C8CF-DED6-D2CF620A5072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3746838" y="3527841"/>
            <a:ext cx="56368" cy="280583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CC12C2-488C-6B0B-3F47-E78FA22DC455}"/>
              </a:ext>
            </a:extLst>
          </p:cNvPr>
          <p:cNvCxnSpPr>
            <a:cxnSpLocks/>
          </p:cNvCxnSpPr>
          <p:nvPr/>
        </p:nvCxnSpPr>
        <p:spPr>
          <a:xfrm flipH="1" flipV="1">
            <a:off x="1847836" y="3487132"/>
            <a:ext cx="1935272" cy="298119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F13210-65DC-A194-323C-C3C56A9FE15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803206" y="3436621"/>
            <a:ext cx="2032047" cy="289705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3D7745-3EF7-8B81-8E69-95640C728A87}"/>
              </a:ext>
            </a:extLst>
          </p:cNvPr>
          <p:cNvCxnSpPr>
            <a:cxnSpLocks/>
          </p:cNvCxnSpPr>
          <p:nvPr/>
        </p:nvCxnSpPr>
        <p:spPr>
          <a:xfrm>
            <a:off x="1824093" y="3521578"/>
            <a:ext cx="6785356" cy="626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787564-85BB-E4EC-0E7C-6EB0F0A0F86C}"/>
              </a:ext>
            </a:extLst>
          </p:cNvPr>
          <p:cNvCxnSpPr>
            <a:cxnSpLocks/>
            <a:stCxn id="27" idx="6"/>
          </p:cNvCxnSpPr>
          <p:nvPr/>
        </p:nvCxnSpPr>
        <p:spPr>
          <a:xfrm flipV="1">
            <a:off x="4796999" y="3534104"/>
            <a:ext cx="3812450" cy="285459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A5E7DD-5288-1BE0-611B-52071530765F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4767649" y="3521052"/>
            <a:ext cx="1456598" cy="2801214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BA446E-256A-057F-6A0E-A0AB1B59DEDB}"/>
              </a:ext>
            </a:extLst>
          </p:cNvPr>
          <p:cNvCxnSpPr>
            <a:cxnSpLocks/>
          </p:cNvCxnSpPr>
          <p:nvPr/>
        </p:nvCxnSpPr>
        <p:spPr>
          <a:xfrm>
            <a:off x="2809250" y="4998085"/>
            <a:ext cx="3829848" cy="5223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84110A-8A2F-E271-8F35-E79EC1BC383E}"/>
              </a:ext>
            </a:extLst>
          </p:cNvPr>
          <p:cNvCxnSpPr>
            <a:cxnSpLocks/>
          </p:cNvCxnSpPr>
          <p:nvPr/>
        </p:nvCxnSpPr>
        <p:spPr>
          <a:xfrm>
            <a:off x="4688378" y="4784283"/>
            <a:ext cx="1462253" cy="631800"/>
          </a:xfrm>
          <a:prstGeom prst="line">
            <a:avLst/>
          </a:prstGeom>
          <a:ln w="50800">
            <a:solidFill>
              <a:schemeClr val="accent3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03D9FD8-40CA-EBD9-6F8E-69C9763A3751}"/>
              </a:ext>
            </a:extLst>
          </p:cNvPr>
          <p:cNvCxnSpPr>
            <a:cxnSpLocks/>
          </p:cNvCxnSpPr>
          <p:nvPr/>
        </p:nvCxnSpPr>
        <p:spPr>
          <a:xfrm>
            <a:off x="2809250" y="4990032"/>
            <a:ext cx="2010903" cy="805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16860A9-3459-7FC1-3C60-0B7BB80FC677}"/>
              </a:ext>
            </a:extLst>
          </p:cNvPr>
          <p:cNvSpPr/>
          <p:nvPr/>
        </p:nvSpPr>
        <p:spPr>
          <a:xfrm>
            <a:off x="4596582" y="6294750"/>
            <a:ext cx="200417" cy="1878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4BDAE5-B0FD-5A0B-1D23-81305AD04049}"/>
              </a:ext>
            </a:extLst>
          </p:cNvPr>
          <p:cNvCxnSpPr>
            <a:cxnSpLocks/>
            <a:stCxn id="27" idx="4"/>
          </p:cNvCxnSpPr>
          <p:nvPr/>
        </p:nvCxnSpPr>
        <p:spPr>
          <a:xfrm flipH="1" flipV="1">
            <a:off x="4585197" y="2882179"/>
            <a:ext cx="111594" cy="3600462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268B77F-2E14-3324-4D4B-0C650F4B0E5D}"/>
              </a:ext>
            </a:extLst>
          </p:cNvPr>
          <p:cNvSpPr txBox="1"/>
          <p:nvPr/>
        </p:nvSpPr>
        <p:spPr>
          <a:xfrm>
            <a:off x="5126670" y="5968275"/>
            <a:ext cx="121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Camera Center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3F3677-5384-C413-04C4-5893D35F7B87}"/>
              </a:ext>
            </a:extLst>
          </p:cNvPr>
          <p:cNvCxnSpPr>
            <a:cxnSpLocks/>
          </p:cNvCxnSpPr>
          <p:nvPr/>
        </p:nvCxnSpPr>
        <p:spPr>
          <a:xfrm flipV="1">
            <a:off x="4767649" y="3521052"/>
            <a:ext cx="3841800" cy="6789"/>
          </a:xfrm>
          <a:prstGeom prst="line">
            <a:avLst/>
          </a:prstGeom>
          <a:ln w="47625">
            <a:solidFill>
              <a:schemeClr val="accent4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13E80D-DAD6-4986-BD46-780BED167044}"/>
              </a:ext>
            </a:extLst>
          </p:cNvPr>
          <p:cNvCxnSpPr>
            <a:cxnSpLocks/>
          </p:cNvCxnSpPr>
          <p:nvPr/>
        </p:nvCxnSpPr>
        <p:spPr>
          <a:xfrm flipV="1">
            <a:off x="7453745" y="3574814"/>
            <a:ext cx="980902" cy="80494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DAE8B8-693D-0D3A-527E-4FA58C73E030}"/>
              </a:ext>
            </a:extLst>
          </p:cNvPr>
          <p:cNvCxnSpPr>
            <a:cxnSpLocks/>
          </p:cNvCxnSpPr>
          <p:nvPr/>
        </p:nvCxnSpPr>
        <p:spPr>
          <a:xfrm flipV="1">
            <a:off x="6068291" y="5050323"/>
            <a:ext cx="465512" cy="3657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8C2000-CB1E-8DD7-B1BB-3574312C4467}"/>
              </a:ext>
            </a:extLst>
          </p:cNvPr>
          <p:cNvCxnSpPr>
            <a:cxnSpLocks/>
          </p:cNvCxnSpPr>
          <p:nvPr/>
        </p:nvCxnSpPr>
        <p:spPr>
          <a:xfrm flipH="1">
            <a:off x="4688378" y="4784283"/>
            <a:ext cx="8413" cy="327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5391473-7B14-F348-CADC-0339C338DBF2}"/>
              </a:ext>
            </a:extLst>
          </p:cNvPr>
          <p:cNvCxnSpPr>
            <a:cxnSpLocks/>
          </p:cNvCxnSpPr>
          <p:nvPr/>
        </p:nvCxnSpPr>
        <p:spPr>
          <a:xfrm>
            <a:off x="4596582" y="3288025"/>
            <a:ext cx="0" cy="2867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6BFD1E0-C50F-2B62-DF2C-C6EBF96E2F2F}"/>
              </a:ext>
            </a:extLst>
          </p:cNvPr>
          <p:cNvSpPr txBox="1"/>
          <p:nvPr/>
        </p:nvSpPr>
        <p:spPr>
          <a:xfrm>
            <a:off x="8709657" y="3069415"/>
            <a:ext cx="2768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Homography</a:t>
            </a:r>
            <a:r>
              <a:rPr lang="en-US" sz="2400" dirty="0"/>
              <a:t> is exact transformation to image plane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4F6BE2-ACF3-B5BB-0A48-D7254ADB9DC4}"/>
              </a:ext>
            </a:extLst>
          </p:cNvPr>
          <p:cNvSpPr txBox="1"/>
          <p:nvPr/>
        </p:nvSpPr>
        <p:spPr>
          <a:xfrm>
            <a:off x="6789908" y="4883551"/>
            <a:ext cx="3738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Homography</a:t>
            </a:r>
            <a:r>
              <a:rPr lang="en-US" sz="2400" dirty="0"/>
              <a:t> transformation to image plane results in </a:t>
            </a:r>
            <a:r>
              <a:rPr lang="en-US" sz="2400" b="1" dirty="0"/>
              <a:t>parallax error </a:t>
            </a:r>
          </a:p>
        </p:txBody>
      </p:sp>
    </p:spTree>
    <p:extLst>
      <p:ext uri="{BB962C8B-B14F-4D97-AF65-F5344CB8AC3E}">
        <p14:creationId xmlns:p14="http://schemas.microsoft.com/office/powerpoint/2010/main" val="185706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7" grpId="0" animBg="1"/>
      <p:bldP spid="44" grpId="0"/>
      <p:bldP spid="45" grpId="0"/>
      <p:bldP spid="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111618"/>
            <a:ext cx="10515600" cy="8720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Four Transform Problems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64" y="1012197"/>
            <a:ext cx="10515600" cy="5705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dirty="0">
                <a:latin typeface="+mn-lt"/>
              </a:rPr>
              <a:t>Single planar </a:t>
            </a:r>
            <a:r>
              <a:rPr lang="en-US" sz="2800" b="0" dirty="0" err="1">
                <a:latin typeface="+mn-lt"/>
              </a:rPr>
              <a:t>homography</a:t>
            </a:r>
            <a:r>
              <a:rPr lang="en-US" sz="2800" b="0" dirty="0">
                <a:latin typeface="+mn-lt"/>
              </a:rPr>
              <a:t> imposes limitations</a:t>
            </a:r>
          </a:p>
          <a:p>
            <a:r>
              <a:rPr lang="en-US" sz="2800" b="0" dirty="0">
                <a:latin typeface="+mn-lt"/>
              </a:rPr>
              <a:t>Model is restricted to planar transformations</a:t>
            </a:r>
          </a:p>
          <a:p>
            <a:r>
              <a:rPr lang="en-US" sz="2800" b="0" dirty="0">
                <a:latin typeface="+mn-lt"/>
              </a:rPr>
              <a:t>Model assumes:</a:t>
            </a:r>
            <a:endParaRPr lang="en-US" sz="2800" dirty="0"/>
          </a:p>
          <a:p>
            <a:pPr lvl="1"/>
            <a:r>
              <a:rPr lang="en-US" sz="2400" dirty="0">
                <a:latin typeface="+mn-lt"/>
              </a:rPr>
              <a:t>Low</a:t>
            </a:r>
            <a:r>
              <a:rPr lang="en-US" sz="2400" b="1" dirty="0">
                <a:latin typeface="+mn-lt"/>
              </a:rPr>
              <a:t> parallax</a:t>
            </a:r>
          </a:p>
          <a:p>
            <a:pPr lvl="1"/>
            <a:r>
              <a:rPr lang="en-US" sz="2400" b="0" dirty="0">
                <a:latin typeface="+mn-lt"/>
              </a:rPr>
              <a:t>All objects in image are at a </a:t>
            </a:r>
            <a:r>
              <a:rPr lang="en-US" sz="2400" b="1" dirty="0">
                <a:latin typeface="+mn-lt"/>
              </a:rPr>
              <a:t>constant distance from image plane  </a:t>
            </a:r>
          </a:p>
          <a:p>
            <a:pPr lvl="1"/>
            <a:r>
              <a:rPr lang="en-US" sz="2400" dirty="0">
                <a:latin typeface="+mn-lt"/>
              </a:rPr>
              <a:t>Only </a:t>
            </a:r>
            <a:r>
              <a:rPr lang="en-US" sz="2400" b="1" dirty="0">
                <a:latin typeface="+mn-lt"/>
              </a:rPr>
              <a:t>small changes in camera pose  </a:t>
            </a:r>
          </a:p>
          <a:p>
            <a:r>
              <a:rPr lang="en-US" sz="2800" b="0" dirty="0">
                <a:latin typeface="+mn-lt"/>
              </a:rPr>
              <a:t>More complex model can accommodate more general transformations   </a:t>
            </a:r>
          </a:p>
          <a:p>
            <a:pPr lvl="1"/>
            <a:r>
              <a:rPr lang="en-US" sz="2400" dirty="0">
                <a:latin typeface="+mn-lt"/>
              </a:rPr>
              <a:t>Use non-planar geometry </a:t>
            </a:r>
          </a:p>
          <a:p>
            <a:pPr lvl="1"/>
            <a:r>
              <a:rPr lang="en-US" sz="2400" dirty="0">
                <a:latin typeface="+mn-lt"/>
              </a:rPr>
              <a:t>Apply variable projective transform over image</a:t>
            </a:r>
          </a:p>
        </p:txBody>
      </p:sp>
    </p:spTree>
    <p:extLst>
      <p:ext uri="{BB962C8B-B14F-4D97-AF65-F5344CB8AC3E}">
        <p14:creationId xmlns:p14="http://schemas.microsoft.com/office/powerpoint/2010/main" val="7593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Planar transformations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Can use different approximations for image stitching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Can use different planar transformation depending on changes in camera pose</a:t>
            </a:r>
          </a:p>
          <a:p>
            <a:r>
              <a:rPr lang="en-US" sz="2800" b="1" dirty="0">
                <a:latin typeface="+mn-lt"/>
              </a:rPr>
              <a:t>2-D Euclidean </a:t>
            </a:r>
            <a:r>
              <a:rPr lang="en-US" sz="2800" dirty="0">
                <a:latin typeface="+mn-lt"/>
              </a:rPr>
              <a:t>– Rotation about optic axis and translation  </a:t>
            </a:r>
          </a:p>
          <a:p>
            <a:pPr lvl="1"/>
            <a:r>
              <a:rPr lang="en-US" sz="2400" dirty="0">
                <a:latin typeface="+mn-lt"/>
              </a:rPr>
              <a:t>3 </a:t>
            </a:r>
            <a:r>
              <a:rPr lang="en-US" sz="2400" dirty="0" err="1">
                <a:latin typeface="+mn-lt"/>
              </a:rPr>
              <a:t>DoF</a:t>
            </a:r>
            <a:endParaRPr lang="en-US" sz="24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2-D Similarity </a:t>
            </a:r>
            <a:r>
              <a:rPr lang="en-US" sz="2800" dirty="0">
                <a:latin typeface="+mn-lt"/>
              </a:rPr>
              <a:t>– Rotation, translation, and scaling </a:t>
            </a:r>
          </a:p>
          <a:p>
            <a:pPr lvl="1"/>
            <a:r>
              <a:rPr lang="en-US" sz="2400" dirty="0">
                <a:latin typeface="+mn-lt"/>
              </a:rPr>
              <a:t>5 </a:t>
            </a:r>
            <a:r>
              <a:rPr lang="en-US" sz="2400" dirty="0" err="1">
                <a:latin typeface="+mn-lt"/>
              </a:rPr>
              <a:t>DoF</a:t>
            </a:r>
            <a:endParaRPr lang="en-US" sz="24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Affine</a:t>
            </a:r>
            <a:r>
              <a:rPr lang="en-US" sz="2800" dirty="0">
                <a:latin typeface="+mn-lt"/>
              </a:rPr>
              <a:t> - Rotation, translation, scaling, shearing  </a:t>
            </a:r>
          </a:p>
          <a:p>
            <a:pPr lvl="1"/>
            <a:r>
              <a:rPr lang="en-US" sz="2400" dirty="0">
                <a:latin typeface="+mn-lt"/>
              </a:rPr>
              <a:t>7 </a:t>
            </a:r>
            <a:r>
              <a:rPr lang="en-US" sz="2400" dirty="0" err="1">
                <a:latin typeface="+mn-lt"/>
              </a:rPr>
              <a:t>DoF</a:t>
            </a:r>
            <a:endParaRPr lang="en-US" sz="2400" dirty="0">
              <a:latin typeface="+mn-lt"/>
            </a:endParaRPr>
          </a:p>
          <a:p>
            <a:r>
              <a:rPr lang="en-US" sz="2800" b="1" dirty="0">
                <a:latin typeface="+mn-lt"/>
              </a:rPr>
              <a:t>Projective</a:t>
            </a:r>
            <a:r>
              <a:rPr lang="en-US" sz="2800" dirty="0">
                <a:latin typeface="+mn-lt"/>
              </a:rPr>
              <a:t> – General transformation </a:t>
            </a:r>
          </a:p>
          <a:p>
            <a:pPr lvl="1"/>
            <a:r>
              <a:rPr lang="en-US" sz="2400" dirty="0">
                <a:latin typeface="+mn-lt"/>
              </a:rPr>
              <a:t>8 </a:t>
            </a:r>
            <a:r>
              <a:rPr lang="en-US" sz="2400" dirty="0" err="1">
                <a:latin typeface="+mn-lt"/>
              </a:rPr>
              <a:t>DoF</a:t>
            </a: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9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Solving for </a:t>
            </a:r>
            <a:r>
              <a:rPr lang="en-US" sz="4400" dirty="0" err="1">
                <a:latin typeface="+mn-lt"/>
              </a:rPr>
              <a:t>Homographies</a:t>
            </a:r>
            <a:endParaRPr lang="en-US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839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Pure translation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Translate from coordinates,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in one image to another,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are vectors of coordinates of matched </a:t>
                </a:r>
                <a:r>
                  <a:rPr lang="en-US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keypoints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Solve </a:t>
                </a:r>
                <a:r>
                  <a:rPr lang="en-US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least squares problem 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for translation vector,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Τ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 ′</m:t>
                                    </m:r>
                                  </m:sup>
                                </m:sSubSup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′</m:t>
                                          </m:r>
                                        </m:sup>
                                      </m:sSubSup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 ′</m:t>
                                                </m:r>
                                              </m:sup>
                                            </m:sSub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𝒚</m:t>
                      </m:r>
                    </m:oMath>
                  </m:oMathPara>
                </a14:m>
                <a:endParaRPr lang="en-US" sz="28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</a:rPr>
                  <a:t>A </a:t>
                </a:r>
                <a:r>
                  <a:rPr lang="en-US" sz="2800" b="1" dirty="0">
                    <a:latin typeface="+mn-lt"/>
                  </a:rPr>
                  <a:t>linear model</a:t>
                </a:r>
                <a:r>
                  <a:rPr lang="en-US" sz="2800" dirty="0">
                    <a:latin typeface="+mn-lt"/>
                  </a:rPr>
                  <a:t>!</a:t>
                </a:r>
              </a:p>
              <a:p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952" t="-1800" b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9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Affine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b="1" dirty="0">
                    <a:latin typeface="+mn-lt"/>
                  </a:rPr>
                  <a:t>Affine transformation</a:t>
                </a:r>
                <a:r>
                  <a:rPr lang="en-US" sz="2800" dirty="0">
                    <a:latin typeface="+mn-lt"/>
                  </a:rPr>
                  <a:t> – rotation, translation, scale and shear</a:t>
                </a:r>
                <a:r>
                  <a:rPr lang="en-US" sz="2800" b="1" dirty="0">
                    <a:latin typeface="+mn-lt"/>
                  </a:rPr>
                  <a:t> </a:t>
                </a:r>
              </a:p>
              <a:p>
                <a:r>
                  <a:rPr lang="en-US" sz="2800" dirty="0">
                    <a:latin typeface="+mn-lt"/>
                  </a:rPr>
                  <a:t>Recall the planar generalized affine transformation in homogeneous coordinates 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We can find a solution for these linear equations  </a:t>
                </a:r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6581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Affine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Translate from coordinates,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in one image to another,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Solve </a:t>
                </a:r>
                <a:r>
                  <a:rPr lang="en-US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least squares problem 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for </a:t>
                </a:r>
                <a:r>
                  <a:rPr lang="en-US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parameter vector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Φ</m:t>
                    </m:r>
                  </m:oMath>
                </a14:m>
                <a:endParaRPr lang="en-US" sz="28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𝑛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2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𝑛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3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sz="280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  <m:e>
                                                              <m: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  <m:e>
                                                              <m: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3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en-US" sz="280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𝑛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𝑛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  <m:e>
                                                              <m: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1</m:t>
                                                              </m:r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2,</m:t>
                                                </m:r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𝜏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 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 ′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 ′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𝒚</m:t>
                      </m:r>
                    </m:oMath>
                  </m:oMathPara>
                </a14:m>
                <a:endParaRPr lang="en-US" sz="28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</a:rPr>
                  <a:t>Also a </a:t>
                </a:r>
                <a:r>
                  <a:rPr lang="en-US" sz="2800" b="1" dirty="0">
                    <a:latin typeface="+mn-lt"/>
                  </a:rPr>
                  <a:t>linear model</a:t>
                </a:r>
                <a:r>
                  <a:rPr lang="en-US" sz="2800" dirty="0">
                    <a:latin typeface="+mn-lt"/>
                  </a:rPr>
                  <a:t>!</a:t>
                </a:r>
              </a:p>
              <a:p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192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Projective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931" y="1186841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b="1" dirty="0">
                    <a:latin typeface="+mn-lt"/>
                  </a:rPr>
                  <a:t>Projective transform or </a:t>
                </a:r>
                <a:r>
                  <a:rPr lang="en-US" sz="2800" b="1" dirty="0" err="1">
                    <a:latin typeface="+mn-lt"/>
                  </a:rPr>
                  <a:t>homography</a:t>
                </a:r>
                <a:r>
                  <a:rPr lang="en-US" sz="2800" b="1" dirty="0">
                    <a:latin typeface="+mn-lt"/>
                  </a:rPr>
                  <a:t> </a:t>
                </a:r>
                <a:r>
                  <a:rPr lang="en-US" sz="2800" dirty="0">
                    <a:latin typeface="+mn-lt"/>
                  </a:rPr>
                  <a:t> - general unrestricted transformation </a:t>
                </a:r>
                <a:endParaRPr lang="en-US" sz="2800" b="1" dirty="0">
                  <a:latin typeface="+mn-lt"/>
                </a:endParaRPr>
              </a:p>
              <a:p>
                <a:r>
                  <a:rPr lang="en-US" sz="2800" dirty="0">
                    <a:latin typeface="+mn-lt"/>
                  </a:rPr>
                  <a:t>Starting with linear system of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r>
                  <a:rPr lang="en-US" sz="2800" dirty="0">
                    <a:latin typeface="+mn-lt"/>
                  </a:rPr>
                  <a:t>Solution is </a:t>
                </a:r>
                <a:r>
                  <a:rPr lang="en-US" sz="2800" b="1" dirty="0">
                    <a:latin typeface="+mn-lt"/>
                  </a:rPr>
                  <a:t>nonlinear</a:t>
                </a:r>
                <a:r>
                  <a:rPr lang="en-US" sz="2800" dirty="0">
                    <a:latin typeface="+mn-lt"/>
                  </a:rPr>
                  <a:t> in Cartesian coordinates: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lvl="1"/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31" y="1186841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216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Projective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931" y="1186841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b="1" dirty="0">
                    <a:latin typeface="+mn-lt"/>
                  </a:rPr>
                  <a:t>Projective transform or </a:t>
                </a:r>
                <a:r>
                  <a:rPr lang="en-US" sz="2800" b="1" dirty="0" err="1">
                    <a:latin typeface="+mn-lt"/>
                  </a:rPr>
                  <a:t>homography</a:t>
                </a:r>
                <a:r>
                  <a:rPr lang="en-US" sz="2800" b="1" dirty="0">
                    <a:latin typeface="+mn-lt"/>
                  </a:rPr>
                  <a:t> </a:t>
                </a:r>
                <a:r>
                  <a:rPr lang="en-US" sz="2800" dirty="0">
                    <a:latin typeface="+mn-lt"/>
                  </a:rPr>
                  <a:t> - general unrestricted transformation </a:t>
                </a:r>
                <a:endParaRPr lang="en-US" sz="1400" dirty="0"/>
              </a:p>
              <a:p>
                <a:r>
                  <a:rPr lang="en-US" sz="2800" dirty="0">
                    <a:latin typeface="+mn-lt"/>
                  </a:rPr>
                  <a:t>Start with solution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′]</m:t>
                    </m:r>
                  </m:oMath>
                </a14:m>
                <a:r>
                  <a:rPr lang="en-US" sz="2800" dirty="0">
                    <a:latin typeface="+mn-lt"/>
                  </a:rPr>
                  <a:t> given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3,3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800" dirty="0">
                    <a:latin typeface="+mn-lt"/>
                  </a:rPr>
                  <a:t>Rearrange terms to get linear form:  </a:t>
                </a:r>
                <a:endParaRPr lang="en-GB" sz="2400" dirty="0">
                  <a:latin typeface="+mn-lt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′=0</m:t>
                      </m:r>
                    </m:oMath>
                  </m:oMathPara>
                </a14:m>
                <a:endParaRPr lang="en-US" sz="2800" dirty="0">
                  <a:latin typeface="+mn-lt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31" y="1186841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14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Projective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33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Transform from coordinates,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33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33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33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in one image to another,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33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33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33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sz="33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Solve for </a:t>
                </a:r>
                <a:r>
                  <a:rPr lang="en-US" sz="33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parameter vector</a:t>
                </a:r>
                <a:r>
                  <a:rPr lang="en-US" sz="33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Φ</m:t>
                    </m:r>
                  </m:oMath>
                </a14:m>
                <a:endParaRPr lang="en-US" sz="33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′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𝑥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𝑦</m:t>
                                                      </m:r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′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2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−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1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  <m:t>𝑛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⋮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 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𝑦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  <m:t>𝑛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3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sz="280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r>
                                                                <m:rPr>
                                                                  <m:brk m:alnAt="7"/>
                                                                </m:rP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  <m:e>
                                                              <m:r>
                                                                <a:rPr lang="en-US" sz="2800" b="0" i="1" smtClean="0">
                                                                  <a:latin typeface="Cambria Math" panose="02040503050406030204" pitchFamily="18" charset="0"/>
                                                                  <a:cs typeface="Segoe UI" panose="020B0502040204020203" pitchFamily="34" charset="0"/>
                                                                </a:rPr>
                                                                <m:t>0</m:t>
                                                              </m:r>
                                                            </m:e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3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sz="2800" b="0" i="1" smtClean="0">
                                                                        <a:latin typeface="Cambria Math" panose="02040503050406030204" pitchFamily="18" charset="0"/>
                                                                        <a:cs typeface="Segoe UI" panose="020B0502040204020203" pitchFamily="34" charset="0"/>
                                                                      </a:rPr>
                                                                      <m:t>0</m:t>
                                                                    </m:r>
                                                                  </m:e>
                                                                  <m:e>
                                                                    <m:sSub>
                                                                      <m:sSubPr>
                                                                        <m:ctrlP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sSubPr>
                                                                      <m:e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−</m:t>
                                                                        </m:r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𝑥</m:t>
                                                                        </m:r>
                                                                      </m:e>
                                                                      <m:sub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𝑛</m:t>
                                                                        </m:r>
                                                                      </m:sub>
                                                                    </m:sSub>
                                                                    <m:sSub>
                                                                      <m:sSubPr>
                                                                        <m:ctrlP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sSubPr>
                                                                      <m:e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𝑥</m:t>
                                                                        </m:r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′</m:t>
                                                                        </m:r>
                                                                      </m:e>
                                                                      <m:sub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𝑛</m:t>
                                                                        </m:r>
                                                                      </m:sub>
                                                                    </m:sSub>
                                                                  </m:e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2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−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𝑦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𝑥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′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</m:e>
                                                                        <m:e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−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𝑥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′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cs typeface="Segoe UI" panose="020B0502040204020203" pitchFamily="34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US" sz="2800" b="0" i="1" smtClean="0">
                                                            <a:latin typeface="Cambria Math" panose="02040503050406030204" pitchFamily="18" charset="0"/>
                                                            <a:cs typeface="Segoe UI" panose="020B0502040204020203" pitchFamily="34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3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cs typeface="Segoe UI" panose="020B0502040204020203" pitchFamily="34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en-US" sz="280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𝑥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𝑛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  <m:e>
                                                              <m:sSub>
                                                                <m:sSubPr>
                                                                  <m:ctrlP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sSubPr>
                                                                <m:e>
                                                                  <m:r>
                                                                    <a:rPr lang="en-US" sz="2800" i="1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𝑦</m:t>
                                                                  </m:r>
                                                                </m:e>
                                                                <m:sub>
                                                                  <m: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  <m:t>𝑛</m:t>
                                                                  </m:r>
                                                                </m:sub>
                                                              </m:sSub>
                                                            </m:e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3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sz="2800" b="0" i="1" smtClean="0">
                                                                      <a:latin typeface="Cambria Math" panose="02040503050406030204" pitchFamily="18" charset="0"/>
                                                                      <a:cs typeface="Segoe UI" panose="020B0502040204020203" pitchFamily="34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>
                                                                    <m:r>
                                                                      <m:rPr>
                                                                        <m:brk m:alnAt="7"/>
                                                                      </m:rPr>
                                                                      <a:rPr lang="en-US" sz="2800" b="0" i="1" smtClean="0">
                                                                        <a:latin typeface="Cambria Math" panose="02040503050406030204" pitchFamily="18" charset="0"/>
                                                                        <a:cs typeface="Segoe UI" panose="020B0502040204020203" pitchFamily="34" charset="0"/>
                                                                      </a:rPr>
                                                                      <m:t>1</m:t>
                                                                    </m:r>
                                                                  </m:e>
                                                                  <m:e>
                                                                    <m:sSub>
                                                                      <m:sSubPr>
                                                                        <m:ctrlP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sSubPr>
                                                                      <m:e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−</m:t>
                                                                        </m:r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𝑥</m:t>
                                                                        </m:r>
                                                                      </m:e>
                                                                      <m:sub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𝑛</m:t>
                                                                        </m:r>
                                                                      </m:sub>
                                                                    </m:sSub>
                                                                    <m:sSub>
                                                                      <m:sSubPr>
                                                                        <m:ctrlP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sSubPr>
                                                                      <m:e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𝑦</m:t>
                                                                        </m:r>
                                                                        <m:r>
                                                                          <a:rPr lang="en-US" sz="2800" i="1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′</m:t>
                                                                        </m:r>
                                                                      </m:e>
                                                                      <m:sub>
                                                                        <m: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  <m:t>𝑛</m:t>
                                                                        </m:r>
                                                                      </m:sub>
                                                                    </m:sSub>
                                                                  </m:e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2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sz="2800" b="0" i="1" smtClean="0">
                                                                            <a:latin typeface="Cambria Math" panose="02040503050406030204" pitchFamily="18" charset="0"/>
                                                                            <a:cs typeface="Segoe UI" panose="020B0502040204020203" pitchFamily="34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−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𝑦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𝑦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′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</m:e>
                                                                        <m:e>
                                                                          <m:sSub>
                                                                            <m:sSubPr>
                                                                              <m:ctrlP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</m:ctrlPr>
                                                                            </m:sSubPr>
                                                                            <m:e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−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𝑦</m:t>
                                                                              </m:r>
                                                                              <m:r>
                                                                                <a:rPr lang="en-US" sz="2800" i="1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′</m:t>
                                                                              </m:r>
                                                                            </m:e>
                                                                            <m:sub>
                                                                              <m:r>
                                                                                <a:rPr lang="en-US" sz="2800" b="0" i="1" smtClean="0">
                                                                                  <a:latin typeface="Cambria Math" panose="02040503050406030204" pitchFamily="18" charset="0"/>
                                                                                  <a:cs typeface="Segoe UI" panose="020B0502040204020203" pitchFamily="34" charset="0"/>
                                                                                </a:rPr>
                                                                                <m:t>𝑛</m:t>
                                                                              </m:r>
                                                                            </m:sub>
                                                                          </m:sSub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2,1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𝜙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2,</m:t>
                                                </m:r>
                                                <m: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2</m:t>
                                                      </m:r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3</m:t>
                                                      </m:r>
                                                      <m:r>
                                                        <a:rPr lang="en-US" sz="2800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28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sz="280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𝜙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3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,2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  <m:m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𝜙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3</m:t>
                                                            </m:r>
                                                            <m:r>
                                                              <a:rPr lang="en-US" sz="2800" i="1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,</m:t>
                                                            </m:r>
                                                            <m:r>
                                                              <a:rPr lang="en-US" sz="2800" b="0" i="1" smtClean="0">
                                                                <a:latin typeface="Cambria Math" panose="02040503050406030204" pitchFamily="18" charset="0"/>
                                                                <a:ea typeface="Cambria Math" panose="02040503050406030204" pitchFamily="18" charset="0"/>
                                                              </a:rPr>
                                                              <m:t>3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800" b="0" i="1" smtClean="0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sz="2800" b="0" i="1" smtClean="0">
                                                      <a:latin typeface="Cambria Math" panose="02040503050406030204" pitchFamily="18" charset="0"/>
                                                      <a:cs typeface="Segoe UI" panose="020B0502040204020203" pitchFamily="34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=0</m:t>
                      </m:r>
                    </m:oMath>
                  </m:oMathPara>
                </a14:m>
                <a:endParaRPr lang="en-US" sz="28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3300" dirty="0">
                    <a:latin typeface="+mn-lt"/>
                  </a:rPr>
                  <a:t>A</a:t>
                </a:r>
                <a:r>
                  <a:rPr lang="en-US" sz="3300" b="1" dirty="0">
                    <a:latin typeface="+mn-lt"/>
                  </a:rPr>
                  <a:t> set of homogenous linear equations</a:t>
                </a:r>
                <a:r>
                  <a:rPr lang="en-US" sz="3300" dirty="0">
                    <a:latin typeface="+mn-lt"/>
                  </a:rPr>
                  <a:t>!</a:t>
                </a:r>
              </a:p>
              <a:p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2587" b="-2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4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Projective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Transform from coordinates,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in one image to another,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Solve for </a:t>
                </a:r>
                <a:r>
                  <a:rPr lang="en-US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parameter vector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Φ</m:t>
                    </m:r>
                  </m:oMath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𝑨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=0</m:t>
                      </m:r>
                    </m:oMath>
                  </m:oMathPara>
                </a14:m>
                <a:endParaRPr lang="en-US" sz="2800" b="1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+mn-lt"/>
                  </a:rPr>
                  <a:t>A </a:t>
                </a:r>
                <a:r>
                  <a:rPr lang="en-US" sz="2800" b="1" dirty="0">
                    <a:latin typeface="+mn-lt"/>
                  </a:rPr>
                  <a:t>homogenous set of equations</a:t>
                </a:r>
                <a:r>
                  <a:rPr lang="en-US" sz="2800" dirty="0">
                    <a:latin typeface="+mn-lt"/>
                  </a:rPr>
                  <a:t>!</a:t>
                </a:r>
              </a:p>
              <a:p>
                <a:r>
                  <a:rPr lang="en-US" sz="2800" dirty="0">
                    <a:latin typeface="+mn-lt"/>
                  </a:rPr>
                  <a:t>Standard least squares solution will fail 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Use the 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direct linear transform (DLT) 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algorithm to solve</a:t>
                </a:r>
              </a:p>
              <a:p>
                <a:pPr lvl="1"/>
                <a:endParaRPr lang="en-GB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3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57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71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Projective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Direct Linear Transform (DLT) algorithm </a:t>
                </a:r>
                <a:endParaRPr lang="en-US" sz="2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For each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𝑛</m:t>
                    </m:r>
                  </m:oMath>
                </a14:m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matched key-points add 2 rows of matrix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b="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857115" lvl="1" indent="-457200"/>
                <a:r>
                  <a:rPr lang="en-US" sz="26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2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×9</m:t>
                    </m:r>
                  </m:oMath>
                </a14:m>
                <a:r>
                  <a:rPr lang="en-US" sz="26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matrix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Perform </a:t>
                </a:r>
                <a:r>
                  <a:rPr lang="en-US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singular value decomposition (SVD)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of matrix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𝐴</m:t>
                    </m:r>
                  </m:oMath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857115" lvl="1" indent="-457200"/>
                <a:r>
                  <a:rPr lang="en-US" sz="26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Find smallest non-zero singular value  </a:t>
                </a:r>
              </a:p>
              <a:p>
                <a:pPr marL="857115" lvl="1" indent="-457200"/>
                <a:r>
                  <a:rPr lang="en-US" sz="26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Singular vector associated with smallest singular value is the solution,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Φ</m:t>
                    </m:r>
                  </m:oMath>
                </a14:m>
                <a:r>
                  <a:rPr lang="en-US" sz="26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 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Construct homograph,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𝐻</m:t>
                    </m:r>
                  </m:oMath>
                </a14:m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from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Φ</m:t>
                    </m:r>
                  </m:oMath>
                </a14:m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See sections 4.1-4.5 in 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Hartley and Zisserman </a:t>
                </a:r>
                <a:r>
                  <a:rPr lang="en-US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for complete details </a:t>
                </a:r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0"/>
                <a:ext cx="11525250" cy="5424055"/>
              </a:xfrm>
              <a:prstGeom prst="rect">
                <a:avLst/>
              </a:prstGeom>
              <a:blipFill>
                <a:blip r:embed="rId4"/>
                <a:stretch>
                  <a:fillRect l="-1111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87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Outliers and RANSAC</a:t>
            </a:r>
          </a:p>
        </p:txBody>
      </p:sp>
    </p:spTree>
    <p:extLst>
      <p:ext uri="{BB962C8B-B14F-4D97-AF65-F5344CB8AC3E}">
        <p14:creationId xmlns:p14="http://schemas.microsoft.com/office/powerpoint/2010/main" val="2906925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627" y="1"/>
            <a:ext cx="11828689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Solving for the transformation parameters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1621" y="1143001"/>
                <a:ext cx="11525250" cy="61064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[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,</m:t>
                    </m:r>
                    <m:sSup>
                      <m:sSup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𝒚</m:t>
                        </m:r>
                      </m:e>
                      <m:sup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Segoe UI" panose="020B0502040204020203" pitchFamily="34" charset="0"/>
                            <a:cs typeface="Segoe UI" panose="020B0502040204020203" pitchFamily="34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]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 pairs found by using matched descriptors </a:t>
                </a:r>
              </a:p>
              <a:p>
                <a:pPr marL="0" indent="0">
                  <a:buNone/>
                </a:pPr>
                <a:endParaRPr lang="en-US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21" y="1143001"/>
                <a:ext cx="11525250" cy="610644"/>
              </a:xfrm>
              <a:prstGeom prst="rect">
                <a:avLst/>
              </a:prstGeom>
              <a:blipFill>
                <a:blip r:embed="rId3"/>
                <a:stretch>
                  <a:fillRect t="-10000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9A2DEBE-0DBA-4273-84F9-7D8AE46A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98" y="1665965"/>
            <a:ext cx="8642959" cy="4431630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1BDDEE5-4F25-4044-A3C5-0CEA02DDBB50}"/>
              </a:ext>
            </a:extLst>
          </p:cNvPr>
          <p:cNvSpPr txBox="1">
            <a:spLocks/>
          </p:cNvSpPr>
          <p:nvPr/>
        </p:nvSpPr>
        <p:spPr>
          <a:xfrm>
            <a:off x="717758" y="6174289"/>
            <a:ext cx="11525250" cy="610644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Notice the obvious matching errors – These are </a:t>
            </a:r>
            <a:r>
              <a:rPr lang="en-US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outliers</a:t>
            </a:r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5FB984C-DA48-41D3-9F25-F1F8D78002EF}"/>
              </a:ext>
            </a:extLst>
          </p:cNvPr>
          <p:cNvSpPr/>
          <p:nvPr/>
        </p:nvSpPr>
        <p:spPr>
          <a:xfrm>
            <a:off x="2662129" y="2760958"/>
            <a:ext cx="233471" cy="242839"/>
          </a:xfrm>
          <a:prstGeom prst="ellipse">
            <a:avLst/>
          </a:prstGeom>
          <a:noFill/>
          <a:ln w="762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2849CE-F7C2-47F5-8ED7-F9CE26281C97}"/>
              </a:ext>
            </a:extLst>
          </p:cNvPr>
          <p:cNvSpPr/>
          <p:nvPr/>
        </p:nvSpPr>
        <p:spPr>
          <a:xfrm>
            <a:off x="9071280" y="5465416"/>
            <a:ext cx="233471" cy="242839"/>
          </a:xfrm>
          <a:prstGeom prst="ellipse">
            <a:avLst/>
          </a:prstGeom>
          <a:noFill/>
          <a:ln w="762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35234E-B3A8-4595-BC5E-09913D6EA01C}"/>
              </a:ext>
            </a:extLst>
          </p:cNvPr>
          <p:cNvSpPr/>
          <p:nvPr/>
        </p:nvSpPr>
        <p:spPr>
          <a:xfrm>
            <a:off x="2778864" y="2207087"/>
            <a:ext cx="233471" cy="242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52FA4D-5276-446F-BFEF-18E0F9B63E0A}"/>
              </a:ext>
            </a:extLst>
          </p:cNvPr>
          <p:cNvSpPr/>
          <p:nvPr/>
        </p:nvSpPr>
        <p:spPr>
          <a:xfrm>
            <a:off x="5979264" y="3694422"/>
            <a:ext cx="233471" cy="242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94B17F-29C7-40B6-A69D-80A4CCCF2F62}"/>
              </a:ext>
            </a:extLst>
          </p:cNvPr>
          <p:cNvSpPr/>
          <p:nvPr/>
        </p:nvSpPr>
        <p:spPr>
          <a:xfrm>
            <a:off x="1580368" y="3561361"/>
            <a:ext cx="233471" cy="24283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69DE8E9-02DE-47F9-A30A-FA23203399BF}"/>
              </a:ext>
            </a:extLst>
          </p:cNvPr>
          <p:cNvSpPr/>
          <p:nvPr/>
        </p:nvSpPr>
        <p:spPr>
          <a:xfrm>
            <a:off x="8039623" y="3076720"/>
            <a:ext cx="233471" cy="24283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F77B79-3275-41F4-80E4-263C05DFC2E2}"/>
              </a:ext>
            </a:extLst>
          </p:cNvPr>
          <p:cNvSpPr/>
          <p:nvPr/>
        </p:nvSpPr>
        <p:spPr>
          <a:xfrm>
            <a:off x="1519825" y="4877844"/>
            <a:ext cx="233471" cy="242839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815A2E-377D-46F2-A70E-353671E16A70}"/>
              </a:ext>
            </a:extLst>
          </p:cNvPr>
          <p:cNvSpPr/>
          <p:nvPr/>
        </p:nvSpPr>
        <p:spPr>
          <a:xfrm>
            <a:off x="9381995" y="3641552"/>
            <a:ext cx="233471" cy="242839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2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258" y="1"/>
            <a:ext cx="1165958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358008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Use matching descriptors to find points fit transform parameters 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Cannot use ordinary least squares because of 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outliners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Outliers exhibit 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undue influence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on the solution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Need way to control influence of outliers</a:t>
            </a:r>
          </a:p>
          <a:p>
            <a:pPr lvl="1"/>
            <a:r>
              <a:rPr lang="en-GB" sz="24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M-estimators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, limit influence of outliers – e.g. 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Huber estimator</a:t>
            </a:r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4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Resampling method 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to find only </a:t>
            </a:r>
            <a:r>
              <a:rPr lang="en-GB" sz="24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inliers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for solution   </a:t>
            </a:r>
          </a:p>
          <a:p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38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73" y="1"/>
            <a:ext cx="11628272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128" y="1142999"/>
                <a:ext cx="11488909" cy="5596003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RAndom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SAmpling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Consensus (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RANSAC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) algorithm    </a:t>
                </a:r>
              </a:p>
              <a:p>
                <a:pPr>
                  <a:spcAft>
                    <a:spcPts val="600"/>
                  </a:spcAft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RANSAC algorithm uses a resampling algorithm to find a fit with largest number of inliers    </a:t>
                </a:r>
                <a:endParaRPr lang="en-GB" sz="14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N = number of points sampled = degrees of freedom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𝜖</m:t>
                    </m:r>
                  </m:oMath>
                </a14:m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 = tolerance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s = number of independent samples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For range(s):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	Select N pairs of matches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	Compute </a:t>
                </a:r>
                <a:r>
                  <a:rPr lang="en-GB" sz="2800" dirty="0" err="1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homography</a:t>
                </a: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endParaRPr lang="en-GB" sz="2800" dirty="0">
                  <a:latin typeface="Courier New" panose="02070309020205020404" pitchFamily="49" charset="0"/>
                  <a:ea typeface="Segoe UI" panose="020B0502040204020203" pitchFamily="34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	Find inliers: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GB" sz="280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ℋ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′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&lt;</m:t>
                    </m:r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𝜖</m:t>
                    </m:r>
                  </m:oMath>
                </a14:m>
                <a:endParaRPr lang="en-GB" sz="2800" dirty="0">
                  <a:latin typeface="Courier New" panose="02070309020205020404" pitchFamily="49" charset="0"/>
                  <a:ea typeface="Segoe UI" panose="020B0502040204020203" pitchFamily="34" charset="0"/>
                  <a:cs typeface="Courier New" panose="02070309020205020404" pitchFamily="49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	Save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 and inliers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Select solution with largest number of inliers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	Updated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</m:oMath>
                </a14:m>
                <a:r>
                  <a:rPr lang="en-GB" sz="2800" dirty="0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 using all inliers given </a:t>
                </a:r>
                <a14:m>
                  <m:oMath xmlns:m="http://schemas.openxmlformats.org/officeDocument/2006/math">
                    <m:r>
                      <a:rPr lang="en-GB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ℋ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′</m:t>
                    </m:r>
                  </m:oMath>
                </a14:m>
                <a:endParaRPr lang="en-GB" sz="2800" dirty="0">
                  <a:latin typeface="Courier New" panose="02070309020205020404" pitchFamily="49" charset="0"/>
                  <a:ea typeface="Segoe UI" panose="020B0502040204020203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28" y="1142999"/>
                <a:ext cx="11488909" cy="5596003"/>
              </a:xfrm>
              <a:prstGeom prst="rect">
                <a:avLst/>
              </a:prstGeom>
              <a:blipFill>
                <a:blip r:embed="rId4"/>
                <a:stretch>
                  <a:fillRect l="-955" t="-871" b="-1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840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32" y="1"/>
            <a:ext cx="11672113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07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42" y="1"/>
            <a:ext cx="11690903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73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258" y="1"/>
            <a:ext cx="1165958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41CE04-EF32-4367-B034-B836455C60CB}"/>
              </a:ext>
            </a:extLst>
          </p:cNvPr>
          <p:cNvCxnSpPr>
            <a:cxnSpLocks/>
          </p:cNvCxnSpPr>
          <p:nvPr/>
        </p:nvCxnSpPr>
        <p:spPr>
          <a:xfrm>
            <a:off x="8010395" y="2923784"/>
            <a:ext cx="3801649" cy="1269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845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21" y="1"/>
            <a:ext cx="11653324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Identify inliers = 7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41CE04-EF32-4367-B034-B836455C60CB}"/>
              </a:ext>
            </a:extLst>
          </p:cNvPr>
          <p:cNvCxnSpPr>
            <a:cxnSpLocks/>
          </p:cNvCxnSpPr>
          <p:nvPr/>
        </p:nvCxnSpPr>
        <p:spPr>
          <a:xfrm>
            <a:off x="7997866" y="2899776"/>
            <a:ext cx="3801649" cy="1269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055891B-2DF3-4DEF-B551-556FC5D4788C}"/>
              </a:ext>
            </a:extLst>
          </p:cNvPr>
          <p:cNvCxnSpPr>
            <a:cxnSpLocks/>
          </p:cNvCxnSpPr>
          <p:nvPr/>
        </p:nvCxnSpPr>
        <p:spPr>
          <a:xfrm>
            <a:off x="8010394" y="3299565"/>
            <a:ext cx="3801649" cy="126930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61FA66-9176-4EEE-96C7-7DED70EB6A61}"/>
              </a:ext>
            </a:extLst>
          </p:cNvPr>
          <p:cNvCxnSpPr>
            <a:cxnSpLocks/>
          </p:cNvCxnSpPr>
          <p:nvPr/>
        </p:nvCxnSpPr>
        <p:spPr>
          <a:xfrm>
            <a:off x="7997866" y="2504162"/>
            <a:ext cx="3801649" cy="126930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72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"/>
            <a:ext cx="11615746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4128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"/>
            <a:ext cx="11615746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062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73" y="1"/>
            <a:ext cx="11628272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373265-129C-4D14-845C-F0E87A4756C7}"/>
              </a:ext>
            </a:extLst>
          </p:cNvPr>
          <p:cNvCxnSpPr>
            <a:cxnSpLocks/>
          </p:cNvCxnSpPr>
          <p:nvPr/>
        </p:nvCxnSpPr>
        <p:spPr>
          <a:xfrm flipH="1">
            <a:off x="9917482" y="2317315"/>
            <a:ext cx="216074" cy="33444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5412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468" y="1"/>
            <a:ext cx="1167837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Identify inliers = 5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373265-129C-4D14-845C-F0E87A4756C7}"/>
              </a:ext>
            </a:extLst>
          </p:cNvPr>
          <p:cNvCxnSpPr>
            <a:cxnSpLocks/>
          </p:cNvCxnSpPr>
          <p:nvPr/>
        </p:nvCxnSpPr>
        <p:spPr>
          <a:xfrm flipH="1">
            <a:off x="9917482" y="2317315"/>
            <a:ext cx="216074" cy="33444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3279AE-E6B3-4742-BF70-0689E3D38F4D}"/>
              </a:ext>
            </a:extLst>
          </p:cNvPr>
          <p:cNvCxnSpPr>
            <a:cxnSpLocks/>
          </p:cNvCxnSpPr>
          <p:nvPr/>
        </p:nvCxnSpPr>
        <p:spPr>
          <a:xfrm flipV="1">
            <a:off x="9460282" y="2289131"/>
            <a:ext cx="197023" cy="337263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1283471-D2FD-4010-8957-91A0DD09D00D}"/>
              </a:ext>
            </a:extLst>
          </p:cNvPr>
          <p:cNvCxnSpPr>
            <a:cxnSpLocks/>
          </p:cNvCxnSpPr>
          <p:nvPr/>
        </p:nvCxnSpPr>
        <p:spPr>
          <a:xfrm flipV="1">
            <a:off x="10391641" y="2404997"/>
            <a:ext cx="202245" cy="331000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077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258" y="1"/>
            <a:ext cx="1165958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281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84" y="1"/>
            <a:ext cx="11647061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CBC188-4941-4CF2-A775-1F717401887B}"/>
              </a:ext>
            </a:extLst>
          </p:cNvPr>
          <p:cNvCxnSpPr>
            <a:cxnSpLocks/>
          </p:cNvCxnSpPr>
          <p:nvPr/>
        </p:nvCxnSpPr>
        <p:spPr>
          <a:xfrm>
            <a:off x="8452982" y="2286000"/>
            <a:ext cx="3273868" cy="34759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6169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573" y="1"/>
            <a:ext cx="11628272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9206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   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93D809-4634-410D-B7CB-399A7FD69841}"/>
              </a:ext>
            </a:extLst>
          </p:cNvPr>
          <p:cNvSpPr/>
          <p:nvPr/>
        </p:nvSpPr>
        <p:spPr>
          <a:xfrm>
            <a:off x="8611644" y="26690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47B652-55AE-447B-BA7E-6CC8D7596D58}"/>
              </a:ext>
            </a:extLst>
          </p:cNvPr>
          <p:cNvSpPr/>
          <p:nvPr/>
        </p:nvSpPr>
        <p:spPr>
          <a:xfrm>
            <a:off x="10049005" y="271292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F16FCF-00CE-44C7-953F-87317A1E04C4}"/>
              </a:ext>
            </a:extLst>
          </p:cNvPr>
          <p:cNvSpPr/>
          <p:nvPr/>
        </p:nvSpPr>
        <p:spPr>
          <a:xfrm>
            <a:off x="8654963" y="308453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9E39E3-ECCE-40C3-9294-BD12D9F97D7E}"/>
              </a:ext>
            </a:extLst>
          </p:cNvPr>
          <p:cNvSpPr/>
          <p:nvPr/>
        </p:nvSpPr>
        <p:spPr>
          <a:xfrm>
            <a:off x="9068844" y="3126288"/>
            <a:ext cx="131523" cy="112734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82C5B0-1455-435E-91A7-D3D69D70ADE1}"/>
              </a:ext>
            </a:extLst>
          </p:cNvPr>
          <p:cNvSpPr/>
          <p:nvPr/>
        </p:nvSpPr>
        <p:spPr>
          <a:xfrm>
            <a:off x="9221244" y="32786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F01E-94A9-4809-8687-A4C16A06337E}"/>
              </a:ext>
            </a:extLst>
          </p:cNvPr>
          <p:cNvSpPr/>
          <p:nvPr/>
        </p:nvSpPr>
        <p:spPr>
          <a:xfrm>
            <a:off x="9288048" y="379643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B09333-09E6-4E84-B7AC-21D54ABD0585}"/>
              </a:ext>
            </a:extLst>
          </p:cNvPr>
          <p:cNvSpPr/>
          <p:nvPr/>
        </p:nvSpPr>
        <p:spPr>
          <a:xfrm>
            <a:off x="9526044" y="3583488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2BD7F-1481-4C17-B339-74BE483D22BE}"/>
              </a:ext>
            </a:extLst>
          </p:cNvPr>
          <p:cNvSpPr/>
          <p:nvPr/>
        </p:nvSpPr>
        <p:spPr>
          <a:xfrm>
            <a:off x="9562057" y="40803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2BF474-33CC-4855-B0CC-C3E840072975}"/>
              </a:ext>
            </a:extLst>
          </p:cNvPr>
          <p:cNvSpPr/>
          <p:nvPr/>
        </p:nvSpPr>
        <p:spPr>
          <a:xfrm>
            <a:off x="10911214" y="3850710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6598B1-7473-49C0-A738-0EAD97E700E6}"/>
              </a:ext>
            </a:extLst>
          </p:cNvPr>
          <p:cNvSpPr/>
          <p:nvPr/>
        </p:nvSpPr>
        <p:spPr>
          <a:xfrm>
            <a:off x="10115808" y="405843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BFE8-3EC2-4B50-AE84-9714A313E0E5}"/>
              </a:ext>
            </a:extLst>
          </p:cNvPr>
          <p:cNvSpPr/>
          <p:nvPr/>
        </p:nvSpPr>
        <p:spPr>
          <a:xfrm>
            <a:off x="10378858" y="4366367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4445A1-695C-4FED-8F59-DBC2018CFFD0}"/>
              </a:ext>
            </a:extLst>
          </p:cNvPr>
          <p:cNvSpPr/>
          <p:nvPr/>
        </p:nvSpPr>
        <p:spPr>
          <a:xfrm>
            <a:off x="9076150" y="484548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0B72E2-4D05-44D9-8267-41780CB7E76D}"/>
              </a:ext>
            </a:extLst>
          </p:cNvPr>
          <p:cNvSpPr/>
          <p:nvPr/>
        </p:nvSpPr>
        <p:spPr>
          <a:xfrm>
            <a:off x="10528125" y="368160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1C04C-A6CC-4FBA-B83A-C954A930A09C}"/>
              </a:ext>
            </a:extLst>
          </p:cNvPr>
          <p:cNvSpPr/>
          <p:nvPr/>
        </p:nvSpPr>
        <p:spPr>
          <a:xfrm>
            <a:off x="10510381" y="4763022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07CCE8-2E76-444A-A8FA-A7E6E03746A9}"/>
              </a:ext>
            </a:extLst>
          </p:cNvPr>
          <p:cNvSpPr/>
          <p:nvPr/>
        </p:nvSpPr>
        <p:spPr>
          <a:xfrm>
            <a:off x="9917482" y="494047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30AE4F-5B6C-4FB0-933A-F102DCCC370F}"/>
              </a:ext>
            </a:extLst>
          </p:cNvPr>
          <p:cNvSpPr/>
          <p:nvPr/>
        </p:nvSpPr>
        <p:spPr>
          <a:xfrm>
            <a:off x="10941483" y="4813126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482521-63BC-4F66-81C8-8B87EF0A4E76}"/>
              </a:ext>
            </a:extLst>
          </p:cNvPr>
          <p:cNvSpPr/>
          <p:nvPr/>
        </p:nvSpPr>
        <p:spPr>
          <a:xfrm>
            <a:off x="11420605" y="4938387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763692-93A4-42A1-AFB0-47CFFBD5DAC1}"/>
              </a:ext>
            </a:extLst>
          </p:cNvPr>
          <p:cNvSpPr/>
          <p:nvPr/>
        </p:nvSpPr>
        <p:spPr>
          <a:xfrm>
            <a:off x="10659648" y="52995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91015C-B1CE-4488-9327-3D16AE0F42F3}"/>
              </a:ext>
            </a:extLst>
          </p:cNvPr>
          <p:cNvSpPr/>
          <p:nvPr/>
        </p:nvSpPr>
        <p:spPr>
          <a:xfrm>
            <a:off x="11354844" y="5412288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EFF338-9523-48CA-83E0-BEF28D0BB7AF}"/>
              </a:ext>
            </a:extLst>
          </p:cNvPr>
          <p:cNvSpPr/>
          <p:nvPr/>
        </p:nvSpPr>
        <p:spPr>
          <a:xfrm>
            <a:off x="9657567" y="4568869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14FE5F-7520-44BD-AF90-5694AD0F18D2}"/>
              </a:ext>
            </a:extLst>
          </p:cNvPr>
          <p:cNvSpPr/>
          <p:nvPr/>
        </p:nvSpPr>
        <p:spPr>
          <a:xfrm>
            <a:off x="9040659" y="2923784"/>
            <a:ext cx="131523" cy="1127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C42DB7-2FCA-4D8D-B7C2-1D6B06A9236C}"/>
              </a:ext>
            </a:extLst>
          </p:cNvPr>
          <p:cNvSpPr/>
          <p:nvPr/>
        </p:nvSpPr>
        <p:spPr>
          <a:xfrm>
            <a:off x="11154427" y="4303736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3444-D1D1-43EA-8C99-7AB625CC35E1}"/>
              </a:ext>
            </a:extLst>
          </p:cNvPr>
          <p:cNvSpPr/>
          <p:nvPr/>
        </p:nvSpPr>
        <p:spPr>
          <a:xfrm>
            <a:off x="9287005" y="3111674"/>
            <a:ext cx="131523" cy="112734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6BFEBA7-C74C-4AE9-B595-E094031EB69A}"/>
              </a:ext>
            </a:extLst>
          </p:cNvPr>
          <p:cNvSpPr/>
          <p:nvPr/>
        </p:nvSpPr>
        <p:spPr>
          <a:xfrm>
            <a:off x="8321459" y="4232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1EE8C30-D784-475F-A9DA-66CC633AAF8A}"/>
              </a:ext>
            </a:extLst>
          </p:cNvPr>
          <p:cNvSpPr/>
          <p:nvPr/>
        </p:nvSpPr>
        <p:spPr>
          <a:xfrm>
            <a:off x="8909136" y="3470754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F943D5-6C78-4F22-8611-EC4E68F7146F}"/>
              </a:ext>
            </a:extLst>
          </p:cNvPr>
          <p:cNvSpPr/>
          <p:nvPr/>
        </p:nvSpPr>
        <p:spPr>
          <a:xfrm>
            <a:off x="10659648" y="3025035"/>
            <a:ext cx="131523" cy="1127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9CB2E4CD-AC47-4DF7-B9DE-9507A45BE808}"/>
              </a:ext>
            </a:extLst>
          </p:cNvPr>
          <p:cNvSpPr txBox="1">
            <a:spLocks/>
          </p:cNvSpPr>
          <p:nvPr/>
        </p:nvSpPr>
        <p:spPr>
          <a:xfrm>
            <a:off x="465150" y="1921180"/>
            <a:ext cx="7088043" cy="452346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 = 3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Let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DoF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= 2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Select 2 points at random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Fit line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Identify inliers = 11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CBC188-4941-4CF2-A775-1F717401887B}"/>
              </a:ext>
            </a:extLst>
          </p:cNvPr>
          <p:cNvCxnSpPr>
            <a:cxnSpLocks/>
          </p:cNvCxnSpPr>
          <p:nvPr/>
        </p:nvCxnSpPr>
        <p:spPr>
          <a:xfrm>
            <a:off x="8452982" y="2286000"/>
            <a:ext cx="3273868" cy="34759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B0F48A-51A7-4C63-9422-A754D86C3AD5}"/>
              </a:ext>
            </a:extLst>
          </p:cNvPr>
          <p:cNvCxnSpPr>
            <a:cxnSpLocks/>
          </p:cNvCxnSpPr>
          <p:nvPr/>
        </p:nvCxnSpPr>
        <p:spPr>
          <a:xfrm>
            <a:off x="8152156" y="2565749"/>
            <a:ext cx="3273868" cy="347597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6A7544-7ACA-4D4C-B34C-E00543E4AB0E}"/>
              </a:ext>
            </a:extLst>
          </p:cNvPr>
          <p:cNvCxnSpPr>
            <a:cxnSpLocks/>
          </p:cNvCxnSpPr>
          <p:nvPr/>
        </p:nvCxnSpPr>
        <p:spPr>
          <a:xfrm>
            <a:off x="8786486" y="1943622"/>
            <a:ext cx="3273868" cy="347597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042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39750" y="1111250"/>
            <a:ext cx="11525250" cy="1263650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RAndom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SAmpling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Concensus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RANSAC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 algorithm example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Least squares fit based only on inliers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168EE-FF0C-4DC6-B018-8B9C69688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169" y="2314575"/>
            <a:ext cx="9004581" cy="450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479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047" y="1"/>
            <a:ext cx="11640798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3000"/>
                <a:ext cx="11525250" cy="548326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RAndom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SAmpling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Concensus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(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RANSAC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) algorithm example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How do we select the required number of independent sample sets, </a:t>
                </a:r>
                <a:r>
                  <a:rPr lang="en-GB" sz="2800" dirty="0" err="1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n_iterations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?  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Want a low probability of outliers,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𝑝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for s sample sets and proportion of outliers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𝜀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Estimate number of samples required, </a:t>
                </a:r>
                <a:r>
                  <a:rPr lang="en-GB" sz="2800" i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k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⁡(1−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𝑠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⁡</m:t>
                          </m:r>
                        </m:den>
                      </m:f>
                    </m:oMath>
                  </m:oMathPara>
                </a14:m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3000"/>
                <a:ext cx="11525250" cy="5483268"/>
              </a:xfrm>
              <a:prstGeom prst="rect">
                <a:avLst/>
              </a:prstGeom>
              <a:blipFill>
                <a:blip r:embed="rId4"/>
                <a:stretch>
                  <a:fillRect l="-1058" t="-1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34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"/>
            <a:ext cx="11615746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150" y="1143000"/>
                <a:ext cx="11525250" cy="2286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RANdom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2800" dirty="0" err="1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SAmpling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 Consensus (</a:t>
                </a:r>
                <a:r>
                  <a:rPr lang="en-GB" sz="2800" b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RANSAC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) algorithm example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How do we select the required number of independent sample sets, </a:t>
                </a:r>
                <a:r>
                  <a:rPr lang="en-GB" sz="2800" dirty="0" err="1">
                    <a:latin typeface="Courier New" panose="02070309020205020404" pitchFamily="49" charset="0"/>
                    <a:ea typeface="Segoe UI" panose="020B0502040204020203" pitchFamily="34" charset="0"/>
                    <a:cs typeface="Courier New" panose="02070309020205020404" pitchFamily="49" charset="0"/>
                  </a:rPr>
                  <a:t>n_iterations</a:t>
                </a:r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?   </a:t>
                </a:r>
              </a:p>
              <a:p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Segoe UI" panose="020B0502040204020203" pitchFamily="34" charset="0"/>
                        <a:cs typeface="Segoe UI" panose="020B0502040204020203" pitchFamily="34" charset="0"/>
                      </a:rPr>
                      <m:t> =0.95</m:t>
                    </m:r>
                  </m:oMath>
                </a14:m>
                <a:r>
                  <a:rPr lang="en-GB" sz="2800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, build a table of required samples, </a:t>
                </a:r>
                <a:r>
                  <a:rPr lang="en-GB" sz="2800" i="1" dirty="0">
                    <a:latin typeface="+mn-lt"/>
                    <a:ea typeface="Segoe UI" panose="020B0502040204020203" pitchFamily="34" charset="0"/>
                    <a:cs typeface="Segoe UI" panose="020B0502040204020203" pitchFamily="34" charset="0"/>
                  </a:rPr>
                  <a:t>k</a:t>
                </a:r>
              </a:p>
              <a:p>
                <a:pPr marL="0" indent="0">
                  <a:buNone/>
                </a:pPr>
                <a:endParaRPr lang="en-GB" sz="2800" dirty="0">
                  <a:latin typeface="+mn-lt"/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Content Placeholder 6">
                <a:extLst>
                  <a:ext uri="{FF2B5EF4-FFF2-40B4-BE49-F238E27FC236}">
                    <a16:creationId xmlns:a16="http://schemas.microsoft.com/office/drawing/2014/main" id="{5C53ECBA-1403-4EB8-A257-656654FE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0" y="1143000"/>
                <a:ext cx="11525250" cy="2286000"/>
              </a:xfrm>
              <a:prstGeom prst="rect">
                <a:avLst/>
              </a:prstGeom>
              <a:blipFill>
                <a:blip r:embed="rId4"/>
                <a:stretch>
                  <a:fillRect l="-1058" t="-2667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85405D-5865-48C2-8BA6-B8AF2D9D3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970" y="3349339"/>
            <a:ext cx="6354193" cy="33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7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"/>
            <a:ext cx="11615746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73840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Improving the least squares fit. 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 RANSAC algorithm uses only a limited number of inliers to fit a transform model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Limited number of observations increases variance of the estimated parameters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But, may not be enough inliers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Algorithm can fail, particularly when baseline is wide, minimal overlap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How can we improve this result? 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Use the current set of inliers as exemplars to find other matches with similar slope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Compute least squares or DLT fit with larger number of observations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See Chapter 4 of Hartley and Zisserman for details</a:t>
            </a: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8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99" y="1"/>
            <a:ext cx="11615746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Solving for the transformation parameters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73840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Improving the least squares fit. 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Planar projections introduce distortion in object locations near camera center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Least squares fit for planar projects is not guaranteed to be globally optimal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Use cylindrical or spherical coordinates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Less distortion if camera centers collocated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More likely to find globally optimal solution  </a:t>
            </a:r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See </a:t>
            </a:r>
            <a:r>
              <a:rPr lang="en-GB" sz="24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Szelisski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, 2022, Section 8.2.3</a:t>
            </a:r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38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Neural Image Stitching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5067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F966-8067-9B64-E927-59E4A986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8F44-2508-6825-71DB-8616DBB0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Abbreviated </a:t>
            </a:r>
            <a:r>
              <a:rPr lang="en-US" sz="4000" dirty="0">
                <a:latin typeface="Segoe"/>
              </a:rPr>
              <a:t>Bibliography of (nearly) State of the Art Image Stitching Algorithms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7BEB015-67A7-7E45-79DB-F098CC3654FA}"/>
              </a:ext>
            </a:extLst>
          </p:cNvPr>
          <p:cNvSpPr txBox="1">
            <a:spLocks/>
          </p:cNvSpPr>
          <p:nvPr/>
        </p:nvSpPr>
        <p:spPr>
          <a:xfrm>
            <a:off x="465150" y="1875826"/>
            <a:ext cx="11525250" cy="4886714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+mn-lt"/>
                <a:hlinkClick r:id="rId3"/>
              </a:rPr>
              <a:t>Single-Perspective Warps in Natural Image Stitching, Liao and Li, 2018</a:t>
            </a:r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  <a:hlinkClick r:id="rId4"/>
              </a:rPr>
              <a:t>Depth-Aware Multi-Grid Deep </a:t>
            </a:r>
            <a:r>
              <a:rPr lang="en-US" sz="2800" dirty="0" err="1">
                <a:latin typeface="+mn-lt"/>
                <a:hlinkClick r:id="rId4"/>
              </a:rPr>
              <a:t>Homography</a:t>
            </a:r>
            <a:r>
              <a:rPr lang="en-US" sz="2800" dirty="0">
                <a:latin typeface="+mn-lt"/>
                <a:hlinkClick r:id="rId4"/>
              </a:rPr>
              <a:t> Estimation with Contextual Correlation, Nei, et. al., 2021</a:t>
            </a:r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  <a:hlinkClick r:id="rId5"/>
              </a:rPr>
              <a:t>Unsupervised Deep Image Stitching: Reconstructing Stitched Features to Images, Nie, et. al., 2021</a:t>
            </a:r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6"/>
              </a:rPr>
              <a:t>Parallax Tolerant Unsupervised Deep Image, Nie, et. al., 2023</a:t>
            </a:r>
            <a:endParaRPr lang="en-US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+mn-lt"/>
                <a:hlinkClick r:id="rId7"/>
              </a:rPr>
              <a:t>Reconstructing the Image Stitching Pipeline: Integrating Fusion and </a:t>
            </a:r>
            <a:r>
              <a:rPr lang="en-US" sz="2800" dirty="0" err="1">
                <a:latin typeface="+mn-lt"/>
                <a:hlinkClick r:id="rId7"/>
              </a:rPr>
              <a:t>Rectangling</a:t>
            </a:r>
            <a:r>
              <a:rPr lang="en-US" sz="2800" dirty="0">
                <a:latin typeface="+mn-lt"/>
                <a:hlinkClick r:id="rId7"/>
              </a:rPr>
              <a:t> into a Unified Inpainting Model, Xie, et. al., 2024</a:t>
            </a:r>
            <a:endParaRPr lang="en-US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1013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F324-8F95-7A84-F97A-9D1C67BA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CEB2CE2-D862-4710-BCFA-EDD0F7C20CB9}"/>
              </a:ext>
            </a:extLst>
          </p:cNvPr>
          <p:cNvSpPr txBox="1"/>
          <p:nvPr/>
        </p:nvSpPr>
        <p:spPr>
          <a:xfrm>
            <a:off x="3629773" y="1766549"/>
            <a:ext cx="3810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Feature maps are up or down sampled and concatenated to dimension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H′×𝑊′</a:t>
            </a:r>
            <a:r>
              <a:rPr lang="en-US" sz="20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C01CC-442D-C979-E91E-2E0BA7C80701}"/>
              </a:ext>
            </a:extLst>
          </p:cNvPr>
          <p:cNvSpPr txBox="1"/>
          <p:nvPr/>
        </p:nvSpPr>
        <p:spPr>
          <a:xfrm>
            <a:off x="455905" y="1653809"/>
            <a:ext cx="30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CNN creates </a:t>
            </a:r>
            <a:r>
              <a:rPr lang="en-US" sz="2000" b="1" dirty="0"/>
              <a:t>multi-scale feature</a:t>
            </a:r>
            <a:r>
              <a:rPr lang="en-US" sz="2000" dirty="0"/>
              <a:t> map for </a:t>
            </a:r>
            <a:r>
              <a:rPr lang="en-US" sz="2000" b="1" dirty="0"/>
              <a:t>reference (left) </a:t>
            </a:r>
            <a:r>
              <a:rPr lang="en-US" sz="2000" dirty="0"/>
              <a:t>and </a:t>
            </a:r>
            <a:r>
              <a:rPr lang="en-US" sz="2000" b="1" dirty="0"/>
              <a:t>target (right)</a:t>
            </a:r>
            <a:r>
              <a:rPr lang="en-US" sz="2000" dirty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79CCB-377A-D10F-8745-D1E9F60C4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EE0E7007-0946-38C9-0B03-45747E9BB40F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C9A120DE-533C-1975-D07E-34D607ECD00C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6EA33-B0E7-947B-AFB0-03A8F554C4FD}"/>
              </a:ext>
            </a:extLst>
          </p:cNvPr>
          <p:cNvSpPr txBox="1"/>
          <p:nvPr/>
        </p:nvSpPr>
        <p:spPr>
          <a:xfrm>
            <a:off x="497706" y="1142998"/>
            <a:ext cx="1137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Nei, et. al., 2023</a:t>
            </a:r>
            <a:r>
              <a:rPr lang="en-US" sz="2400" dirty="0"/>
              <a:t>, use a deep convolutional architecture to perform wide-baseline stitching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048D6-414D-830D-A5A6-1DE8C6BEF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693" y="2831358"/>
            <a:ext cx="7208874" cy="397465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6A3668-9081-82C0-7291-7380951409EC}"/>
              </a:ext>
            </a:extLst>
          </p:cNvPr>
          <p:cNvCxnSpPr>
            <a:cxnSpLocks/>
          </p:cNvCxnSpPr>
          <p:nvPr/>
        </p:nvCxnSpPr>
        <p:spPr>
          <a:xfrm>
            <a:off x="2941755" y="2632342"/>
            <a:ext cx="219456" cy="471393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470B07-A567-36B2-19A1-59C3EDB9CF35}"/>
              </a:ext>
            </a:extLst>
          </p:cNvPr>
          <p:cNvCxnSpPr>
            <a:cxnSpLocks/>
          </p:cNvCxnSpPr>
          <p:nvPr/>
        </p:nvCxnSpPr>
        <p:spPr>
          <a:xfrm flipH="1">
            <a:off x="4791456" y="2706624"/>
            <a:ext cx="344859" cy="282158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5DF450-F066-2FF8-76C4-2A673C3F3553}"/>
              </a:ext>
            </a:extLst>
          </p:cNvPr>
          <p:cNvCxnSpPr>
            <a:cxnSpLocks/>
          </p:cNvCxnSpPr>
          <p:nvPr/>
        </p:nvCxnSpPr>
        <p:spPr>
          <a:xfrm>
            <a:off x="1813125" y="2632342"/>
            <a:ext cx="256032" cy="54327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04D9A62-F3BB-226E-9ED8-D4FAD038C78F}"/>
              </a:ext>
            </a:extLst>
          </p:cNvPr>
          <p:cNvSpPr txBox="1"/>
          <p:nvPr/>
        </p:nvSpPr>
        <p:spPr>
          <a:xfrm>
            <a:off x="8719661" y="4310851"/>
            <a:ext cx="32707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5. Contextual correlation </a:t>
            </a:r>
            <a:r>
              <a:rPr lang="en-US" sz="2000" b="1" dirty="0"/>
              <a:t>measures alignment </a:t>
            </a:r>
            <a:r>
              <a:rPr lang="en-US" sz="2000" dirty="0"/>
              <a:t>between target and reference images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757A8-4973-858A-2936-0AC714AC5F85}"/>
              </a:ext>
            </a:extLst>
          </p:cNvPr>
          <p:cNvSpPr txBox="1"/>
          <p:nvPr/>
        </p:nvSpPr>
        <p:spPr>
          <a:xfrm>
            <a:off x="7564305" y="1732606"/>
            <a:ext cx="34958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Coase scale or </a:t>
            </a:r>
            <a:r>
              <a:rPr lang="en-US" sz="2000" b="1"/>
              <a:t>global homograph </a:t>
            </a:r>
            <a:r>
              <a:rPr lang="en-US" sz="2000" dirty="0"/>
              <a:t>computed using last pyramid layer feature map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ACA55A-1E54-6A23-F731-018878EFFCC5}"/>
              </a:ext>
            </a:extLst>
          </p:cNvPr>
          <p:cNvCxnSpPr>
            <a:cxnSpLocks/>
          </p:cNvCxnSpPr>
          <p:nvPr/>
        </p:nvCxnSpPr>
        <p:spPr>
          <a:xfrm>
            <a:off x="5195535" y="2670048"/>
            <a:ext cx="469782" cy="224681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D1EE47-5077-4008-56DD-7CD551C0FA9E}"/>
              </a:ext>
            </a:extLst>
          </p:cNvPr>
          <p:cNvSpPr txBox="1"/>
          <p:nvPr/>
        </p:nvSpPr>
        <p:spPr>
          <a:xfrm>
            <a:off x="8696147" y="3175617"/>
            <a:ext cx="3495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Global </a:t>
            </a:r>
            <a:r>
              <a:rPr lang="en-US" sz="2000" dirty="0" err="1"/>
              <a:t>homography</a:t>
            </a:r>
            <a:r>
              <a:rPr lang="en-US" sz="2000" dirty="0"/>
              <a:t> used to </a:t>
            </a:r>
            <a:r>
              <a:rPr lang="en-US" sz="2000" b="1" dirty="0"/>
              <a:t>warp target image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9D9336-1FFE-CABE-30AA-A0484FFD9334}"/>
              </a:ext>
            </a:extLst>
          </p:cNvPr>
          <p:cNvCxnSpPr>
            <a:cxnSpLocks/>
          </p:cNvCxnSpPr>
          <p:nvPr/>
        </p:nvCxnSpPr>
        <p:spPr>
          <a:xfrm flipH="1">
            <a:off x="6996466" y="2632342"/>
            <a:ext cx="637468" cy="555939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2EB16D-DA62-8ACD-A152-766CB970B07E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7440603" y="3529560"/>
            <a:ext cx="1255544" cy="208567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C845BA-4A7E-6B7E-5451-FC4A36B74526}"/>
              </a:ext>
            </a:extLst>
          </p:cNvPr>
          <p:cNvCxnSpPr>
            <a:cxnSpLocks/>
          </p:cNvCxnSpPr>
          <p:nvPr/>
        </p:nvCxnSpPr>
        <p:spPr>
          <a:xfrm flipH="1" flipV="1">
            <a:off x="6306747" y="4436329"/>
            <a:ext cx="2412914" cy="22846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2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19" grpId="0"/>
      <p:bldP spid="20" grpId="0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6FC7-17F4-519C-3E29-6A2EEE662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5A4B4-DE99-22B2-977C-F24B98BA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2204029-00B8-3D2E-9539-0B69AB609C1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69D54BD6-F19C-F354-04F3-A91A6207A499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163DB-1F92-DCC0-9B95-05F0B30B92F9}"/>
              </a:ext>
            </a:extLst>
          </p:cNvPr>
          <p:cNvSpPr txBox="1"/>
          <p:nvPr/>
        </p:nvSpPr>
        <p:spPr>
          <a:xfrm>
            <a:off x="497706" y="1142998"/>
            <a:ext cx="1137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Nei, et. al., 2023</a:t>
            </a:r>
            <a:r>
              <a:rPr lang="en-US" sz="2400" dirty="0"/>
              <a:t>, use a deep convolutional architecture to perform wide-baseline stitching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569B7-85BE-A4C4-536B-EF71CDBF7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693" y="2831358"/>
            <a:ext cx="7208874" cy="397465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66933D-BB75-1413-1F35-9124209064C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986822" y="2703415"/>
            <a:ext cx="261219" cy="1732914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D96945D-9E0B-EA2C-970E-BCCFC448E7AB}"/>
              </a:ext>
            </a:extLst>
          </p:cNvPr>
          <p:cNvSpPr txBox="1"/>
          <p:nvPr/>
        </p:nvSpPr>
        <p:spPr>
          <a:xfrm>
            <a:off x="2443451" y="1687752"/>
            <a:ext cx="30867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6. Multiscale feature flow provides fine-grain small scale errors in </a:t>
            </a:r>
            <a:r>
              <a:rPr lang="en-US" sz="2000" dirty="0" err="1"/>
              <a:t>homography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AF9A35-5E1D-90EE-8A2B-B7847D2293A9}"/>
              </a:ext>
            </a:extLst>
          </p:cNvPr>
          <p:cNvSpPr txBox="1"/>
          <p:nvPr/>
        </p:nvSpPr>
        <p:spPr>
          <a:xfrm>
            <a:off x="8696147" y="5161448"/>
            <a:ext cx="32707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8. Masked and warped target image </a:t>
            </a:r>
            <a:r>
              <a:rPr lang="en-US" sz="2000" dirty="0" err="1"/>
              <a:t>akigned</a:t>
            </a:r>
            <a:r>
              <a:rPr lang="en-US" sz="2000" dirty="0"/>
              <a:t> with reference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8B453-DB5E-0C87-6A4A-ECE5322652A1}"/>
                  </a:ext>
                </a:extLst>
              </p:cNvPr>
              <p:cNvSpPr txBox="1"/>
              <p:nvPr/>
            </p:nvSpPr>
            <p:spPr>
              <a:xfrm>
                <a:off x="8696147" y="2762889"/>
                <a:ext cx="34958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7. K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Warp grids computed from feature flow used apply </a:t>
                </a:r>
                <a:r>
                  <a:rPr lang="en-US" sz="2000" b="1" dirty="0"/>
                  <a:t>local depth-corrected </a:t>
                </a:r>
                <a:r>
                  <a:rPr lang="en-US" sz="2000" b="1" dirty="0" err="1"/>
                  <a:t>homograhies</a:t>
                </a:r>
                <a:r>
                  <a:rPr lang="en-US" sz="2000" b="1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A8B453-DB5E-0C87-6A4A-ECE532265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147" y="2762889"/>
                <a:ext cx="3495853" cy="1323439"/>
              </a:xfrm>
              <a:prstGeom prst="rect">
                <a:avLst/>
              </a:prstGeom>
              <a:blipFill>
                <a:blip r:embed="rId5"/>
                <a:stretch>
                  <a:fillRect l="-1920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C89223-2A48-C074-E7A5-D3A8E48712ED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7275338" y="3424609"/>
            <a:ext cx="1420809" cy="1286044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BE880B-00FA-2DC8-4C84-1BE0316EF353}"/>
              </a:ext>
            </a:extLst>
          </p:cNvPr>
          <p:cNvCxnSpPr>
            <a:cxnSpLocks/>
          </p:cNvCxnSpPr>
          <p:nvPr/>
        </p:nvCxnSpPr>
        <p:spPr>
          <a:xfrm flipH="1">
            <a:off x="7482405" y="5669280"/>
            <a:ext cx="1154756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06AB4D-6873-4ED8-D754-AB31751651D7}"/>
              </a:ext>
            </a:extLst>
          </p:cNvPr>
          <p:cNvCxnSpPr>
            <a:cxnSpLocks/>
          </p:cNvCxnSpPr>
          <p:nvPr/>
        </p:nvCxnSpPr>
        <p:spPr>
          <a:xfrm>
            <a:off x="5068389" y="2632342"/>
            <a:ext cx="290526" cy="1971009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3B298D-249D-C8EA-7F3E-D6EB668F3992}"/>
              </a:ext>
            </a:extLst>
          </p:cNvPr>
          <p:cNvCxnSpPr>
            <a:cxnSpLocks/>
          </p:cNvCxnSpPr>
          <p:nvPr/>
        </p:nvCxnSpPr>
        <p:spPr>
          <a:xfrm flipH="1">
            <a:off x="4843130" y="3429000"/>
            <a:ext cx="3853017" cy="1892673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9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37CDD-6227-96C6-668E-DCAD732A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FF088B-6041-9DF7-59C5-9D0BA6BE4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80" y="2740476"/>
            <a:ext cx="5900523" cy="4117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B6220B-8DAF-BAA1-D902-A93B488F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CB690F3-F243-1DB5-D73E-926EEE62DC66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ACEA950-1940-E462-F580-FA8A4E5763A8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44928-7B19-24B0-A300-87C65E09DE5A}"/>
              </a:ext>
            </a:extLst>
          </p:cNvPr>
          <p:cNvSpPr txBox="1"/>
          <p:nvPr/>
        </p:nvSpPr>
        <p:spPr>
          <a:xfrm>
            <a:off x="497706" y="11429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Nei, et. al., 202</a:t>
            </a:r>
            <a:r>
              <a:rPr lang="en-US" sz="2400" dirty="0"/>
              <a:t>3, use a deep convolutional architecture to perform wide-baseline stitching</a:t>
            </a:r>
          </a:p>
          <a:p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2036EE-A8D7-9921-7251-6AFA00D97042}"/>
              </a:ext>
            </a:extLst>
          </p:cNvPr>
          <p:cNvCxnSpPr>
            <a:cxnSpLocks/>
          </p:cNvCxnSpPr>
          <p:nvPr/>
        </p:nvCxnSpPr>
        <p:spPr>
          <a:xfrm flipH="1" flipV="1">
            <a:off x="5901609" y="4117383"/>
            <a:ext cx="437198" cy="480448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568DDA-A812-FC06-D7FE-8190A133ECAE}"/>
              </a:ext>
            </a:extLst>
          </p:cNvPr>
          <p:cNvCxnSpPr>
            <a:cxnSpLocks/>
          </p:cNvCxnSpPr>
          <p:nvPr/>
        </p:nvCxnSpPr>
        <p:spPr>
          <a:xfrm>
            <a:off x="1451675" y="2782660"/>
            <a:ext cx="485613" cy="101442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F2430D-C387-B7E9-73DA-920B12A59B7B}"/>
                  </a:ext>
                </a:extLst>
              </p:cNvPr>
              <p:cNvSpPr txBox="1"/>
              <p:nvPr/>
            </p:nvSpPr>
            <p:spPr>
              <a:xfrm>
                <a:off x="317499" y="1582331"/>
                <a:ext cx="63261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1. Target feature map of dimension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partitioned into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patches of dimensions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sz="2400" dirty="0"/>
                  <a:t>to reduce computation and memory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F2430D-C387-B7E9-73DA-920B12A59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99" y="1582331"/>
                <a:ext cx="6326108" cy="1200329"/>
              </a:xfrm>
              <a:prstGeom prst="rect">
                <a:avLst/>
              </a:prstGeom>
              <a:blipFill>
                <a:blip r:embed="rId5"/>
                <a:stretch>
                  <a:fillRect l="-1445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F44BE-4C1A-81B5-C3D3-D86490584F96}"/>
                  </a:ext>
                </a:extLst>
              </p:cNvPr>
              <p:cNvSpPr txBox="1"/>
              <p:nvPr/>
            </p:nvSpPr>
            <p:spPr>
              <a:xfrm>
                <a:off x="6802414" y="2096326"/>
                <a:ext cx="5187986" cy="2099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2. Cosine similarity between patch of target and reference feature map computed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F44BE-4C1A-81B5-C3D3-D86490584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414" y="2096326"/>
                <a:ext cx="5187986" cy="2099677"/>
              </a:xfrm>
              <a:prstGeom prst="rect">
                <a:avLst/>
              </a:prstGeom>
              <a:blipFill>
                <a:blip r:embed="rId6"/>
                <a:stretch>
                  <a:fillRect l="-188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4500ED-1AE9-8F06-7E85-CD25DEEDAD3B}"/>
                  </a:ext>
                </a:extLst>
              </p:cNvPr>
              <p:cNvSpPr txBox="1"/>
              <p:nvPr/>
            </p:nvSpPr>
            <p:spPr>
              <a:xfrm>
                <a:off x="6291477" y="4405468"/>
                <a:ext cx="5900523" cy="187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3. Correlation volume is computed as a convolution over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patches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Sup>
                                <m:sSub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bSup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4500ED-1AE9-8F06-7E85-CD25DEEDA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477" y="4405468"/>
                <a:ext cx="5900523" cy="1870833"/>
              </a:xfrm>
              <a:prstGeom prst="rect">
                <a:avLst/>
              </a:prstGeom>
              <a:blipFill>
                <a:blip r:embed="rId7"/>
                <a:stretch>
                  <a:fillRect l="-1550" t="-2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99CF86-FB1C-4302-93E8-C5D2251EA330}"/>
              </a:ext>
            </a:extLst>
          </p:cNvPr>
          <p:cNvCxnSpPr>
            <a:cxnSpLocks/>
          </p:cNvCxnSpPr>
          <p:nvPr/>
        </p:nvCxnSpPr>
        <p:spPr>
          <a:xfrm flipH="1" flipV="1">
            <a:off x="4287864" y="4075341"/>
            <a:ext cx="2304082" cy="1447222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D381-7935-5572-5B85-243A1B83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1DC3E-25E8-D98E-DF8F-1329FB0D1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20" y="1947057"/>
            <a:ext cx="5900523" cy="4117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5A39D8-86B1-06C5-ED62-33A8B45A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020630B-307A-B7A7-4D9A-0A1619763D66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464DAD3-ACB8-12A2-7AAD-4FB66D12F1EF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C9F13-98DC-BE59-1D70-5EF2A0245FCC}"/>
              </a:ext>
            </a:extLst>
          </p:cNvPr>
          <p:cNvSpPr txBox="1"/>
          <p:nvPr/>
        </p:nvSpPr>
        <p:spPr>
          <a:xfrm>
            <a:off x="497706" y="11429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Nei, et. al., 202</a:t>
            </a:r>
            <a:r>
              <a:rPr lang="en-US" sz="2400" dirty="0"/>
              <a:t>3, use a deep convolutional architecture to perform wide-baseline stitching</a:t>
            </a:r>
          </a:p>
          <a:p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D49884-DF68-C2E0-6010-8E0A2C745749}"/>
              </a:ext>
            </a:extLst>
          </p:cNvPr>
          <p:cNvCxnSpPr>
            <a:cxnSpLocks/>
          </p:cNvCxnSpPr>
          <p:nvPr/>
        </p:nvCxnSpPr>
        <p:spPr>
          <a:xfrm flipH="1" flipV="1">
            <a:off x="4783810" y="4825139"/>
            <a:ext cx="1402293" cy="15805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59BED8-A13A-E3AC-737E-17C8B8E63BA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612145" y="4187271"/>
            <a:ext cx="967711" cy="510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6DB4AB-382E-F566-3C58-75FF838586E7}"/>
                  </a:ext>
                </a:extLst>
              </p:cNvPr>
              <p:cNvSpPr txBox="1"/>
              <p:nvPr/>
            </p:nvSpPr>
            <p:spPr>
              <a:xfrm>
                <a:off x="6579856" y="3759269"/>
                <a:ext cx="5187986" cy="856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4. Compute scaled </a:t>
                </a:r>
                <a:r>
                  <a:rPr lang="en-US" sz="2400" dirty="0" err="1"/>
                  <a:t>softmax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sz="2400" dirty="0"/>
                  <a:t>, to transform correlation to probability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6DB4AB-382E-F566-3C58-75FF83858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856" y="3759269"/>
                <a:ext cx="5187986" cy="856004"/>
              </a:xfrm>
              <a:prstGeom prst="rect">
                <a:avLst/>
              </a:prstGeom>
              <a:blipFill>
                <a:blip r:embed="rId5"/>
                <a:stretch>
                  <a:fillRect l="-1763" t="-2857" b="-1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BF0C1-DB5B-21C8-4DB1-ADFA498A0286}"/>
                  </a:ext>
                </a:extLst>
              </p:cNvPr>
              <p:cNvSpPr txBox="1"/>
              <p:nvPr/>
            </p:nvSpPr>
            <p:spPr>
              <a:xfrm>
                <a:off x="6291477" y="4752362"/>
                <a:ext cx="59005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5. Probability volume over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patches with depth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BF0C1-DB5B-21C8-4DB1-ADFA498A0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477" y="4752362"/>
                <a:ext cx="5900523" cy="830997"/>
              </a:xfrm>
              <a:prstGeom prst="rect">
                <a:avLst/>
              </a:prstGeom>
              <a:blipFill>
                <a:blip r:embed="rId6"/>
                <a:stretch>
                  <a:fillRect l="-1550" t="-5882" r="-103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54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6737-C9F4-E5B5-39EC-C7F87083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B92376-31C5-A924-0DCA-5FC48F81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77" y="2335733"/>
            <a:ext cx="5900523" cy="4117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EE822B-F4DB-079E-48E2-F9B9F8D1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3DBEE69-FACE-0F08-B93D-7B5DA0A5ACF8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CB3ABA3-225A-E757-939C-9870E4D5DC5E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275D4-2389-5808-639A-DFADC56085C9}"/>
              </a:ext>
            </a:extLst>
          </p:cNvPr>
          <p:cNvSpPr txBox="1"/>
          <p:nvPr/>
        </p:nvSpPr>
        <p:spPr>
          <a:xfrm>
            <a:off x="497706" y="11429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Nei, et. al., 202</a:t>
            </a:r>
            <a:r>
              <a:rPr lang="en-US" sz="2400" dirty="0"/>
              <a:t>3, use a deep convolutional architecture to perform wide-baseline stitching</a:t>
            </a:r>
          </a:p>
          <a:p>
            <a:endParaRPr lang="en-US" sz="2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153DC5-CF35-9D38-7DE8-F909FC02DC9B}"/>
              </a:ext>
            </a:extLst>
          </p:cNvPr>
          <p:cNvCxnSpPr>
            <a:cxnSpLocks/>
          </p:cNvCxnSpPr>
          <p:nvPr/>
        </p:nvCxnSpPr>
        <p:spPr>
          <a:xfrm>
            <a:off x="6364224" y="4425696"/>
            <a:ext cx="449362" cy="104503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AF3F-900C-66F9-6505-EDBE8C196676}"/>
                  </a:ext>
                </a:extLst>
              </p:cNvPr>
              <p:cNvSpPr txBox="1"/>
              <p:nvPr/>
            </p:nvSpPr>
            <p:spPr>
              <a:xfrm>
                <a:off x="360537" y="2646781"/>
                <a:ext cx="6186568" cy="2387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6. Multi-scale residual feature flow motions, horizontal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h𝑜𝑟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sz="2400" dirty="0"/>
                  <a:t> and vertical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𝑣𝑒𝑡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en-US" sz="2400" dirty="0"/>
                  <a:t>, are computed from probabilities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h𝑜𝑟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𝑣𝑒𝑡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</m:oMath>
                </a14:m>
                <a:r>
                  <a:rPr lang="en-US" dirty="0"/>
                  <a:t> is the modulo operator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AF3F-900C-66F9-6505-EDBE8C196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37" y="2646781"/>
                <a:ext cx="6186568" cy="2387833"/>
              </a:xfrm>
              <a:prstGeom prst="rect">
                <a:avLst/>
              </a:prstGeom>
              <a:blipFill>
                <a:blip r:embed="rId5"/>
                <a:stretch>
                  <a:fillRect l="-1478" t="-2041" b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400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0FD0D-A464-FD8E-DFBB-7D5D32BC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1A516D-4380-7C1B-9944-E7A05ED21895}"/>
              </a:ext>
            </a:extLst>
          </p:cNvPr>
          <p:cNvSpPr txBox="1"/>
          <p:nvPr/>
        </p:nvSpPr>
        <p:spPr>
          <a:xfrm>
            <a:off x="897205" y="1917612"/>
            <a:ext cx="241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Reference image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7CA63-CEB0-3263-7748-D46277166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455829"/>
            <a:ext cx="4760105" cy="53514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E69111-00A1-F99C-F7F1-5AD6098E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Multi-Scale Multi-Grid Image 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C47509A-969A-BE5B-7493-F22CAD2AC8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6C2653B-7B70-00D4-2126-047142B23101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FCAF9-7A76-CC66-2BC2-4D350655CC90}"/>
              </a:ext>
            </a:extLst>
          </p:cNvPr>
          <p:cNvSpPr txBox="1"/>
          <p:nvPr/>
        </p:nvSpPr>
        <p:spPr>
          <a:xfrm>
            <a:off x="497706" y="1069698"/>
            <a:ext cx="1137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Nei, et. al., 2023</a:t>
            </a:r>
            <a:r>
              <a:rPr lang="en-US" sz="2400" dirty="0"/>
              <a:t>, use a deep convolutional architecture to perform wide-baseline stitching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80269-C957-B21E-B55F-6E6E27D5397B}"/>
              </a:ext>
            </a:extLst>
          </p:cNvPr>
          <p:cNvCxnSpPr>
            <a:cxnSpLocks/>
          </p:cNvCxnSpPr>
          <p:nvPr/>
        </p:nvCxnSpPr>
        <p:spPr>
          <a:xfrm flipV="1">
            <a:off x="3153972" y="2095778"/>
            <a:ext cx="670833" cy="5266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792E9D-378C-9FC9-9FAD-BE2C082EFD3B}"/>
              </a:ext>
            </a:extLst>
          </p:cNvPr>
          <p:cNvCxnSpPr>
            <a:cxnSpLocks/>
          </p:cNvCxnSpPr>
          <p:nvPr/>
        </p:nvCxnSpPr>
        <p:spPr>
          <a:xfrm flipV="1">
            <a:off x="2772213" y="3192562"/>
            <a:ext cx="1052592" cy="86971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332DE3A-B7CC-EE93-2625-FD64A8BC3223}"/>
              </a:ext>
            </a:extLst>
          </p:cNvPr>
          <p:cNvSpPr txBox="1"/>
          <p:nvPr/>
        </p:nvSpPr>
        <p:spPr>
          <a:xfrm>
            <a:off x="9003405" y="2303163"/>
            <a:ext cx="2804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Multiscale residual flow maps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0A5E0-EC79-4F70-8FD2-6AFAB9E36CE0}"/>
              </a:ext>
            </a:extLst>
          </p:cNvPr>
          <p:cNvSpPr txBox="1"/>
          <p:nvPr/>
        </p:nvSpPr>
        <p:spPr>
          <a:xfrm>
            <a:off x="9087879" y="4247787"/>
            <a:ext cx="29560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Progressively finer scale alignment between reference and target images as resolution of residual flow map increases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3C17FA-551D-8BC9-E72F-8A554657B20D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344553" y="2718662"/>
            <a:ext cx="658852" cy="10291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15484B-E334-8207-35A3-15BE772EBF11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8429027" y="5199017"/>
            <a:ext cx="658852" cy="202932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145CD5-059C-48BF-9C2F-273EE81859AB}"/>
              </a:ext>
            </a:extLst>
          </p:cNvPr>
          <p:cNvSpPr txBox="1"/>
          <p:nvPr/>
        </p:nvSpPr>
        <p:spPr>
          <a:xfrm>
            <a:off x="951104" y="3002142"/>
            <a:ext cx="241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Target image</a:t>
            </a:r>
          </a:p>
        </p:txBody>
      </p:sp>
    </p:spTree>
    <p:extLst>
      <p:ext uri="{BB962C8B-B14F-4D97-AF65-F5344CB8AC3E}">
        <p14:creationId xmlns:p14="http://schemas.microsoft.com/office/powerpoint/2010/main" val="363034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8" grpId="0"/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2FB8-4B98-FFBE-0EC9-273438C5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86E60D-41CD-65FA-CBB6-20BA58FCE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9" y="3662322"/>
            <a:ext cx="9948117" cy="30789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31FB27-2212-AF4F-572C-2CFAF15A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Filling Seams with Generative Diffusion Model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F0238229-F577-0C45-247B-7BA060BC37E6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0F45CC6-D90F-4B77-185B-81E6C21D714D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6823D-56DE-3B77-259A-7F8DF52A6B63}"/>
              </a:ext>
            </a:extLst>
          </p:cNvPr>
          <p:cNvSpPr txBox="1"/>
          <p:nvPr/>
        </p:nvSpPr>
        <p:spPr>
          <a:xfrm>
            <a:off x="497706" y="10696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Xie, et. al., 2024</a:t>
            </a:r>
            <a:r>
              <a:rPr lang="en-US" sz="2400" dirty="0"/>
              <a:t>, use a generative diffusion model to infill seams and edges of stitched images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692901-91C0-EEE6-6722-591D9A394623}"/>
              </a:ext>
            </a:extLst>
          </p:cNvPr>
          <p:cNvCxnSpPr>
            <a:cxnSpLocks/>
          </p:cNvCxnSpPr>
          <p:nvPr/>
        </p:nvCxnSpPr>
        <p:spPr>
          <a:xfrm>
            <a:off x="10021824" y="3104956"/>
            <a:ext cx="0" cy="2522523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2A84A5-90BF-A7C4-8BE0-B80D5D0B2103}"/>
              </a:ext>
            </a:extLst>
          </p:cNvPr>
          <p:cNvSpPr txBox="1"/>
          <p:nvPr/>
        </p:nvSpPr>
        <p:spPr>
          <a:xfrm>
            <a:off x="204671" y="2008822"/>
            <a:ext cx="1888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Target and reference images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59E22-73D4-8BE0-C21E-2EEA092AE6B8}"/>
              </a:ext>
            </a:extLst>
          </p:cNvPr>
          <p:cNvSpPr txBox="1"/>
          <p:nvPr/>
        </p:nvSpPr>
        <p:spPr>
          <a:xfrm>
            <a:off x="7945740" y="1535296"/>
            <a:ext cx="25916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5. Stitched image with seams and edges filled by generative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FED761-73B2-7661-ADBE-1573323C5364}"/>
              </a:ext>
            </a:extLst>
          </p:cNvPr>
          <p:cNvSpPr txBox="1"/>
          <p:nvPr/>
        </p:nvSpPr>
        <p:spPr>
          <a:xfrm>
            <a:off x="10408449" y="2596843"/>
            <a:ext cx="17364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6. Notice straight lines are preserved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8ABBD5-F05E-A901-0526-59BD551652E0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0721993" y="4166503"/>
            <a:ext cx="554699" cy="55736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E6EEF9-4335-0B87-335E-B619F1EA8E80}"/>
              </a:ext>
            </a:extLst>
          </p:cNvPr>
          <p:cNvCxnSpPr>
            <a:cxnSpLocks/>
          </p:cNvCxnSpPr>
          <p:nvPr/>
        </p:nvCxnSpPr>
        <p:spPr>
          <a:xfrm>
            <a:off x="870681" y="3216145"/>
            <a:ext cx="111646" cy="172161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AF555E1-F47E-8244-CE26-45892C30F2BB}"/>
              </a:ext>
            </a:extLst>
          </p:cNvPr>
          <p:cNvSpPr txBox="1"/>
          <p:nvPr/>
        </p:nvSpPr>
        <p:spPr>
          <a:xfrm>
            <a:off x="3885639" y="1626018"/>
            <a:ext cx="2152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Target image is warped and masks applied to each image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1273A8-AB6B-B406-F9DD-9CA4DD9F620E}"/>
              </a:ext>
            </a:extLst>
          </p:cNvPr>
          <p:cNvSpPr txBox="1"/>
          <p:nvPr/>
        </p:nvSpPr>
        <p:spPr>
          <a:xfrm>
            <a:off x="6009510" y="2015816"/>
            <a:ext cx="1947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Seams and edge artifacts from masks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96258D-E264-6B95-C376-C3A9D159F8AB}"/>
              </a:ext>
            </a:extLst>
          </p:cNvPr>
          <p:cNvCxnSpPr>
            <a:cxnSpLocks/>
          </p:cNvCxnSpPr>
          <p:nvPr/>
        </p:nvCxnSpPr>
        <p:spPr>
          <a:xfrm>
            <a:off x="6959124" y="3234363"/>
            <a:ext cx="744966" cy="1170432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37580BA-2EEB-E26D-EAD3-DD4F4C0807A4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962096" y="3195678"/>
            <a:ext cx="968313" cy="108594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9DD111-BFA0-399E-CC34-82683A858996}"/>
              </a:ext>
            </a:extLst>
          </p:cNvPr>
          <p:cNvSpPr txBox="1"/>
          <p:nvPr/>
        </p:nvSpPr>
        <p:spPr>
          <a:xfrm>
            <a:off x="2044828" y="2183384"/>
            <a:ext cx="18885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Compute </a:t>
            </a:r>
            <a:r>
              <a:rPr lang="en-US" sz="2400" dirty="0" err="1"/>
              <a:t>homography</a:t>
            </a:r>
            <a:r>
              <a:rPr lang="en-US" sz="2400" dirty="0"/>
              <a:t> and align images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D721BC-D3E2-85BC-135A-CD6B14956128}"/>
              </a:ext>
            </a:extLst>
          </p:cNvPr>
          <p:cNvCxnSpPr>
            <a:cxnSpLocks/>
          </p:cNvCxnSpPr>
          <p:nvPr/>
        </p:nvCxnSpPr>
        <p:spPr>
          <a:xfrm>
            <a:off x="3218688" y="3429000"/>
            <a:ext cx="299407" cy="937217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68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5" grpId="0"/>
      <p:bldP spid="27" grpId="0"/>
      <p:bldP spid="28" grpId="0"/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BDF5-5420-462B-CE70-176A7228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A064B8-BEB1-08B9-D09B-5329087C8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9" y="3662322"/>
            <a:ext cx="9948117" cy="30789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FF2FA7-6BFF-4AB2-3B05-4891B6345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Filling Seams with Generative Diffusion Model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4D68CDD-6786-D53B-A8F3-878A11DF3A3A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F08813E-E090-F82B-393C-E60EF7AE091B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CFAB0-37F9-9798-6C84-7A2F8C253FBC}"/>
              </a:ext>
            </a:extLst>
          </p:cNvPr>
          <p:cNvSpPr txBox="1"/>
          <p:nvPr/>
        </p:nvSpPr>
        <p:spPr>
          <a:xfrm>
            <a:off x="497706" y="10696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Xie, et. al., 2024</a:t>
            </a:r>
            <a:r>
              <a:rPr lang="en-US" sz="2400" dirty="0"/>
              <a:t>, use a generative diffusion model to infill seams and edges of stitched images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AD08B2-8EBA-9385-BEF0-E4D572CCEC8A}"/>
              </a:ext>
            </a:extLst>
          </p:cNvPr>
          <p:cNvCxnSpPr>
            <a:cxnSpLocks/>
          </p:cNvCxnSpPr>
          <p:nvPr/>
        </p:nvCxnSpPr>
        <p:spPr>
          <a:xfrm flipH="1">
            <a:off x="6426926" y="2607346"/>
            <a:ext cx="1144306" cy="166159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16C010-4385-69ED-7E84-9B49CDCA243B}"/>
                  </a:ext>
                </a:extLst>
              </p:cNvPr>
              <p:cNvSpPr txBox="1"/>
              <p:nvPr/>
            </p:nvSpPr>
            <p:spPr>
              <a:xfrm>
                <a:off x="5371451" y="1535296"/>
                <a:ext cx="6799151" cy="1143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2. Coarse fusion of the warped images using masks,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𝑤𝑙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16C010-4385-69ED-7E84-9B49CDCA2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451" y="1535296"/>
                <a:ext cx="6799151" cy="1143646"/>
              </a:xfrm>
              <a:prstGeom prst="rect">
                <a:avLst/>
              </a:prstGeom>
              <a:blipFill>
                <a:blip r:embed="rId5"/>
                <a:stretch>
                  <a:fillRect l="-1345" t="-4278" b="-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E91483-E380-1702-54FC-348A8DA89892}"/>
                  </a:ext>
                </a:extLst>
              </p:cNvPr>
              <p:cNvSpPr txBox="1"/>
              <p:nvPr/>
            </p:nvSpPr>
            <p:spPr>
              <a:xfrm>
                <a:off x="402341" y="2464354"/>
                <a:ext cx="5940982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1. Given the </a:t>
                </a:r>
                <a:r>
                  <a:rPr lang="en-US" sz="2400" dirty="0" err="1"/>
                  <a:t>homography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, the image </a:t>
                </a:r>
                <a:r>
                  <a:rPr lang="en-US" sz="2400" dirty="0" err="1"/>
                  <a:t>allignment</a:t>
                </a:r>
                <a:r>
                  <a:rPr lang="en-US" sz="2400" dirty="0"/>
                  <a:t> for the warped images is computed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𝑤𝑙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E91483-E380-1702-54FC-348A8DA89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41" y="2464354"/>
                <a:ext cx="5940982" cy="1138773"/>
              </a:xfrm>
              <a:prstGeom prst="rect">
                <a:avLst/>
              </a:prstGeom>
              <a:blipFill>
                <a:blip r:embed="rId6"/>
                <a:stretch>
                  <a:fillRect l="-1538" t="-4278" r="-1333" b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559E55E-AC7F-6B64-6961-6B0A956FD5C5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372832" y="3603127"/>
            <a:ext cx="352695" cy="514286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2CED-CCBD-BF43-4AED-9CE2F917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3A3E63-E694-8DE6-AA26-C9F49A07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29" y="3662322"/>
            <a:ext cx="9948117" cy="30789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7A785-E027-67E8-393C-A1F084A1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Filling Seams with Generative Diffusion Model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B0192D9-DE3E-F40D-6E86-4CE75D6F135B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4D9C18DC-69BE-D1B0-825C-D2F9198EA7E0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5D993-2F03-8D20-018C-E880305BB6E0}"/>
              </a:ext>
            </a:extLst>
          </p:cNvPr>
          <p:cNvSpPr txBox="1"/>
          <p:nvPr/>
        </p:nvSpPr>
        <p:spPr>
          <a:xfrm>
            <a:off x="497706" y="1069698"/>
            <a:ext cx="113767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Xie, et. al., 2024</a:t>
            </a:r>
            <a:r>
              <a:rPr lang="en-US" sz="2400" dirty="0"/>
              <a:t>, use a generative diffusion model to infill seams and edges of stitched images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EFA063-5A77-507F-1FE2-DA83505A7D12}"/>
              </a:ext>
            </a:extLst>
          </p:cNvPr>
          <p:cNvCxnSpPr>
            <a:cxnSpLocks/>
          </p:cNvCxnSpPr>
          <p:nvPr/>
        </p:nvCxnSpPr>
        <p:spPr>
          <a:xfrm flipH="1">
            <a:off x="9802368" y="3195678"/>
            <a:ext cx="334409" cy="241090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D1286-A2E8-E823-2C3F-A069BC52F261}"/>
                  </a:ext>
                </a:extLst>
              </p:cNvPr>
              <p:cNvSpPr txBox="1"/>
              <p:nvPr/>
            </p:nvSpPr>
            <p:spPr>
              <a:xfrm>
                <a:off x="7689592" y="1680187"/>
                <a:ext cx="4481015" cy="1456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4. Use the </a:t>
                </a:r>
                <a:r>
                  <a:rPr lang="en-US" sz="2400" b="1" dirty="0"/>
                  <a:t>generative diffusion model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400" dirty="0"/>
                  <a:t>, to infill the seam </a:t>
                </a:r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𝐶𝐹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𝑠𝑒𝑎𝑚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𝐶𝐹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𝑠𝑒𝑎𝑚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7D1286-A2E8-E823-2C3F-A069BC52F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592" y="1680187"/>
                <a:ext cx="4481015" cy="1456296"/>
              </a:xfrm>
              <a:prstGeom prst="rect">
                <a:avLst/>
              </a:prstGeom>
              <a:blipFill>
                <a:blip r:embed="rId5"/>
                <a:stretch>
                  <a:fillRect l="-2041" t="-3347" b="-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D450B1-03BD-EEF6-A95F-2814EFA0C6A7}"/>
                  </a:ext>
                </a:extLst>
              </p:cNvPr>
              <p:cNvSpPr txBox="1"/>
              <p:nvPr/>
            </p:nvSpPr>
            <p:spPr>
              <a:xfrm>
                <a:off x="547482" y="1806814"/>
                <a:ext cx="6275391" cy="1855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3. Using a kernel of size,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, apply </a:t>
                </a:r>
                <a:r>
                  <a:rPr lang="en-US" sz="2400" b="1" dirty="0"/>
                  <a:t>dilation</a:t>
                </a:r>
                <a:r>
                  <a:rPr lang="en-US" sz="2400" dirty="0"/>
                  <a:t> and </a:t>
                </a:r>
                <a:r>
                  <a:rPr lang="en-US" sz="2400" b="1" dirty="0"/>
                  <a:t>erosion</a:t>
                </a:r>
                <a:r>
                  <a:rPr lang="en-US" sz="2400" dirty="0"/>
                  <a:t> operations to compute a seam along the junction of the masks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𝑠𝑒𝑎𝑚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𝐷𝑖𝑎𝑙𝑎𝑡𝑖𝑜𝑛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𝑤𝑙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𝑤𝑙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𝐸𝑟𝑟𝑜𝑠𝑖𝑜𝑛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𝑤𝑙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𝑤𝑙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D450B1-03BD-EEF6-A95F-2814EFA0C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82" y="1806814"/>
                <a:ext cx="6275391" cy="1855508"/>
              </a:xfrm>
              <a:prstGeom prst="rect">
                <a:avLst/>
              </a:prstGeom>
              <a:blipFill>
                <a:blip r:embed="rId6"/>
                <a:stretch>
                  <a:fillRect l="-1555" t="-2623" r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02B9CE-4FDA-9D8B-2562-69764C7B178D}"/>
              </a:ext>
            </a:extLst>
          </p:cNvPr>
          <p:cNvCxnSpPr>
            <a:cxnSpLocks/>
          </p:cNvCxnSpPr>
          <p:nvPr/>
        </p:nvCxnSpPr>
        <p:spPr>
          <a:xfrm>
            <a:off x="5057938" y="3603127"/>
            <a:ext cx="2257262" cy="104202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56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E2BFA-6059-F4E2-18B5-26F66B52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2DC8-24A8-6477-AA30-AB324E4867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Image Blending</a:t>
            </a:r>
          </a:p>
        </p:txBody>
      </p:sp>
    </p:spTree>
    <p:extLst>
      <p:ext uri="{BB962C8B-B14F-4D97-AF65-F5344CB8AC3E}">
        <p14:creationId xmlns:p14="http://schemas.microsoft.com/office/powerpoint/2010/main" val="17774853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4AD5-3B68-79D6-D4E5-9FE106DE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FF10-BFF5-E6F8-8DA0-6DBCCBCF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Image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Blending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4B23260-3174-2DF8-C962-32F316B9C546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641959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11C3967-C662-52C3-EC8D-860EE8EC0BBB}"/>
              </a:ext>
            </a:extLst>
          </p:cNvPr>
          <p:cNvSpPr/>
          <p:nvPr/>
        </p:nvSpPr>
        <p:spPr>
          <a:xfrm rot="5400000">
            <a:off x="5632946" y="4887447"/>
            <a:ext cx="280495" cy="273380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2552B-062A-D0E2-7B11-7DE9D8B2A628}"/>
              </a:ext>
            </a:extLst>
          </p:cNvPr>
          <p:cNvSpPr txBox="1"/>
          <p:nvPr/>
        </p:nvSpPr>
        <p:spPr>
          <a:xfrm>
            <a:off x="4583468" y="6394597"/>
            <a:ext cx="237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Region of overlap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2BCB0E3-608E-1AD6-6617-AB8BD2A65EA7}"/>
              </a:ext>
            </a:extLst>
          </p:cNvPr>
          <p:cNvSpPr txBox="1">
            <a:spLocks/>
          </p:cNvSpPr>
          <p:nvPr/>
        </p:nvSpPr>
        <p:spPr>
          <a:xfrm>
            <a:off x="317499" y="1142999"/>
            <a:ext cx="11068051" cy="698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590A7-481F-3FC0-4A9F-674B4ED03AE2}"/>
              </a:ext>
            </a:extLst>
          </p:cNvPr>
          <p:cNvSpPr txBox="1"/>
          <p:nvPr/>
        </p:nvSpPr>
        <p:spPr>
          <a:xfrm>
            <a:off x="527050" y="1244600"/>
            <a:ext cx="11376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How can we make the transitions in the mosaic less noticeable?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6751E3-6E97-1185-0144-0D0F51440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118" y="1943676"/>
            <a:ext cx="5466149" cy="417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2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Blending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256043"/>
            <a:ext cx="11525250" cy="5506497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</a:rPr>
              <a:t>How can we make the transitions in the mosaic less noticeable?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Blend one image into another over the region of overlap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Resulting pixel values are weighted sum of overlapping image pixel values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Blend different scales with pyramid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Blend R,G,B channels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Different blending function, linear, Gaussian, etc.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Adjust illumination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Equalize illumination between images in mosaic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Can still be problems, e.g. shadows</a:t>
            </a:r>
          </a:p>
        </p:txBody>
      </p:sp>
    </p:spTree>
    <p:extLst>
      <p:ext uri="{BB962C8B-B14F-4D97-AF65-F5344CB8AC3E}">
        <p14:creationId xmlns:p14="http://schemas.microsoft.com/office/powerpoint/2010/main" val="16276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"/>
            <a:ext cx="11903845" cy="862504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Image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Blending</a:t>
            </a:r>
            <a:endParaRPr lang="en-US" dirty="0">
              <a:latin typeface="Segoe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46281DE-C06E-4372-A09A-22D40357E9F5}"/>
              </a:ext>
            </a:extLst>
          </p:cNvPr>
          <p:cNvSpPr/>
          <p:nvPr/>
        </p:nvSpPr>
        <p:spPr>
          <a:xfrm rot="5400000">
            <a:off x="8852396" y="4863783"/>
            <a:ext cx="280495" cy="2733805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BEC37-98CE-4162-AFC6-FD9B479D8A96}"/>
              </a:ext>
            </a:extLst>
          </p:cNvPr>
          <p:cNvSpPr txBox="1"/>
          <p:nvPr/>
        </p:nvSpPr>
        <p:spPr>
          <a:xfrm>
            <a:off x="7802918" y="6370933"/>
            <a:ext cx="237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Region of overlap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146558-4708-4DB3-B19F-9389CB085E1A}"/>
              </a:ext>
            </a:extLst>
          </p:cNvPr>
          <p:cNvCxnSpPr>
            <a:cxnSpLocks/>
          </p:cNvCxnSpPr>
          <p:nvPr/>
        </p:nvCxnSpPr>
        <p:spPr>
          <a:xfrm>
            <a:off x="7734300" y="1225550"/>
            <a:ext cx="2527300" cy="495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8B209C-17F5-4430-9929-3986E5F8280C}"/>
              </a:ext>
            </a:extLst>
          </p:cNvPr>
          <p:cNvCxnSpPr>
            <a:cxnSpLocks/>
          </p:cNvCxnSpPr>
          <p:nvPr/>
        </p:nvCxnSpPr>
        <p:spPr>
          <a:xfrm>
            <a:off x="7734300" y="952500"/>
            <a:ext cx="0" cy="83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145B61-F4D2-479C-85F0-54EC8DA8B4A5}"/>
              </a:ext>
            </a:extLst>
          </p:cNvPr>
          <p:cNvCxnSpPr>
            <a:cxnSpLocks/>
          </p:cNvCxnSpPr>
          <p:nvPr/>
        </p:nvCxnSpPr>
        <p:spPr>
          <a:xfrm>
            <a:off x="10261600" y="933450"/>
            <a:ext cx="0" cy="83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07314B-E562-4315-AD11-690796CA7F76}"/>
              </a:ext>
            </a:extLst>
          </p:cNvPr>
          <p:cNvCxnSpPr>
            <a:cxnSpLocks/>
          </p:cNvCxnSpPr>
          <p:nvPr/>
        </p:nvCxnSpPr>
        <p:spPr>
          <a:xfrm flipV="1">
            <a:off x="7734299" y="1295400"/>
            <a:ext cx="2527301" cy="347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6DE64E1-DD70-486A-B744-0DE09323BC39}"/>
              </a:ext>
            </a:extLst>
          </p:cNvPr>
          <p:cNvSpPr txBox="1">
            <a:spLocks/>
          </p:cNvSpPr>
          <p:nvPr/>
        </p:nvSpPr>
        <p:spPr>
          <a:xfrm>
            <a:off x="347785" y="1384300"/>
            <a:ext cx="5572197" cy="4986633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</a:rPr>
              <a:t>Use interpolation to find weights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Sum of interpolation weights must add to 1.0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Linearly weight pixel values over range of overlap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Sum weighted pixel values to form blended </a:t>
            </a:r>
          </a:p>
          <a:p>
            <a:endParaRPr lang="en-US" sz="28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0E50F-2898-479D-9155-BAA985AF8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23" y="1874954"/>
            <a:ext cx="5466149" cy="417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0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Blending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75657"/>
            <a:ext cx="11525250" cy="5586884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</a:rPr>
              <a:t>How can we make the transitions in the mosaic less noticeable?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Compute Gaussian Laplacian pyramids of images for each color channel</a:t>
            </a:r>
          </a:p>
          <a:p>
            <a:r>
              <a:rPr lang="en-US" sz="2800" dirty="0">
                <a:latin typeface="+mj-lt"/>
              </a:rPr>
              <a:t>Compute blending weights for each scale </a:t>
            </a:r>
          </a:p>
          <a:p>
            <a:r>
              <a:rPr lang="en-US" sz="2800" dirty="0">
                <a:latin typeface="+mj-lt"/>
              </a:rPr>
              <a:t>Blend Laplacians scales using weights</a:t>
            </a:r>
          </a:p>
          <a:p>
            <a:r>
              <a:rPr lang="en-US" sz="2800" dirty="0">
                <a:latin typeface="+mj-lt"/>
              </a:rPr>
              <a:t>Construct mosaic using weighted scales from pyramids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Example of image stitching with blending using Scikit Image in GitHub</a:t>
            </a:r>
            <a:endParaRPr lang="en-US" sz="28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+mn-lt"/>
            </a:endParaRPr>
          </a:p>
          <a:p>
            <a:endParaRPr lang="en-US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60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Blending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2999"/>
            <a:ext cx="11525250" cy="571501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  <a:ea typeface="Segoe UI" panose="020B0502040204020203" pitchFamily="34" charset="0"/>
              </a:rPr>
              <a:t>Image blending with scale pyramid is used in computer graphics</a:t>
            </a:r>
            <a:endParaRPr lang="en-US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3691AAF-2669-4192-845B-1BA6CABD0D42}"/>
              </a:ext>
            </a:extLst>
          </p:cNvPr>
          <p:cNvSpPr txBox="1">
            <a:spLocks/>
          </p:cNvSpPr>
          <p:nvPr/>
        </p:nvSpPr>
        <p:spPr>
          <a:xfrm>
            <a:off x="465150" y="6121399"/>
            <a:ext cx="11525250" cy="57150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88" indent="0">
              <a:spcBef>
                <a:spcPts val="275"/>
              </a:spcBef>
              <a:buClr>
                <a:srgbClr val="000000"/>
              </a:buClr>
              <a:buSzPct val="100000"/>
              <a:buNone/>
            </a:pPr>
            <a:r>
              <a:rPr lang="en-US" sz="2800" dirty="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Burt, P. J. and Adelson, E. H., </a:t>
            </a:r>
            <a:r>
              <a:rPr lang="en-US" sz="2800" u="sng" dirty="0">
                <a:solidFill>
                  <a:srgbClr val="0000FF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  <a:hlinkClick r:id="rId3"/>
              </a:rPr>
              <a:t>A multiresolution spline with applications to image mosaics</a:t>
            </a:r>
            <a:r>
              <a:rPr lang="en-US" sz="2800" dirty="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  <a:sym typeface="Arial" charset="0"/>
              </a:rPr>
              <a:t>, ACM Transactions on Graphics, 42(4), October 1983, 217-236. 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12BB624-201B-4053-B744-58FB06163BA2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613913"/>
            <a:ext cx="3387479" cy="201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BB801FD-F728-46B0-8574-FC08DB19E10B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1606550"/>
            <a:ext cx="3327400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0179B3BC-3B1A-4A06-B98D-6D18125D94C4}"/>
              </a:ext>
            </a:extLst>
          </p:cNvPr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4184864"/>
            <a:ext cx="8503356" cy="193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41084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Image Blending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75657"/>
            <a:ext cx="11525250" cy="5586884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</a:rPr>
              <a:t>How can we make the transitions in the mosaic less noticeable?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There are several alternatives to weight blending </a:t>
            </a:r>
          </a:p>
          <a:p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E.G., use </a:t>
            </a:r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image seam carving </a:t>
            </a:r>
            <a:r>
              <a:rPr lang="en-US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to minimize discontinuity 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‘Low energy’ seam is less noticeable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Join images along low energy seams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Compute image energy 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Find minimum energy path – classic graph theory problem – heuristic solution with dynamic programming  </a:t>
            </a:r>
          </a:p>
          <a:p>
            <a:pPr lvl="1"/>
            <a:r>
              <a:rPr lang="en-US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Algorithm widely used for image resizing</a:t>
            </a:r>
          </a:p>
        </p:txBody>
      </p:sp>
    </p:spTree>
    <p:extLst>
      <p:ext uri="{BB962C8B-B14F-4D97-AF65-F5344CB8AC3E}">
        <p14:creationId xmlns:p14="http://schemas.microsoft.com/office/powerpoint/2010/main" val="204327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A556-D6D9-5E4F-641B-22290803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B734-5809-20EE-B6C6-07CE5081C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latin typeface="+mn-lt"/>
              </a:rPr>
              <a:t>Summary</a:t>
            </a:r>
            <a:endParaRPr lang="en-US" sz="4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43511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38" y="1"/>
            <a:ext cx="11741007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Summary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75657"/>
            <a:ext cx="11525250" cy="5586884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+mn-lt"/>
              </a:rPr>
              <a:t>Key points for this lesson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 goal of image stitching is to create a mosaic image from multiple original images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Overlapping portions of images are aligned using similar features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Transformations are computed by solution of linear of equations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For projective transform use DLT algorithm  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Use RANSAC to find solution with large number of outliers   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Images transformed and pixels interpolated 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Image blending to improve result  </a:t>
            </a:r>
          </a:p>
        </p:txBody>
      </p:sp>
    </p:spTree>
    <p:extLst>
      <p:ext uri="{BB962C8B-B14F-4D97-AF65-F5344CB8AC3E}">
        <p14:creationId xmlns:p14="http://schemas.microsoft.com/office/powerpoint/2010/main" val="19293819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0CA3-0A9C-90D5-61AA-DE7FCF79F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Review of Interest Points and Descriptors</a:t>
            </a:r>
          </a:p>
        </p:txBody>
      </p:sp>
    </p:spTree>
    <p:extLst>
      <p:ext uri="{BB962C8B-B14F-4D97-AF65-F5344CB8AC3E}">
        <p14:creationId xmlns:p14="http://schemas.microsoft.com/office/powerpoint/2010/main" val="24653795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Interest points and descriptors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Need interest points and descriptor which are scale and rotationally invariant 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Interest points (key points) 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Corners, edges, line intersections, etc.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High gradients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Ideally scale and rotationally invariant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Descriptors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Uniquely identify interest points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Use image characteristics within patch around interest point </a:t>
            </a: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0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903845" cy="980901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Segoe"/>
              </a:rPr>
            </a:br>
            <a:r>
              <a:rPr lang="en-US" dirty="0">
                <a:latin typeface="Segoe"/>
              </a:rPr>
              <a:t>  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Interest points and descriptors </a:t>
            </a:r>
            <a:endParaRPr lang="en-US" dirty="0">
              <a:latin typeface="Segoe"/>
            </a:endParaRP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C53ECBA-1403-4EB8-A257-656654FE2D31}"/>
              </a:ext>
            </a:extLst>
          </p:cNvPr>
          <p:cNvSpPr txBox="1">
            <a:spLocks/>
          </p:cNvSpPr>
          <p:nvPr/>
        </p:nvSpPr>
        <p:spPr>
          <a:xfrm>
            <a:off x="465150" y="1143000"/>
            <a:ext cx="11525250" cy="5424055"/>
          </a:xfrm>
          <a:prstGeom prst="rect">
            <a:avLst/>
          </a:prstGeom>
        </p:spPr>
        <p:txBody>
          <a:bodyPr>
            <a:normAutofit/>
          </a:bodyPr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Review of interest points and descriptors 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Rotationally invariant interest point detectors  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Harris, etc.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Increasingly neural networks; 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example with </a:t>
            </a:r>
            <a:r>
              <a:rPr lang="en-GB" sz="2400" dirty="0" err="1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Keras</a:t>
            </a:r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    </a:t>
            </a:r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Descriptors 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SHIFT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FAST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BRIEF</a:t>
            </a:r>
          </a:p>
          <a:p>
            <a:pPr lvl="1"/>
            <a:r>
              <a:rPr lang="en-GB" sz="24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Etc</a:t>
            </a:r>
          </a:p>
          <a:p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Or, </a:t>
            </a:r>
            <a:r>
              <a:rPr lang="en-GB" sz="2800" b="1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alignment between features </a:t>
            </a:r>
            <a:r>
              <a:rPr lang="en-GB" sz="2800" dirty="0"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with neural network</a:t>
            </a:r>
          </a:p>
          <a:p>
            <a:pPr lvl="1"/>
            <a:endParaRPr lang="en-GB" sz="2400" dirty="0"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7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B6AB4-96EB-434D-8BFC-6697DE74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1" y="356991"/>
            <a:ext cx="10515600" cy="65520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Multi-scale interest point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C6555-A8E7-4F73-8035-156F702D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24" y="1028573"/>
            <a:ext cx="5894303" cy="5705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latin typeface="+mn-lt"/>
              </a:rPr>
              <a:t>Pyramid structure enables extraction of interest points at several scales  </a:t>
            </a:r>
          </a:p>
          <a:p>
            <a:r>
              <a:rPr lang="en-US" b="0" dirty="0">
                <a:latin typeface="+mn-lt"/>
              </a:rPr>
              <a:t>Pyramid scales from fine to coarse in octaves </a:t>
            </a:r>
          </a:p>
          <a:p>
            <a:r>
              <a:rPr lang="en-US" b="0" dirty="0">
                <a:latin typeface="+mn-lt"/>
              </a:rPr>
              <a:t>Features at each scale extracted</a:t>
            </a:r>
          </a:p>
          <a:p>
            <a:r>
              <a:rPr lang="en-US" b="0" dirty="0">
                <a:latin typeface="+mn-lt"/>
              </a:rPr>
              <a:t>Can use a variety of interest point descriptor algorithms  </a:t>
            </a:r>
          </a:p>
          <a:p>
            <a:pPr lvl="1"/>
            <a:r>
              <a:rPr lang="en-US" dirty="0">
                <a:latin typeface="+mn-lt"/>
              </a:rPr>
              <a:t>SIFT</a:t>
            </a:r>
          </a:p>
          <a:p>
            <a:pPr lvl="1"/>
            <a:r>
              <a:rPr lang="en-US" dirty="0">
                <a:latin typeface="+mn-lt"/>
              </a:rPr>
              <a:t>Neural network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E6667-5C9B-4274-9D2A-0AD26F2F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89" y="1699200"/>
            <a:ext cx="5707206" cy="269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9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1E57C78B9F604FB8BAD296D1460E2A" ma:contentTypeVersion="1" ma:contentTypeDescription="Create a new document." ma:contentTypeScope="" ma:versionID="fb382fe2362acd2155f454904f478e4d">
  <xsd:schema xmlns:xsd="http://www.w3.org/2001/XMLSchema" xmlns:xs="http://www.w3.org/2001/XMLSchema" xmlns:p="http://schemas.microsoft.com/office/2006/metadata/properties" xmlns:ns3="636b0322-90fb-440c-9cbc-22749e7231e9" targetNamespace="http://schemas.microsoft.com/office/2006/metadata/properties" ma:root="true" ma:fieldsID="b9887c63ce4710c1aeb75a5f03aecb69" ns3:_="">
    <xsd:import namespace="636b0322-90fb-440c-9cbc-22749e7231e9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b0322-90fb-440c-9cbc-22749e7231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CA13EC-1D3C-4D6F-8D1C-E8A452CFC7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25FDD9-4C58-4084-9F89-0E6ADD6FFF55}">
  <ds:schemaRefs>
    <ds:schemaRef ds:uri="http://purl.org/dc/terms/"/>
    <ds:schemaRef ds:uri="http://schemas.microsoft.com/office/2006/documentManagement/types"/>
    <ds:schemaRef ds:uri="636b0322-90fb-440c-9cbc-22749e7231e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6DB243D-F585-435F-A2EA-E3678FDD3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6b0322-90fb-440c-9cbc-22749e723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38739</TotalTime>
  <Words>3813</Words>
  <Application>Microsoft Office PowerPoint</Application>
  <PresentationFormat>Widescreen</PresentationFormat>
  <Paragraphs>604</Paragraphs>
  <Slides>79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Arial</vt:lpstr>
      <vt:lpstr>Calibri</vt:lpstr>
      <vt:lpstr>Cambria Math</vt:lpstr>
      <vt:lpstr>Courier New</vt:lpstr>
      <vt:lpstr>Segoe</vt:lpstr>
      <vt:lpstr>Segoe UI</vt:lpstr>
      <vt:lpstr>Segoe UI Light</vt:lpstr>
      <vt:lpstr>1_Office Theme</vt:lpstr>
      <vt:lpstr>CSCI E-25 Computer Vision</vt:lpstr>
      <vt:lpstr>    Image Stitching  </vt:lpstr>
      <vt:lpstr>Optical Flow vs. Image Stitching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    Image Stitching  </vt:lpstr>
      <vt:lpstr>Image Warping</vt:lpstr>
      <vt:lpstr>  Image Warping</vt:lpstr>
      <vt:lpstr>  Image Warping</vt:lpstr>
      <vt:lpstr>  Image Warping</vt:lpstr>
      <vt:lpstr>  Image Warping</vt:lpstr>
      <vt:lpstr>  Image Warping</vt:lpstr>
      <vt:lpstr>Planar Transformations for  Image Stitching</vt:lpstr>
      <vt:lpstr>   Planar transformations</vt:lpstr>
      <vt:lpstr>   Planar transformations</vt:lpstr>
      <vt:lpstr>   Planar transformations</vt:lpstr>
      <vt:lpstr>Four Transform Problems  </vt:lpstr>
      <vt:lpstr>   Planar transformations</vt:lpstr>
      <vt:lpstr>Solving for Homographies</vt:lpstr>
      <vt:lpstr>   Pure translation</vt:lpstr>
      <vt:lpstr>   Affine transformation</vt:lpstr>
      <vt:lpstr>   Affine transformation</vt:lpstr>
      <vt:lpstr>   Projective transformation</vt:lpstr>
      <vt:lpstr>   Projective transformation</vt:lpstr>
      <vt:lpstr>   Projective transformation</vt:lpstr>
      <vt:lpstr>   Projective transformation</vt:lpstr>
      <vt:lpstr>   Projective transformation</vt:lpstr>
      <vt:lpstr>Outliers and RANSAC</vt:lpstr>
      <vt:lpstr>   Solving for the transformation parameters 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  Solving for the transformation parameters</vt:lpstr>
      <vt:lpstr>Neural Image Stitching Algorithms</vt:lpstr>
      <vt:lpstr>  Abbreviated Bibliography of (nearly) State of the Art Image Stitching Algorithms</vt:lpstr>
      <vt:lpstr>    Multi-Scale Multi-Grid Image </vt:lpstr>
      <vt:lpstr>    Multi-Scale Multi-Grid Image </vt:lpstr>
      <vt:lpstr>    Multi-Scale Multi-Grid Image </vt:lpstr>
      <vt:lpstr>    Multi-Scale Multi-Grid Image </vt:lpstr>
      <vt:lpstr>    Multi-Scale Multi-Grid Image </vt:lpstr>
      <vt:lpstr>    Multi-Scale Multi-Grid Image </vt:lpstr>
      <vt:lpstr>    Filling Seams with Generative Diffusion Model</vt:lpstr>
      <vt:lpstr>    Filling Seams with Generative Diffusion Model</vt:lpstr>
      <vt:lpstr>    Filling Seams with Generative Diffusion Model</vt:lpstr>
      <vt:lpstr>Image Blending</vt:lpstr>
      <vt:lpstr>    Image Blending</vt:lpstr>
      <vt:lpstr>  Image Blending</vt:lpstr>
      <vt:lpstr>    Image Blending</vt:lpstr>
      <vt:lpstr>  Image Blending</vt:lpstr>
      <vt:lpstr>  Image Blending</vt:lpstr>
      <vt:lpstr>  Image Blending</vt:lpstr>
      <vt:lpstr>Summary</vt:lpstr>
      <vt:lpstr>  Summary</vt:lpstr>
      <vt:lpstr>Review of Interest Points and Descriptors</vt:lpstr>
      <vt:lpstr>    Interest points and descriptors </vt:lpstr>
      <vt:lpstr>    Interest points and descriptors </vt:lpstr>
      <vt:lpstr>Multi-scale interest point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Gartland</dc:creator>
  <cp:lastModifiedBy>Stephen Elston</cp:lastModifiedBy>
  <cp:revision>1189</cp:revision>
  <cp:lastPrinted>2019-03-10T03:16:43Z</cp:lastPrinted>
  <dcterms:created xsi:type="dcterms:W3CDTF">2013-02-15T23:12:42Z</dcterms:created>
  <dcterms:modified xsi:type="dcterms:W3CDTF">2026-05-03T01:58:41Z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0x010100391E57C78B9F604FB8BAD296D1460E2A</vt:lpwstr>
  </property>
  <property fmtid="{D5CDD505-2E9C-101B-9397-08002B2CF9AE}" pid="3" name="IsMyDocuments">
    <vt:bool>true</vt:bool>
  </property>
  <property fmtid="{D5CDD505-2E9C-101B-9397-08002B2CF9AE}" pid="4" name="Related Type Document">
    <vt:lpwstr/>
  </property>
  <property fmtid="{D5CDD505-2E9C-101B-9397-08002B2CF9AE}" pid="5" name="Document Tag">
    <vt:lpwstr>24;#Content Templates|bdbbc9aa-4892-4816-9e36-bf1120da60e9</vt:lpwstr>
  </property>
  <property fmtid="{D5CDD505-2E9C-101B-9397-08002B2CF9AE}" pid="6" name="TaxKeyword">
    <vt:lpwstr/>
  </property>
  <property fmtid="{D5CDD505-2E9C-101B-9397-08002B2CF9AE}" pid="7" name="DocVizPreviewMetadata_Count">
    <vt:i4>12</vt:i4>
  </property>
  <property fmtid="{D5CDD505-2E9C-101B-9397-08002B2CF9AE}" pid="8" name="DocVizPreviewMetadata_0">
    <vt:lpwstr>300x168x2</vt:lpwstr>
  </property>
</Properties>
</file>