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99" r:id="rId2"/>
    <p:sldId id="257" r:id="rId3"/>
    <p:sldId id="258" r:id="rId4"/>
    <p:sldId id="259" r:id="rId5"/>
    <p:sldId id="260" r:id="rId6"/>
    <p:sldId id="261" r:id="rId7"/>
    <p:sldId id="283" r:id="rId8"/>
    <p:sldId id="262" r:id="rId9"/>
    <p:sldId id="263" r:id="rId10"/>
    <p:sldId id="264" r:id="rId11"/>
    <p:sldId id="276" r:id="rId12"/>
    <p:sldId id="277" r:id="rId13"/>
    <p:sldId id="278" r:id="rId14"/>
    <p:sldId id="286" r:id="rId15"/>
    <p:sldId id="279" r:id="rId16"/>
    <p:sldId id="300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84" r:id="rId25"/>
    <p:sldId id="272" r:id="rId26"/>
    <p:sldId id="285" r:id="rId27"/>
    <p:sldId id="273" r:id="rId28"/>
    <p:sldId id="274" r:id="rId29"/>
    <p:sldId id="275" r:id="rId30"/>
    <p:sldId id="281" r:id="rId31"/>
    <p:sldId id="282" r:id="rId3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8" d="100"/>
          <a:sy n="98" d="100"/>
        </p:scale>
        <p:origin x="58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4A0935-8C25-438A-84D4-96B1DB83347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B5FD2-BF1D-4323-8242-C1E03AB0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B5FD2-BF1D-4323-8242-C1E03AB0C2D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095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De_Morgan%27s_law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When One Thing Depends on Another; Conditional Probability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708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Many real-world random variables depend on other random variables</a:t>
                </a:r>
              </a:p>
              <a:p>
                <a:pPr lvl="0"/>
                <a:r>
                  <a:rPr dirty="0"/>
                  <a:t>Statistical models of complex processes invariably require the use of </a:t>
                </a:r>
                <a:r>
                  <a:rPr b="1" dirty="0"/>
                  <a:t>conditional probability distributions</a:t>
                </a:r>
              </a:p>
              <a:p>
                <a:pPr lvl="0"/>
                <a:r>
                  <a:rPr b="1" dirty="0"/>
                  <a:t>Conditional probability</a:t>
                </a:r>
                <a:r>
                  <a:rPr dirty="0"/>
                  <a:t> is the probability that event A occurs given that event B has occurred</a:t>
                </a:r>
              </a:p>
              <a:p>
                <a:pPr lvl="0"/>
                <a:r>
                  <a:rPr dirty="0"/>
                  <a:t>Write the conditional probability of A given B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b="1" dirty="0"/>
                  <a:t>Example:</a:t>
                </a:r>
                <a:r>
                  <a:rPr dirty="0"/>
                  <a:t> Model of the probability of contracting </a:t>
                </a:r>
                <a:r>
                  <a:rPr lang="en-US" dirty="0"/>
                  <a:t>an</a:t>
                </a:r>
                <a:r>
                  <a:rPr dirty="0"/>
                  <a:t> infectious disease, depends on other variables</a:t>
                </a:r>
              </a:p>
              <a:p>
                <a:pPr lvl="1"/>
                <a:r>
                  <a:rPr dirty="0"/>
                  <a:t>In more technical terms, the probability of contracting the disease is </a:t>
                </a:r>
                <a:r>
                  <a:rPr b="1" dirty="0"/>
                  <a:t>conditional</a:t>
                </a:r>
                <a:r>
                  <a:rPr dirty="0"/>
                  <a:t> on other random variables.</a:t>
                </a:r>
              </a:p>
              <a:p>
                <a:pPr lvl="1"/>
                <a:r>
                  <a:rPr lang="en-US" dirty="0"/>
                  <a:t>Example: a</a:t>
                </a:r>
                <a:r>
                  <a:rPr dirty="0"/>
                  <a:t>ge, contact with people carrying the disease, immunity, etc.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  <a:blipFill>
                <a:blip r:embed="rId2"/>
                <a:stretch>
                  <a:fillRect l="-963" t="-1796" r="-1704" b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</a:t>
                </a:r>
                <a:r>
                  <a:rPr lang="en-US" dirty="0"/>
                  <a:t>using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distribution i</a:t>
                </a:r>
                <a:r>
                  <a:rPr lang="en-US" dirty="0"/>
                  <a:t>s</a:t>
                </a:r>
                <a:r>
                  <a:rPr dirty="0"/>
                  <a:t> not unique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b="1" dirty="0"/>
                  <a:t>Intersection: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marL="342900" lvl="0" indent="-342900">
                  <a:buAutoNum type="arabicPeriod" startAt="2"/>
                </a:pPr>
                <a:r>
                  <a:rPr b="1" dirty="0"/>
                  <a:t>Union:</a:t>
                </a:r>
                <a:r>
                  <a:rPr dirty="0"/>
                  <a:t> is the sum of the probabilities of the sets minus the intersection between the sets: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 startAt="3"/>
                </a:pPr>
                <a:r>
                  <a:rPr b="1" dirty="0"/>
                  <a:t>Negation:</a:t>
                </a:r>
                <a:r>
                  <a:rPr dirty="0"/>
                  <a:t> Example, compute the probability of an event being in subset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but not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 ¬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marL="342900" lvl="0" indent="-342900">
                  <a:buAutoNum type="arabicPeriod" startAt="2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b="1" dirty="0"/>
                  <a:t>Negation: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 ¬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  <a:r>
                  <a:rPr lang="en-US" dirty="0"/>
                  <a:t> We can apply </a:t>
                </a:r>
                <a:r>
                  <a:rPr lang="en-US" b="1" dirty="0">
                    <a:hlinkClick r:id="rId2"/>
                  </a:rPr>
                  <a:t>De Morgan’s Laws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8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 and 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factorization of probability distributions can be simplified if events are either </a:t>
                </a:r>
                <a:r>
                  <a:rPr b="1" dirty="0"/>
                  <a:t>independent</a:t>
                </a:r>
                <a:r>
                  <a:rPr dirty="0"/>
                  <a:t> or </a:t>
                </a:r>
                <a:r>
                  <a:rPr b="1" dirty="0"/>
                  <a:t>mutually exclusive</a:t>
                </a:r>
              </a:p>
              <a:p>
                <a:pPr lvl="0"/>
                <a:r>
                  <a:rPr dirty="0"/>
                  <a:t>At first glance, these concepts may seem similar</a:t>
                </a:r>
              </a:p>
              <a:p>
                <a:pPr lvl="1"/>
                <a:r>
                  <a:rPr dirty="0"/>
                  <a:t>Are </a:t>
                </a:r>
                <a:r>
                  <a:rPr b="1" dirty="0"/>
                  <a:t>quite different</a:t>
                </a:r>
                <a:r>
                  <a:rPr lang="en-US" b="1" dirty="0"/>
                  <a:t>!</a:t>
                </a:r>
                <a:endParaRPr b="1" dirty="0"/>
              </a:p>
              <a:p>
                <a:pPr lvl="1"/>
                <a:r>
                  <a:rPr dirty="0"/>
                  <a:t>Very different implications</a:t>
                </a:r>
              </a:p>
              <a:p>
                <a:pPr lvl="0"/>
                <a:r>
                  <a:rPr b="1" dirty="0"/>
                  <a:t>Independence</a:t>
                </a:r>
                <a:r>
                  <a:rPr dirty="0"/>
                  <a:t> of sets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on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 means the occurrence of an event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, does not have any dependency on event</a:t>
                </a:r>
                <a:r>
                  <a:rPr lang="en-US" dirty="0"/>
                  <a:t>s</a:t>
                </a:r>
                <a:r>
                  <a:rPr dirty="0"/>
                  <a:t>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Mutual exclusivity</a:t>
                </a:r>
                <a:r>
                  <a:rPr dirty="0"/>
                  <a:t> means </a:t>
                </a:r>
                <a:r>
                  <a:rPr lang="en-US" dirty="0"/>
                  <a:t>an </a:t>
                </a:r>
                <a:r>
                  <a:rPr dirty="0"/>
                  <a:t>event cannot occur in both 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and </a:t>
                </a:r>
                <a:r>
                  <a:rPr lang="en-US" dirty="0"/>
                  <a:t>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Express </a:t>
                </a:r>
                <a:r>
                  <a:rPr lang="en-US" b="1" dirty="0"/>
                  <a:t>independence</a:t>
                </a:r>
                <a:r>
                  <a:rPr lang="en-US" dirty="0"/>
                  <a:t> of random variable A given B: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But independence of A given B does not imply independence of B given A: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In other words, there is no relationship between A being independent of B vs. </a:t>
                </a:r>
                <a:r>
                  <a:rPr lang="en-US" dirty="0" err="1"/>
                  <a:t>B</a:t>
                </a:r>
                <a:r>
                  <a:rPr lang="en-US" dirty="0"/>
                  <a:t> being independent of A</a:t>
                </a:r>
              </a:p>
              <a:p>
                <a:r>
                  <a:rPr lang="en-US" dirty="0"/>
                  <a:t>One or the other but not both could be true</a:t>
                </a:r>
              </a:p>
              <a:p>
                <a:r>
                  <a:rPr lang="en-US" dirty="0"/>
                  <a:t>Or, both could be true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  <a:blipFill>
                <a:blip r:embed="rId2"/>
                <a:stretch>
                  <a:fillRect l="-741" t="-1613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Mutual Exclusivity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Intersection between </a:t>
                </a:r>
                <a:r>
                  <a:rPr lang="en-US" b="1" dirty="0"/>
                  <a:t>mutually exclusive </a:t>
                </a:r>
                <a:r>
                  <a:rPr lang="en-US" dirty="0"/>
                  <a:t>events is an empty set: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If events in A are </a:t>
                </a:r>
                <a:r>
                  <a:rPr lang="en-US" b="1" dirty="0"/>
                  <a:t>mutually exclusive</a:t>
                </a:r>
                <a:r>
                  <a:rPr lang="en-US" dirty="0"/>
                  <a:t> of events in B, since: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And, mutual exclusivity is communitive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simple and widely used example of using conditional probabilities to work out the chance of having a rare disease.</a:t>
                </a:r>
              </a:p>
              <a:p>
                <a:pPr lvl="0"/>
                <a:r>
                  <a:rPr lang="en-US" dirty="0"/>
                  <a:t>Sickle Cell Anemia is a serious, but fairly rare, disease</a:t>
                </a:r>
              </a:p>
              <a:p>
                <a:pPr lvl="0"/>
                <a:r>
                  <a:rPr lang="en-US" dirty="0"/>
                  <a:t>The probability that a given patient, drawn at random from the population of people in the United States, has the disease is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3200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0003125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We can describe the possible events in diagnosing this condition 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has the disease.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does not have the disease,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⊕⇒</m:t>
                    </m:r>
                  </m:oMath>
                </a14:m>
                <a:r>
                  <a:rPr lang="en-US" dirty="0"/>
                  <a:t> patient tests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−⇒</m:t>
                    </m:r>
                  </m:oMath>
                </a14:m>
                <a:r>
                  <a:rPr lang="en-US" dirty="0"/>
                  <a:t> a patient tests negative.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  <a:blipFill>
                <a:blip r:embed="rId2"/>
                <a:stretch>
                  <a:fillRect l="-741" t="-2542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2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if a medical company claims that it has developed a test that is 99% accurate?</a:t>
                </a:r>
              </a:p>
              <a:p>
                <a:pPr lvl="0"/>
                <a:r>
                  <a:rPr dirty="0"/>
                  <a:t>We can write: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|⊕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|−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On the surface, it seems that a 99% reliable test is rather good</a:t>
                </a:r>
              </a:p>
              <a:p>
                <a:pPr lvl="1"/>
                <a:r>
                  <a:rPr dirty="0"/>
                  <a:t>On average, 99 people out of 100 who have the disease will be identified and treated</a:t>
                </a:r>
              </a:p>
              <a:p>
                <a:pPr lvl="1"/>
                <a:r>
                  <a:rPr dirty="0"/>
                  <a:t>But, dig into the conditional probabilities and make sure!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741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2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Goal: Evaluate the medical test as a </a:t>
                </a:r>
                <a:r>
                  <a:rPr b="1" dirty="0"/>
                  <a:t>decision rule</a:t>
                </a:r>
                <a:r>
                  <a:rPr dirty="0"/>
                  <a:t> for treatment</a:t>
                </a:r>
                <a:r>
                  <a:rPr lang="en-US" dirty="0"/>
                  <a:t> using the </a:t>
                </a:r>
                <a:r>
                  <a:rPr dirty="0"/>
                  <a:t>conditional probabilities for these outcomes: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the test correctly identifies patient with disease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the disease; </a:t>
                </a:r>
                <a:r>
                  <a:rPr b="1" dirty="0"/>
                  <a:t>Type II Error</a:t>
                </a:r>
                <a:r>
                  <a:rPr dirty="0"/>
                  <a:t> or </a:t>
                </a:r>
                <a:r>
                  <a:rPr b="1" dirty="0"/>
                  <a:t>False Negative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that a patient with no disease tests positive; </a:t>
                </a:r>
                <a:r>
                  <a:rPr b="1" dirty="0"/>
                  <a:t>Type I Error</a:t>
                </a:r>
                <a:r>
                  <a:rPr dirty="0"/>
                  <a:t> or </a:t>
                </a:r>
                <a:r>
                  <a:rPr b="1" dirty="0"/>
                  <a:t>False Positive</a:t>
                </a:r>
              </a:p>
              <a:p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no disease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1630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27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Conditional Probability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902" y="1759352"/>
            <a:ext cx="4411884" cy="287490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The </a:t>
            </a:r>
            <a:r>
              <a:rPr b="1" dirty="0"/>
              <a:t>directed acyclic graphical model (DAG)</a:t>
            </a:r>
            <a:r>
              <a:rPr dirty="0"/>
              <a:t> defines a conditional dependency structure</a:t>
            </a:r>
            <a:endParaRPr lang="en-US" dirty="0"/>
          </a:p>
          <a:p>
            <a:r>
              <a:rPr lang="en-US" dirty="0"/>
              <a:t>Multiply probabilities from root to leaves to get probabilities of outcomes</a:t>
            </a:r>
          </a:p>
          <a:p>
            <a:r>
              <a:rPr lang="en-US" dirty="0"/>
              <a:t>Sum the conditional probabilities of outcomes to ensure they add to 1.0</a:t>
            </a:r>
          </a:p>
          <a:p>
            <a:endParaRPr dirty="0"/>
          </a:p>
        </p:txBody>
      </p:sp>
      <p:pic>
        <p:nvPicPr>
          <p:cNvPr id="4" name="Picture 1" descr="../images/CondTre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0786" y="829075"/>
            <a:ext cx="4092615" cy="367203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4041" y="4515091"/>
            <a:ext cx="385051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Graph showing dependency of conditional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446276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93260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b="0" dirty="0"/>
              <a:t>Conditional Probability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51133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Four possible outcomes shown using a </a:t>
            </a:r>
            <a:r>
              <a:rPr sz="2400" b="1" dirty="0"/>
              <a:t>confusion matrix</a:t>
            </a:r>
            <a:r>
              <a:rPr sz="2400" dirty="0"/>
              <a:t> or </a:t>
            </a:r>
            <a:r>
              <a:rPr sz="2400" b="1" dirty="0"/>
              <a:t>truth table</a:t>
            </a:r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r>
              <a:rPr sz="2400" dirty="0"/>
              <a:t>Table shows conditional probabilities of each outcome</a:t>
            </a:r>
            <a:endParaRPr lang="en-US" sz="2400" dirty="0"/>
          </a:p>
          <a:p>
            <a:r>
              <a:rPr lang="en-US" sz="2400" b="1" dirty="0"/>
              <a:t>Tip:</a:t>
            </a:r>
            <a:r>
              <a:rPr lang="en-US" sz="2400" dirty="0"/>
              <a:t> Make sure the numbers in your confusion matrix sum to 1.0</a:t>
            </a:r>
          </a:p>
          <a:p>
            <a:pPr lvl="0"/>
            <a:endParaRPr sz="24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83373" y="2062865"/>
          <a:ext cx="7029852" cy="1370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986">
                <a:tc>
                  <a:txBody>
                    <a:bodyPr/>
                    <a:lstStyle/>
                    <a:p>
                      <a:endParaRPr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Positive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Negative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True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No 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/>
                        <a:t>True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94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F3DC-3C46-F0C9-9F1A-D94932E7D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F583-ED2D-A10E-BEB0-E12D4958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Evaluate the medical test given the conditional probabilities</a:t>
                </a:r>
              </a:p>
              <a:p>
                <a:pPr lvl="0"/>
                <a:r>
                  <a:rPr lang="en-US" dirty="0"/>
                  <a:t>Summarize the conditional probabilities for these outcomes: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ar-AE" sz="180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99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0003125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</m:t>
                    </m:r>
                  </m:oMath>
                </a14:m>
                <a:r>
                  <a:rPr lang="en-US" sz="1800" dirty="0"/>
                  <a:t>1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0003125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99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𝟎𝟎𝟗𝟗</m:t>
                      </m:r>
                      <m:r>
                        <a:rPr lang="en-US" sz="1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99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2100" dirty="0"/>
                  <a:t>In summary, </a:t>
                </a:r>
                <a:r>
                  <a:rPr lang="en-US" sz="2100" b="1" dirty="0">
                    <a:solidFill>
                      <a:srgbClr val="C00000"/>
                    </a:solidFill>
                  </a:rPr>
                  <a:t>about 1% of the population would have a false positive test!</a:t>
                </a:r>
                <a:endParaRPr sz="21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  <a:blipFill>
                <a:blip r:embed="rId2"/>
                <a:stretch>
                  <a:fillRect l="-107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963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Distributions and Bayes’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Bayes’ theorem</a:t>
                </a:r>
                <a:r>
                  <a:rPr lang="en-US" dirty="0"/>
                  <a:t>, also known as </a:t>
                </a:r>
                <a:r>
                  <a:rPr lang="en-US" b="1" dirty="0"/>
                  <a:t>Bayes’ rule</a:t>
                </a:r>
                <a:r>
                  <a:rPr lang="en-US" dirty="0"/>
                  <a:t>, is a powerful tool to think about and analyze conditional probabilities</a:t>
                </a:r>
              </a:p>
              <a:p>
                <a:pPr lvl="0"/>
                <a:r>
                  <a:rPr lang="en-US" dirty="0"/>
                  <a:t>We can derive Bayes Theorem starting with the following relationships: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Leading to: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Which leads to Bayes’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  <a:blipFill>
                <a:blip r:embed="rId2"/>
                <a:stretch>
                  <a:fillRect l="-74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interpret Bayes’ theorem in a useful way?</a:t>
                </a:r>
              </a:p>
              <a:p>
                <a:pPr lvl="0"/>
                <a:r>
                  <a:rPr dirty="0"/>
                  <a:t>Consider an example using Bayes Theorem for an </a:t>
                </a:r>
                <a:r>
                  <a:rPr b="1" dirty="0"/>
                  <a:t>hypothesis test</a:t>
                </a:r>
                <a:r>
                  <a:rPr dirty="0"/>
                  <a:t> given some data or </a:t>
                </a:r>
                <a:r>
                  <a:rPr b="1" dirty="0"/>
                  <a:t>evidence</a:t>
                </a:r>
              </a:p>
              <a:p>
                <a:pPr lvl="0"/>
                <a:r>
                  <a:rPr dirty="0"/>
                  <a:t>We must make an assertion of our </a:t>
                </a:r>
                <a:r>
                  <a:rPr b="1" dirty="0"/>
                  <a:t>prior probability</a:t>
                </a:r>
                <a:r>
                  <a:rPr lang="en-US" b="1" dirty="0"/>
                  <a:t> </a:t>
                </a:r>
                <a:r>
                  <a:rPr dirty="0"/>
                  <a:t>that the hypothesis is true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𝑝𝑟𝑖𝑜𝑟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also must choose a </a:t>
                </a:r>
                <a:r>
                  <a:rPr b="1" dirty="0"/>
                  <a:t>likelihood function </a:t>
                </a:r>
                <a:r>
                  <a:rPr lang="en-US" dirty="0"/>
                  <a:t>for</a:t>
                </a:r>
                <a:r>
                  <a:rPr dirty="0"/>
                  <a:t> the evidence given the hypothesis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𝐿𝑖𝑘𝑒𝑙𝑖</m:t>
                      </m:r>
                      <m:r>
                        <a:rPr>
                          <a:latin typeface="Cambria Math" panose="02040503050406030204" pitchFamily="18" charset="0"/>
                        </a:rPr>
                        <m:t>h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𝑜𝑜𝑑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can think of Bayes’ theorem in the following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  <a:p>
                <a:pPr lvl="0"/>
                <a:r>
                  <a:rPr lang="en-US" dirty="0"/>
                  <a:t>The denominator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𝑒𝑣𝑖𝑑𝑒𝑛𝑐𝑒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</a:t>
                </a:r>
                <a:r>
                  <a:rPr lang="en-US" b="1" dirty="0"/>
                  <a:t>partition function</a:t>
                </a:r>
                <a:r>
                  <a:rPr lang="en-US" dirty="0"/>
                  <a:t> is problematic</a:t>
                </a:r>
              </a:p>
              <a:p>
                <a:pPr lvl="1"/>
                <a:r>
                  <a:rPr lang="en-US" dirty="0"/>
                  <a:t>Required to normalize the posterior distribution to range: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𝑝𝑜𝑠𝑠𝑖𝑏𝑙𝑒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𝑎𝑙𝑡𝑒𝑟𝑛𝑎𝑡𝑖𝑣𝑒𝑠</m:t>
                          </m:r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𝐿𝑖𝑘𝑒𝑙𝑖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  <a:p>
                <a:pPr marL="0" lvl="0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𝑎𝑙𝑡𝑒𝑟𝑛𝑎𝑡𝑖𝑣𝑒𝑠</m:t>
                              </m:r>
                            </m:sub>
                            <m:sup/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𝐿𝑖𝑘𝑒𝑙𝑖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𝑜𝑜𝑑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sz="1500" dirty="0"/>
              </a:p>
              <a:p>
                <a:pPr marL="0" lvl="0" indent="0">
                  <a:buNone/>
                </a:pPr>
                <a:r>
                  <a:rPr lang="en-US" dirty="0"/>
                  <a:t>This is a formidable problem!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Hemophilia is a serious genetic condition expressed on any X chromosome</a:t>
                </a:r>
              </a:p>
              <a:p>
                <a:pPr lvl="0"/>
                <a:r>
                  <a:rPr lang="en-US" dirty="0"/>
                  <a:t>Women have two X chromosomes and are unlikely to exhibit hemophilia</a:t>
                </a:r>
              </a:p>
              <a:p>
                <a:pPr lvl="1"/>
                <a:r>
                  <a:rPr lang="en-US" sz="2300" dirty="0"/>
                  <a:t>One X chromosome inherited from each parent, </a:t>
                </a:r>
                <a:r>
                  <a:rPr lang="en-US" sz="2300" b="1" dirty="0"/>
                  <a:t>independent events </a:t>
                </a:r>
              </a:p>
              <a:p>
                <a:pPr lvl="1"/>
                <a:r>
                  <a:rPr lang="en-US" sz="2300" dirty="0"/>
                  <a:t>Must inherit hemophilia from both parents – very low probability</a:t>
                </a:r>
              </a:p>
              <a:p>
                <a:pPr lvl="0"/>
                <a:r>
                  <a:rPr lang="en-US" dirty="0"/>
                  <a:t>Men have one X chromosome and one Y chromosome</a:t>
                </a:r>
              </a:p>
              <a:p>
                <a:pPr lvl="1"/>
                <a:r>
                  <a:rPr lang="en-US" sz="2300" dirty="0"/>
                  <a:t>Inherit Y chromosome from the father</a:t>
                </a:r>
              </a:p>
              <a:p>
                <a:pPr lvl="1"/>
                <a:r>
                  <a:rPr lang="en-US" sz="2300" dirty="0"/>
                  <a:t>Inherit X chromosome, and possibly hemophilia, from the mother</a:t>
                </a:r>
              </a:p>
              <a:p>
                <a:pPr lvl="0"/>
                <a:r>
                  <a:rPr lang="en-US" dirty="0"/>
                  <a:t>Say a woman has a brother who exhibits hemophilia</a:t>
                </a:r>
              </a:p>
              <a:p>
                <a:pPr lvl="1"/>
                <a:r>
                  <a:rPr lang="en-US" sz="2300" dirty="0"/>
                  <a:t>X chromosome expression for woman’s mother is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brother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Woman’s father does not exhibit hemophilia,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father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r>
                  <a:rPr lang="en-US" sz="2600" dirty="0"/>
                  <a:t>Our </a:t>
                </a:r>
                <a:r>
                  <a:rPr lang="en-US" sz="2600" b="1" dirty="0"/>
                  <a:t>prior belief </a:t>
                </a:r>
                <a:r>
                  <a:rPr lang="en-US" sz="2600" dirty="0"/>
                  <a:t>that woman carries the genetic marker for hemophilia given </a:t>
                </a:r>
                <a:r>
                  <a:rPr lang="en-US" sz="2600" b="1" dirty="0"/>
                  <a:t>independent inheritance</a:t>
                </a:r>
                <a:r>
                  <a:rPr lang="en-US" sz="2600" dirty="0"/>
                  <a:t> from parents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𝑓𝑎𝑡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</m:oMath>
                  </m:oMathPara>
                </a14:m>
                <a:endParaRPr lang="en-US" sz="2300" b="0" i="0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sz="23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  <a:blipFill>
                <a:blip r:embed="rId2"/>
                <a:stretch>
                  <a:fillRect l="-519"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evidence the woman has two sons (not identical twins) with no expression of hemophilia</a:t>
                </a:r>
              </a:p>
              <a:p>
                <a:pPr lvl="0"/>
                <a:r>
                  <a:rPr lang="en-US" dirty="0"/>
                  <a:t>What is the likelihood for the two sons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not having hemophilia?</a:t>
                </a:r>
              </a:p>
              <a:p>
                <a:pPr lvl="0"/>
                <a:r>
                  <a:rPr lang="en-US" dirty="0"/>
                  <a:t>Two possible hypotheses with </a:t>
                </a:r>
                <a:r>
                  <a:rPr lang="en-US" b="1" dirty="0"/>
                  <a:t>likelihoods</a:t>
                </a:r>
              </a:p>
              <a:p>
                <a:pPr lvl="1"/>
                <a:r>
                  <a:rPr lang="en-US" b="1" dirty="0"/>
                  <a:t>Case 1: </a:t>
                </a:r>
                <a:r>
                  <a:rPr lang="en-US" dirty="0"/>
                  <a:t>woman caries one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Case 2:</a:t>
                </a:r>
                <a:r>
                  <a:rPr lang="en-US" dirty="0"/>
                  <a:t> woman does not carry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100" dirty="0"/>
              </a:p>
              <a:p>
                <a:pPr marL="0" lvl="0" indent="0">
                  <a:buNone/>
                </a:pPr>
                <a:r>
                  <a:rPr lang="en-US" dirty="0"/>
                  <a:t>Note: we are neglecting the very low probability of a mutations in one of the sons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can now define all the quantities we need:   </a:t>
                </a:r>
                <a:r>
                  <a:rPr lang="en-US" sz="2000" dirty="0"/>
                  <a:t> </a:t>
                </a:r>
              </a:p>
              <a:p>
                <a:r>
                  <a:rPr lang="en-US" sz="2000" b="1" dirty="0"/>
                  <a:t>Mother has no marker: </a:t>
                </a:r>
              </a:p>
              <a:p>
                <a:pPr lvl="1"/>
                <a:r>
                  <a:rPr lang="en-US" sz="1700" dirty="0"/>
                  <a:t>Prior probability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700" b="0" dirty="0"/>
              </a:p>
              <a:p>
                <a:pPr lvl="1"/>
                <a:r>
                  <a:rPr lang="en-US" sz="1700" dirty="0"/>
                  <a:t>Likelihood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700" b="0" dirty="0"/>
              </a:p>
              <a:p>
                <a:r>
                  <a:rPr lang="en-US" sz="2000" b="1" dirty="0"/>
                  <a:t>Mother with marker:</a:t>
                </a:r>
              </a:p>
              <a:p>
                <a:pPr lvl="1"/>
                <a:r>
                  <a:rPr lang="en-US" sz="1700" dirty="0"/>
                  <a:t>Prior probability of hypothesis;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700" b="0" dirty="0"/>
              </a:p>
              <a:p>
                <a:pPr lvl="1"/>
                <a:r>
                  <a:rPr lang="en-US" sz="1700" dirty="0"/>
                  <a:t>Likelihood of hypothesis, marker;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</m:t>
                    </m:r>
                  </m:oMath>
                </a14:m>
                <a:endParaRPr lang="en-US" sz="1700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2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Given the </a:t>
                </a:r>
                <a:r>
                  <a:rPr lang="en-US" b="1" dirty="0"/>
                  <a:t>evidence</a:t>
                </a:r>
                <a:r>
                  <a:rPr lang="en-US" dirty="0"/>
                  <a:t> of two sons without hemophilia we </a:t>
                </a:r>
                <a:r>
                  <a:rPr lang="en-US" b="1" dirty="0"/>
                  <a:t>update our belief </a:t>
                </a:r>
                <a:r>
                  <a:rPr lang="en-US" dirty="0"/>
                  <a:t>for the woman carrying the disease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li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⟹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ar-AE" dirty="0"/>
                            <m:t> 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𝑛𝑒𝑤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  <a:blipFill>
                <a:blip r:embed="rId2"/>
                <a:stretch>
                  <a:fillRect l="-1111"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75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Example, it is often the case that only one or a few parameters of a joint distribution will be of interest</a:t>
                </a:r>
              </a:p>
              <a:p>
                <a:r>
                  <a:rPr sz="2300" dirty="0"/>
                  <a:t>In other words, we are interested in the marginal distribution of these parameters</a:t>
                </a:r>
              </a:p>
              <a:p>
                <a:r>
                  <a:rPr sz="23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3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3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300" dirty="0"/>
                  <a:t>, can be computed as a marginal distribution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  <a:blipFill>
                <a:blip r:embed="rId2"/>
                <a:stretch>
                  <a:fillRect l="-889" t="-792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57002"/>
                <a:ext cx="8229600" cy="35982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probability density function 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variables,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sz="2000" dirty="0"/>
              </a:p>
              <a:p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out.</a:t>
                </a:r>
              </a:p>
              <a:p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sz="2000" dirty="0"/>
              </a:p>
              <a:p>
                <a:pPr lvl="0"/>
                <a:r>
                  <a:rPr sz="2000" dirty="0"/>
                  <a:t>For discrete distribution the above is a summation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57002"/>
                <a:ext cx="8229600" cy="3598265"/>
              </a:xfrm>
              <a:blipFill>
                <a:blip r:embed="rId2"/>
                <a:stretch>
                  <a:fillRect l="-741" t="-1017" b="-15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76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Conditional probability</a:t>
                </a:r>
              </a:p>
              <a:p>
                <a:r>
                  <a:rPr lang="en-US" dirty="0"/>
                  <a:t>One random variable depends on another</a:t>
                </a:r>
              </a:p>
              <a:p>
                <a:pPr lvl="1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>
                  <a:buAutoNum type="arabicPeriod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Conditional dependence is not commutable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Mutually exclusivity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Independence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  <a:blipFill>
                <a:blip r:embed="rId2"/>
                <a:stretch>
                  <a:fillRect l="-963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lvl="0"/>
                <a:r>
                  <a:rPr lang="en-US" dirty="0"/>
                  <a:t>Bayes’ theorem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  <m:r>
                        <a:rPr lang="ar-AE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dirty="0"/>
                  <a:t>Marginal distribution</a:t>
                </a:r>
                <a:r>
                  <a:rPr lang="en-US" dirty="0"/>
                  <a:t> of continuous distribution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ar-AE" sz="240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Marginal distribution of discrete distribution </a:t>
                </a:r>
                <a:endParaRPr lang="ar-AE" sz="24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5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2656</TotalTime>
  <Words>2295</Words>
  <Application>Microsoft Office PowerPoint</Application>
  <PresentationFormat>On-screen Show (16:9)</PresentationFormat>
  <Paragraphs>251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Cambria Math</vt:lpstr>
      <vt:lpstr>Courier</vt:lpstr>
      <vt:lpstr>Office Theme</vt:lpstr>
      <vt:lpstr>When One Thing Depends on Another; Conditional Probability</vt:lpstr>
      <vt:lpstr>Introduction</vt:lpstr>
      <vt:lpstr>Properties of Conditional Probability</vt:lpstr>
      <vt:lpstr>Properties of Conditional Probability</vt:lpstr>
      <vt:lpstr>Properties of Conditional Probability</vt:lpstr>
      <vt:lpstr>Set Operations and Probability</vt:lpstr>
      <vt:lpstr>Set Operations and Probability</vt:lpstr>
      <vt:lpstr>Independence and Mutual Exclusivity</vt:lpstr>
      <vt:lpstr>Independence</vt:lpstr>
      <vt:lpstr>Mutual Exclusivity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Distributions and Bayes’ Theorem</vt:lpstr>
      <vt:lpstr>Interpreting Bayes Theorem</vt:lpstr>
      <vt:lpstr>Interpreting Bayes Theorem</vt:lpstr>
      <vt:lpstr>Interpreting Bayes Theorem</vt:lpstr>
      <vt:lpstr>Bayes Theorem Example</vt:lpstr>
      <vt:lpstr>Bayes Theorem Example</vt:lpstr>
      <vt:lpstr>Bayes Theorem Example</vt:lpstr>
      <vt:lpstr>Bayes Theorem Example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One Thing Depends on Another; Conditional Probability</dc:title>
  <dc:creator>Steve Elston</dc:creator>
  <cp:keywords/>
  <cp:lastModifiedBy>Stephen Elston</cp:lastModifiedBy>
  <cp:revision>114</cp:revision>
  <dcterms:created xsi:type="dcterms:W3CDTF">2024-08-06T02:41:33Z</dcterms:created>
  <dcterms:modified xsi:type="dcterms:W3CDTF">2026-02-25T00:16:09Z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09/18/2023</vt:lpwstr>
  </property>
  <property fmtid="{D5CDD505-2E9C-101B-9397-08002B2CF9AE}" pid="3" name="output">
    <vt:lpwstr/>
  </property>
</Properties>
</file>