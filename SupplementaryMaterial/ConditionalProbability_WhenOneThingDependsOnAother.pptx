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99" r:id="rId2"/>
    <p:sldId id="257" r:id="rId3"/>
    <p:sldId id="258" r:id="rId4"/>
    <p:sldId id="259" r:id="rId5"/>
    <p:sldId id="260" r:id="rId6"/>
    <p:sldId id="261" r:id="rId7"/>
    <p:sldId id="283" r:id="rId8"/>
    <p:sldId id="348" r:id="rId9"/>
    <p:sldId id="262" r:id="rId10"/>
    <p:sldId id="263" r:id="rId11"/>
    <p:sldId id="264" r:id="rId12"/>
    <p:sldId id="349" r:id="rId13"/>
    <p:sldId id="276" r:id="rId14"/>
    <p:sldId id="277" r:id="rId15"/>
    <p:sldId id="278" r:id="rId16"/>
    <p:sldId id="286" r:id="rId17"/>
    <p:sldId id="279" r:id="rId18"/>
    <p:sldId id="300" r:id="rId19"/>
    <p:sldId id="353" r:id="rId20"/>
    <p:sldId id="301" r:id="rId21"/>
    <p:sldId id="302" r:id="rId22"/>
    <p:sldId id="303" r:id="rId23"/>
    <p:sldId id="304" r:id="rId24"/>
    <p:sldId id="305" r:id="rId25"/>
    <p:sldId id="339" r:id="rId26"/>
    <p:sldId id="340" r:id="rId27"/>
    <p:sldId id="308" r:id="rId28"/>
    <p:sldId id="350" r:id="rId29"/>
    <p:sldId id="265" r:id="rId30"/>
    <p:sldId id="266" r:id="rId31"/>
    <p:sldId id="267" r:id="rId32"/>
    <p:sldId id="268" r:id="rId33"/>
    <p:sldId id="351" r:id="rId34"/>
    <p:sldId id="269" r:id="rId35"/>
    <p:sldId id="270" r:id="rId36"/>
    <p:sldId id="271" r:id="rId37"/>
    <p:sldId id="284" r:id="rId38"/>
    <p:sldId id="352" r:id="rId39"/>
    <p:sldId id="272" r:id="rId40"/>
    <p:sldId id="285" r:id="rId41"/>
    <p:sldId id="342" r:id="rId42"/>
    <p:sldId id="343" r:id="rId43"/>
    <p:sldId id="273" r:id="rId44"/>
    <p:sldId id="274" r:id="rId45"/>
    <p:sldId id="275" r:id="rId46"/>
    <p:sldId id="354" r:id="rId47"/>
    <p:sldId id="341" r:id="rId48"/>
    <p:sldId id="345" r:id="rId49"/>
    <p:sldId id="344" r:id="rId50"/>
    <p:sldId id="346" r:id="rId51"/>
    <p:sldId id="355" r:id="rId52"/>
    <p:sldId id="358" r:id="rId53"/>
    <p:sldId id="359" r:id="rId54"/>
    <p:sldId id="356" r:id="rId55"/>
    <p:sldId id="281" r:id="rId56"/>
    <p:sldId id="282" r:id="rId5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97" d="100"/>
          <a:sy n="97" d="100"/>
        </p:scale>
        <p:origin x="650" y="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A0935-8C25-438A-84D4-96B1DB83347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B5FD2-BF1D-4323-8242-C1E03AB0C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8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B5FD2-BF1D-4323-8242-C1E03AB0C2D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95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en.wikipedia.org/wiki/De_Morgan%27s_law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en.wikipedia.org/wiki/Jensen%27s_inequality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When One Thing Depends on Another; Conditional Probability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09/04/2023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574463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2018, 2019, 2020, 2021, 2022, 2023 2024, 2025, 2026, 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27084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68101"/>
                <a:ext cx="8229600" cy="4069420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Many real-world random variables depend on other random variables</a:t>
                </a:r>
              </a:p>
              <a:p>
                <a:pPr lvl="0"/>
                <a:r>
                  <a:rPr dirty="0"/>
                  <a:t>Statistical models of complex processes invariably require the use of </a:t>
                </a:r>
                <a:r>
                  <a:rPr b="1" dirty="0"/>
                  <a:t>conditional probability distributions</a:t>
                </a:r>
              </a:p>
              <a:p>
                <a:pPr lvl="0"/>
                <a:r>
                  <a:rPr b="1" dirty="0"/>
                  <a:t>Conditional probability</a:t>
                </a:r>
                <a:r>
                  <a:rPr dirty="0"/>
                  <a:t> is the probability that event A occurs given that event B has occurred</a:t>
                </a:r>
              </a:p>
              <a:p>
                <a:pPr lvl="0"/>
                <a:r>
                  <a:rPr dirty="0"/>
                  <a:t>Write the conditional probability of A given B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b="1" dirty="0"/>
                  <a:t>Example:</a:t>
                </a:r>
                <a:r>
                  <a:rPr dirty="0"/>
                  <a:t> Model of the probability of contracting </a:t>
                </a:r>
                <a:r>
                  <a:rPr lang="en-US" dirty="0"/>
                  <a:t>an</a:t>
                </a:r>
                <a:r>
                  <a:rPr dirty="0"/>
                  <a:t> infectious disease, depends on other variables</a:t>
                </a:r>
              </a:p>
              <a:p>
                <a:pPr lvl="1"/>
                <a:r>
                  <a:rPr dirty="0"/>
                  <a:t>In more technical terms, the probability of contracting the disease is </a:t>
                </a:r>
                <a:r>
                  <a:rPr b="1" dirty="0"/>
                  <a:t>conditional</a:t>
                </a:r>
                <a:r>
                  <a:rPr dirty="0"/>
                  <a:t> on other random variables.</a:t>
                </a:r>
              </a:p>
              <a:p>
                <a:pPr lvl="1"/>
                <a:r>
                  <a:rPr lang="en-US" dirty="0"/>
                  <a:t>Example: a</a:t>
                </a:r>
                <a:r>
                  <a:rPr dirty="0"/>
                  <a:t>ge, contact with people carrying the disease, immunity, etc.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68101"/>
                <a:ext cx="8229600" cy="4069420"/>
              </a:xfrm>
              <a:blipFill>
                <a:blip r:embed="rId2"/>
                <a:stretch>
                  <a:fillRect l="-963" t="-1796" r="-1704" b="-1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50476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Properties of Conditional Probability</a:t>
            </a:r>
          </a:p>
        </p:txBody>
      </p:sp>
      <p:pic>
        <p:nvPicPr>
          <p:cNvPr id="4" name="Picture 1" descr="../images/Prob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92700" y="971952"/>
            <a:ext cx="4051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305062" y="4076700"/>
            <a:ext cx="37039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sz="2000" dirty="0"/>
              <a:t>Example of conditional probability of discrete events</a:t>
            </a:r>
            <a:r>
              <a:rPr sz="1200" dirty="0"/>
              <a:t> </a:t>
            </a:r>
            <a:endParaRPr lang="en-US" sz="1200" dirty="0"/>
          </a:p>
          <a:p>
            <a:pPr marL="0" lvl="0" indent="0" algn="ctr">
              <a:buNone/>
            </a:pPr>
            <a:r>
              <a:rPr sz="1200" dirty="0"/>
              <a:t>credit, Wikipedia commons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0273" y="1099595"/>
                <a:ext cx="4824714" cy="3938724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Example: </a:t>
                </a:r>
              </a:p>
              <a:p>
                <a:pPr lvl="0"/>
                <a:r>
                  <a:rPr lang="en-US" b="1" dirty="0"/>
                  <a:t>Sample space</a:t>
                </a:r>
                <a:r>
                  <a:rPr lang="en-US" dirty="0"/>
                  <a:t> is the space of all possible events in the set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Sample space is divided into several </a:t>
                </a:r>
                <a:r>
                  <a:rPr lang="en-US" b="1" dirty="0"/>
                  <a:t>subspaces</a:t>
                </a:r>
                <a:r>
                  <a:rPr lang="en-US" dirty="0"/>
                  <a:t> or </a:t>
                </a:r>
                <a:r>
                  <a:rPr lang="en-US" b="1" dirty="0"/>
                  <a:t>subsets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pPr lvl="0"/>
                <a:r>
                  <a:rPr lang="en-US" b="1" dirty="0"/>
                  <a:t>Intersection</a:t>
                </a:r>
                <a:r>
                  <a:rPr lang="en-US" dirty="0"/>
                  <a:t> is where the two sets overlap occur in both 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dirty="0"/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dirty="0"/>
              </a:p>
              <a:p>
                <a:pPr marL="342900" lvl="1" indent="0">
                  <a:buNone/>
                </a:pPr>
                <a:r>
                  <a:rPr lang="en-US" dirty="0"/>
                  <a:t>A and B and C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273" y="1099595"/>
                <a:ext cx="4824714" cy="3938724"/>
              </a:xfrm>
              <a:blipFill>
                <a:blip r:embed="rId3"/>
                <a:stretch>
                  <a:fillRect l="-1641" t="-1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92674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Properties of Conditional Probability</a:t>
            </a:r>
          </a:p>
        </p:txBody>
      </p:sp>
      <p:pic>
        <p:nvPicPr>
          <p:cNvPr id="4" name="Picture 1" descr="../images/Prob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54118" y="1063229"/>
            <a:ext cx="4051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231756" y="4076700"/>
            <a:ext cx="3792639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sz="2000" dirty="0"/>
              <a:t>Example of conditional probability of discrete events</a:t>
            </a:r>
            <a:endParaRPr lang="en-US" sz="2000" dirty="0"/>
          </a:p>
          <a:p>
            <a:pPr marL="0" lvl="0" indent="0" algn="ctr">
              <a:buNone/>
            </a:pPr>
            <a:r>
              <a:rPr sz="1200" dirty="0"/>
              <a:t>credit, Wikipedia commons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932543"/>
                <a:ext cx="4596919" cy="3975124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Example:</a:t>
                </a:r>
              </a:p>
              <a:p>
                <a:pPr marL="0" lvl="0" indent="0">
                  <a:buNone/>
                </a:pPr>
                <a:r>
                  <a:rPr lang="en-US" b="1" dirty="0"/>
                  <a:t>Intersection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, is where the two sets overlap</a:t>
                </a:r>
              </a:p>
              <a:p>
                <a:r>
                  <a:rPr lang="en-US" dirty="0"/>
                  <a:t>The probability of the intersection is the product of two probabilities:</a:t>
                </a:r>
              </a:p>
              <a:p>
                <a:pPr marL="685800" lvl="1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since B must be true to be in this intersection.</a:t>
                </a:r>
              </a:p>
              <a:p>
                <a:pPr lvl="1">
                  <a:buAutoNum type="arabicPeriod"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probability of A when B occurs</a:t>
                </a:r>
              </a:p>
              <a:p>
                <a:r>
                  <a:rPr lang="en-US" dirty="0"/>
                  <a:t>The result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932543"/>
                <a:ext cx="4596919" cy="3975124"/>
              </a:xfrm>
              <a:blipFill>
                <a:blip r:embed="rId3"/>
                <a:stretch>
                  <a:fillRect l="-1724" t="-1074" r="-663" b="-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00391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Properties of Conditional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We have found a representation for the union of two distributions</a:t>
                </a:r>
                <a:r>
                  <a:rPr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dirty="0"/>
                  <a:t>We could have, just as well, written the last equation </a:t>
                </a:r>
                <a:r>
                  <a:rPr lang="en-US" dirty="0"/>
                  <a:t>using this factorization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dirty="0"/>
                  <a:t>Now, the probability intersection</a:t>
                </a:r>
                <a:r>
                  <a:rPr lang="en-US" dirty="0"/>
                  <a:t> of events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b="1" dirty="0"/>
                  <a:t>Factorization</a:t>
                </a:r>
                <a:r>
                  <a:rPr dirty="0"/>
                  <a:t> of a probability function is a key tool: notice that the factorization of a conditional distribution i</a:t>
                </a:r>
                <a:r>
                  <a:rPr lang="en-US" dirty="0"/>
                  <a:t>s</a:t>
                </a:r>
                <a:r>
                  <a:rPr dirty="0"/>
                  <a:t> not unique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57" b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Set Operations and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Set operations are applied to probability problems</a:t>
                </a:r>
              </a:p>
              <a:p>
                <a:pPr marL="342900" lvl="0" indent="-342900">
                  <a:buAutoNum type="arabicPeriod"/>
                </a:pPr>
                <a:r>
                  <a:rPr b="1" dirty="0"/>
                  <a:t>Intersection: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b="1" dirty="0"/>
              </a:p>
              <a:p>
                <a:pPr marL="342900" lvl="0" indent="-342900">
                  <a:buAutoNum type="arabicPeriod" startAt="2"/>
                </a:pPr>
                <a:r>
                  <a:rPr b="1" dirty="0"/>
                  <a:t>Union:</a:t>
                </a:r>
                <a:r>
                  <a:rPr dirty="0"/>
                  <a:t> is the sum of the probabilities of the sets minus the intersection between the sets: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marL="342900" lvl="0" indent="-342900">
                  <a:buAutoNum type="arabicPeriod" startAt="3"/>
                </a:pPr>
                <a:r>
                  <a:rPr b="1" dirty="0"/>
                  <a:t>Negation:</a:t>
                </a:r>
                <a:r>
                  <a:rPr dirty="0"/>
                  <a:t> Example, compute the probability of an event being in subset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dirty="0"/>
                  <a:t> but not 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 ¬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5" t="-2513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Set Operations and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Set operations are applied to probability problems</a:t>
                </a:r>
              </a:p>
              <a:p>
                <a:pPr marL="342900" lvl="0" indent="-342900">
                  <a:buAutoNum type="arabicPeriod"/>
                </a:pPr>
                <a:r>
                  <a:rPr lang="en-US" b="1" dirty="0"/>
                  <a:t>Intersection: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ar-AE" b="1" dirty="0"/>
              </a:p>
              <a:p>
                <a:pPr marL="342900" lvl="0" indent="-342900">
                  <a:buAutoNum type="arabicPeriod" startAt="2"/>
                </a:pPr>
                <a:r>
                  <a:rPr lang="en-US" b="1" dirty="0"/>
                  <a:t>Union: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ar-AE" dirty="0"/>
              </a:p>
              <a:p>
                <a:pPr marL="342900" lvl="0" indent="-342900">
                  <a:buAutoNum type="arabicPeriod" startAt="3"/>
                </a:pPr>
                <a:r>
                  <a:rPr lang="en-US" b="1" dirty="0"/>
                  <a:t>Negation: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 ¬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b="1" dirty="0"/>
                  <a:t>Example:</a:t>
                </a:r>
                <a:r>
                  <a:rPr lang="en-US" dirty="0"/>
                  <a:t> We can apply </a:t>
                </a:r>
                <a:r>
                  <a:rPr lang="en-US" b="1" dirty="0">
                    <a:hlinkClick r:id="rId2"/>
                  </a:rPr>
                  <a:t>De Morgan’s Laws</a:t>
                </a:r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¬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∪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∩¬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¬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85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62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D2590-35E0-0A9E-F0B9-8E0B8FC90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08AD1-475D-6EC3-9DCD-4DB6E3BD9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70324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Independence and Mutual Exclusivity</a:t>
            </a:r>
          </a:p>
        </p:txBody>
      </p:sp>
    </p:spTree>
    <p:extLst>
      <p:ext uri="{BB962C8B-B14F-4D97-AF65-F5344CB8AC3E}">
        <p14:creationId xmlns:p14="http://schemas.microsoft.com/office/powerpoint/2010/main" val="1276043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Independence and Mutual Exclusivity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The factorization of probability distributions can be simplified if events are either </a:t>
                </a:r>
                <a:r>
                  <a:rPr b="1" dirty="0"/>
                  <a:t>independent</a:t>
                </a:r>
                <a:r>
                  <a:rPr dirty="0"/>
                  <a:t> or </a:t>
                </a:r>
                <a:r>
                  <a:rPr b="1" dirty="0"/>
                  <a:t>mutually exclusive</a:t>
                </a:r>
              </a:p>
              <a:p>
                <a:pPr lvl="0"/>
                <a:r>
                  <a:rPr dirty="0"/>
                  <a:t>At first glance, these concepts may seem similar</a:t>
                </a:r>
              </a:p>
              <a:p>
                <a:pPr lvl="1"/>
                <a:r>
                  <a:rPr dirty="0"/>
                  <a:t>Are </a:t>
                </a:r>
                <a:r>
                  <a:rPr b="1" dirty="0"/>
                  <a:t>quite different</a:t>
                </a:r>
                <a:r>
                  <a:rPr lang="en-US" b="1" dirty="0"/>
                  <a:t>!</a:t>
                </a:r>
                <a:endParaRPr b="1" dirty="0"/>
              </a:p>
              <a:p>
                <a:pPr lvl="1"/>
                <a:r>
                  <a:rPr dirty="0"/>
                  <a:t>Very different implications</a:t>
                </a:r>
              </a:p>
              <a:p>
                <a:pPr lvl="0"/>
                <a:r>
                  <a:rPr b="1" dirty="0"/>
                  <a:t>Independence</a:t>
                </a:r>
                <a:r>
                  <a:rPr dirty="0"/>
                  <a:t> of sets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dirty="0"/>
                  <a:t> </a:t>
                </a:r>
                <a:r>
                  <a:rPr lang="en-US" dirty="0"/>
                  <a:t>on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dirty="0"/>
                  <a:t> means the occurrence of an event 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dirty="0"/>
                  <a:t>, does not have any dependency on event</a:t>
                </a:r>
                <a:r>
                  <a:rPr lang="en-US" dirty="0"/>
                  <a:t>s</a:t>
                </a:r>
                <a:r>
                  <a:rPr dirty="0"/>
                  <a:t> 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dirty="0"/>
              </a:p>
              <a:p>
                <a:pPr lvl="0"/>
                <a:r>
                  <a:rPr b="1" dirty="0"/>
                  <a:t>Mutual exclusivity</a:t>
                </a:r>
                <a:r>
                  <a:rPr dirty="0"/>
                  <a:t> means </a:t>
                </a:r>
                <a:r>
                  <a:rPr lang="en-US" dirty="0"/>
                  <a:t>an </a:t>
                </a:r>
                <a:r>
                  <a:rPr dirty="0"/>
                  <a:t>event cannot occur in both set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dirty="0"/>
                  <a:t> and </a:t>
                </a:r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513" b="-1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Independence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91878"/>
                <a:ext cx="8229600" cy="3777206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Express </a:t>
                </a:r>
                <a:r>
                  <a:rPr lang="en-US" b="1" dirty="0"/>
                  <a:t>independence</a:t>
                </a:r>
                <a:r>
                  <a:rPr lang="en-US" dirty="0"/>
                  <a:t> of random variable A given B: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|¬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But independence of A given B does not imply independence of B given A: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⇎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dirty="0"/>
                  <a:t>In other words, there is no relationship between A being independent of B vs. </a:t>
                </a:r>
                <a:r>
                  <a:rPr lang="en-US" dirty="0" err="1"/>
                  <a:t>B</a:t>
                </a:r>
                <a:r>
                  <a:rPr lang="en-US" dirty="0"/>
                  <a:t> being independent of A</a:t>
                </a:r>
              </a:p>
              <a:p>
                <a:r>
                  <a:rPr lang="en-US" dirty="0"/>
                  <a:t>One or the other but not both could be true</a:t>
                </a:r>
              </a:p>
              <a:p>
                <a:r>
                  <a:rPr lang="en-US" dirty="0"/>
                  <a:t>Or, both could be true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91878"/>
                <a:ext cx="8229600" cy="3777206"/>
              </a:xfrm>
              <a:blipFill>
                <a:blip r:embed="rId2"/>
                <a:stretch>
                  <a:fillRect l="-741" t="-1613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Mutual Exclusivity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Intersection between </a:t>
                </a:r>
                <a:r>
                  <a:rPr lang="en-US" b="1" dirty="0"/>
                  <a:t>mutually exclusive </a:t>
                </a:r>
                <a:r>
                  <a:rPr lang="en-US" dirty="0"/>
                  <a:t>events is an empty set: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If events in A are </a:t>
                </a:r>
                <a:r>
                  <a:rPr lang="en-US" b="1" dirty="0"/>
                  <a:t>mutually exclusive</a:t>
                </a:r>
                <a:r>
                  <a:rPr lang="en-US" dirty="0"/>
                  <a:t> of events in B, since: 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And, mutual exclusivity is communitive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8AB0-F3A4-8DD7-4CE1-73CD28BD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23DC4-94B0-AA1E-1A97-B03882CD0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70324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Simple Conditional Probability Example</a:t>
            </a:r>
          </a:p>
        </p:txBody>
      </p:sp>
    </p:spTree>
    <p:extLst>
      <p:ext uri="{BB962C8B-B14F-4D97-AF65-F5344CB8AC3E}">
        <p14:creationId xmlns:p14="http://schemas.microsoft.com/office/powerpoint/2010/main" val="2188303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Conditional Probability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595626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A simple and widely used example of using conditional probabilities to work out the chance of having a rare disease.</a:t>
                </a:r>
              </a:p>
              <a:p>
                <a:pPr lvl="0"/>
                <a:r>
                  <a:rPr lang="en-US" dirty="0"/>
                  <a:t>Sickle Cell Anemia is a serious, but fairly rare, disease</a:t>
                </a:r>
              </a:p>
              <a:p>
                <a:pPr lvl="0"/>
                <a:r>
                  <a:rPr lang="en-US" dirty="0"/>
                  <a:t>The probability that a given patient, drawn at random from the population of people in the United States, has the disease is 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3200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0003125</m:t>
                      </m:r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We can describe the possible events in diagnosing this condition as: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a patient has the disease.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a patient does not have the disease,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⊕⇒</m:t>
                    </m:r>
                  </m:oMath>
                </a14:m>
                <a:r>
                  <a:rPr lang="en-US" dirty="0"/>
                  <a:t> patient tests positive.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−⇒</m:t>
                    </m:r>
                  </m:oMath>
                </a14:m>
                <a:r>
                  <a:rPr lang="en-US" dirty="0"/>
                  <a:t> a patient tests negative.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595626"/>
              </a:xfrm>
              <a:blipFill>
                <a:blip r:embed="rId2"/>
                <a:stretch>
                  <a:fillRect l="-741" t="-2542" r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642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Conditional Probability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What if a medical company claims that it has developed a test that is 99% accurate?</a:t>
                </a:r>
              </a:p>
              <a:p>
                <a:pPr lvl="0"/>
                <a:r>
                  <a:rPr dirty="0"/>
                  <a:t>We can write: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|⊕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|−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  <m:r>
                      <a:rPr>
                        <a:latin typeface="Cambria Math" panose="02040503050406030204" pitchFamily="18" charset="0"/>
                      </a:rPr>
                      <m:t>.</m:t>
                    </m:r>
                    <m:r>
                      <a:rPr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On the surface, it seems that a 99% reliable test is rather good</a:t>
                </a:r>
              </a:p>
              <a:p>
                <a:pPr lvl="1"/>
                <a:r>
                  <a:rPr dirty="0"/>
                  <a:t>On average, 99 people out of 100 who have the disease will be identified and treated</a:t>
                </a:r>
              </a:p>
              <a:p>
                <a:pPr lvl="1"/>
                <a:r>
                  <a:rPr dirty="0"/>
                  <a:t>But, dig into the conditional probabilities and make sure!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513" r="-741" b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28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Conditional Probability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Goal: Evaluate the medical test as a </a:t>
                </a:r>
                <a:r>
                  <a:rPr b="1" dirty="0"/>
                  <a:t>decision rule</a:t>
                </a:r>
                <a:r>
                  <a:rPr dirty="0"/>
                  <a:t> for treatment</a:t>
                </a:r>
                <a:r>
                  <a:rPr lang="en-US" dirty="0"/>
                  <a:t> using the </a:t>
                </a:r>
                <a:r>
                  <a:rPr dirty="0"/>
                  <a:t>conditional probabilities for these outcomes:</a:t>
                </a:r>
              </a:p>
              <a:p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⊕|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dirty="0"/>
                  <a:t>: Conditional probability the test correctly identifies patient with disease</a:t>
                </a:r>
              </a:p>
              <a:p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−|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dirty="0"/>
                  <a:t>: Conditional probability of a negative test for a patient with the disease; </a:t>
                </a:r>
                <a:r>
                  <a:rPr b="1" dirty="0"/>
                  <a:t>Type II Error</a:t>
                </a:r>
                <a:r>
                  <a:rPr dirty="0"/>
                  <a:t> or </a:t>
                </a:r>
                <a:r>
                  <a:rPr b="1" dirty="0"/>
                  <a:t>False Negative</a:t>
                </a:r>
              </a:p>
              <a:p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⊕|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dirty="0"/>
                  <a:t>: Conditional probability that a patient with no disease tests positive; </a:t>
                </a:r>
                <a:r>
                  <a:rPr b="1" dirty="0"/>
                  <a:t>Type I Error</a:t>
                </a:r>
                <a:r>
                  <a:rPr dirty="0"/>
                  <a:t> or </a:t>
                </a:r>
                <a:r>
                  <a:rPr b="1" dirty="0"/>
                  <a:t>False Positive</a:t>
                </a:r>
              </a:p>
              <a:p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−|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dirty="0"/>
                  <a:t>: Conditional probability of a negative test for a patient with no disease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 r="-1630" b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72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Conditional Probability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902" y="1759352"/>
            <a:ext cx="4411884" cy="2874905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dirty="0"/>
              <a:t>The </a:t>
            </a:r>
            <a:r>
              <a:rPr b="1" dirty="0"/>
              <a:t>directed acyclic graphical model (DAG)</a:t>
            </a:r>
            <a:r>
              <a:rPr dirty="0"/>
              <a:t> defines a conditional dependency structure</a:t>
            </a:r>
            <a:endParaRPr lang="en-US" dirty="0"/>
          </a:p>
          <a:p>
            <a:r>
              <a:rPr lang="en-US" dirty="0"/>
              <a:t>Multiply probabilities from root to leaves to get probabilities of outcomes</a:t>
            </a:r>
          </a:p>
          <a:p>
            <a:r>
              <a:rPr lang="en-US" dirty="0"/>
              <a:t>Sum the conditional probabilities of outcomes to ensure they add to 1.0</a:t>
            </a:r>
          </a:p>
          <a:p>
            <a:endParaRPr dirty="0"/>
          </a:p>
        </p:txBody>
      </p:sp>
      <p:pic>
        <p:nvPicPr>
          <p:cNvPr id="4" name="Picture 1" descr="../images/CondTree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90786" y="829075"/>
            <a:ext cx="4092615" cy="367203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224041" y="4515091"/>
            <a:ext cx="3850511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Graph showing dependency of conditional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1446276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93260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800" b="0" dirty="0"/>
              <a:t>Conditional Probability Example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8351133" cy="351829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400" dirty="0"/>
              <a:t>Four possible outcomes shown using a </a:t>
            </a:r>
            <a:r>
              <a:rPr sz="2400" b="1" dirty="0"/>
              <a:t>confusion matrix</a:t>
            </a:r>
            <a:r>
              <a:rPr sz="2400" dirty="0"/>
              <a:t> or </a:t>
            </a:r>
            <a:r>
              <a:rPr sz="2400" b="1" dirty="0"/>
              <a:t>truth table</a:t>
            </a:r>
          </a:p>
          <a:p>
            <a:pPr lvl="0"/>
            <a:endParaRPr lang="en-US" sz="2400" dirty="0"/>
          </a:p>
          <a:p>
            <a:pPr lvl="0"/>
            <a:endParaRPr lang="en-US" sz="2400" dirty="0"/>
          </a:p>
          <a:p>
            <a:pPr lvl="0"/>
            <a:endParaRPr lang="en-US" sz="2400" dirty="0"/>
          </a:p>
          <a:p>
            <a:pPr lvl="0"/>
            <a:endParaRPr lang="en-US" sz="2400" dirty="0"/>
          </a:p>
          <a:p>
            <a:pPr lvl="0"/>
            <a:r>
              <a:rPr sz="2400" dirty="0"/>
              <a:t>Table shows conditional probabilities of each outcome</a:t>
            </a:r>
            <a:endParaRPr lang="en-US" sz="2400" dirty="0"/>
          </a:p>
          <a:p>
            <a:r>
              <a:rPr lang="en-US" sz="2400" b="1" dirty="0"/>
              <a:t>Tip:</a:t>
            </a:r>
            <a:r>
              <a:rPr lang="en-US" sz="2400" dirty="0"/>
              <a:t> Make sure the numbers in your confusion matrix sum to 1.0</a:t>
            </a:r>
          </a:p>
          <a:p>
            <a:pPr lvl="0"/>
            <a:endParaRPr sz="2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83373" y="2062865"/>
          <a:ext cx="7029852" cy="137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986">
                <a:tc>
                  <a:txBody>
                    <a:bodyPr/>
                    <a:lstStyle/>
                    <a:p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Positive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Negative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986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 b="1" dirty="0"/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True Positive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False Negative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986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 b="1" dirty="0"/>
                        <a:t>No 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False Positive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 dirty="0"/>
                        <a:t>True Negative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942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F3DC-3C46-F0C9-9F1A-D94932E7D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F583-ED2D-A10E-BEB0-E12D4958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Conditional Probability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3E4E21-3AE1-38F3-44DA-678D6C8649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7076" y="1200151"/>
                <a:ext cx="8503920" cy="3394472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Evaluate the medical test given the conditional probabilities</a:t>
                </a:r>
              </a:p>
              <a:p>
                <a:pPr lvl="0"/>
                <a:r>
                  <a:rPr lang="en-US" dirty="0"/>
                  <a:t>Summarize the conditional probabilities for these outcomes: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⨁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⨁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99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0003125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0003</m:t>
                    </m:r>
                  </m:oMath>
                </a14:m>
                <a:r>
                  <a:rPr lang="en-US" sz="1800" dirty="0"/>
                  <a:t>1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0003125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⨁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⨁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99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0003125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𝟎𝟎𝟗𝟗</m:t>
                      </m:r>
                      <m:r>
                        <a:rPr lang="en-US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0003125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99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en-US" sz="2100" dirty="0"/>
                  <a:t>In summary</a:t>
                </a:r>
              </a:p>
              <a:p>
                <a:pPr lvl="1"/>
                <a:r>
                  <a:rPr lang="en-US" sz="1800" dirty="0"/>
                  <a:t>People with the disease have a 99% chance of correct diagnosis</a:t>
                </a:r>
              </a:p>
              <a:p>
                <a:pPr lvl="1"/>
                <a:r>
                  <a:rPr lang="en-US" sz="1800" b="1" dirty="0">
                    <a:solidFill>
                      <a:srgbClr val="C00000"/>
                    </a:solidFill>
                  </a:rPr>
                  <a:t>But, about 1% of the population would have a false positive test!</a:t>
                </a:r>
                <a:endParaRPr sz="1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3E4E21-3AE1-38F3-44DA-678D6C8649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7076" y="1200151"/>
                <a:ext cx="8503920" cy="3394472"/>
              </a:xfrm>
              <a:blipFill>
                <a:blip r:embed="rId2"/>
                <a:stretch>
                  <a:fillRect l="-1075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96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BBD47-7B7F-4A0C-B925-41AA9F811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07B02-9995-0DDF-56BE-B725AF239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70324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What is Likelihood?</a:t>
            </a:r>
          </a:p>
        </p:txBody>
      </p:sp>
    </p:spTree>
    <p:extLst>
      <p:ext uri="{BB962C8B-B14F-4D97-AF65-F5344CB8AC3E}">
        <p14:creationId xmlns:p14="http://schemas.microsoft.com/office/powerpoint/2010/main" val="1224606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Likelihood is a measure of how likely a </a:t>
                </a:r>
                <a:r>
                  <a:rPr b="1" dirty="0"/>
                  <a:t>parametric model</a:t>
                </a:r>
                <a:r>
                  <a:rPr dirty="0"/>
                  <a:t> is to generate the observed data</a:t>
                </a:r>
              </a:p>
              <a:p>
                <a:pPr lvl="0"/>
                <a:r>
                  <a:rPr dirty="0"/>
                  <a:t>Start with a data sample,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dirty="0"/>
              </a:p>
              <a:p>
                <a:pPr lvl="0"/>
                <a:r>
                  <a:rPr dirty="0"/>
                  <a:t>Likelihood of sample from a </a:t>
                </a:r>
                <a:r>
                  <a:rPr b="1" dirty="0"/>
                  <a:t>data generating process</a:t>
                </a:r>
                <a:r>
                  <a:rPr dirty="0"/>
                  <a:t> with a </a:t>
                </a:r>
                <a:r>
                  <a:rPr b="1" dirty="0"/>
                  <a:t>parametric density function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 | 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𝛉</m:t>
                        </m:r>
                      </m:e>
                    </m:d>
                  </m:oMath>
                </a14:m>
                <a:r>
                  <a:rPr dirty="0"/>
                  <a:t> can be either a probability density function (PDF), for continuous distributions, or a probability mass function (PMF)</a:t>
                </a:r>
                <a:r>
                  <a:rPr lang="en-US" dirty="0"/>
                  <a:t> of</a:t>
                </a:r>
                <a:r>
                  <a:rPr dirty="0"/>
                  <a:t> discrete distributions</a:t>
                </a:r>
              </a:p>
              <a:p>
                <a:pPr lvl="1"/>
                <a:r>
                  <a:rPr dirty="0"/>
                  <a:t>The distribution parameter vector,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𝛉</m:t>
                    </m:r>
                  </m:oMath>
                </a14:m>
                <a:r>
                  <a:rPr dirty="0"/>
                  <a:t>, is fixed</a:t>
                </a:r>
              </a:p>
              <a:p>
                <a:pPr lvl="0"/>
                <a:r>
                  <a:rPr lang="en-US" dirty="0"/>
                  <a:t>F</a:t>
                </a:r>
                <a:r>
                  <a:rPr dirty="0"/>
                  <a:t>or each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, 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dirty="0"/>
                  <a:t>, the density is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| 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𝛉</m:t>
                        </m:r>
                      </m:e>
                    </m:d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EC04B81-38DA-224B-B5D5-ED705C03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Likelihood and Density Functions</a:t>
            </a:r>
          </a:p>
        </p:txBody>
      </p:sp>
    </p:spTree>
    <p:extLst>
      <p:ext uri="{BB962C8B-B14F-4D97-AF65-F5344CB8AC3E}">
        <p14:creationId xmlns:p14="http://schemas.microsoft.com/office/powerpoint/2010/main" val="301294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1170"/>
                <a:ext cx="8229600" cy="3754055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Likelihood is a measure of how likely a </a:t>
                </a:r>
                <a:r>
                  <a:rPr b="1" dirty="0"/>
                  <a:t>parametric model</a:t>
                </a:r>
                <a:r>
                  <a:rPr dirty="0"/>
                  <a:t> is to generate the observed data</a:t>
                </a:r>
              </a:p>
              <a:p>
                <a:pPr lvl="0"/>
                <a:r>
                  <a:rPr dirty="0"/>
                  <a:t>Likelihood of sample from a </a:t>
                </a:r>
                <a:r>
                  <a:rPr b="1" dirty="0"/>
                  <a:t>data generating process</a:t>
                </a:r>
                <a:r>
                  <a:rPr dirty="0"/>
                  <a:t> with a </a:t>
                </a:r>
                <a:r>
                  <a:rPr b="1" dirty="0"/>
                  <a:t>parametric probability density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dirty="0"/>
              </a:p>
              <a:p>
                <a:pPr lvl="0"/>
                <a:r>
                  <a:rPr dirty="0"/>
                  <a:t>For the set of observations,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dirty="0"/>
                  <a:t>, the likelihood is the product of the densities: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In most practical cases, we work with the </a:t>
                </a:r>
                <a:r>
                  <a:rPr b="1" dirty="0"/>
                  <a:t>log likelihood</a:t>
                </a:r>
                <a:r>
                  <a:rPr dirty="0"/>
                  <a:t>, for observations,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dirty="0"/>
                  <a:t>, the log likelihood is expressed: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| 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𝛉</m:t>
                              </m:r>
                            </m:e>
                          </m:d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𝑜𝑔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 | 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𝛉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1170"/>
                <a:ext cx="8229600" cy="3754055"/>
              </a:xfrm>
              <a:blipFill>
                <a:blip r:embed="rId2"/>
                <a:stretch>
                  <a:fillRect l="-667" t="-2110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3E2EAAC-BC98-3444-4C03-B2942D64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Likelihood</a:t>
            </a:r>
          </a:p>
        </p:txBody>
      </p:sp>
    </p:spTree>
    <p:extLst>
      <p:ext uri="{BB962C8B-B14F-4D97-AF65-F5344CB8AC3E}">
        <p14:creationId xmlns:p14="http://schemas.microsoft.com/office/powerpoint/2010/main" val="43093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644137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Likelihood is a measure of how likely a </a:t>
                </a:r>
                <a:r>
                  <a:rPr b="1" dirty="0"/>
                  <a:t>parametric model</a:t>
                </a:r>
                <a:r>
                  <a:rPr dirty="0"/>
                  <a:t> is to generate the observed data sample</a:t>
                </a:r>
              </a:p>
              <a:p>
                <a:pPr lvl="0"/>
                <a:r>
                  <a:rPr dirty="0"/>
                  <a:t>In most practical cases, we work with the </a:t>
                </a:r>
                <a:r>
                  <a:rPr b="1" dirty="0"/>
                  <a:t>log likelihood</a:t>
                </a:r>
                <a:r>
                  <a:rPr dirty="0"/>
                  <a:t>, for observations,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dirty="0"/>
                  <a:t>, the log likelihood is expressed: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| 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𝛉</m:t>
                              </m:r>
                            </m:e>
                          </m:d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𝑜𝑔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 | 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𝛉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Use log-likelihood to work with the sum of log probabilities rather than the product</a:t>
                </a:r>
              </a:p>
              <a:p>
                <a:pPr lvl="1"/>
                <a:r>
                  <a:rPr dirty="0"/>
                  <a:t>If the probabilities are small, the sum is numerically stable</a:t>
                </a:r>
              </a:p>
              <a:p>
                <a:pPr lvl="1"/>
                <a:r>
                  <a:rPr dirty="0"/>
                  <a:t>The product of many small numbers is a very small number, which can lead to numerical underflow even for 64 or 128 bit floating point arithmetic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644137"/>
              </a:xfrm>
              <a:blipFill>
                <a:blip r:embed="rId2"/>
                <a:stretch>
                  <a:fillRect l="-963" t="-2843" r="-889" b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BE4B54A-567A-D08B-DA6B-6C747819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Likelihood</a:t>
            </a:r>
          </a:p>
        </p:txBody>
      </p:sp>
    </p:spTree>
    <p:extLst>
      <p:ext uri="{BB962C8B-B14F-4D97-AF65-F5344CB8AC3E}">
        <p14:creationId xmlns:p14="http://schemas.microsoft.com/office/powerpoint/2010/main" val="229284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8"/>
                <a:ext cx="8507984" cy="3976131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The univariate Normal probability density function with parameter vector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𝛉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dirty="0"/>
                  <a:t> for a single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 | 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For n observations,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𝐗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dirty="0"/>
                  <a:t>, the likelihood is the </a:t>
                </a:r>
                <a:r>
                  <a:rPr b="1" dirty="0"/>
                  <a:t>product of the densities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nary>
                            <m:naryPr>
                              <m:chr m:val="∏"/>
                              <m:limLoc m:val="undOvr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dirty="0"/>
                  <a:t>The log-likelihood (log of above) is a lot </a:t>
                </a:r>
                <a:r>
                  <a:rPr dirty="0" err="1"/>
                  <a:t>easiter</a:t>
                </a:r>
                <a:r>
                  <a:rPr dirty="0"/>
                  <a:t> to deal with: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dirty="0"/>
              </a:p>
              <a:p>
                <a:r>
                  <a:rPr dirty="0"/>
                  <a:t>The log-likelihood</a:t>
                </a:r>
                <a:r>
                  <a:rPr lang="en-US" dirty="0"/>
                  <a:t> is</a:t>
                </a:r>
                <a:r>
                  <a:rPr dirty="0"/>
                  <a:t> </a:t>
                </a:r>
                <a:r>
                  <a:rPr lang="en-US" dirty="0"/>
                  <a:t>probability distribution conditioned on</a:t>
                </a:r>
                <a:r>
                  <a:rPr dirty="0"/>
                  <a:t> parameters, </a:t>
                </a:r>
                <a14:m>
                  <m:oMath xmlns:m="http://schemas.openxmlformats.org/officeDocument/2006/math"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8"/>
                <a:ext cx="8507984" cy="3976131"/>
              </a:xfrm>
              <a:blipFill>
                <a:blip r:embed="rId2"/>
                <a:stretch>
                  <a:fillRect l="-645" t="-1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E5DC88D-89C8-8A1F-DD1C-40E72C4AB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Normal Likelihood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93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1" y="1063230"/>
                <a:ext cx="4392592" cy="3922082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1700" dirty="0"/>
                  <a:t>An example to illustrate the foregoing concepts</a:t>
                </a:r>
              </a:p>
              <a:p>
                <a:pPr lvl="0"/>
                <a:r>
                  <a:rPr sz="1700" dirty="0"/>
                  <a:t>Plot the likelihood for 5, 10 and 20 samples from a standard Normal distribution</a:t>
                </a:r>
              </a:p>
              <a:p>
                <a:pPr lvl="0"/>
                <a:r>
                  <a:rPr sz="1700" dirty="0"/>
                  <a:t>Vary the parameter </a:t>
                </a:r>
                <a14:m>
                  <m:oMath xmlns:m="http://schemas.openxmlformats.org/officeDocument/2006/math">
                    <m:r>
                      <a:rPr sz="17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sz="1700" dirty="0"/>
                  <a:t>, </a:t>
                </a:r>
                <a:r>
                  <a:rPr lang="en-US" sz="1700" dirty="0"/>
                  <a:t>with</a:t>
                </a:r>
                <a:r>
                  <a:rPr sz="1700" dirty="0"/>
                  <a:t> </a:t>
                </a:r>
                <a14:m>
                  <m:oMath xmlns:m="http://schemas.openxmlformats.org/officeDocument/2006/math">
                    <m:r>
                      <a:rPr sz="170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sz="1700" dirty="0"/>
                  <a:t> fixed and known. The steps are:</a:t>
                </a:r>
              </a:p>
              <a:p>
                <a:pPr lvl="1"/>
                <a:r>
                  <a:rPr sz="1700" dirty="0"/>
                  <a:t>A random sample is drawn from a standard Normal distribution</a:t>
                </a:r>
              </a:p>
              <a:p>
                <a:pPr lvl="1"/>
                <a:r>
                  <a:rPr sz="1700" dirty="0"/>
                  <a:t>For the random sample the log-likelihood is computed at each parameter value</a:t>
                </a:r>
                <a:r>
                  <a:rPr lang="en-US" sz="1700" dirty="0"/>
                  <a:t>, </a:t>
                </a:r>
                <a14:m>
                  <m:oMath xmlns:m="http://schemas.openxmlformats.org/officeDocument/2006/math">
                    <m:r>
                      <a:rPr lang="en-US" sz="170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sz="17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1" y="1063230"/>
                <a:ext cx="4392592" cy="3922082"/>
              </a:xfrm>
              <a:blipFill>
                <a:blip r:embed="rId2"/>
                <a:stretch>
                  <a:fillRect l="-832" t="-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../images/NormalLikelihood.JP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07070" y="1130299"/>
            <a:ext cx="4253977" cy="335296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501833" y="4477312"/>
            <a:ext cx="3474333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Normal likelihood at different sample sizes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1468C7-3F6C-A4C5-2556-2E92940D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Normal Likelihood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3785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86FFED-F9EB-39B1-F2D5-A59FBAE6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91010-0FE5-E111-B439-57D36CF1B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063230"/>
            <a:ext cx="4392592" cy="392208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1700" dirty="0"/>
              <a:t>An example to illustrate the foregoing concepts</a:t>
            </a:r>
          </a:p>
          <a:p>
            <a:pPr lvl="0"/>
            <a:r>
              <a:rPr sz="1700" dirty="0"/>
              <a:t>Plot the likelihood for 5, 10 and 20 samples from a standard Normal distribution</a:t>
            </a:r>
          </a:p>
          <a:p>
            <a:pPr lvl="0"/>
            <a:r>
              <a:rPr sz="1700" dirty="0"/>
              <a:t>Notice that as the number of observations increases so does the curvature of the likelihood.</a:t>
            </a:r>
            <a:endParaRPr lang="en-US" sz="1700" dirty="0"/>
          </a:p>
          <a:p>
            <a:pPr lvl="1"/>
            <a:r>
              <a:rPr lang="en-US" sz="1700" dirty="0"/>
              <a:t>Larger sample leads to less uncertainty in parameter estimate</a:t>
            </a:r>
          </a:p>
          <a:p>
            <a:pPr lvl="1"/>
            <a:r>
              <a:rPr lang="en-US" sz="1700" dirty="0"/>
              <a:t>Confidence interval decreases with increasing curvature!</a:t>
            </a:r>
          </a:p>
          <a:p>
            <a:pPr lvl="1"/>
            <a:r>
              <a:rPr lang="en-US" sz="1700" dirty="0"/>
              <a:t>A consequent of the law of large numbers</a:t>
            </a:r>
            <a:endParaRPr sz="1700" dirty="0"/>
          </a:p>
        </p:txBody>
      </p:sp>
      <p:pic>
        <p:nvPicPr>
          <p:cNvPr id="2" name="Picture 1" descr="../images/NormalLikelihood.JPG">
            <a:extLst>
              <a:ext uri="{FF2B5EF4-FFF2-40B4-BE49-F238E27FC236}">
                <a16:creationId xmlns:a16="http://schemas.microsoft.com/office/drawing/2014/main" id="{71008080-1148-5BDC-A657-3F4EDF9884ED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7070" y="1130299"/>
            <a:ext cx="4253977" cy="335296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C89F02-FCC0-A694-F4F7-61492A7B6165}"/>
              </a:ext>
            </a:extLst>
          </p:cNvPr>
          <p:cNvSpPr txBox="1"/>
          <p:nvPr/>
        </p:nvSpPr>
        <p:spPr>
          <a:xfrm>
            <a:off x="5501833" y="4477312"/>
            <a:ext cx="3474333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Normal likelihood at different sample sizes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8F662A-AFE1-4714-E087-5C69CD39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Normal Likelihood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5531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 of log-likelihood for the Binomial distribution</a:t>
                </a:r>
              </a:p>
              <a:p>
                <a:pPr lvl="0"/>
                <a:r>
                  <a:rPr lang="en-US" dirty="0"/>
                  <a:t>Binomial distribution models </a:t>
                </a:r>
                <a:r>
                  <a:rPr lang="en-US" b="1" dirty="0"/>
                  <a:t>discrete events</a:t>
                </a:r>
              </a:p>
              <a:p>
                <a:pPr lvl="0"/>
                <a:r>
                  <a:rPr lang="en-US" dirty="0"/>
                  <a:t>Range of the single parameter,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, restricted to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Binomial distribution has the following probability mass function (PMF) for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successes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trials: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 | 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Log-likelihood is easily found: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 | 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Binomial log-likelihood distribution has a strong dependence on sample size,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and is conditional on the parameter,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741" t="-1794" r="-1259" b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8F28DAE-3A00-FE6A-5496-D8DFB249D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Binomial Likelihood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70124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4199681" cy="3692083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lang="en-US" b="1" dirty="0"/>
                  <a:t>Example</a:t>
                </a:r>
              </a:p>
              <a:p>
                <a:pPr marL="0" lvl="0" indent="0">
                  <a:buNone/>
                </a:pPr>
                <a:r>
                  <a:rPr lang="en-US" dirty="0"/>
                  <a:t>Likelihood is a measure of how likely a </a:t>
                </a:r>
                <a:r>
                  <a:rPr lang="en-US" b="1" dirty="0"/>
                  <a:t>parametric model</a:t>
                </a:r>
                <a:r>
                  <a:rPr lang="en-US" dirty="0"/>
                  <a:t> is to generate the observed data sample</a:t>
                </a:r>
              </a:p>
              <a:p>
                <a:pPr lvl="0"/>
                <a:r>
                  <a:rPr lang="en-US" dirty="0"/>
                  <a:t>Binomial likelihood for sample sizes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Notice the variability in the likelihood curve for smaller samples</a:t>
                </a:r>
              </a:p>
              <a:p>
                <a:pPr lvl="0"/>
                <a:r>
                  <a:rPr lang="en-US" dirty="0"/>
                  <a:t>Likelihood has </a:t>
                </a:r>
                <a:r>
                  <a:rPr lang="en-US" b="1" dirty="0"/>
                  <a:t>stronger curvature for larger samples</a:t>
                </a:r>
                <a:r>
                  <a:rPr lang="en-US" dirty="0"/>
                  <a:t> - less uncertainty for maximum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4199681" cy="3692083"/>
              </a:xfrm>
              <a:blipFill>
                <a:blip r:embed="rId2"/>
                <a:stretch>
                  <a:fillRect l="-1887" t="-2805" r="-1742" b="-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../images/BinomialLikelihood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52057" y="1697023"/>
            <a:ext cx="4363649" cy="23811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031128" y="3943189"/>
            <a:ext cx="4134735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Binomial likelihood at different sample sizes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B499E3B-4A1A-0C9E-50AA-33AFAC96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Binomial Likelihood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4131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101BF-F75E-71C6-B843-862C5F01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5AFB2-41D3-25C6-B4DA-CFF749E18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70324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Bayes Theorem</a:t>
            </a:r>
          </a:p>
        </p:txBody>
      </p:sp>
    </p:spTree>
    <p:extLst>
      <p:ext uri="{BB962C8B-B14F-4D97-AF65-F5344CB8AC3E}">
        <p14:creationId xmlns:p14="http://schemas.microsoft.com/office/powerpoint/2010/main" val="31044923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Conditional Distributions and 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8886"/>
                <a:ext cx="8229600" cy="3684607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Bayes’ theorem</a:t>
                </a:r>
                <a:r>
                  <a:rPr lang="en-US" dirty="0"/>
                  <a:t>, also known as </a:t>
                </a:r>
                <a:r>
                  <a:rPr lang="en-US" b="1" dirty="0"/>
                  <a:t>Bayes’ rule</a:t>
                </a:r>
                <a:r>
                  <a:rPr lang="en-US" dirty="0"/>
                  <a:t>, is a powerful tool to think about and analyze conditional probabilities</a:t>
                </a:r>
              </a:p>
              <a:p>
                <a:pPr lvl="0"/>
                <a:r>
                  <a:rPr lang="en-US" dirty="0"/>
                  <a:t>We can derive Bayes Theorem starting with the following relationships: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Therefore: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Which leads to Bayes’ theorem!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8886"/>
                <a:ext cx="8229600" cy="3684607"/>
              </a:xfrm>
              <a:blipFill>
                <a:blip r:embed="rId2"/>
                <a:stretch>
                  <a:fillRect l="-741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Interpreting 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How can we interpret Bayes’ theorem in a useful way?</a:t>
                </a:r>
              </a:p>
              <a:p>
                <a:pPr lvl="0"/>
                <a:r>
                  <a:rPr dirty="0"/>
                  <a:t>Consider an example using Bayes Theorem for an </a:t>
                </a:r>
                <a:r>
                  <a:rPr b="1" dirty="0"/>
                  <a:t>hypothesis test</a:t>
                </a:r>
                <a:r>
                  <a:rPr dirty="0"/>
                  <a:t> given some data or </a:t>
                </a:r>
                <a:r>
                  <a:rPr b="1" dirty="0"/>
                  <a:t>evidence</a:t>
                </a:r>
              </a:p>
              <a:p>
                <a:pPr lvl="0"/>
                <a:r>
                  <a:rPr dirty="0"/>
                  <a:t>We must make an assertion of our </a:t>
                </a:r>
                <a:r>
                  <a:rPr b="1" dirty="0"/>
                  <a:t>prior probability</a:t>
                </a:r>
                <a:r>
                  <a:rPr lang="en-US" b="1" dirty="0"/>
                  <a:t> </a:t>
                </a:r>
                <a:r>
                  <a:rPr dirty="0"/>
                  <a:t>that the hypothesis is true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𝑝𝑟𝑖𝑜𝑟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𝑦𝑝𝑜𝑡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𝑒𝑠𝑖𝑠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We also must choose a </a:t>
                </a:r>
                <a:r>
                  <a:rPr b="1" dirty="0"/>
                  <a:t>likelihood function </a:t>
                </a:r>
                <a:r>
                  <a:rPr lang="en-US" dirty="0"/>
                  <a:t>for</a:t>
                </a:r>
                <a:r>
                  <a:rPr dirty="0"/>
                  <a:t> the evidence given the hypothesis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𝐿𝑖𝑘𝑒𝑙𝑖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h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𝑜𝑜𝑑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𝑦𝑝𝑜𝑡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𝑒𝑠𝑖𝑠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513" b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Interpreting 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Now, we can think of Bayes’ theorem in the following terms: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𝑃𝑜𝑠𝑡𝑒𝑟𝑖𝑜𝑟</m:t>
                      </m:r>
                      <m:d>
                        <m:dPr>
                          <m:endChr m:val="|"/>
                          <m:ctrlPr>
                            <a:rPr lang="en-US" sz="1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𝑦𝑝𝑡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𝑒𝑠𝑖𝑠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𝑒𝑣𝑖𝑑𝑒𝑛𝑐𝑒</m:t>
                      </m:r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7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𝐿𝑖𝑘𝑙𝑖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𝑜𝑜𝑑</m:t>
                          </m:r>
                          <m:d>
                            <m:dPr>
                              <m:endChr m:val="|"/>
                              <m:ctrlP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𝑒𝑣𝑖𝑑𝑒𝑛𝑐𝑒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𝑦𝑝𝑜𝑡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𝑒𝑠𝑖𝑠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𝑃𝑟𝑖𝑜𝑟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𝑦𝑝𝑜𝑡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𝑒𝑠𝑖𝑠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700" dirty="0"/>
              </a:p>
              <a:p>
                <a:pPr lvl="0"/>
                <a:r>
                  <a:rPr lang="en-US" dirty="0"/>
                  <a:t>The denominator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𝑒𝑣𝑖𝑑𝑒𝑛𝑐𝑒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or </a:t>
                </a:r>
                <a:r>
                  <a:rPr lang="en-US" b="1" dirty="0"/>
                  <a:t>partition function</a:t>
                </a:r>
                <a:r>
                  <a:rPr lang="en-US" dirty="0"/>
                  <a:t> is problematic</a:t>
                </a:r>
              </a:p>
              <a:p>
                <a:pPr lvl="1"/>
                <a:r>
                  <a:rPr lang="en-US" dirty="0"/>
                  <a:t>Required to normalize the posterior distribution to range: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𝑃𝑜𝑠𝑡𝑒𝑟𝑖𝑜𝑟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𝑦𝑝𝑜𝑡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𝑒𝑠𝑖𝑠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 | 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Interpreting 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Denominator must account for all possible outcomes, or alternative hypotheses,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𝑎𝑙𝑡𝑒𝑟𝑛𝑎𝑡𝑖𝑣𝑒𝑠</m:t>
                          </m:r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𝐿𝑖𝑘𝑒𝑙𝑖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𝑜𝑜𝑑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𝑒𝑣𝑖𝑑𝑒𝑛𝑐𝑒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  <a:p>
                <a:pPr marL="0" lvl="0" indent="0">
                  <a:buNone/>
                </a:pPr>
                <a:r>
                  <a:rPr lang="en-US" dirty="0"/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𝑃𝑜𝑠𝑡𝑒𝑟𝑖𝑜𝑟</m:t>
                      </m:r>
                      <m:d>
                        <m:dPr>
                          <m:endChr m:val="|"/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𝑦𝑝𝑡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𝑒𝑠𝑖𝑠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𝑒𝑣𝑖𝑑𝑒𝑛𝑐𝑒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𝐿𝑖𝑘𝑙𝑖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𝑜𝑜𝑑</m:t>
                          </m:r>
                          <m:d>
                            <m:dPr>
                              <m:endChr m:val="|"/>
                              <m:ctrlP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𝑒𝑣𝑖𝑑𝑒𝑛𝑐𝑒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𝑦𝑝𝑜𝑡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𝑒𝑠𝑖𝑠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𝑃𝑟𝑖𝑜𝑟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𝑦𝑝𝑜𝑡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𝑒𝑠𝑖𝑠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𝑝𝑜𝑠𝑠𝑖𝑏𝑙𝑒</m:t>
                              </m:r>
                              <m:r>
                                <a:rPr lang="en-US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𝑎𝑙𝑡𝑒𝑟𝑛𝑎𝑡𝑖𝑣𝑒𝑠</m:t>
                              </m:r>
                            </m:sub>
                            <m:sup/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𝐿𝑖𝑘𝑒𝑙𝑖</m:t>
                              </m:r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𝑜𝑜𝑑</m:t>
                              </m:r>
                              <m:d>
                                <m:dPr>
                                  <m:ctrlP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𝑒𝑣𝑖𝑑𝑒𝑛𝑐𝑒</m:t>
                                  </m:r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𝑝𝑟𝑖𝑜𝑟</m:t>
                              </m:r>
                              <m:d>
                                <m:dPr>
                                  <m:ctrlP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1500" dirty="0"/>
              </a:p>
              <a:p>
                <a:pPr marL="0" lvl="0" indent="0">
                  <a:buNone/>
                </a:pPr>
                <a:r>
                  <a:rPr lang="en-US" dirty="0"/>
                  <a:t>This is a formidable problem!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12770-0437-5D2B-E7AE-82C5AC3E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9C3CE-E9A2-EACA-D5C8-9D453D379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70324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Simple Bayes Distribution Example</a:t>
            </a:r>
          </a:p>
        </p:txBody>
      </p:sp>
    </p:spTree>
    <p:extLst>
      <p:ext uri="{BB962C8B-B14F-4D97-AF65-F5344CB8AC3E}">
        <p14:creationId xmlns:p14="http://schemas.microsoft.com/office/powerpoint/2010/main" val="13251747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 Theorem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0032" y="1018525"/>
                <a:ext cx="8229600" cy="4041155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Hemophilia is a serious genetic condition expressed on any X chromosome</a:t>
                </a:r>
              </a:p>
              <a:p>
                <a:pPr lvl="0"/>
                <a:r>
                  <a:rPr lang="en-US" dirty="0"/>
                  <a:t>Women have two X chromosomes and are unlikely to exhibit hemophilia</a:t>
                </a:r>
              </a:p>
              <a:p>
                <a:pPr lvl="1"/>
                <a:r>
                  <a:rPr lang="en-US" sz="2300" dirty="0"/>
                  <a:t>One X chromosome inherited from each parent, </a:t>
                </a:r>
                <a:r>
                  <a:rPr lang="en-US" sz="2300" b="1" dirty="0"/>
                  <a:t>independent events </a:t>
                </a:r>
              </a:p>
              <a:p>
                <a:pPr lvl="1"/>
                <a:r>
                  <a:rPr lang="en-US" sz="2300" dirty="0"/>
                  <a:t>Must inherit hemophilia from both parents – very low probability</a:t>
                </a:r>
              </a:p>
              <a:p>
                <a:pPr lvl="0"/>
                <a:r>
                  <a:rPr lang="en-US" dirty="0"/>
                  <a:t>Men have one X chromosome and one Y chromosome</a:t>
                </a:r>
              </a:p>
              <a:p>
                <a:pPr lvl="1"/>
                <a:r>
                  <a:rPr lang="en-US" sz="2300" dirty="0"/>
                  <a:t>Inherit Y chromosome from the father</a:t>
                </a:r>
              </a:p>
              <a:p>
                <a:pPr lvl="1"/>
                <a:r>
                  <a:rPr lang="en-US" sz="2300" dirty="0"/>
                  <a:t>Inherit X chromosome, and possibly hemophilia, from the mother</a:t>
                </a:r>
              </a:p>
              <a:p>
                <a:pPr lvl="0"/>
                <a:r>
                  <a:rPr lang="en-US" dirty="0"/>
                  <a:t>Say a woman has a brother who exhibits hemophilia</a:t>
                </a:r>
              </a:p>
              <a:p>
                <a:pPr lvl="1"/>
                <a:r>
                  <a:rPr lang="en-US" sz="2300" dirty="0"/>
                  <a:t>X chromosome expression for woman’s mother is </a:t>
                </a:r>
                <a14:m>
                  <m:oMath xmlns:m="http://schemas.openxmlformats.org/officeDocument/2006/math">
                    <m:r>
                      <a:rPr lang="en-US" sz="230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300" dirty="0"/>
                  <a:t> brother has hemophilia with </a:t>
                </a:r>
                <a14:m>
                  <m:oMath xmlns:m="http://schemas.openxmlformats.org/officeDocument/2006/math">
                    <m:r>
                      <a:rPr lang="en-US" sz="23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300" dirty="0"/>
              </a:p>
              <a:p>
                <a:pPr lvl="1"/>
                <a:r>
                  <a:rPr lang="en-US" sz="2300" dirty="0"/>
                  <a:t>Woman’s father does not exhibit hemophilia, </a:t>
                </a:r>
                <a14:m>
                  <m:oMath xmlns:m="http://schemas.openxmlformats.org/officeDocument/2006/math">
                    <m:r>
                      <a:rPr lang="en-US" sz="230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300" dirty="0"/>
                  <a:t> father has hemophilia with </a:t>
                </a:r>
                <a14:m>
                  <m:oMath xmlns:m="http://schemas.openxmlformats.org/officeDocument/2006/math">
                    <m:r>
                      <a:rPr lang="en-US" sz="23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300" dirty="0"/>
              </a:p>
              <a:p>
                <a:r>
                  <a:rPr lang="en-US" sz="2600" dirty="0"/>
                  <a:t>Our </a:t>
                </a:r>
                <a:r>
                  <a:rPr lang="en-US" sz="2600" b="1" dirty="0"/>
                  <a:t>prior belief </a:t>
                </a:r>
                <a:r>
                  <a:rPr lang="en-US" sz="2600" dirty="0"/>
                  <a:t>that woman carries the genetic marker for hemophilia given </a:t>
                </a:r>
                <a:r>
                  <a:rPr lang="en-US" sz="2600" b="1" dirty="0"/>
                  <a:t>independent inheritance</a:t>
                </a:r>
                <a:r>
                  <a:rPr lang="en-US" sz="2600" dirty="0"/>
                  <a:t> from parents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30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ar-AE" sz="23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30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ar-AE" sz="23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𝑓𝑎𝑡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𝑒𝑟</m:t>
                          </m:r>
                        </m:e>
                      </m:d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30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ar-AE" sz="23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𝑚𝑜𝑡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𝑒𝑟</m:t>
                          </m:r>
                        </m:e>
                      </m:d>
                    </m:oMath>
                  </m:oMathPara>
                </a14:m>
                <a:endParaRPr lang="en-US" sz="2300" b="0" i="0" dirty="0">
                  <a:latin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3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3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ar-AE" sz="23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3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3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300" b="0" i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sz="23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032" y="1018525"/>
                <a:ext cx="8229600" cy="4041155"/>
              </a:xfrm>
              <a:blipFill>
                <a:blip r:embed="rId2"/>
                <a:stretch>
                  <a:fillRect l="-519" t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 Theorem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As evidence the woman has two sons (not identical twins) with no expression of hemophilia</a:t>
                </a:r>
              </a:p>
              <a:p>
                <a:pPr lvl="0"/>
                <a:r>
                  <a:rPr lang="en-US" dirty="0"/>
                  <a:t>What is the likelihood for the two sons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not having hemophilia?</a:t>
                </a:r>
              </a:p>
              <a:p>
                <a:pPr lvl="0"/>
                <a:r>
                  <a:rPr lang="en-US" dirty="0"/>
                  <a:t>Two possible hypotheses with </a:t>
                </a:r>
                <a:r>
                  <a:rPr lang="en-US" b="1" dirty="0"/>
                  <a:t>likelihoods</a:t>
                </a:r>
              </a:p>
              <a:p>
                <a:pPr lvl="1"/>
                <a:r>
                  <a:rPr lang="en-US" b="1" dirty="0"/>
                  <a:t>Case 1: </a:t>
                </a:r>
                <a:r>
                  <a:rPr lang="en-US" dirty="0"/>
                  <a:t>woman caries one X chromosome with hemophilia expression,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×(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b="1" dirty="0"/>
                  <a:t>Case 2:</a:t>
                </a:r>
                <a:r>
                  <a:rPr lang="en-US" dirty="0"/>
                  <a:t> woman does not carry an X chromosome with hemophilia expression,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) ×(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100" dirty="0"/>
              </a:p>
              <a:p>
                <a:pPr marL="0" lvl="0" indent="0">
                  <a:buNone/>
                </a:pPr>
                <a:r>
                  <a:rPr lang="en-US" dirty="0"/>
                  <a:t>Note: we are neglecting the very low probability of a mutations in one of the sons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741" t="-1794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 Theorem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Use Bayes theorem to compute probability woman carries an X chromosome with hemophilia expression,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can now define all the quantities we need:   </a:t>
                </a:r>
                <a:r>
                  <a:rPr lang="en-US" sz="2000" dirty="0"/>
                  <a:t> </a:t>
                </a:r>
              </a:p>
              <a:p>
                <a:r>
                  <a:rPr lang="en-US" sz="2000" b="1" dirty="0"/>
                  <a:t>Mother has no marker: </a:t>
                </a:r>
              </a:p>
              <a:p>
                <a:pPr lvl="1"/>
                <a:r>
                  <a:rPr lang="en-US" sz="1700" dirty="0"/>
                  <a:t>Prior probability of hypothesis;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1700" b="0" dirty="0"/>
              </a:p>
              <a:p>
                <a:pPr lvl="1"/>
                <a:r>
                  <a:rPr lang="en-US" sz="1700" dirty="0"/>
                  <a:t>Likelihood of hypothesis;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| </m:t>
                        </m:r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700" b="0" dirty="0"/>
              </a:p>
              <a:p>
                <a:r>
                  <a:rPr lang="en-US" sz="2000" b="1" dirty="0"/>
                  <a:t>Mother with marker:</a:t>
                </a:r>
              </a:p>
              <a:p>
                <a:pPr lvl="1"/>
                <a:r>
                  <a:rPr lang="en-US" sz="1700" dirty="0"/>
                  <a:t>Prior probability of hypothesis;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7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1700" b="0" dirty="0"/>
              </a:p>
              <a:p>
                <a:pPr lvl="1"/>
                <a:r>
                  <a:rPr lang="en-US" sz="1700" dirty="0"/>
                  <a:t>Likelihood of hypothesis, marker;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| 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</m:t>
                    </m:r>
                  </m:oMath>
                </a14:m>
                <a:endParaRPr lang="en-US" sz="1700" dirty="0"/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 Theorem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9"/>
                <a:ext cx="8229600" cy="3879849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Use Bayes theorem to compute probability woman carries an X chromosome with hemophilia expression,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lang="en-US" sz="12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Given the </a:t>
                </a:r>
                <a:r>
                  <a:rPr lang="en-US" b="1" dirty="0"/>
                  <a:t>evidence</a:t>
                </a:r>
                <a:r>
                  <a:rPr lang="en-US" dirty="0"/>
                  <a:t> of two sons without hemophilia we </a:t>
                </a:r>
                <a:r>
                  <a:rPr lang="en-US" b="1" dirty="0"/>
                  <a:t>update our belief </a:t>
                </a:r>
                <a:r>
                  <a:rPr lang="en-US" dirty="0"/>
                  <a:t>for the woman carrying the disease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𝑏𝑒𝑙𝑖𝑒𝑓</m:t>
                          </m:r>
                        </m:lim>
                      </m:limLow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⟹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𝑛𝑒𝑤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𝑒𝑣𝑖𝑑𝑒𝑛𝑐𝑒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ar-AE" dirty="0"/>
                            <m:t> </m:t>
                          </m:r>
                        </m:e>
                        <m:li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𝑛𝑒𝑤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𝑏𝑒𝑙𝑖𝑒𝑓</m:t>
                          </m:r>
                        </m:lim>
                      </m:limLow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9"/>
                <a:ext cx="8229600" cy="3879849"/>
              </a:xfrm>
              <a:blipFill>
                <a:blip r:embed="rId2"/>
                <a:stretch>
                  <a:fillRect l="-1111" t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75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30614-9763-D234-4B33-52E7FB82E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1B8EF-3339-E264-BB06-B262841E3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70324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Marginal Distributions</a:t>
            </a:r>
          </a:p>
        </p:txBody>
      </p:sp>
    </p:spTree>
    <p:extLst>
      <p:ext uri="{BB962C8B-B14F-4D97-AF65-F5344CB8AC3E}">
        <p14:creationId xmlns:p14="http://schemas.microsoft.com/office/powerpoint/2010/main" val="2059336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Marginal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9"/>
                <a:ext cx="8229600" cy="3844436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2000" dirty="0"/>
                  <a:t>In many cases we are interested in the </a:t>
                </a:r>
                <a:r>
                  <a:rPr sz="2000" b="1" dirty="0"/>
                  <a:t>marginal distribution</a:t>
                </a:r>
              </a:p>
              <a:p>
                <a:pPr lvl="0"/>
                <a:r>
                  <a:rPr sz="2000" dirty="0"/>
                  <a:t>Example, it is often the case that only one or a few parameters of a joint distribution will be of interest</a:t>
                </a:r>
              </a:p>
              <a:p>
                <a:r>
                  <a:rPr sz="2300" dirty="0"/>
                  <a:t>In other words, we are interested in the marginal distribution of these parameters</a:t>
                </a:r>
              </a:p>
              <a:p>
                <a:r>
                  <a:rPr sz="2300" dirty="0"/>
                  <a:t>The denominator of Bayes theorem, </a:t>
                </a:r>
                <a14:m>
                  <m:oMath xmlns:m="http://schemas.openxmlformats.org/officeDocument/2006/math">
                    <m:r>
                      <a:rPr sz="23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300">
                            <a:latin typeface="Cambria Math" panose="02040503050406030204" pitchFamily="18" charset="0"/>
                          </a:rPr>
                          <m:t>𝑑𝑎𝑡𝑎</m:t>
                        </m:r>
                      </m:e>
                    </m:d>
                  </m:oMath>
                </a14:m>
                <a:r>
                  <a:rPr sz="2300" dirty="0"/>
                  <a:t>, can be computed as a marginal distribution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9"/>
                <a:ext cx="8229600" cy="3844436"/>
              </a:xfrm>
              <a:blipFill>
                <a:blip r:embed="rId2"/>
                <a:stretch>
                  <a:fillRect l="-889" t="-792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Marginal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57002"/>
                <a:ext cx="8229600" cy="3598265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2000" dirty="0"/>
                  <a:t>In many cases we are interested in the </a:t>
                </a:r>
                <a:r>
                  <a:rPr sz="2000" b="1" dirty="0"/>
                  <a:t>marginal distribution</a:t>
                </a:r>
              </a:p>
              <a:p>
                <a:pPr lvl="0"/>
                <a:r>
                  <a:rPr sz="2000" dirty="0"/>
                  <a:t>Consider a multivariate probability density function with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000" dirty="0"/>
                  <a:t> variables,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20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sz="200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sz="2000" dirty="0"/>
              </a:p>
              <a:p>
                <a:r>
                  <a:rPr sz="2000" b="1" dirty="0"/>
                  <a:t>Marginal distribution</a:t>
                </a:r>
                <a:r>
                  <a:rPr sz="2000" dirty="0"/>
                  <a:t> is the distribution of one variable with the others integrated out.</a:t>
                </a:r>
              </a:p>
              <a:p>
                <a:r>
                  <a:rPr sz="2000" dirty="0"/>
                  <a:t>Integrate over all other variables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20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20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20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000" dirty="0"/>
                  <a:t> the result is the marginal distribution,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sz="2000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>
                          <m:r>
                            <a:rPr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sz="2000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sz="200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sz="200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sz="2000" dirty="0"/>
              </a:p>
              <a:p>
                <a:pPr lvl="0"/>
                <a:r>
                  <a:rPr sz="2000" dirty="0"/>
                  <a:t>For discrete distribution the above is a summation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>
                          <m:r>
                            <a:rPr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57002"/>
                <a:ext cx="8229600" cy="3598265"/>
              </a:xfrm>
              <a:blipFill>
                <a:blip r:embed="rId2"/>
                <a:stretch>
                  <a:fillRect l="-741" t="-1017" b="-15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76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5751A-5690-7397-1819-8FCAA34D9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BC04-FCC3-7A11-29D1-75C74C5B1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Marginal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672834-5732-FEA4-B38D-3BF0C0FE22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7864"/>
                <a:ext cx="8229600" cy="3307403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What is the </a:t>
                </a:r>
                <a:r>
                  <a:rPr lang="en-US" sz="2000" b="1" dirty="0"/>
                  <a:t>marginal distribution</a:t>
                </a:r>
                <a:r>
                  <a:rPr lang="en-US" sz="2000" dirty="0"/>
                  <a:t> of a </a:t>
                </a:r>
                <a:r>
                  <a:rPr lang="en-US" sz="2000" b="1" dirty="0"/>
                  <a:t>conditional distribution?</a:t>
                </a:r>
              </a:p>
              <a:p>
                <a:pPr lvl="0"/>
                <a:r>
                  <a:rPr lang="en-US" sz="2000" dirty="0"/>
                  <a:t>Recall the probability of the intersection of two sets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sz="2000" dirty="0"/>
              </a:p>
              <a:p>
                <a:r>
                  <a:rPr lang="en-US" sz="2000" b="1" dirty="0"/>
                  <a:t>Marginal distribution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ar-AE" sz="200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is computed by integrating 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nary>
                      <m:r>
                        <a:rPr lang="ar-AE" sz="200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nary>
                      <m:r>
                        <a:rPr lang="ar-AE" sz="200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ar-AE" sz="2000" dirty="0"/>
              </a:p>
              <a:p>
                <a:pPr lvl="0"/>
                <a:r>
                  <a:rPr lang="en-US" sz="2000" dirty="0"/>
                  <a:t>Alternatively, we can find the marginal distribution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nary>
                      <m:r>
                        <a:rPr lang="ar-AE" sz="2000"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nary>
                      <m:r>
                        <a:rPr lang="ar-AE" sz="2000"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672834-5732-FEA4-B38D-3BF0C0FE22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7864"/>
                <a:ext cx="8229600" cy="3307403"/>
              </a:xfrm>
              <a:blipFill>
                <a:blip r:embed="rId2"/>
                <a:stretch>
                  <a:fillRect l="-741" t="-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894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EAFAF-6389-3C06-0038-BAB38A77A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577C6-CB5F-C33F-732B-077AA1940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Marginal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1B172-C9AF-B255-12BD-7F1CA2A5DF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7864"/>
                <a:ext cx="8229600" cy="3307403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What is the </a:t>
                </a:r>
                <a:r>
                  <a:rPr lang="en-US" sz="2000" b="1" dirty="0"/>
                  <a:t>marginal distribution</a:t>
                </a:r>
                <a:r>
                  <a:rPr lang="en-US" sz="2000" dirty="0"/>
                  <a:t> of a </a:t>
                </a:r>
                <a:r>
                  <a:rPr lang="en-US" sz="2000" b="1" dirty="0"/>
                  <a:t>conditional distribution?</a:t>
                </a:r>
              </a:p>
              <a:p>
                <a:pPr lvl="0"/>
                <a:r>
                  <a:rPr lang="en-US" sz="2000" dirty="0"/>
                  <a:t>We can write equivalent expressions for discrete distributions  </a:t>
                </a:r>
                <a:endParaRPr lang="ar-AE" sz="2000" dirty="0"/>
              </a:p>
              <a:p>
                <a:r>
                  <a:rPr lang="en-US" sz="2000" b="1" dirty="0"/>
                  <a:t>Marginal distribution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ar-AE" sz="200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is computed by summing 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ar-AE" sz="2000" dirty="0"/>
              </a:p>
              <a:p>
                <a:pPr lvl="0"/>
                <a:r>
                  <a:rPr lang="en-US" sz="2000" dirty="0"/>
                  <a:t>Alternatively, we can find the marginal distribution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ar-AE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1B172-C9AF-B255-12BD-7F1CA2A5DF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7864"/>
                <a:ext cx="8229600" cy="3307403"/>
              </a:xfrm>
              <a:blipFill>
                <a:blip r:embed="rId2"/>
                <a:stretch>
                  <a:fillRect l="-741" t="-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02330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03b_WhenOneThingDependsOnAother_files/figure-pptx/unnamed-chunk-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74603" y="149184"/>
            <a:ext cx="4948499" cy="494849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846" y="82844"/>
            <a:ext cx="3837007" cy="41401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Marginal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41890" y="528146"/>
                <a:ext cx="4272455" cy="4325506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1600" b="1" dirty="0"/>
                  <a:t>Marginal distributions</a:t>
                </a:r>
                <a:r>
                  <a:rPr lang="en-US" sz="1600" dirty="0"/>
                  <a:t> of bivariate  Normal</a:t>
                </a:r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𝑑𝑒𝑡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marL="0" lvl="0" indent="0">
                  <a:buNone/>
                </a:pPr>
                <a:r>
                  <a:rPr lang="en-US" sz="1600" dirty="0"/>
                  <a:t> with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6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ar-AE" sz="1600" dirty="0"/>
                  <a:t> </a:t>
                </a:r>
                <a:r>
                  <a:rPr lang="en-US" sz="160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sz="1600" dirty="0"/>
              </a:p>
              <a:p>
                <a:pPr marL="0" lvl="0" indent="0">
                  <a:buNone/>
                </a:pPr>
                <a:r>
                  <a:rPr lang="en-US" sz="1600" dirty="0"/>
                  <a:t>Marginal distributions </a:t>
                </a:r>
                <a:r>
                  <a:rPr lang="en-US" sz="1600" b="1" dirty="0"/>
                  <a:t>displayed on margins</a:t>
                </a:r>
                <a:r>
                  <a:rPr lang="en-US" sz="1600" dirty="0"/>
                  <a:t> of scatter plot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/>
              </a:p>
              <a:p>
                <a:pPr lvl="0" indent="0">
                  <a:buNone/>
                </a:pPr>
                <a:r>
                  <a:rPr lang="en-US" sz="1600" dirty="0">
                    <a:latin typeface="Courier"/>
                  </a:rPr>
                  <a:t>## x mean = -0.01325  variance = 0.9566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nary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latin typeface="Courier"/>
                  </a:rPr>
                  <a:t>
## y mean = -0.02551 variance = 1.0102</a:t>
                </a:r>
                <a:endParaRPr sz="1600" dirty="0">
                  <a:latin typeface="Courier"/>
                </a:endParaRPr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41890" y="528146"/>
                <a:ext cx="4272455" cy="4325506"/>
              </a:xfrm>
              <a:blipFill>
                <a:blip r:embed="rId3"/>
                <a:stretch>
                  <a:fillRect l="-713" t="-423" b="-13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736693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Marginal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3736693" cy="3518297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sz="1600" b="1" dirty="0"/>
                  <a:t>Marginal distributions</a:t>
                </a:r>
                <a:r>
                  <a:rPr sz="1600" dirty="0"/>
                  <a:t> of multivariate Normal with </a:t>
                </a:r>
                <a14:m>
                  <m:oMath xmlns:m="http://schemas.openxmlformats.org/officeDocument/2006/math">
                    <m:r>
                      <a:rPr sz="1600">
                        <a:latin typeface="Cambria Math" panose="02040503050406030204" pitchFamily="18" charset="0"/>
                      </a:rPr>
                      <m:t>𝜇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16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16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1600" dirty="0"/>
                  <a:t> and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1600" dirty="0"/>
              </a:p>
              <a:p>
                <a:pPr marL="0" lvl="0" indent="0">
                  <a:buNone/>
                </a:pPr>
                <a:r>
                  <a:rPr sz="1600" dirty="0"/>
                  <a:t>Marginal distributions </a:t>
                </a:r>
                <a:r>
                  <a:rPr sz="1600" b="1" dirty="0"/>
                  <a:t>displayed on margins</a:t>
                </a:r>
                <a:r>
                  <a:rPr sz="1600" dirty="0"/>
                  <a:t> of scatter plot</a:t>
                </a:r>
              </a:p>
              <a:p>
                <a:pPr lvl="0" indent="0">
                  <a:buNone/>
                </a:pPr>
                <a:r>
                  <a:rPr sz="1600" dirty="0">
                    <a:latin typeface="Courier"/>
                  </a:rPr>
                  <a:t>## For x mean = -0.002385 variance = 1.0666
## For y mean = -0.001179  variance = 1.0008308</a:t>
                </a:r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3736693" cy="3518297"/>
              </a:xfrm>
              <a:blipFill>
                <a:blip r:embed="rId2"/>
                <a:stretch>
                  <a:fillRect l="-816" t="-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03b_WhenOneThingDependsOnAother_files/figure-pptx/unnamed-chunk-3-3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64635" y="141870"/>
            <a:ext cx="4859759" cy="485975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860156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Marginal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16689" y="1076326"/>
                <a:ext cx="3742481" cy="3518297"/>
              </a:xfrm>
            </p:spPr>
            <p:txBody>
              <a:bodyPr>
                <a:noAutofit/>
              </a:bodyPr>
              <a:lstStyle/>
              <a:p>
                <a:pPr lvl="0"/>
                <a:r>
                  <a:rPr sz="1600" b="1" dirty="0"/>
                  <a:t>Marginal distributions</a:t>
                </a:r>
                <a:r>
                  <a:rPr sz="1600" dirty="0"/>
                  <a:t> of multivariate Normal with </a:t>
                </a:r>
                <a14:m>
                  <m:oMath xmlns:m="http://schemas.openxmlformats.org/officeDocument/2006/math">
                    <m:r>
                      <a:rPr sz="1600">
                        <a:latin typeface="Cambria Math" panose="02040503050406030204" pitchFamily="18" charset="0"/>
                      </a:rPr>
                      <m:t>𝜇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16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16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1600" dirty="0"/>
                  <a:t> and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1600" dirty="0"/>
              </a:p>
              <a:p>
                <a:pPr marL="0" lvl="0" indent="0">
                  <a:buNone/>
                </a:pPr>
                <a:r>
                  <a:rPr sz="1600" dirty="0"/>
                  <a:t>Marginal distributions </a:t>
                </a:r>
                <a:r>
                  <a:rPr sz="1600" b="1" dirty="0"/>
                  <a:t>displayed on margins</a:t>
                </a:r>
                <a:r>
                  <a:rPr sz="1600" dirty="0"/>
                  <a:t> of scatter plot</a:t>
                </a:r>
              </a:p>
              <a:p>
                <a:pPr lvl="0" indent="0">
                  <a:buNone/>
                </a:pPr>
                <a:r>
                  <a:rPr sz="1600" dirty="0">
                    <a:latin typeface="Courier"/>
                  </a:rPr>
                  <a:t>## For x mean = -0.01932  variance = 1.0163
## For y mean = -0.02933 variance = 0.9952</a:t>
                </a:r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16689" y="1076326"/>
                <a:ext cx="3742481" cy="3518297"/>
              </a:xfrm>
              <a:blipFill>
                <a:blip r:embed="rId2"/>
                <a:stretch>
                  <a:fillRect l="-814" t="-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03b_WhenOneThingDependsOnAother_files/figure-pptx/unnamed-chunk-4-5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93893" y="131180"/>
            <a:ext cx="4884516" cy="488451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5A3A6-D76B-BFF3-38F7-A73D25468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5671E-92E7-0EF8-6E81-022F59AEF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70324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Expected Values</a:t>
            </a:r>
          </a:p>
        </p:txBody>
      </p:sp>
    </p:spTree>
    <p:extLst>
      <p:ext uri="{BB962C8B-B14F-4D97-AF65-F5344CB8AC3E}">
        <p14:creationId xmlns:p14="http://schemas.microsoft.com/office/powerpoint/2010/main" val="26892241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do you expect: continuous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Expected value</a:t>
                </a:r>
                <a:r>
                  <a:rPr lang="en-US" dirty="0"/>
                  <a:t> of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a continuous distribution,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,</a:t>
                </a:r>
                <a:r>
                  <a:rPr lang="ar-AE" dirty="0"/>
                  <a:t> </a:t>
                </a:r>
                <a:r>
                  <a:rPr lang="en-US" dirty="0"/>
                  <a:t>over the interval,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ar-AE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ar-AE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Values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are weighted by the PDF,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 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0"/>
                <a:r>
                  <a:rPr lang="en-US" dirty="0"/>
                  <a:t>By the second axiom of probability, PDF integrated over the entire range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must equal 1.0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2622A-75F8-1E59-3A79-6EF7746F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D6A4-A361-9F48-0D52-D17D5DEBC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do you expect: continuous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65B147-FE5F-84C8-DE06-3A1FB5893C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Example: What is the </a:t>
                </a:r>
                <a:r>
                  <a:rPr lang="en-US" b="1" dirty="0"/>
                  <a:t>Expected value</a:t>
                </a:r>
                <a:r>
                  <a:rPr lang="en-US" dirty="0"/>
                  <a:t> of a univariate Normal distribution with parameters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ar-A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ar-AE">
                          <a:latin typeface="Cambria Math" panose="02040503050406030204" pitchFamily="18" charset="0"/>
                        </a:rPr>
                        <m:t> </m:t>
                      </m:r>
                      <m:f>
                        <m:f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ar-A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ar-A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den>
                              </m:f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The expected value is the mean,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65B147-FE5F-84C8-DE06-3A1FB5893C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408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A9680-92F8-5B49-0BDE-3C601F2A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52BE5-D00A-E78E-3F87-4E1D005D7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What do you expect: </a:t>
            </a:r>
            <a:r>
              <a:rPr lang="en-US" dirty="0"/>
              <a:t>discrete</a:t>
            </a:r>
            <a:r>
              <a:rPr dirty="0"/>
              <a:t>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35873C-BDBF-AFB8-FFD5-ABF8530D27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Expected value </a:t>
                </a:r>
                <a:r>
                  <a:rPr lang="en-US" dirty="0"/>
                  <a:t>of discrete variable,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, with PMF 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r>
                  <a:rPr lang="ar-AE" dirty="0"/>
                  <a:t>,</a:t>
                </a:r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samples is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</m:t>
                          </m:r>
                          <m:sSub>
                            <m:sSubPr>
                              <m:ctrlPr>
                                <a:rPr lang="ar-A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</m:t>
                          </m:r>
                        </m:e>
                      </m:nary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Is a linear sum </a:t>
                </a:r>
              </a:p>
              <a:p>
                <a:pPr lvl="0"/>
                <a:r>
                  <a:rPr lang="en-US" dirty="0"/>
                  <a:t>Each sample 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is weighted by the probability,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35873C-BDBF-AFB8-FFD5-ABF8530D27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883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F3D1B-992B-DA91-5558-FDF00E33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1ACFC-D622-4415-CC59-579941AA1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What do you expect: </a:t>
            </a:r>
            <a:r>
              <a:rPr lang="en-US" dirty="0"/>
              <a:t>discrete</a:t>
            </a:r>
            <a:r>
              <a:rPr dirty="0"/>
              <a:t>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ABD645-879A-B9E0-A197-977821A6EC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Example: What is the </a:t>
                </a:r>
                <a:r>
                  <a:rPr lang="en-US" b="1" dirty="0"/>
                  <a:t>Expected value</a:t>
                </a:r>
                <a:r>
                  <a:rPr lang="en-US" dirty="0"/>
                  <a:t> of a univariate Binomial distribution with probability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nary>
                      <m:d>
                        <m:d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is a linear sum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Bernoulli trials with probability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outcomes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so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ABD645-879A-B9E0-A197-977821A6EC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294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FD123-3FA8-45A8-759D-E9F688CF2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7A4A2-B35F-3066-CEF1-5B693ECB3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21" y="205979"/>
            <a:ext cx="8765627" cy="85725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800" dirty="0"/>
              <a:t>What do you expect: </a:t>
            </a:r>
            <a:r>
              <a:rPr lang="en-US" sz="2800" dirty="0"/>
              <a:t>Expectation and Marginal Distribution</a:t>
            </a:r>
            <a:endParaRPr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05C71D-9107-8DFE-12F1-155025D7FA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We can write the log marginal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as an expectation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𝑙𝑜𝑔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𝑙𝑜𝑔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Or, we can introduce another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integrating out the variable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𝑙𝑜𝑔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𝑙𝑜𝑔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05C71D-9107-8DFE-12F1-155025D7F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57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26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717F0-0353-B122-6A19-A215E2B0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820E4-1DA5-7E2A-B8FB-8A2A4E513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21" y="205979"/>
            <a:ext cx="8765627" cy="85725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800" dirty="0"/>
              <a:t>What do you expect: </a:t>
            </a:r>
            <a:r>
              <a:rPr lang="en-US" sz="2800" dirty="0"/>
              <a:t>Expectation and Marginal Distribution</a:t>
            </a:r>
            <a:endParaRPr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B72DE9-4B50-2F87-683A-F4005205C1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We can write the log marginal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as an expectation with respect to another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𝑙𝑜𝑔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𝑙𝑜𝑔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Expressing in terms of expected value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B72DE9-4B50-2F87-683A-F4005205C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02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4059B-5322-34BE-F0CB-84ECBC580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6532-182B-9382-AC23-982D46104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21" y="205979"/>
            <a:ext cx="8765627" cy="85725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800" dirty="0"/>
              <a:t>What do you expect: </a:t>
            </a:r>
            <a:r>
              <a:rPr lang="en-US" sz="2800" dirty="0"/>
              <a:t>Expectation and Marginal Distribution</a:t>
            </a:r>
            <a:endParaRPr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8CC8AD-8941-AB7E-4FAA-D120FD276B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We can write the log marginal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as an expectation with respect to a </a:t>
                </a:r>
                <a:r>
                  <a:rPr lang="en-US" b="1" dirty="0" err="1"/>
                  <a:t>parmeterized</a:t>
                </a:r>
                <a:r>
                  <a:rPr lang="en-US" b="1" dirty="0"/>
                  <a:t>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Move the log inside the expectation and apply </a:t>
                </a:r>
                <a:r>
                  <a:rPr lang="en-US" b="1" dirty="0">
                    <a:hlinkClick r:id="rId2"/>
                  </a:rPr>
                  <a:t>Jensen’s inequality </a:t>
                </a:r>
                <a:r>
                  <a:rPr lang="en-US" dirty="0"/>
                  <a:t>to find the </a:t>
                </a:r>
                <a:r>
                  <a:rPr lang="en-US" b="1" dirty="0"/>
                  <a:t>ELBO, evidence lower bound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𝐸𝐿𝐵𝑂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key relationship for </a:t>
                </a:r>
                <a:r>
                  <a:rPr lang="en-US" b="1" dirty="0"/>
                  <a:t>variational Bayes </a:t>
                </a:r>
                <a:r>
                  <a:rPr lang="en-US" dirty="0"/>
                  <a:t>models!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8CC8AD-8941-AB7E-4FAA-D120FD276B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3"/>
                <a:stretch>
                  <a:fillRect l="-1111" t="-2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9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0C48C-FE8D-5E59-FF25-E957C7783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9CE30-4A82-F1F9-7C5F-ADED37513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70324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3311906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9"/>
                <a:ext cx="8229600" cy="3720974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Conditional probability</a:t>
                </a:r>
              </a:p>
              <a:p>
                <a:r>
                  <a:rPr lang="en-US" dirty="0"/>
                  <a:t>One random variable depends on another</a:t>
                </a:r>
              </a:p>
              <a:p>
                <a:pPr lvl="1">
                  <a:buAutoNum type="arabicPeriod"/>
                </a:pPr>
                <a:r>
                  <a:rPr lang="en-US" b="1" dirty="0"/>
                  <a:t>Intersection: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ar-AE" b="1" dirty="0"/>
              </a:p>
              <a:p>
                <a:pPr lvl="1">
                  <a:buAutoNum type="arabicPeriod"/>
                </a:pPr>
                <a:r>
                  <a:rPr lang="en-US" b="1" dirty="0"/>
                  <a:t>Union: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Conditional dependence is not commutable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⇎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Mutually exclusivity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∅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Independence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9"/>
                <a:ext cx="8229600" cy="3720974"/>
              </a:xfrm>
              <a:blipFill>
                <a:blip r:embed="rId2"/>
                <a:stretch>
                  <a:fillRect l="-963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en-US" dirty="0"/>
                  <a:t>Bayes’ theorem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r>
                        <a:rPr lang="ar-AE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dirty="0"/>
                  <a:t>Marginal distribution</a:t>
                </a:r>
                <a:r>
                  <a:rPr lang="en-US" dirty="0"/>
                  <a:t> of continuous distribution</a:t>
                </a: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ar-AE" sz="240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r>
                  <a:rPr lang="en-US" dirty="0"/>
                  <a:t>Marginal distribution of discrete distribution </a:t>
                </a:r>
                <a:endParaRPr lang="ar-AE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 t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3317</TotalTime>
  <Words>3560</Words>
  <Application>Microsoft Office PowerPoint</Application>
  <PresentationFormat>On-screen Show (16:9)</PresentationFormat>
  <Paragraphs>376</Paragraphs>
  <Slides>56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Cambria Math</vt:lpstr>
      <vt:lpstr>Courier</vt:lpstr>
      <vt:lpstr>Office Theme</vt:lpstr>
      <vt:lpstr>When One Thing Depends on Another; Conditional Probability</vt:lpstr>
      <vt:lpstr>Introduction</vt:lpstr>
      <vt:lpstr>Properties of Conditional Probability</vt:lpstr>
      <vt:lpstr>Properties of Conditional Probability</vt:lpstr>
      <vt:lpstr>Properties of Conditional Probability</vt:lpstr>
      <vt:lpstr>Set Operations and Probability</vt:lpstr>
      <vt:lpstr>Set Operations and Probability</vt:lpstr>
      <vt:lpstr>PowerPoint Presentation</vt:lpstr>
      <vt:lpstr>Independence and Mutual Exclusivity</vt:lpstr>
      <vt:lpstr>Independence</vt:lpstr>
      <vt:lpstr>Mutual Exclusivity</vt:lpstr>
      <vt:lpstr>PowerPoint Presentation</vt:lpstr>
      <vt:lpstr>Conditional Probability Example</vt:lpstr>
      <vt:lpstr>Conditional Probability Example</vt:lpstr>
      <vt:lpstr>Conditional Probability Example</vt:lpstr>
      <vt:lpstr>Conditional Probability Example</vt:lpstr>
      <vt:lpstr>Conditional Probability Example</vt:lpstr>
      <vt:lpstr>Conditional Probability Example</vt:lpstr>
      <vt:lpstr>PowerPoint Presentation</vt:lpstr>
      <vt:lpstr>Likelihood and Density Functions</vt:lpstr>
      <vt:lpstr>Likelihood</vt:lpstr>
      <vt:lpstr>Likelihood</vt:lpstr>
      <vt:lpstr>Normal Likelihood</vt:lpstr>
      <vt:lpstr>Normal Likelihood</vt:lpstr>
      <vt:lpstr>Normal Likelihood</vt:lpstr>
      <vt:lpstr>Binomial Likelihood</vt:lpstr>
      <vt:lpstr>Binomial Likelihood</vt:lpstr>
      <vt:lpstr>PowerPoint Presentation</vt:lpstr>
      <vt:lpstr>Conditional Distributions and Bayes’ Theorem</vt:lpstr>
      <vt:lpstr>Interpreting Bayes Theorem</vt:lpstr>
      <vt:lpstr>Interpreting Bayes Theorem</vt:lpstr>
      <vt:lpstr>Interpreting Bayes Theorem</vt:lpstr>
      <vt:lpstr>PowerPoint Presentation</vt:lpstr>
      <vt:lpstr>Bayes Theorem Example</vt:lpstr>
      <vt:lpstr>Bayes Theorem Example</vt:lpstr>
      <vt:lpstr>Bayes Theorem Example</vt:lpstr>
      <vt:lpstr>Bayes Theorem Example</vt:lpstr>
      <vt:lpstr>PowerPoint Presentation</vt:lpstr>
      <vt:lpstr>Marginal Distributions</vt:lpstr>
      <vt:lpstr>Marginal Distributions</vt:lpstr>
      <vt:lpstr>Marginal Distributions</vt:lpstr>
      <vt:lpstr>Marginal Distributions</vt:lpstr>
      <vt:lpstr>Example: Marginal Distribution</vt:lpstr>
      <vt:lpstr>Example: Marginal Distribution</vt:lpstr>
      <vt:lpstr>Example: Marginal Distribution</vt:lpstr>
      <vt:lpstr>PowerPoint Presentation</vt:lpstr>
      <vt:lpstr>What do you expect: continuous distributions</vt:lpstr>
      <vt:lpstr>What do you expect: continuous distributions</vt:lpstr>
      <vt:lpstr>What do you expect: discrete distributions</vt:lpstr>
      <vt:lpstr>What do you expect: discrete distributions</vt:lpstr>
      <vt:lpstr>What do you expect: Expectation and Marginal Distribution</vt:lpstr>
      <vt:lpstr>What do you expect: Expectation and Marginal Distribution</vt:lpstr>
      <vt:lpstr>What do you expect: Expectation and Marginal Distribution</vt:lpstr>
      <vt:lpstr>PowerPoint Presentation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One Thing Depends on Another; Conditional Probability</dc:title>
  <dc:creator>Steve Elston</dc:creator>
  <cp:keywords/>
  <cp:lastModifiedBy>Stephen Elston</cp:lastModifiedBy>
  <cp:revision>148</cp:revision>
  <dcterms:created xsi:type="dcterms:W3CDTF">2024-08-06T02:41:33Z</dcterms:created>
  <dcterms:modified xsi:type="dcterms:W3CDTF">2026-03-04T23:52:46Z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09/18/2023</vt:lpwstr>
  </property>
  <property fmtid="{D5CDD505-2E9C-101B-9397-08002B2CF9AE}" pid="3" name="output">
    <vt:lpwstr/>
  </property>
</Properties>
</file>