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</p:sldMasterIdLst>
  <p:notesMasterIdLst>
    <p:notesMasterId r:id="rId64"/>
  </p:notesMasterIdLst>
  <p:handoutMasterIdLst>
    <p:handoutMasterId r:id="rId65"/>
  </p:handoutMasterIdLst>
  <p:sldIdLst>
    <p:sldId id="391" r:id="rId6"/>
    <p:sldId id="363" r:id="rId7"/>
    <p:sldId id="481" r:id="rId8"/>
    <p:sldId id="366" r:id="rId9"/>
    <p:sldId id="367" r:id="rId10"/>
    <p:sldId id="443" r:id="rId11"/>
    <p:sldId id="526" r:id="rId12"/>
    <p:sldId id="451" r:id="rId13"/>
    <p:sldId id="452" r:id="rId14"/>
    <p:sldId id="454" r:id="rId15"/>
    <p:sldId id="453" r:id="rId16"/>
    <p:sldId id="482" r:id="rId17"/>
    <p:sldId id="368" r:id="rId18"/>
    <p:sldId id="369" r:id="rId19"/>
    <p:sldId id="370" r:id="rId20"/>
    <p:sldId id="371" r:id="rId21"/>
    <p:sldId id="527" r:id="rId22"/>
    <p:sldId id="372" r:id="rId23"/>
    <p:sldId id="528" r:id="rId24"/>
    <p:sldId id="529" r:id="rId25"/>
    <p:sldId id="530" r:id="rId26"/>
    <p:sldId id="531" r:id="rId27"/>
    <p:sldId id="373" r:id="rId28"/>
    <p:sldId id="374" r:id="rId29"/>
    <p:sldId id="375" r:id="rId30"/>
    <p:sldId id="376" r:id="rId31"/>
    <p:sldId id="377" r:id="rId32"/>
    <p:sldId id="378" r:id="rId33"/>
    <p:sldId id="379" r:id="rId34"/>
    <p:sldId id="380" r:id="rId35"/>
    <p:sldId id="381" r:id="rId36"/>
    <p:sldId id="510" r:id="rId37"/>
    <p:sldId id="511" r:id="rId38"/>
    <p:sldId id="512" r:id="rId39"/>
    <p:sldId id="513" r:id="rId40"/>
    <p:sldId id="514" r:id="rId41"/>
    <p:sldId id="515" r:id="rId42"/>
    <p:sldId id="516" r:id="rId43"/>
    <p:sldId id="517" r:id="rId44"/>
    <p:sldId id="518" r:id="rId45"/>
    <p:sldId id="519" r:id="rId46"/>
    <p:sldId id="520" r:id="rId47"/>
    <p:sldId id="521" r:id="rId48"/>
    <p:sldId id="480" r:id="rId49"/>
    <p:sldId id="329" r:id="rId50"/>
    <p:sldId id="343" r:id="rId51"/>
    <p:sldId id="344" r:id="rId52"/>
    <p:sldId id="346" r:id="rId53"/>
    <p:sldId id="347" r:id="rId54"/>
    <p:sldId id="348" r:id="rId55"/>
    <p:sldId id="349" r:id="rId56"/>
    <p:sldId id="392" r:id="rId57"/>
    <p:sldId id="393" r:id="rId58"/>
    <p:sldId id="394" r:id="rId59"/>
    <p:sldId id="395" r:id="rId60"/>
    <p:sldId id="396" r:id="rId61"/>
    <p:sldId id="397" r:id="rId62"/>
    <p:sldId id="398" r:id="rId63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50"/>
    <a:srgbClr val="007233"/>
    <a:srgbClr val="86C400"/>
    <a:srgbClr val="82BF36"/>
    <a:srgbClr val="7FBA00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 autoAdjust="0"/>
    <p:restoredTop sz="94944" autoAdjust="0"/>
  </p:normalViewPr>
  <p:slideViewPr>
    <p:cSldViewPr snapToGrid="0">
      <p:cViewPr varScale="1">
        <p:scale>
          <a:sx n="73" d="100"/>
          <a:sy n="73" d="100"/>
        </p:scale>
        <p:origin x="31" y="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2796" y="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12E7B4A-039C-48A2-9B2C-AF16AA3873D8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F5FCDD8-505C-48BF-B1E5-CD9B258934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9227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A005A0C-54D9-45AA-87D4-C551D08DFCE1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CFD207A-07DF-40AD-A916-9872E089CE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71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GB" dirty="0">
              <a:solidFill>
                <a:schemeClr val="tx2"/>
              </a:solidFill>
              <a:latin typeface="Segoe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037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endParaRPr lang="en-GB" dirty="0">
              <a:solidFill>
                <a:schemeClr val="tx2"/>
              </a:solidFill>
              <a:latin typeface="Segoe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0F35F-DD44-4607-AEC1-49D7A4BC406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75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791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066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884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2059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2017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810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3740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129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402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9267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4418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4114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40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7745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193273" y="5132441"/>
            <a:ext cx="8409867" cy="1460779"/>
          </a:xfrm>
          <a:prstGeom prst="rect">
            <a:avLst/>
          </a:prstGeom>
        </p:spPr>
        <p:txBody>
          <a:bodyPr lIns="137160" tIns="137160" rIns="137160" bIns="137160" anchor="b" anchorCtr="0">
            <a:normAutofit/>
          </a:bodyPr>
          <a:lstStyle>
            <a:lvl1pPr marL="0" indent="0" algn="l" defTabSz="914052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Arial" pitchFamily="34" charset="0"/>
              <a:buNone/>
              <a:defRPr lang="en-US" sz="2400" b="0" kern="0" spc="0" baseline="0" dirty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51761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62940-C286-42C1-9010-1A658D157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FF8782-4683-4B9D-8881-A996710D88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84089-8433-45A4-95CA-B1B454157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5E44-FE1D-42BD-8BEC-66E1A7095121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9F063-8808-4E6D-B458-8E13FC562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BDFCD-9E64-42AA-BC33-A02ED6934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A0C-A532-4032-9947-23BEFFA2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565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809C4-331A-4F8E-9C63-303C31453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9F34A-2443-468B-9DEC-057918C7E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5C0A4-0B19-4954-BD29-F08BE6119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5E44-FE1D-42BD-8BEC-66E1A7095121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EFD81-5068-48B4-9648-85B0D12C1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B328E-80D6-472E-8A1E-831F39043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A0C-A532-4032-9947-23BEFFA2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702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480E2-9234-4188-8816-EACEC6916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A4C78-7C62-4472-A49B-ABDD52A99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3B61A-B612-41BA-8B68-6800728FE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5E44-FE1D-42BD-8BEC-66E1A7095121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8830D-FE6F-447E-93E1-DE4EB1A8C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B7A6B-EC4D-4149-A9F8-89583742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A0C-A532-4032-9947-23BEFFA2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18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A7F82-A46A-40DC-8A7F-3628C8AFE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16B2C-AC1F-4F94-8635-5B5AE8B7F8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6B9CB3-DD43-404A-8EC3-A66681BAF7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ABB4A-28C2-479E-900D-4192EE9DF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5E44-FE1D-42BD-8BEC-66E1A7095121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D6A09-75F4-4526-859A-A29035717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B4D064-C25A-4932-907B-686C3859E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A0C-A532-4032-9947-23BEFFA2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721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5183E-9FC4-4428-AB2E-4F644809C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219C6-EC01-41A6-94DD-327FCC904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5DAFF-4CAE-4C24-95F5-30AA60C5A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81E108-BF48-4DE6-80C1-BC1B6D9B76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05F2E3-F653-4AD8-A722-7118506E94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993AB9-18CF-412E-9678-7587B3260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5E44-FE1D-42BD-8BEC-66E1A7095121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07A225-C4C6-44A7-83BB-A21DC549E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EBA5BA-E66A-4A42-8125-C7DC51F97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A0C-A532-4032-9947-23BEFFA2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36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56E26-53B1-4FE0-ABBA-11E686BA3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6931B7-899E-4140-87AC-B2122CB10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5E44-FE1D-42BD-8BEC-66E1A7095121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E431E3-40EF-4F54-98E1-9E480C7FE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4319B9-169B-43A4-AE80-AB37BA3D7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A0C-A532-4032-9947-23BEFFA2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442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3876BF-0B9C-410F-8893-DD9E11DDC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5E44-FE1D-42BD-8BEC-66E1A7095121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5A06A4-B178-4424-9C5F-67F147356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55DA6-67A6-4B9E-A3E4-42AFA4A4B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A0C-A532-4032-9947-23BEFFA2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459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CEF1E-7615-42AD-805D-A2FD24708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321E6-C526-49E7-B02E-08EA923D0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977B9-143B-41FB-B988-793F2AD68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7230FB-14D9-4D8A-BBEC-A7782D52C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5E44-FE1D-42BD-8BEC-66E1A7095121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61659-843A-4959-96BA-8849D497C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24B95-331A-4505-8464-6C6C6CFDF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A0C-A532-4032-9947-23BEFFA2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368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FB093-7F4C-4930-BC54-F12270701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267225-0793-40F8-89CB-5F1EC1AB3F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46DB63-CB17-4E21-9AE8-CCE1E98052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8745AD-8D6F-4481-BD90-493E3CBF2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5E44-FE1D-42BD-8BEC-66E1A7095121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A1747A-ED49-481E-9A48-FC59ED9F5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D0CA3-0584-4F67-89A5-3F62C28B4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A0C-A532-4032-9947-23BEFFA2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3067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0BB0A-C1BF-45C5-8108-46542AFE0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21A5A9-7FA5-43CB-9ED4-241FEBBF0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60C29-8E1C-41B1-B4E8-FCEB7A9AD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5E44-FE1D-42BD-8BEC-66E1A7095121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58C8B-B2B2-432A-86CA-6376158D3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811AE-A55A-437F-860D-8326A0BC9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A0C-A532-4032-9947-23BEFFA2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707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B18A12-841B-4AF8-8EC5-CB048068D4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896B34-27D2-4043-9D83-17FDA4475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9E835-CDFD-49BD-806F-3E1A8F4FF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85E44-FE1D-42BD-8BEC-66E1A7095121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C70A1-95EE-415E-863A-EA224FE5D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44889-227C-49F0-8C46-A6BF65C84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7BA0C-A532-4032-9947-23BEFFA2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32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79514" y="182215"/>
            <a:ext cx="11524432" cy="1063487"/>
          </a:xfrm>
          <a:prstGeom prst="rect">
            <a:avLst/>
          </a:prstGeom>
        </p:spPr>
        <p:txBody>
          <a:bodyPr vert="horz" lIns="91409" tIns="45705" rIns="91409" bIns="45705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8783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84" r:id="rId2"/>
  </p:sldLayoutIdLst>
  <p:txStyles>
    <p:titleStyle>
      <a:lvl1pPr algn="l" defTabSz="914088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1pPr>
    </p:titleStyle>
    <p:bodyStyle>
      <a:lvl1pPr marL="342783" indent="-342783" algn="l" defTabSz="914088" rtl="0" eaLnBrk="1" latinLnBrk="0" hangingPunct="1">
        <a:spcBef>
          <a:spcPts val="1200"/>
        </a:spcBef>
        <a:buFont typeface="Arial" pitchFamily="34" charset="0"/>
        <a:buChar char="•"/>
        <a:defRPr sz="3200" b="1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1pPr>
      <a:lvl2pPr marL="742698" indent="-285652" algn="l" defTabSz="914088" rtl="0" eaLnBrk="1" latinLnBrk="0" hangingPunct="1">
        <a:spcBef>
          <a:spcPts val="300"/>
        </a:spcBef>
        <a:spcAft>
          <a:spcPts val="300"/>
        </a:spcAft>
        <a:buFont typeface="Arial" pitchFamily="34" charset="0"/>
        <a:buChar char="–"/>
        <a:defRPr sz="28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2pPr>
      <a:lvl3pPr marL="1142612" indent="-228522" algn="l" defTabSz="914088" rtl="0" eaLnBrk="1" latinLnBrk="0" hangingPunct="1">
        <a:spcBef>
          <a:spcPts val="200"/>
        </a:spcBef>
        <a:spcAft>
          <a:spcPts val="200"/>
        </a:spcAft>
        <a:buFont typeface="Arial" pitchFamily="34" charset="0"/>
        <a:buChar char="•"/>
        <a:defRPr sz="24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3pPr>
      <a:lvl4pPr marL="1599657" indent="-228522" algn="l" defTabSz="914088" rtl="0" eaLnBrk="1" latinLnBrk="0" hangingPunct="1">
        <a:spcBef>
          <a:spcPct val="20000"/>
        </a:spcBef>
        <a:buFont typeface="Arial" pitchFamily="34" charset="0"/>
        <a:buChar char="–"/>
        <a:defRPr sz="20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4pPr>
      <a:lvl5pPr marL="2056700" indent="-228522" algn="l" defTabSz="914088" rtl="0" eaLnBrk="1" latinLnBrk="0" hangingPunct="1">
        <a:spcBef>
          <a:spcPct val="20000"/>
        </a:spcBef>
        <a:buFont typeface="Arial" pitchFamily="34" charset="0"/>
        <a:buChar char="»"/>
        <a:defRPr sz="2000" kern="0" baseline="0">
          <a:solidFill>
            <a:schemeClr val="tx1"/>
          </a:solidFill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</a:defRPr>
      </a:lvl5pPr>
      <a:lvl6pPr marL="2513745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89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33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78" indent="-228522" algn="l" defTabSz="91408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44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33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7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22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67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11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58" algn="l" defTabSz="9140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072130-6BA1-4D9E-B6B5-EE0FF1239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A18A96-4198-45A7-AA43-CCD2BADCE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469E1-B400-40D2-A33F-F19C852204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85E44-FE1D-42BD-8BEC-66E1A7095121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07CD1-B0F8-4DF5-A0FF-8E28DF5312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CA3E6-D767-4BAD-AA88-8F2BD19E0A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7BA0C-A532-4032-9947-23BEFFA2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394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hyperlink" Target="https://en.wikipedia.org/wiki/Jacobian_matrix_and_determinant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0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keras.io/api/layers/initializers/" TargetMode="Externa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hyperlink" Target="https://en.wikipedia.org/wiki/Determinant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hyperlink" Target="https://en.wikipedia.org/wiki/Eigendecomposition_of_a_matrix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hyperlink" Target="https://en.wikipedia.org/wiki/Determinant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hyperlink" Target="https://en.wikipedia.org/wiki/Eigendecomposition_of_a_matrix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8955" y="273713"/>
            <a:ext cx="9601200" cy="2387600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CSCI E-25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Computer 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968" y="4031808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093" y="4750441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169F207C-EF37-41D2-8510-622FD323B072}"/>
              </a:ext>
            </a:extLst>
          </p:cNvPr>
          <p:cNvSpPr txBox="1">
            <a:spLocks/>
          </p:cNvSpPr>
          <p:nvPr/>
        </p:nvSpPr>
        <p:spPr>
          <a:xfrm>
            <a:off x="1382693" y="6306671"/>
            <a:ext cx="9144000" cy="494102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2021, 2022, 2023, 2024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2025, 2026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Stephen F Elston. All rights reserved.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C37018-A4F9-4B1C-806D-0E7F64A950E8}"/>
              </a:ext>
            </a:extLst>
          </p:cNvPr>
          <p:cNvSpPr txBox="1"/>
          <p:nvPr/>
        </p:nvSpPr>
        <p:spPr>
          <a:xfrm>
            <a:off x="660977" y="2672968"/>
            <a:ext cx="11036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Optimization</a:t>
            </a:r>
            <a:r>
              <a:rPr lang="en-US" sz="4000" dirty="0">
                <a:solidFill>
                  <a:prstClr val="black"/>
                </a:solidFill>
                <a:latin typeface="Calibri" panose="020F0502020204030204"/>
              </a:rPr>
              <a:t> for Machine Learning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1068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390025" y="1049383"/>
            <a:ext cx="11525250" cy="55914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Key points for this lesson</a:t>
            </a:r>
          </a:p>
          <a:p>
            <a:r>
              <a:rPr lang="en-GB" sz="2800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Many ML algorithms learn weights or parameters using optimizations</a:t>
            </a:r>
          </a:p>
          <a:p>
            <a:r>
              <a:rPr lang="en-GB" sz="2800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With millions of weights, we need highly efficient and reliable algorithms for gradient descent</a:t>
            </a:r>
          </a:p>
          <a:p>
            <a:r>
              <a:rPr lang="en-GB" sz="2800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Properties of gradient descent algorithms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Convergence problems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Batch gradient descent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Stochastic gradient descent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>
                <a:latin typeface="+mj-lt"/>
                <a:ea typeface="Segoe UI" panose="020B0502040204020203" pitchFamily="34" charset="0"/>
                <a:cs typeface="Segoe UI" panose="020B0502040204020203" pitchFamily="34" charset="0"/>
              </a:rPr>
              <a:t>Adaptive stochastic gradient descent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025" y="331471"/>
            <a:ext cx="11593830" cy="58026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Segoe"/>
              </a:rPr>
              <a:t>Optimization for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075466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Quadratic Optimization and 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3010856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323215" y="1030410"/>
            <a:ext cx="11525250" cy="190478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sz="33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Gradient descent is a widely used optimization method for machine learning </a:t>
            </a:r>
          </a:p>
          <a:p>
            <a:r>
              <a:rPr lang="en-GB" sz="33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Neural networks </a:t>
            </a:r>
            <a:r>
              <a:rPr lang="en-GB" sz="3300" b="1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learn weights </a:t>
            </a:r>
            <a:r>
              <a:rPr lang="en-GB" sz="33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using the backpropagation algorithm</a:t>
            </a:r>
          </a:p>
          <a:p>
            <a:r>
              <a:rPr lang="en-GB" sz="33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Weights are learned using the </a:t>
            </a:r>
            <a:r>
              <a:rPr lang="en-GB" sz="3300" b="1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gradient descent </a:t>
            </a:r>
            <a:r>
              <a:rPr lang="en-GB" sz="3300" dirty="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method</a:t>
            </a:r>
          </a:p>
          <a:p>
            <a:pPr marL="0" indent="0">
              <a:buNone/>
            </a:pPr>
            <a:endParaRPr lang="en-GB" dirty="0"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353" y="212492"/>
            <a:ext cx="11903845" cy="67437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"/>
              </a:rPr>
              <a:t>Optimization for Deep Neural Networks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DEE622-8C35-4DB4-B794-B6E2F7712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267" y="2943075"/>
            <a:ext cx="3998093" cy="536509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1AB5799-6570-4E90-B8AE-204B1A7924BC}"/>
              </a:ext>
            </a:extLst>
          </p:cNvPr>
          <p:cNvSpPr txBox="1">
            <a:spLocks/>
          </p:cNvSpPr>
          <p:nvPr/>
        </p:nvSpPr>
        <p:spPr>
          <a:xfrm>
            <a:off x="666750" y="3506987"/>
            <a:ext cx="11525250" cy="613039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Where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0D0A0E-2CEB-4EFD-84EF-EC6F562A2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8771" y="4044304"/>
            <a:ext cx="9540687" cy="5352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CAF85C-9EFC-4742-8876-560204CB6D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0033" y="5784956"/>
            <a:ext cx="5161727" cy="4359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DD7EF9-9C34-4A7E-8694-17D5DF44AA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0033" y="4554892"/>
            <a:ext cx="6213287" cy="5117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08976E-3C91-4554-A528-1AE95B1198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3967" y="5151325"/>
            <a:ext cx="9280993" cy="54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898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791F-1349-402E-BD8E-854A4676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77219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Local Convergence of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C7F73-8148-4FB5-B202-D57F58BF6F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2400" y="1014120"/>
            <a:ext cx="11525250" cy="77219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Ideally, the loss function, J(W), is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convex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with respect to the weights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702B459-14B8-4D94-9214-2AAEF2A7FA80}"/>
              </a:ext>
            </a:extLst>
          </p:cNvPr>
          <p:cNvSpPr/>
          <p:nvPr/>
        </p:nvSpPr>
        <p:spPr>
          <a:xfrm>
            <a:off x="3670299" y="1966913"/>
            <a:ext cx="5386388" cy="2924170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525096C-052B-4E78-9F1F-315853EC8BD0}"/>
              </a:ext>
            </a:extLst>
          </p:cNvPr>
          <p:cNvSpPr/>
          <p:nvPr/>
        </p:nvSpPr>
        <p:spPr>
          <a:xfrm>
            <a:off x="5193213" y="2981570"/>
            <a:ext cx="1885950" cy="76675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8DE6EA8-00F3-493C-89C3-C6ACBA14FAAE}"/>
              </a:ext>
            </a:extLst>
          </p:cNvPr>
          <p:cNvSpPr/>
          <p:nvPr/>
        </p:nvSpPr>
        <p:spPr>
          <a:xfrm>
            <a:off x="4628650" y="2633664"/>
            <a:ext cx="3224212" cy="1466839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35DAEE0-DA1B-44BB-8859-8D524D4E580A}"/>
              </a:ext>
            </a:extLst>
          </p:cNvPr>
          <p:cNvSpPr/>
          <p:nvPr/>
        </p:nvSpPr>
        <p:spPr>
          <a:xfrm>
            <a:off x="4135592" y="2319339"/>
            <a:ext cx="4252912" cy="2219319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80B1703-7A3C-4161-9EF3-BF994E9D632D}"/>
              </a:ext>
            </a:extLst>
          </p:cNvPr>
          <p:cNvSpPr/>
          <p:nvPr/>
        </p:nvSpPr>
        <p:spPr>
          <a:xfrm>
            <a:off x="3276099" y="1662117"/>
            <a:ext cx="6174789" cy="3533765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7E1532C4-1CE1-419D-890E-8DB69ABEB34A}"/>
              </a:ext>
            </a:extLst>
          </p:cNvPr>
          <p:cNvSpPr/>
          <p:nvPr/>
        </p:nvSpPr>
        <p:spPr>
          <a:xfrm>
            <a:off x="5952625" y="3153179"/>
            <a:ext cx="304800" cy="290513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29DBCA7-E539-4023-B682-091BE9398AF3}"/>
              </a:ext>
            </a:extLst>
          </p:cNvPr>
          <p:cNvSpPr/>
          <p:nvPr/>
        </p:nvSpPr>
        <p:spPr>
          <a:xfrm>
            <a:off x="4419192" y="4124905"/>
            <a:ext cx="228600" cy="25599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A4605B-A78C-4C14-9B1A-B2AFB2EC3D36}"/>
              </a:ext>
            </a:extLst>
          </p:cNvPr>
          <p:cNvSpPr txBox="1"/>
          <p:nvPr/>
        </p:nvSpPr>
        <p:spPr>
          <a:xfrm>
            <a:off x="5776320" y="3378996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Min</a:t>
            </a:r>
            <a:r>
              <a:rPr lang="en-US" b="1" baseline="-25000" dirty="0" err="1"/>
              <a:t>W</a:t>
            </a:r>
            <a:r>
              <a:rPr lang="en-US" b="1" baseline="-25000" dirty="0"/>
              <a:t> </a:t>
            </a:r>
            <a:r>
              <a:rPr lang="en-US" b="1" dirty="0"/>
              <a:t>(J(W)</a:t>
            </a:r>
            <a:r>
              <a:rPr lang="en-US" b="1" baseline="-25000" dirty="0"/>
              <a:t>MLE</a:t>
            </a:r>
            <a:r>
              <a:rPr lang="en-US" b="1" dirty="0"/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3CDE45-59F1-43D6-AB3C-25F693201FE3}"/>
              </a:ext>
            </a:extLst>
          </p:cNvPr>
          <p:cNvSpPr txBox="1"/>
          <p:nvPr/>
        </p:nvSpPr>
        <p:spPr>
          <a:xfrm>
            <a:off x="4690470" y="4106339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Initial 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C5277B-E800-4DEE-81BE-DA5FDB9E48DA}"/>
              </a:ext>
            </a:extLst>
          </p:cNvPr>
          <p:cNvSpPr txBox="1"/>
          <p:nvPr/>
        </p:nvSpPr>
        <p:spPr>
          <a:xfrm>
            <a:off x="2067974" y="2253700"/>
            <a:ext cx="1484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Contours of J(W)</a:t>
            </a:r>
            <a:r>
              <a:rPr lang="en-US" b="1" baseline="-25000" dirty="0"/>
              <a:t>MLE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8E04833-58CD-4469-8F76-F336664E4D29}"/>
              </a:ext>
            </a:extLst>
          </p:cNvPr>
          <p:cNvCxnSpPr>
            <a:cxnSpLocks/>
          </p:cNvCxnSpPr>
          <p:nvPr/>
        </p:nvCxnSpPr>
        <p:spPr>
          <a:xfrm>
            <a:off x="3056699" y="2671765"/>
            <a:ext cx="505868" cy="69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1DC1A57B-5EA4-4FA2-BA51-80686BB248F6}"/>
              </a:ext>
            </a:extLst>
          </p:cNvPr>
          <p:cNvSpPr txBox="1">
            <a:spLocks/>
          </p:cNvSpPr>
          <p:nvPr/>
        </p:nvSpPr>
        <p:spPr>
          <a:xfrm>
            <a:off x="373563" y="5274866"/>
            <a:ext cx="11525250" cy="842752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Convex loss function has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one unique minimum</a:t>
            </a:r>
          </a:p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Convergence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for convex loss function is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guaranteed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CE622A4-397D-4B4C-BDD1-D44BCFABE263}"/>
              </a:ext>
            </a:extLst>
          </p:cNvPr>
          <p:cNvSpPr/>
          <p:nvPr/>
        </p:nvSpPr>
        <p:spPr>
          <a:xfrm>
            <a:off x="4535837" y="3308865"/>
            <a:ext cx="1431010" cy="953169"/>
          </a:xfrm>
          <a:custGeom>
            <a:avLst/>
            <a:gdLst>
              <a:gd name="connsiteX0" fmla="*/ 0 w 1431010"/>
              <a:gd name="connsiteY0" fmla="*/ 953169 h 953169"/>
              <a:gd name="connsiteX1" fmla="*/ 103322 w 1431010"/>
              <a:gd name="connsiteY1" fmla="*/ 818850 h 953169"/>
              <a:gd name="connsiteX2" fmla="*/ 268638 w 1431010"/>
              <a:gd name="connsiteY2" fmla="*/ 663867 h 953169"/>
              <a:gd name="connsiteX3" fmla="*/ 444285 w 1431010"/>
              <a:gd name="connsiteY3" fmla="*/ 503718 h 953169"/>
              <a:gd name="connsiteX4" fmla="*/ 759417 w 1431010"/>
              <a:gd name="connsiteY4" fmla="*/ 240247 h 953169"/>
              <a:gd name="connsiteX5" fmla="*/ 971227 w 1431010"/>
              <a:gd name="connsiteY5" fmla="*/ 95596 h 953169"/>
              <a:gd name="connsiteX6" fmla="*/ 1260529 w 1431010"/>
              <a:gd name="connsiteY6" fmla="*/ 7772 h 953169"/>
              <a:gd name="connsiteX7" fmla="*/ 1431010 w 1431010"/>
              <a:gd name="connsiteY7" fmla="*/ 2606 h 953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31010" h="953169">
                <a:moveTo>
                  <a:pt x="0" y="953169"/>
                </a:moveTo>
                <a:cubicBezTo>
                  <a:pt x="29274" y="910118"/>
                  <a:pt x="58549" y="867067"/>
                  <a:pt x="103322" y="818850"/>
                </a:cubicBezTo>
                <a:cubicBezTo>
                  <a:pt x="148095" y="770633"/>
                  <a:pt x="211811" y="716389"/>
                  <a:pt x="268638" y="663867"/>
                </a:cubicBezTo>
                <a:cubicBezTo>
                  <a:pt x="325465" y="611345"/>
                  <a:pt x="362489" y="574321"/>
                  <a:pt x="444285" y="503718"/>
                </a:cubicBezTo>
                <a:cubicBezTo>
                  <a:pt x="526081" y="433115"/>
                  <a:pt x="671593" y="308267"/>
                  <a:pt x="759417" y="240247"/>
                </a:cubicBezTo>
                <a:cubicBezTo>
                  <a:pt x="847241" y="172227"/>
                  <a:pt x="887708" y="134342"/>
                  <a:pt x="971227" y="95596"/>
                </a:cubicBezTo>
                <a:cubicBezTo>
                  <a:pt x="1054746" y="56850"/>
                  <a:pt x="1183899" y="23270"/>
                  <a:pt x="1260529" y="7772"/>
                </a:cubicBezTo>
                <a:cubicBezTo>
                  <a:pt x="1337159" y="-7726"/>
                  <a:pt x="1388820" y="5189"/>
                  <a:pt x="1431010" y="2606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571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/>
      <p:bldP spid="18" grpId="0"/>
      <p:bldP spid="22" grpId="0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1120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Computing gradients and the chain rule</a:t>
            </a:r>
          </a:p>
        </p:txBody>
      </p:sp>
    </p:spTree>
    <p:extLst>
      <p:ext uri="{BB962C8B-B14F-4D97-AF65-F5344CB8AC3E}">
        <p14:creationId xmlns:p14="http://schemas.microsoft.com/office/powerpoint/2010/main" val="3134791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C34C0-D26C-48A0-B069-C60C2F124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The Chain Rule of Calculus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BD29B-609A-4B70-910B-C0EF8A6121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1245702"/>
            <a:ext cx="11525250" cy="1146174"/>
          </a:xfrm>
        </p:spPr>
        <p:txBody>
          <a:bodyPr/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In order to compute the gradients of the loss function though the layers of a deep neural network we need to apply 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chain rule of calculus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To consider a function </a:t>
            </a:r>
            <a:r>
              <a:rPr lang="pl-PL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z = f(</a:t>
            </a:r>
            <a:r>
              <a:rPr lang="pl-PL" sz="2800" b="1" i="1" dirty="0">
                <a:latin typeface="Segoe UI" panose="020B0502040204020203" pitchFamily="34" charset="0"/>
                <a:cs typeface="Segoe UI" panose="020B0502040204020203" pitchFamily="34" charset="0"/>
              </a:rPr>
              <a:t>y</a:t>
            </a:r>
            <a:r>
              <a:rPr lang="pl-PL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where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y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= g(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x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); then </a:t>
            </a:r>
            <a:r>
              <a:rPr lang="pl-PL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z = f(g(</a:t>
            </a:r>
            <a:r>
              <a:rPr lang="pl-PL" sz="2800" b="1" i="1" dirty="0">
                <a:latin typeface="Segoe UI" panose="020B0502040204020203" pitchFamily="34" charset="0"/>
                <a:cs typeface="Segoe UI" panose="020B0502040204020203" pitchFamily="34" charset="0"/>
              </a:rPr>
              <a:t>x</a:t>
            </a:r>
            <a:r>
              <a:rPr lang="pl-PL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))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. Then the derivative of z with respect to x is: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C97D57-9AD7-42AD-B0CB-B2CF3FC66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911" y="3899691"/>
            <a:ext cx="2044483" cy="92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180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C34C0-D26C-48A0-B069-C60C2F124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The Chain Rule of Calculus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BBD29B-609A-4B70-910B-C0EF8A61217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223665" y="913035"/>
                <a:ext cx="11525250" cy="568119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How to compute the gradient of real-valued loss function, J, given a </a:t>
                </a:r>
                <a:r>
                  <a:rPr lang="en-US" sz="2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M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dimensional weight tensor, W</a:t>
                </a:r>
              </a:p>
              <a:p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In this case we have a vector valued function to differentiate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𝑧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𝒀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,…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𝑀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(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,…,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𝑀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This leads to the general vector valued form of the chain rule: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𝑧</m:t>
                          </m:r>
                        </m:num>
                        <m:den>
                          <m:r>
                            <a:rPr lang="en-US" sz="28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𝑗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∈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𝑀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𝜕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𝑧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BBD29B-609A-4B70-910B-C0EF8A6121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223665" y="913035"/>
                <a:ext cx="11525250" cy="5681195"/>
              </a:xfrm>
              <a:blipFill>
                <a:blip r:embed="rId2"/>
                <a:stretch>
                  <a:fillRect l="-1111" t="-1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6694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C34C0-D26C-48A0-B069-C60C2F124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The Chain Rule of Calculus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BBD29B-609A-4B70-910B-C0EF8A61217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223665" y="913035"/>
                <a:ext cx="11525250" cy="554637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Vector valued form of the chain rule: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𝑧</m:t>
                          </m:r>
                        </m:num>
                        <m:den>
                          <m:r>
                            <a:rPr lang="en-US" sz="28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𝑗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∈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" panose="020B0502040204020203" pitchFamily="34" charset="0"/>
                            </a:rPr>
                            <m:t>𝑀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𝜕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𝑧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𝑁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𝑀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f>
                                  <m:f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  <m:t>𝜕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2800" i="1">
                                                        <a:latin typeface="Cambria Math" panose="02040503050406030204" pitchFamily="18" charset="0"/>
                                                        <a:cs typeface="Segoe UI" panose="020B0502040204020203" pitchFamily="34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800" i="1">
                                                        <a:latin typeface="Cambria Math" panose="02040503050406030204" pitchFamily="18" charset="0"/>
                                                        <a:cs typeface="Segoe UI" panose="020B0502040204020203" pitchFamily="34" charset="0"/>
                                                      </a:rPr>
                                                      <m:t>𝑧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800" b="0" i="1" smtClean="0">
                                                        <a:latin typeface="Cambria Math" panose="02040503050406030204" pitchFamily="18" charset="0"/>
                                                        <a:cs typeface="Segoe UI" panose="020B0502040204020203" pitchFamily="34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</m:num>
                                              <m:den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  <m:t>𝜕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2800" i="1">
                                                        <a:latin typeface="Cambria Math" panose="02040503050406030204" pitchFamily="18" charset="0"/>
                                                        <a:cs typeface="Segoe UI" panose="020B0502040204020203" pitchFamily="34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800" i="1">
                                                        <a:latin typeface="Cambria Math" panose="02040503050406030204" pitchFamily="18" charset="0"/>
                                                        <a:cs typeface="Segoe UI" panose="020B0502040204020203" pitchFamily="34" charset="0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800" b="0" i="1" smtClean="0">
                                                        <a:latin typeface="Cambria Math" panose="02040503050406030204" pitchFamily="18" charset="0"/>
                                                        <a:cs typeface="Segoe UI" panose="020B0502040204020203" pitchFamily="34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</m:den>
                                            </m:f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Segoe UI" panose="020B0502040204020203" pitchFamily="34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Segoe UI" panose="020B0502040204020203" pitchFamily="34" charset="0"/>
                                              </a:rPr>
                                              <m:t>⋯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Segoe UI" panose="020B0502040204020203" pitchFamily="34" charset="0"/>
                                              </a:rPr>
                                              <m:t>⋱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𝑁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𝑀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𝑀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f>
                                  <m:f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𝑀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𝑁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1" smtClean="0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𝑀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BBD29B-609A-4B70-910B-C0EF8A6121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223665" y="913035"/>
                <a:ext cx="11525250" cy="5546379"/>
              </a:xfrm>
              <a:blipFill>
                <a:blip r:embed="rId2"/>
                <a:stretch>
                  <a:fillRect l="-1111" t="-12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9794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C34C0-D26C-48A0-B069-C60C2F124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The Chain Rule of Calculus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BBD29B-609A-4B70-910B-C0EF8A61217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223665" y="913035"/>
                <a:ext cx="11525250" cy="554637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We define the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×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𝑚</m:t>
                    </m:r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US" sz="2800" b="1" dirty="0">
                    <a:latin typeface="Segoe UI" panose="020B0502040204020203" pitchFamily="34" charset="0"/>
                    <a:cs typeface="Segoe UI" panose="020B0502040204020203" pitchFamily="34" charset="0"/>
                    <a:hlinkClick r:id="rId2"/>
                  </a:rPr>
                  <a:t>Jacobian Matrix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𝑱</m:t>
                    </m:r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as: </a:t>
                </a:r>
              </a:p>
              <a:p>
                <a:pPr marL="0" indent="0">
                  <a:buNone/>
                </a:pPr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𝑱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𝑇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f>
                                  <m:f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  <m:t>𝜕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2800" i="1">
                                                        <a:latin typeface="Cambria Math" panose="02040503050406030204" pitchFamily="18" charset="0"/>
                                                        <a:cs typeface="Segoe UI" panose="020B0502040204020203" pitchFamily="34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800" i="1">
                                                        <a:latin typeface="Cambria Math" panose="02040503050406030204" pitchFamily="18" charset="0"/>
                                                        <a:cs typeface="Segoe UI" panose="020B0502040204020203" pitchFamily="34" charset="0"/>
                                                      </a:rPr>
                                                      <m:t>𝑧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800" i="1">
                                                        <a:latin typeface="Cambria Math" panose="02040503050406030204" pitchFamily="18" charset="0"/>
                                                        <a:cs typeface="Segoe UI" panose="020B0502040204020203" pitchFamily="34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</m:num>
                                              <m:den>
                                                <m:r>
                                                  <a:rPr lang="en-US" sz="2800" i="1">
                                                    <a:latin typeface="Cambria Math" panose="02040503050406030204" pitchFamily="18" charset="0"/>
                                                    <a:cs typeface="Segoe UI" panose="020B0502040204020203" pitchFamily="34" charset="0"/>
                                                  </a:rPr>
                                                  <m:t>𝜕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2800" i="1">
                                                        <a:latin typeface="Cambria Math" panose="02040503050406030204" pitchFamily="18" charset="0"/>
                                                        <a:cs typeface="Segoe UI" panose="020B0502040204020203" pitchFamily="34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800" i="1">
                                                        <a:latin typeface="Cambria Math" panose="02040503050406030204" pitchFamily="18" charset="0"/>
                                                        <a:cs typeface="Segoe UI" panose="020B0502040204020203" pitchFamily="34" charset="0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800" i="1">
                                                        <a:latin typeface="Cambria Math" panose="02040503050406030204" pitchFamily="18" charset="0"/>
                                                        <a:cs typeface="Segoe UI" panose="020B0502040204020203" pitchFamily="34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</m:den>
                                            </m:f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Segoe UI" panose="020B0502040204020203" pitchFamily="34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Segoe UI" panose="020B0502040204020203" pitchFamily="34" charset="0"/>
                                              </a:rPr>
                                              <m:t>⋯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Segoe UI" panose="020B0502040204020203" pitchFamily="34" charset="0"/>
                                              </a:rPr>
                                              <m:t>⋱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𝑁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mr>
                                  <m:m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𝑀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𝑀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cs typeface="Segoe UI" panose="020B0502040204020203" pitchFamily="34" charset="0"/>
                                            </a:rPr>
                                            <m:t>𝜕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  <a:cs typeface="Segoe UI" panose="020B0502040204020203" pitchFamily="34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" panose="020B0502040204020203" pitchFamily="34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f>
                                  <m:f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𝑀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cs typeface="Segoe UI" panose="020B0502040204020203" pitchFamily="34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cs typeface="Segoe UI" panose="020B0502040204020203" pitchFamily="34" charset="0"/>
                                          </a:rPr>
                                          <m:t>𝑁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2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BBD29B-609A-4B70-910B-C0EF8A6121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223665" y="913035"/>
                <a:ext cx="11525250" cy="5546379"/>
              </a:xfrm>
              <a:blipFill>
                <a:blip r:embed="rId3"/>
                <a:stretch>
                  <a:fillRect l="-1111" t="-12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2911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C34C0-D26C-48A0-B069-C60C2F124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The Chain Rule of Calculus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BD29B-609A-4B70-910B-C0EF8A6121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76772" y="1182882"/>
            <a:ext cx="11525250" cy="1929595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In matrix notation the vector valued gradient then becomes: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F7FBC3-37DA-4DA4-A116-AB6DFB4F9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197" y="2035958"/>
            <a:ext cx="3210399" cy="1030035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CFC9CCB-79E3-4D42-95DA-BCB36C476C24}"/>
              </a:ext>
            </a:extLst>
          </p:cNvPr>
          <p:cNvSpPr txBox="1">
            <a:spLocks/>
          </p:cNvSpPr>
          <p:nvPr/>
        </p:nvSpPr>
        <p:spPr>
          <a:xfrm>
            <a:off x="453103" y="3323142"/>
            <a:ext cx="11680281" cy="642158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Where,         = is the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nxm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Jacobian matrix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 of partial derivatives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7E58A9-90A7-4590-925E-7F0FA20EE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286" y="3170803"/>
            <a:ext cx="538368" cy="10526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405672-38FE-4522-BA5F-915DAD30A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8957" y="4329305"/>
            <a:ext cx="853394" cy="64215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6467AEC-8167-4A78-B876-5A090B38EFC6}"/>
              </a:ext>
            </a:extLst>
          </p:cNvPr>
          <p:cNvSpPr txBox="1">
            <a:spLocks/>
          </p:cNvSpPr>
          <p:nvPr/>
        </p:nvSpPr>
        <p:spPr>
          <a:xfrm>
            <a:off x="2776381" y="4329305"/>
            <a:ext cx="9357003" cy="642158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=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gradient of z with respect to y</a:t>
            </a:r>
          </a:p>
        </p:txBody>
      </p:sp>
    </p:spTree>
    <p:extLst>
      <p:ext uri="{BB962C8B-B14F-4D97-AF65-F5344CB8AC3E}">
        <p14:creationId xmlns:p14="http://schemas.microsoft.com/office/powerpoint/2010/main" val="3523184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Quadratic Optimization and </a:t>
            </a:r>
            <a:r>
              <a:rPr lang="en-US" sz="4400" b="1"/>
              <a:t>the Hessian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048841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791F-1349-402E-BD8E-854A4676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784" y="202998"/>
            <a:ext cx="11524432" cy="77219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Local Convergence of Gradient Descent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ADB1773-97C0-4D9B-B51C-C848496FF85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2557" y="1043140"/>
            <a:ext cx="11525250" cy="880245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Expand loss function to understand convergence properties of gradient descent: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F1660B-29CE-4C57-9749-F57F7956A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78" y="1923385"/>
            <a:ext cx="11087738" cy="784255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8B2713A-3472-497D-839D-53D0A06D7457}"/>
              </a:ext>
            </a:extLst>
          </p:cNvPr>
          <p:cNvSpPr txBox="1">
            <a:spLocks/>
          </p:cNvSpPr>
          <p:nvPr/>
        </p:nvSpPr>
        <p:spPr>
          <a:xfrm>
            <a:off x="333375" y="2751877"/>
            <a:ext cx="11525250" cy="559359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Where: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83D6D14-6205-4069-9279-9E763C577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0394" y="3395274"/>
            <a:ext cx="5905326" cy="5177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385841B-1FB1-4A89-AA98-BAAEBCA348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0323" y="3934300"/>
            <a:ext cx="3842758" cy="6022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AB93A92-479D-41D8-BD79-5A57892D67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6735" y="4652315"/>
            <a:ext cx="4065905" cy="56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123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791F-1349-402E-BD8E-854A4676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77219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Local Convergence of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C7F73-8148-4FB5-B202-D57F58BF6F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779338"/>
            <a:ext cx="11525250" cy="675862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How can you understand the Hessian matrix?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D69748C-EDED-4AAB-AD86-7D400B7E4749}"/>
              </a:ext>
            </a:extLst>
          </p:cNvPr>
          <p:cNvSpPr txBox="1">
            <a:spLocks/>
          </p:cNvSpPr>
          <p:nvPr/>
        </p:nvSpPr>
        <p:spPr>
          <a:xfrm>
            <a:off x="379514" y="4994156"/>
            <a:ext cx="11525250" cy="675862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Hessian is the matrix of all partial derivatives of the gradient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Properties of the Hessian determine convergence rate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C44212-239D-47F5-AC87-0B41B5A72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738" y="1405891"/>
            <a:ext cx="6773862" cy="343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404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791F-1349-402E-BD8E-854A4676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77219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Local Convergence of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C7F73-8148-4FB5-B202-D57F58BF6F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92735" y="1069533"/>
            <a:ext cx="11525250" cy="603692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How can we solve this convex optimization problem?</a:t>
            </a:r>
          </a:p>
          <a:p>
            <a:pPr marL="0" indent="0"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F15766-B762-4202-BF0A-5C7EA2540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40" y="1673225"/>
            <a:ext cx="11630387" cy="82263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455A808-E10B-4B1E-A54E-3E25D5ACD065}"/>
              </a:ext>
            </a:extLst>
          </p:cNvPr>
          <p:cNvSpPr txBox="1">
            <a:spLocks/>
          </p:cNvSpPr>
          <p:nvPr/>
        </p:nvSpPr>
        <p:spPr>
          <a:xfrm>
            <a:off x="292734" y="2367502"/>
            <a:ext cx="11713153" cy="603692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Given a step size </a:t>
            </a:r>
            <a:r>
              <a:rPr lang="en-US" sz="2800" dirty="0">
                <a:latin typeface="Symbol" panose="05050102010706020507" pitchFamily="18" charset="2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we can rewrite the above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quadradic equation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0" indent="0">
              <a:buFont typeface="Arial" pitchFamily="34" charset="0"/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DDEAD4-CCD5-4CA2-9D50-AEFE2D95B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3719" y="2874902"/>
            <a:ext cx="6639125" cy="879217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A9143E7-C711-4F12-B23A-DE339F8108C7}"/>
              </a:ext>
            </a:extLst>
          </p:cNvPr>
          <p:cNvSpPr txBox="1">
            <a:spLocks/>
          </p:cNvSpPr>
          <p:nvPr/>
        </p:nvSpPr>
        <p:spPr>
          <a:xfrm>
            <a:off x="333375" y="3675602"/>
            <a:ext cx="11525250" cy="603692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minimum occurs where 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gradient is 0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0" indent="0">
              <a:buFont typeface="Arial" pitchFamily="34" charset="0"/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8D41DE-0DA7-41ED-8F3E-976874D12B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6192" y="4289827"/>
            <a:ext cx="3881968" cy="60369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29AF9C4-4E2C-465A-9B56-EFC83E84D33E}"/>
              </a:ext>
            </a:extLst>
          </p:cNvPr>
          <p:cNvSpPr txBox="1">
            <a:spLocks/>
          </p:cNvSpPr>
          <p:nvPr/>
        </p:nvSpPr>
        <p:spPr>
          <a:xfrm>
            <a:off x="379514" y="4893519"/>
            <a:ext cx="11525250" cy="603692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And, with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optimal step size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0" indent="0">
              <a:buFont typeface="Arial" pitchFamily="34" charset="0"/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B063E0-9994-4A53-A92A-603B98FF70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5314" y="5180038"/>
            <a:ext cx="2365692" cy="121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239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791F-1349-402E-BD8E-854A4676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77219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Local Convergence of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C7F73-8148-4FB5-B202-D57F58BF6F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066799"/>
            <a:ext cx="11525250" cy="4944035"/>
          </a:xfrm>
        </p:spPr>
        <p:txBody>
          <a:bodyPr/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Real-world loss functions are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typically not convex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There can be multiple minimums and maximums; a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multi-modal loss function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Finding 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globally optimal solution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is hard!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minimum reached by an optimizer depends on 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starting value of W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In practice, we are happy with a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good local solution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if not, the globally optimal solution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First order optimization found to perform as well, or better, than second order</a:t>
            </a:r>
          </a:p>
          <a:p>
            <a:pPr marL="0" indent="0"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279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1FC8A-F35F-79DD-133D-534A80715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1E02534-23B4-3293-FFDF-5DBA670B27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Properties of Gradients</a:t>
            </a:r>
          </a:p>
        </p:txBody>
      </p:sp>
    </p:spTree>
    <p:extLst>
      <p:ext uri="{BB962C8B-B14F-4D97-AF65-F5344CB8AC3E}">
        <p14:creationId xmlns:p14="http://schemas.microsoft.com/office/powerpoint/2010/main" val="3784898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791F-1349-402E-BD8E-854A4676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77219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The Nature of Gradients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C7F73-8148-4FB5-B202-D57F58BF6F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705042"/>
            <a:ext cx="11525250" cy="6152958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Convergence of quadratic optimization depends on the Hessian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To understand the behavior of the Hessian we need to examine 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eigenvalues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 square matrix can be decomposed into eigenvalues and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eigenvectors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Where Q is the matrix of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unitary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eigenvectors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eigenvalues are a diagonal matrix</a:t>
            </a:r>
          </a:p>
          <a:p>
            <a:pPr marL="0" indent="0"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C28BFD-DAEC-494C-B73F-13BD91B63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3719" y="2827524"/>
            <a:ext cx="2026657" cy="4846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A41832-2712-468F-ADEB-FB7063100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7217" y="4371480"/>
            <a:ext cx="4850823" cy="233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554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FCC2C-B9AD-298C-F81D-C49AEB6F4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1371"/>
          </a:xfrm>
        </p:spPr>
        <p:txBody>
          <a:bodyPr/>
          <a:lstStyle/>
          <a:p>
            <a:r>
              <a:rPr lang="en-US" dirty="0"/>
              <a:t>The Nature of Gradients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9A96C21-2378-98EC-A62D-736802B6B061}"/>
                  </a:ext>
                </a:extLst>
              </p:cNvPr>
              <p:cNvSpPr txBox="1"/>
              <p:nvPr/>
            </p:nvSpPr>
            <p:spPr>
              <a:xfrm>
                <a:off x="604529" y="1207008"/>
                <a:ext cx="11129554" cy="1046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Consider an example of a dataset with two feature vectors,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sz="2800" dirty="0"/>
                  <a:t>, in a 3-d space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9A96C21-2378-98EC-A62D-736802B6B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29" y="1207008"/>
                <a:ext cx="11129554" cy="1046377"/>
              </a:xfrm>
              <a:prstGeom prst="rect">
                <a:avLst/>
              </a:prstGeom>
              <a:blipFill>
                <a:blip r:embed="rId2"/>
                <a:stretch>
                  <a:fillRect l="-1095" b="-12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arallelogram 3">
            <a:extLst>
              <a:ext uri="{FF2B5EF4-FFF2-40B4-BE49-F238E27FC236}">
                <a16:creationId xmlns:a16="http://schemas.microsoft.com/office/drawing/2014/main" id="{C21C93E2-67EA-43A8-92F1-49A1EA382073}"/>
              </a:ext>
            </a:extLst>
          </p:cNvPr>
          <p:cNvSpPr/>
          <p:nvPr/>
        </p:nvSpPr>
        <p:spPr>
          <a:xfrm>
            <a:off x="5327495" y="2477878"/>
            <a:ext cx="6406588" cy="3877519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D9684A5-0A4B-5BDD-85E0-27304B328F8C}"/>
              </a:ext>
            </a:extLst>
          </p:cNvPr>
          <p:cNvCxnSpPr/>
          <p:nvPr/>
        </p:nvCxnSpPr>
        <p:spPr>
          <a:xfrm flipH="1">
            <a:off x="7538259" y="3953650"/>
            <a:ext cx="717630" cy="240174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34F743E-C4DC-53B3-CAA0-D1A7E100AE9A}"/>
              </a:ext>
            </a:extLst>
          </p:cNvPr>
          <p:cNvCxnSpPr>
            <a:cxnSpLocks/>
          </p:cNvCxnSpPr>
          <p:nvPr/>
        </p:nvCxnSpPr>
        <p:spPr>
          <a:xfrm>
            <a:off x="8255889" y="3953650"/>
            <a:ext cx="3078866" cy="405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956F14-DFC0-2D33-77B0-BD5EF6E40BBA}"/>
              </a:ext>
            </a:extLst>
          </p:cNvPr>
          <p:cNvCxnSpPr>
            <a:cxnSpLocks/>
          </p:cNvCxnSpPr>
          <p:nvPr/>
        </p:nvCxnSpPr>
        <p:spPr>
          <a:xfrm flipV="1">
            <a:off x="8255889" y="2033216"/>
            <a:ext cx="0" cy="19204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09096C4-81B1-F986-A5F7-22F47B62205C}"/>
              </a:ext>
            </a:extLst>
          </p:cNvPr>
          <p:cNvSpPr txBox="1"/>
          <p:nvPr/>
        </p:nvSpPr>
        <p:spPr>
          <a:xfrm>
            <a:off x="8134355" y="1758410"/>
            <a:ext cx="358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z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757E5E-6792-EA62-4991-443B99A4B18B}"/>
              </a:ext>
            </a:extLst>
          </p:cNvPr>
          <p:cNvSpPr txBox="1"/>
          <p:nvPr/>
        </p:nvSpPr>
        <p:spPr>
          <a:xfrm>
            <a:off x="11369481" y="3809495"/>
            <a:ext cx="364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2BB361-81C9-B7E3-17A3-BD5EE302089B}"/>
              </a:ext>
            </a:extLst>
          </p:cNvPr>
          <p:cNvSpPr txBox="1"/>
          <p:nvPr/>
        </p:nvSpPr>
        <p:spPr>
          <a:xfrm>
            <a:off x="7373319" y="6349057"/>
            <a:ext cx="329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x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2384201-1C11-BA65-E778-480F218122B4}"/>
              </a:ext>
            </a:extLst>
          </p:cNvPr>
          <p:cNvCxnSpPr>
            <a:cxnSpLocks/>
          </p:cNvCxnSpPr>
          <p:nvPr/>
        </p:nvCxnSpPr>
        <p:spPr>
          <a:xfrm flipV="1">
            <a:off x="8255889" y="3459795"/>
            <a:ext cx="1834588" cy="49385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4A4F87E-D4DC-1EE2-D4FB-2CEEA4884158}"/>
              </a:ext>
            </a:extLst>
          </p:cNvPr>
          <p:cNvCxnSpPr>
            <a:cxnSpLocks/>
          </p:cNvCxnSpPr>
          <p:nvPr/>
        </p:nvCxnSpPr>
        <p:spPr>
          <a:xfrm>
            <a:off x="8290615" y="3994161"/>
            <a:ext cx="1548329" cy="100107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9B5FE0-84F7-8EF8-BD8C-307E6676FCF0}"/>
                  </a:ext>
                </a:extLst>
              </p:cNvPr>
              <p:cNvSpPr txBox="1"/>
              <p:nvPr/>
            </p:nvSpPr>
            <p:spPr>
              <a:xfrm>
                <a:off x="10067328" y="3264249"/>
                <a:ext cx="41668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acc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9B5FE0-84F7-8EF8-BD8C-307E6676F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7328" y="3264249"/>
                <a:ext cx="41668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DE7B901-5847-0CA0-761D-4DFF6CAADEEF}"/>
                  </a:ext>
                </a:extLst>
              </p:cNvPr>
              <p:cNvSpPr txBox="1"/>
              <p:nvPr/>
            </p:nvSpPr>
            <p:spPr>
              <a:xfrm flipH="1">
                <a:off x="9873670" y="4840605"/>
                <a:ext cx="358809" cy="5164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DE7B901-5847-0CA0-761D-4DFF6CAADE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873670" y="4840605"/>
                <a:ext cx="358809" cy="5164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471738D-5298-50E2-D090-A4DB4E65C043}"/>
                  </a:ext>
                </a:extLst>
              </p:cNvPr>
              <p:cNvSpPr txBox="1"/>
              <p:nvPr/>
            </p:nvSpPr>
            <p:spPr>
              <a:xfrm>
                <a:off x="490714" y="3160685"/>
                <a:ext cx="4443246" cy="13099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sz="2400" dirty="0"/>
                  <a:t> both lie in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-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plane with no projection on z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sz="2400" dirty="0"/>
                  <a:t> are not orthogonal</a:t>
                </a: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471738D-5298-50E2-D090-A4DB4E65C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714" y="3160685"/>
                <a:ext cx="4443246" cy="1309974"/>
              </a:xfrm>
              <a:prstGeom prst="rect">
                <a:avLst/>
              </a:prstGeom>
              <a:blipFill>
                <a:blip r:embed="rId5"/>
                <a:stretch>
                  <a:fillRect b="-9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327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7CC7B-9189-671D-BCDF-D3F3870AD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CDECA-DA32-E2D6-5C35-69421228C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1371"/>
          </a:xfrm>
        </p:spPr>
        <p:txBody>
          <a:bodyPr/>
          <a:lstStyle/>
          <a:p>
            <a:r>
              <a:rPr lang="en-US" dirty="0"/>
              <a:t>The Nature of Gradients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F5BFF5-E581-72DC-8222-9E865E5BD813}"/>
                  </a:ext>
                </a:extLst>
              </p:cNvPr>
              <p:cNvSpPr txBox="1"/>
              <p:nvPr/>
            </p:nvSpPr>
            <p:spPr>
              <a:xfrm>
                <a:off x="604529" y="1207008"/>
                <a:ext cx="11129554" cy="587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We orthogonalize this system,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sz="2800" dirty="0"/>
                  <a:t>, into eigenvector projections,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acc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acc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F5BFF5-E581-72DC-8222-9E865E5BD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29" y="1207008"/>
                <a:ext cx="11129554" cy="587277"/>
              </a:xfrm>
              <a:prstGeom prst="rect">
                <a:avLst/>
              </a:prstGeom>
              <a:blipFill>
                <a:blip r:embed="rId2"/>
                <a:stretch>
                  <a:fillRect l="-1095"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arallelogram 3">
            <a:extLst>
              <a:ext uri="{FF2B5EF4-FFF2-40B4-BE49-F238E27FC236}">
                <a16:creationId xmlns:a16="http://schemas.microsoft.com/office/drawing/2014/main" id="{1FB64C17-C505-AE21-3133-2E2163BC7940}"/>
              </a:ext>
            </a:extLst>
          </p:cNvPr>
          <p:cNvSpPr/>
          <p:nvPr/>
        </p:nvSpPr>
        <p:spPr>
          <a:xfrm>
            <a:off x="5497975" y="2513753"/>
            <a:ext cx="6406588" cy="3877519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37D7D42-B38A-6D95-F198-6ADCC1DADD98}"/>
              </a:ext>
            </a:extLst>
          </p:cNvPr>
          <p:cNvCxnSpPr/>
          <p:nvPr/>
        </p:nvCxnSpPr>
        <p:spPr>
          <a:xfrm flipH="1">
            <a:off x="6776977" y="4030036"/>
            <a:ext cx="717630" cy="240174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8BBABF7-46EA-6D2F-4C37-6979955109A3}"/>
              </a:ext>
            </a:extLst>
          </p:cNvPr>
          <p:cNvCxnSpPr>
            <a:cxnSpLocks/>
          </p:cNvCxnSpPr>
          <p:nvPr/>
        </p:nvCxnSpPr>
        <p:spPr>
          <a:xfrm flipV="1">
            <a:off x="7494607" y="4008019"/>
            <a:ext cx="3938772" cy="220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462F231-CFD0-09BA-A558-2524CB1B1B57}"/>
              </a:ext>
            </a:extLst>
          </p:cNvPr>
          <p:cNvCxnSpPr>
            <a:cxnSpLocks/>
          </p:cNvCxnSpPr>
          <p:nvPr/>
        </p:nvCxnSpPr>
        <p:spPr>
          <a:xfrm flipV="1">
            <a:off x="7494607" y="2109602"/>
            <a:ext cx="0" cy="19204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E11C2E6-6C67-6090-3E8F-74B4A2C038B8}"/>
              </a:ext>
            </a:extLst>
          </p:cNvPr>
          <p:cNvSpPr txBox="1"/>
          <p:nvPr/>
        </p:nvSpPr>
        <p:spPr>
          <a:xfrm>
            <a:off x="7373073" y="1834796"/>
            <a:ext cx="358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z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C8CD99-0C7D-4415-DBE9-E5042B20BD8E}"/>
              </a:ext>
            </a:extLst>
          </p:cNvPr>
          <p:cNvSpPr txBox="1"/>
          <p:nvPr/>
        </p:nvSpPr>
        <p:spPr>
          <a:xfrm>
            <a:off x="11467869" y="3788194"/>
            <a:ext cx="364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CD3EB2-8909-E946-A917-69D1FBF57810}"/>
              </a:ext>
            </a:extLst>
          </p:cNvPr>
          <p:cNvSpPr txBox="1"/>
          <p:nvPr/>
        </p:nvSpPr>
        <p:spPr>
          <a:xfrm>
            <a:off x="6655441" y="6422067"/>
            <a:ext cx="329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x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A331E6D-4139-283B-DEF6-C73890498CD5}"/>
              </a:ext>
            </a:extLst>
          </p:cNvPr>
          <p:cNvCxnSpPr>
            <a:cxnSpLocks/>
          </p:cNvCxnSpPr>
          <p:nvPr/>
        </p:nvCxnSpPr>
        <p:spPr>
          <a:xfrm flipV="1">
            <a:off x="7494607" y="3536181"/>
            <a:ext cx="1834588" cy="49385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3F3661E-45BA-E0F5-88FC-982975231E2E}"/>
                  </a:ext>
                </a:extLst>
              </p:cNvPr>
              <p:cNvSpPr txBox="1"/>
              <p:nvPr/>
            </p:nvSpPr>
            <p:spPr>
              <a:xfrm>
                <a:off x="9306046" y="3340635"/>
                <a:ext cx="41668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acc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3F3661E-45BA-E0F5-88FC-982975231E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6046" y="3340635"/>
                <a:ext cx="41668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337B970-9A92-CE34-C908-CB0570106DC3}"/>
                  </a:ext>
                </a:extLst>
              </p:cNvPr>
              <p:cNvSpPr txBox="1"/>
              <p:nvPr/>
            </p:nvSpPr>
            <p:spPr>
              <a:xfrm>
                <a:off x="400405" y="2065628"/>
                <a:ext cx="4769980" cy="4220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ambria Math" panose="02040503050406030204" pitchFamily="18" charset="0"/>
                  </a:rPr>
                  <a:t>The model matrix to zero center and orthogonalize is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matrix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2400" dirty="0"/>
                  <a:t> is now represented in the orthogonalized space with eigenvector basis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acc>
                    <m:r>
                      <a:rPr lang="en-US" sz="2400" b="1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acc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projection of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2400" dirty="0"/>
                  <a:t> onto the orthogonal basis is given by the eigenvalues,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337B970-9A92-CE34-C908-CB0570106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405" y="2065628"/>
                <a:ext cx="4769980" cy="4220835"/>
              </a:xfrm>
              <a:prstGeom prst="rect">
                <a:avLst/>
              </a:prstGeom>
              <a:blipFill>
                <a:blip r:embed="rId4"/>
                <a:stretch>
                  <a:fillRect l="-1790" t="-1156" r="-1918" b="-2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1A1FCE8-A8E3-4D87-5D1B-987DC9D92476}"/>
              </a:ext>
            </a:extLst>
          </p:cNvPr>
          <p:cNvCxnSpPr>
            <a:cxnSpLocks/>
          </p:cNvCxnSpPr>
          <p:nvPr/>
        </p:nvCxnSpPr>
        <p:spPr>
          <a:xfrm>
            <a:off x="8523908" y="4167995"/>
            <a:ext cx="1893554" cy="93366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A263DE7-4208-FEE4-A209-9A3301B76D88}"/>
              </a:ext>
            </a:extLst>
          </p:cNvPr>
          <p:cNvCxnSpPr>
            <a:cxnSpLocks/>
          </p:cNvCxnSpPr>
          <p:nvPr/>
        </p:nvCxnSpPr>
        <p:spPr>
          <a:xfrm flipH="1">
            <a:off x="7246065" y="4167995"/>
            <a:ext cx="1272293" cy="153289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A57C870-F26D-635C-852D-0EC4DBC06581}"/>
              </a:ext>
            </a:extLst>
          </p:cNvPr>
          <p:cNvCxnSpPr>
            <a:cxnSpLocks/>
          </p:cNvCxnSpPr>
          <p:nvPr/>
        </p:nvCxnSpPr>
        <p:spPr>
          <a:xfrm flipH="1" flipV="1">
            <a:off x="8473038" y="2016443"/>
            <a:ext cx="58831" cy="218880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FFC63AC-DEC6-D8FB-98C4-135149B31E9A}"/>
                  </a:ext>
                </a:extLst>
              </p:cNvPr>
              <p:cNvSpPr txBox="1"/>
              <p:nvPr/>
            </p:nvSpPr>
            <p:spPr>
              <a:xfrm>
                <a:off x="10446402" y="4916991"/>
                <a:ext cx="5437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FFC63AC-DEC6-D8FB-98C4-135149B31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402" y="4916991"/>
                <a:ext cx="543760" cy="461665"/>
              </a:xfrm>
              <a:prstGeom prst="rect">
                <a:avLst/>
              </a:prstGeom>
              <a:blipFill>
                <a:blip r:embed="rId5"/>
                <a:stretch>
                  <a:fillRect l="-7865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859F3A2-A32A-C7C5-2AE1-0C96A1F3D8E9}"/>
                  </a:ext>
                </a:extLst>
              </p:cNvPr>
              <p:cNvSpPr txBox="1"/>
              <p:nvPr/>
            </p:nvSpPr>
            <p:spPr>
              <a:xfrm>
                <a:off x="7072383" y="5608016"/>
                <a:ext cx="5437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859F3A2-A32A-C7C5-2AE1-0C96A1F3D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2383" y="5608016"/>
                <a:ext cx="543760" cy="461665"/>
              </a:xfrm>
              <a:prstGeom prst="rect">
                <a:avLst/>
              </a:prstGeom>
              <a:blipFill>
                <a:blip r:embed="rId6"/>
                <a:stretch>
                  <a:fillRect l="-7865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6088BED-FBE9-1D03-3C11-B2CA5E58D047}"/>
                  </a:ext>
                </a:extLst>
              </p:cNvPr>
              <p:cNvSpPr txBox="1"/>
              <p:nvPr/>
            </p:nvSpPr>
            <p:spPr>
              <a:xfrm>
                <a:off x="8473038" y="1803433"/>
                <a:ext cx="5437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6088BED-FBE9-1D03-3C11-B2CA5E58D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3038" y="1803433"/>
                <a:ext cx="543760" cy="461665"/>
              </a:xfrm>
              <a:prstGeom prst="rect">
                <a:avLst/>
              </a:prstGeom>
              <a:blipFill>
                <a:blip r:embed="rId7"/>
                <a:stretch>
                  <a:fillRect l="-7865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DBE5C06-B31C-35FC-803F-C4A8A0B44BC4}"/>
              </a:ext>
            </a:extLst>
          </p:cNvPr>
          <p:cNvCxnSpPr>
            <a:cxnSpLocks/>
          </p:cNvCxnSpPr>
          <p:nvPr/>
        </p:nvCxnSpPr>
        <p:spPr>
          <a:xfrm>
            <a:off x="7496922" y="4051388"/>
            <a:ext cx="1548329" cy="100107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37F1D7E-EC41-9B7C-C922-60415B6E25C8}"/>
                  </a:ext>
                </a:extLst>
              </p:cNvPr>
              <p:cNvSpPr txBox="1"/>
              <p:nvPr/>
            </p:nvSpPr>
            <p:spPr>
              <a:xfrm flipH="1">
                <a:off x="9025059" y="4910827"/>
                <a:ext cx="358809" cy="5164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37F1D7E-EC41-9B7C-C922-60415B6E25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025059" y="4910827"/>
                <a:ext cx="358809" cy="5164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2833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5" grpId="0"/>
      <p:bldP spid="3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31D13-8515-B271-A097-B52CB82AD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D9C66-D97A-8BCA-88C0-9460EE8C3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1371"/>
          </a:xfrm>
        </p:spPr>
        <p:txBody>
          <a:bodyPr/>
          <a:lstStyle/>
          <a:p>
            <a:r>
              <a:rPr lang="en-US" dirty="0"/>
              <a:t>The Nature of Gradients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5830E14-9FAC-9DB2-020D-7458C901F45E}"/>
                  </a:ext>
                </a:extLst>
              </p:cNvPr>
              <p:cNvSpPr txBox="1"/>
              <p:nvPr/>
            </p:nvSpPr>
            <p:spPr>
              <a:xfrm>
                <a:off x="604529" y="1207008"/>
                <a:ext cx="11129554" cy="587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We orthogonalize this system,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sz="2800" dirty="0"/>
                  <a:t>, into eigenvector projections,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acc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acc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5830E14-9FAC-9DB2-020D-7458C901F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29" y="1207008"/>
                <a:ext cx="11129554" cy="587277"/>
              </a:xfrm>
              <a:prstGeom prst="rect">
                <a:avLst/>
              </a:prstGeom>
              <a:blipFill>
                <a:blip r:embed="rId2"/>
                <a:stretch>
                  <a:fillRect l="-1095"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arallelogram 3">
            <a:extLst>
              <a:ext uri="{FF2B5EF4-FFF2-40B4-BE49-F238E27FC236}">
                <a16:creationId xmlns:a16="http://schemas.microsoft.com/office/drawing/2014/main" id="{CA0E2C61-0AA4-0EDE-EF00-1F5CDEDE5281}"/>
              </a:ext>
            </a:extLst>
          </p:cNvPr>
          <p:cNvSpPr/>
          <p:nvPr/>
        </p:nvSpPr>
        <p:spPr>
          <a:xfrm>
            <a:off x="5497975" y="2513753"/>
            <a:ext cx="6406588" cy="3877519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344D885-52E8-7915-D980-EE779653BC5B}"/>
              </a:ext>
            </a:extLst>
          </p:cNvPr>
          <p:cNvCxnSpPr/>
          <p:nvPr/>
        </p:nvCxnSpPr>
        <p:spPr>
          <a:xfrm flipH="1">
            <a:off x="6776977" y="4030036"/>
            <a:ext cx="717630" cy="240174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4D41D70-AB33-64AB-19BB-65AB90651E54}"/>
              </a:ext>
            </a:extLst>
          </p:cNvPr>
          <p:cNvCxnSpPr>
            <a:cxnSpLocks/>
          </p:cNvCxnSpPr>
          <p:nvPr/>
        </p:nvCxnSpPr>
        <p:spPr>
          <a:xfrm flipV="1">
            <a:off x="7494607" y="4008019"/>
            <a:ext cx="3938772" cy="220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786891-02A2-B194-9CF5-ABF2519BC6DF}"/>
              </a:ext>
            </a:extLst>
          </p:cNvPr>
          <p:cNvCxnSpPr>
            <a:cxnSpLocks/>
          </p:cNvCxnSpPr>
          <p:nvPr/>
        </p:nvCxnSpPr>
        <p:spPr>
          <a:xfrm flipV="1">
            <a:off x="7494607" y="2109602"/>
            <a:ext cx="0" cy="19204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48D633C-7809-9A3C-524F-01892D98D162}"/>
              </a:ext>
            </a:extLst>
          </p:cNvPr>
          <p:cNvSpPr txBox="1"/>
          <p:nvPr/>
        </p:nvSpPr>
        <p:spPr>
          <a:xfrm>
            <a:off x="7373073" y="1834796"/>
            <a:ext cx="358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z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8114EE-1482-022B-A5C7-75B96A062628}"/>
              </a:ext>
            </a:extLst>
          </p:cNvPr>
          <p:cNvSpPr txBox="1"/>
          <p:nvPr/>
        </p:nvSpPr>
        <p:spPr>
          <a:xfrm>
            <a:off x="11467869" y="3788194"/>
            <a:ext cx="364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D9B21A-710D-5D2F-26B1-93196B6210F8}"/>
              </a:ext>
            </a:extLst>
          </p:cNvPr>
          <p:cNvSpPr txBox="1"/>
          <p:nvPr/>
        </p:nvSpPr>
        <p:spPr>
          <a:xfrm>
            <a:off x="6655441" y="6422067"/>
            <a:ext cx="329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x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6B92C3B-822E-44B3-B8A5-6CE018E473BC}"/>
              </a:ext>
            </a:extLst>
          </p:cNvPr>
          <p:cNvCxnSpPr>
            <a:cxnSpLocks/>
          </p:cNvCxnSpPr>
          <p:nvPr/>
        </p:nvCxnSpPr>
        <p:spPr>
          <a:xfrm flipV="1">
            <a:off x="7494607" y="3536181"/>
            <a:ext cx="1834588" cy="49385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A0EF88A-C81D-85DC-C677-2DC79B028F14}"/>
                  </a:ext>
                </a:extLst>
              </p:cNvPr>
              <p:cNvSpPr txBox="1"/>
              <p:nvPr/>
            </p:nvSpPr>
            <p:spPr>
              <a:xfrm>
                <a:off x="9306046" y="3340635"/>
                <a:ext cx="41668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acc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A0EF88A-C81D-85DC-C677-2DC79B028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6046" y="3340635"/>
                <a:ext cx="41668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D5C19AF-3780-57FA-2B11-D7A2A44083B7}"/>
                  </a:ext>
                </a:extLst>
              </p:cNvPr>
              <p:cNvSpPr txBox="1"/>
              <p:nvPr/>
            </p:nvSpPr>
            <p:spPr>
              <a:xfrm>
                <a:off x="400405" y="2065628"/>
                <a:ext cx="476998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projection of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2400" dirty="0"/>
                  <a:t> onto the orthogonal basis is given by the eigenvalues,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But, wait!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there is no projection in this direction!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We cannot find an optimal least squares solution for the parameter vector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⃗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acc>
                    </m:oMath>
                  </m:oMathPara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2400" dirty="0"/>
                  <a:t> is </a:t>
                </a:r>
                <a:r>
                  <a:rPr lang="en-US" sz="2400" b="1" dirty="0"/>
                  <a:t>rank deficient </a:t>
                </a:r>
                <a:r>
                  <a:rPr lang="en-US" sz="2400" dirty="0"/>
                  <a:t>and the </a:t>
                </a:r>
                <a:r>
                  <a:rPr lang="en-US" sz="2400" b="1" dirty="0"/>
                  <a:t>problem is underdetermined or ill-posed</a:t>
                </a: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D5C19AF-3780-57FA-2B11-D7A2A4408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405" y="2065628"/>
                <a:ext cx="4769980" cy="4524315"/>
              </a:xfrm>
              <a:prstGeom prst="rect">
                <a:avLst/>
              </a:prstGeom>
              <a:blipFill>
                <a:blip r:embed="rId4"/>
                <a:stretch>
                  <a:fillRect l="-1790" t="-1078" b="-2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494732F-35B2-1BC9-4494-892F3F124D45}"/>
              </a:ext>
            </a:extLst>
          </p:cNvPr>
          <p:cNvCxnSpPr>
            <a:cxnSpLocks/>
          </p:cNvCxnSpPr>
          <p:nvPr/>
        </p:nvCxnSpPr>
        <p:spPr>
          <a:xfrm>
            <a:off x="8523908" y="4167995"/>
            <a:ext cx="1893554" cy="93366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C0810FB-19E5-96DA-D872-C738A3C6A4CF}"/>
              </a:ext>
            </a:extLst>
          </p:cNvPr>
          <p:cNvCxnSpPr>
            <a:cxnSpLocks/>
          </p:cNvCxnSpPr>
          <p:nvPr/>
        </p:nvCxnSpPr>
        <p:spPr>
          <a:xfrm flipH="1">
            <a:off x="7246065" y="4167995"/>
            <a:ext cx="1272293" cy="153289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234AFA5-7C16-5C21-0313-C45198E75FF1}"/>
              </a:ext>
            </a:extLst>
          </p:cNvPr>
          <p:cNvCxnSpPr>
            <a:cxnSpLocks/>
          </p:cNvCxnSpPr>
          <p:nvPr/>
        </p:nvCxnSpPr>
        <p:spPr>
          <a:xfrm flipH="1" flipV="1">
            <a:off x="8473038" y="2016443"/>
            <a:ext cx="58831" cy="218880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2FE9794-72A1-7462-4351-D5F312760317}"/>
                  </a:ext>
                </a:extLst>
              </p:cNvPr>
              <p:cNvSpPr txBox="1"/>
              <p:nvPr/>
            </p:nvSpPr>
            <p:spPr>
              <a:xfrm>
                <a:off x="10446402" y="4916991"/>
                <a:ext cx="5437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2FE9794-72A1-7462-4351-D5F312760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402" y="4916991"/>
                <a:ext cx="543760" cy="461665"/>
              </a:xfrm>
              <a:prstGeom prst="rect">
                <a:avLst/>
              </a:prstGeom>
              <a:blipFill>
                <a:blip r:embed="rId5"/>
                <a:stretch>
                  <a:fillRect l="-7865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309D231-73F6-E79D-D0B0-8DC09FCB5899}"/>
                  </a:ext>
                </a:extLst>
              </p:cNvPr>
              <p:cNvSpPr txBox="1"/>
              <p:nvPr/>
            </p:nvSpPr>
            <p:spPr>
              <a:xfrm>
                <a:off x="7072383" y="5608016"/>
                <a:ext cx="5437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309D231-73F6-E79D-D0B0-8DC09FCB5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2383" y="5608016"/>
                <a:ext cx="543760" cy="461665"/>
              </a:xfrm>
              <a:prstGeom prst="rect">
                <a:avLst/>
              </a:prstGeom>
              <a:blipFill>
                <a:blip r:embed="rId6"/>
                <a:stretch>
                  <a:fillRect l="-7865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93C82A4-0C1D-1742-4610-31541B4BAAE6}"/>
                  </a:ext>
                </a:extLst>
              </p:cNvPr>
              <p:cNvSpPr txBox="1"/>
              <p:nvPr/>
            </p:nvSpPr>
            <p:spPr>
              <a:xfrm>
                <a:off x="8473038" y="1803433"/>
                <a:ext cx="5437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93C82A4-0C1D-1742-4610-31541B4BA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3038" y="1803433"/>
                <a:ext cx="543760" cy="461665"/>
              </a:xfrm>
              <a:prstGeom prst="rect">
                <a:avLst/>
              </a:prstGeom>
              <a:blipFill>
                <a:blip r:embed="rId7"/>
                <a:stretch>
                  <a:fillRect l="-7865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14940AA-A59D-4FDE-32E8-575EDD2336BB}"/>
              </a:ext>
            </a:extLst>
          </p:cNvPr>
          <p:cNvCxnSpPr>
            <a:cxnSpLocks/>
          </p:cNvCxnSpPr>
          <p:nvPr/>
        </p:nvCxnSpPr>
        <p:spPr>
          <a:xfrm>
            <a:off x="7496922" y="4051388"/>
            <a:ext cx="1548329" cy="100107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24C9EE-802F-03DD-8995-5C9C87F314F8}"/>
                  </a:ext>
                </a:extLst>
              </p:cNvPr>
              <p:cNvSpPr txBox="1"/>
              <p:nvPr/>
            </p:nvSpPr>
            <p:spPr>
              <a:xfrm flipH="1">
                <a:off x="9025059" y="4910827"/>
                <a:ext cx="358809" cy="5164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24C9EE-802F-03DD-8995-5C9C87F31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025059" y="4910827"/>
                <a:ext cx="358809" cy="5164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0258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E3F8F-06F2-CDF5-31D2-F00053F9E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D958E-A6F0-ED46-D4B3-7FF8651F1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1371"/>
          </a:xfrm>
        </p:spPr>
        <p:txBody>
          <a:bodyPr/>
          <a:lstStyle/>
          <a:p>
            <a:r>
              <a:rPr lang="en-US" dirty="0"/>
              <a:t>The Nature of Gradients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854FA1-307A-F519-23F6-8219E9ED211E}"/>
                  </a:ext>
                </a:extLst>
              </p:cNvPr>
              <p:cNvSpPr txBox="1"/>
              <p:nvPr/>
            </p:nvSpPr>
            <p:spPr>
              <a:xfrm>
                <a:off x="604529" y="1207008"/>
                <a:ext cx="11129554" cy="587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We orthogonalize this system,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sz="2800" dirty="0"/>
                  <a:t>, into eigenvector projections,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acc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acc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854FA1-307A-F519-23F6-8219E9ED2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29" y="1207008"/>
                <a:ext cx="11129554" cy="587277"/>
              </a:xfrm>
              <a:prstGeom prst="rect">
                <a:avLst/>
              </a:prstGeom>
              <a:blipFill>
                <a:blip r:embed="rId2"/>
                <a:stretch>
                  <a:fillRect l="-1095"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arallelogram 3">
            <a:extLst>
              <a:ext uri="{FF2B5EF4-FFF2-40B4-BE49-F238E27FC236}">
                <a16:creationId xmlns:a16="http://schemas.microsoft.com/office/drawing/2014/main" id="{C681B2EA-7839-E4E6-5445-AE3324B10AF2}"/>
              </a:ext>
            </a:extLst>
          </p:cNvPr>
          <p:cNvSpPr/>
          <p:nvPr/>
        </p:nvSpPr>
        <p:spPr>
          <a:xfrm>
            <a:off x="5497975" y="2513753"/>
            <a:ext cx="6406588" cy="3877519"/>
          </a:xfrm>
          <a:prstGeom prst="parallelogram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5B14C6F-825C-8048-69FC-7D0E8953133C}"/>
              </a:ext>
            </a:extLst>
          </p:cNvPr>
          <p:cNvCxnSpPr/>
          <p:nvPr/>
        </p:nvCxnSpPr>
        <p:spPr>
          <a:xfrm flipH="1">
            <a:off x="6776977" y="4030036"/>
            <a:ext cx="717630" cy="240174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1AB1904-1DB1-196C-B477-9F9008222CD7}"/>
              </a:ext>
            </a:extLst>
          </p:cNvPr>
          <p:cNvCxnSpPr>
            <a:cxnSpLocks/>
          </p:cNvCxnSpPr>
          <p:nvPr/>
        </p:nvCxnSpPr>
        <p:spPr>
          <a:xfrm flipV="1">
            <a:off x="7494607" y="4008019"/>
            <a:ext cx="3938772" cy="220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E1953E7-1049-B755-46A3-B04AECE80956}"/>
              </a:ext>
            </a:extLst>
          </p:cNvPr>
          <p:cNvCxnSpPr>
            <a:cxnSpLocks/>
          </p:cNvCxnSpPr>
          <p:nvPr/>
        </p:nvCxnSpPr>
        <p:spPr>
          <a:xfrm flipV="1">
            <a:off x="7494607" y="2109602"/>
            <a:ext cx="0" cy="19204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ACD639E-D666-20A1-8679-DBFECDB7F980}"/>
              </a:ext>
            </a:extLst>
          </p:cNvPr>
          <p:cNvSpPr txBox="1"/>
          <p:nvPr/>
        </p:nvSpPr>
        <p:spPr>
          <a:xfrm>
            <a:off x="7373073" y="1834796"/>
            <a:ext cx="358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z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C3C687-5398-646B-75D0-E705E83AE4E3}"/>
              </a:ext>
            </a:extLst>
          </p:cNvPr>
          <p:cNvSpPr txBox="1"/>
          <p:nvPr/>
        </p:nvSpPr>
        <p:spPr>
          <a:xfrm>
            <a:off x="11467869" y="3788194"/>
            <a:ext cx="364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1280DC-4F9C-5258-C75A-33F755A4CC01}"/>
              </a:ext>
            </a:extLst>
          </p:cNvPr>
          <p:cNvSpPr txBox="1"/>
          <p:nvPr/>
        </p:nvSpPr>
        <p:spPr>
          <a:xfrm>
            <a:off x="6655441" y="6422067"/>
            <a:ext cx="329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x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2A210A3-45C8-B756-DAD4-AC7A69D511F9}"/>
              </a:ext>
            </a:extLst>
          </p:cNvPr>
          <p:cNvCxnSpPr>
            <a:cxnSpLocks/>
          </p:cNvCxnSpPr>
          <p:nvPr/>
        </p:nvCxnSpPr>
        <p:spPr>
          <a:xfrm flipV="1">
            <a:off x="7494607" y="3536181"/>
            <a:ext cx="1834588" cy="49385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CEFE285-E8EF-3ACF-1A06-4F3EFA9EC41A}"/>
                  </a:ext>
                </a:extLst>
              </p:cNvPr>
              <p:cNvSpPr txBox="1"/>
              <p:nvPr/>
            </p:nvSpPr>
            <p:spPr>
              <a:xfrm>
                <a:off x="9306046" y="3340635"/>
                <a:ext cx="41668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acc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CEFE285-E8EF-3ACF-1A06-4F3EFA9EC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6046" y="3340635"/>
                <a:ext cx="41668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F5BC6EA-0900-1DDB-3E36-30574215FA55}"/>
                  </a:ext>
                </a:extLst>
              </p:cNvPr>
              <p:cNvSpPr txBox="1"/>
              <p:nvPr/>
            </p:nvSpPr>
            <p:spPr>
              <a:xfrm>
                <a:off x="400405" y="2065628"/>
                <a:ext cx="476998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But, wait!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!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2400" dirty="0"/>
                  <a:t> is rank deficient and the problem is underdetermined or ill-posed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Further, the </a:t>
                </a:r>
                <a:r>
                  <a:rPr lang="en-US" sz="2400" b="1" dirty="0"/>
                  <a:t>gradient is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2400" b="1" dirty="0"/>
                  <a:t> everywhere along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400" dirty="0"/>
                  <a:t>, so gradient descent algorithm will fail!</a:t>
                </a: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F5BC6EA-0900-1DDB-3E36-30574215F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405" y="2065628"/>
                <a:ext cx="4769980" cy="2677656"/>
              </a:xfrm>
              <a:prstGeom prst="rect">
                <a:avLst/>
              </a:prstGeom>
              <a:blipFill>
                <a:blip r:embed="rId4"/>
                <a:stretch>
                  <a:fillRect l="-1790" t="-1822" r="-2302" b="-4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5AB81A0-A511-12FA-87B7-A941F4EE43C9}"/>
              </a:ext>
            </a:extLst>
          </p:cNvPr>
          <p:cNvCxnSpPr>
            <a:cxnSpLocks/>
          </p:cNvCxnSpPr>
          <p:nvPr/>
        </p:nvCxnSpPr>
        <p:spPr>
          <a:xfrm>
            <a:off x="8523908" y="4167995"/>
            <a:ext cx="1893554" cy="93366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2B06953-11BB-724A-43C7-E4C8DB8D34F3}"/>
              </a:ext>
            </a:extLst>
          </p:cNvPr>
          <p:cNvCxnSpPr>
            <a:cxnSpLocks/>
          </p:cNvCxnSpPr>
          <p:nvPr/>
        </p:nvCxnSpPr>
        <p:spPr>
          <a:xfrm flipH="1">
            <a:off x="7246065" y="4167995"/>
            <a:ext cx="1272293" cy="153289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E149C5E-82C8-2D82-6CAE-4ECF10512B5F}"/>
              </a:ext>
            </a:extLst>
          </p:cNvPr>
          <p:cNvCxnSpPr>
            <a:cxnSpLocks/>
          </p:cNvCxnSpPr>
          <p:nvPr/>
        </p:nvCxnSpPr>
        <p:spPr>
          <a:xfrm flipH="1" flipV="1">
            <a:off x="8473038" y="2016443"/>
            <a:ext cx="58831" cy="218880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00F2306-5779-5EA4-0C5D-359BBF551BAB}"/>
                  </a:ext>
                </a:extLst>
              </p:cNvPr>
              <p:cNvSpPr txBox="1"/>
              <p:nvPr/>
            </p:nvSpPr>
            <p:spPr>
              <a:xfrm>
                <a:off x="10446402" y="4916991"/>
                <a:ext cx="5437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00F2306-5779-5EA4-0C5D-359BBF551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402" y="4916991"/>
                <a:ext cx="543760" cy="461665"/>
              </a:xfrm>
              <a:prstGeom prst="rect">
                <a:avLst/>
              </a:prstGeom>
              <a:blipFill>
                <a:blip r:embed="rId5"/>
                <a:stretch>
                  <a:fillRect l="-7865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6687AC6-2E1C-4340-4AB9-678F8A86DE9A}"/>
                  </a:ext>
                </a:extLst>
              </p:cNvPr>
              <p:cNvSpPr txBox="1"/>
              <p:nvPr/>
            </p:nvSpPr>
            <p:spPr>
              <a:xfrm>
                <a:off x="7072383" y="5608016"/>
                <a:ext cx="5437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6687AC6-2E1C-4340-4AB9-678F8A86D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2383" y="5608016"/>
                <a:ext cx="543760" cy="461665"/>
              </a:xfrm>
              <a:prstGeom prst="rect">
                <a:avLst/>
              </a:prstGeom>
              <a:blipFill>
                <a:blip r:embed="rId6"/>
                <a:stretch>
                  <a:fillRect l="-7865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EBE7253-4E6D-85CE-6B0D-756F65594C3B}"/>
                  </a:ext>
                </a:extLst>
              </p:cNvPr>
              <p:cNvSpPr txBox="1"/>
              <p:nvPr/>
            </p:nvSpPr>
            <p:spPr>
              <a:xfrm>
                <a:off x="8473038" y="1803433"/>
                <a:ext cx="5437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EBE7253-4E6D-85CE-6B0D-756F65594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3038" y="1803433"/>
                <a:ext cx="543760" cy="461665"/>
              </a:xfrm>
              <a:prstGeom prst="rect">
                <a:avLst/>
              </a:prstGeom>
              <a:blipFill>
                <a:blip r:embed="rId7"/>
                <a:stretch>
                  <a:fillRect l="-7865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98205A1-7F45-9D12-D9C3-9B69990B7C62}"/>
              </a:ext>
            </a:extLst>
          </p:cNvPr>
          <p:cNvCxnSpPr>
            <a:cxnSpLocks/>
          </p:cNvCxnSpPr>
          <p:nvPr/>
        </p:nvCxnSpPr>
        <p:spPr>
          <a:xfrm>
            <a:off x="7496922" y="4051388"/>
            <a:ext cx="1548329" cy="100107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3805A4-3406-5503-8105-5AACBE86936F}"/>
                  </a:ext>
                </a:extLst>
              </p:cNvPr>
              <p:cNvSpPr txBox="1"/>
              <p:nvPr/>
            </p:nvSpPr>
            <p:spPr>
              <a:xfrm flipH="1">
                <a:off x="9025059" y="4910827"/>
                <a:ext cx="358809" cy="5164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3805A4-3406-5503-8105-5AACBE869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025059" y="4910827"/>
                <a:ext cx="358809" cy="5164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5072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791F-1349-402E-BD8E-854A4676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77219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The Nature of Gradients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C7F73-8148-4FB5-B202-D57F58BF6F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76493"/>
            <a:ext cx="11525250" cy="675862"/>
          </a:xfrm>
        </p:spPr>
        <p:txBody>
          <a:bodyPr/>
          <a:lstStyle/>
          <a:p>
            <a:pPr marL="0" indent="0">
              <a:buNone/>
            </a:pPr>
            <a:r>
              <a:rPr lang="en-US" sz="3000" dirty="0">
                <a:latin typeface="Segoe UI" panose="020B0502040204020203" pitchFamily="34" charset="0"/>
                <a:cs typeface="Segoe UI" panose="020B0502040204020203" pitchFamily="34" charset="0"/>
              </a:rPr>
              <a:t>Some key properties of the Hessian matrix: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The real-valued Hessian measures curvature is symmetric since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046" lvl="1" indent="0">
              <a:buNone/>
            </a:pP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For a 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minimum of convex loss function 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the Hessian has all 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positive eigenvalues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; it is 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positive definite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– only upward curvature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At a maximum point the Hessian has all 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negative eigenvalues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; it is 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negative definite 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– only downward curvature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The Hessian has 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some positive and some negative eigenvalues 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at a 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saddle point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Saddle points are problematic since direction of descent to the minimum is unclear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If Hessian has some 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very small eigenvalues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, the gradient is low and 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convergence will be slow</a:t>
            </a:r>
          </a:p>
          <a:p>
            <a:pPr marL="457046" lvl="1" indent="0">
              <a:buNone/>
            </a:pP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5D387D-17F5-4EFF-AF7C-169336C4B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570" y="1900528"/>
            <a:ext cx="2489835" cy="86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540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791F-1349-402E-BD8E-854A4676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77219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The Nature of Gradients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C7F73-8148-4FB5-B202-D57F58BF6F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934556"/>
            <a:ext cx="11525250" cy="675862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For quadratic optimization, the rate of convergence is determined by 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condition number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of the Hessian:</a:t>
            </a:r>
          </a:p>
          <a:p>
            <a:pPr marL="0" indent="0"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C89096-B87C-401F-8946-2932ED289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413" y="1992838"/>
            <a:ext cx="2509838" cy="81521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B0CD835-ECC6-4F6B-BC14-191D5AF82D6F}"/>
              </a:ext>
            </a:extLst>
          </p:cNvPr>
          <p:cNvSpPr txBox="1">
            <a:spLocks/>
          </p:cNvSpPr>
          <p:nvPr/>
        </p:nvSpPr>
        <p:spPr>
          <a:xfrm>
            <a:off x="333375" y="2660890"/>
            <a:ext cx="11525250" cy="675862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Where:</a:t>
            </a:r>
          </a:p>
          <a:p>
            <a:pPr marL="0" indent="0">
              <a:buFont typeface="Arial" pitchFamily="34" charset="0"/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8BC602-8A27-4757-A33C-4502E9DB3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0673" y="3654834"/>
            <a:ext cx="8827487" cy="4435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E78A7E-FF46-4D8F-8863-5AE17B7398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0673" y="3178574"/>
            <a:ext cx="8405847" cy="4185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823D985E-C230-454D-ACC2-7CD689E58E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3375" y="4114879"/>
                <a:ext cx="11525250" cy="675862"/>
              </a:xfrm>
              <a:prstGeom prst="rect">
                <a:avLst/>
              </a:prstGeom>
            </p:spPr>
            <p:txBody>
              <a:bodyPr/>
              <a:lstStyle>
                <a:lvl1pPr marL="342783" indent="-342783" algn="l" defTabSz="914088" rtl="0" eaLnBrk="1" latinLnBrk="0" hangingPunct="1">
                  <a:spcBef>
                    <a:spcPts val="1400"/>
                  </a:spcBef>
                  <a:buFont typeface="Arial" pitchFamily="34" charset="0"/>
                  <a:buChar char="•"/>
                  <a:defRPr sz="3200" b="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1pPr>
                <a:lvl2pPr marL="742698" indent="-285652" algn="l" defTabSz="914088" rtl="0" eaLnBrk="1" latinLnBrk="0" hangingPunct="1">
                  <a:spcBef>
                    <a:spcPts val="300"/>
                  </a:spcBef>
                  <a:spcAft>
                    <a:spcPts val="300"/>
                  </a:spcAft>
                  <a:buFont typeface="Arial" pitchFamily="34" charset="0"/>
                  <a:buChar char="–"/>
                  <a:defRPr sz="28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2pPr>
                <a:lvl3pPr marL="1142612" indent="-228522" algn="l" defTabSz="914088" rtl="0" eaLnBrk="1" latinLnBrk="0" hangingPunct="1">
                  <a:spcBef>
                    <a:spcPts val="200"/>
                  </a:spcBef>
                  <a:spcAft>
                    <a:spcPts val="200"/>
                  </a:spcAft>
                  <a:buFont typeface="Arial" pitchFamily="34" charset="0"/>
                  <a:buChar char="•"/>
                  <a:defRPr sz="24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3pPr>
                <a:lvl4pPr marL="1599657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4pPr>
                <a:lvl5pPr marL="2056700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0" baseline="0">
                    <a:solidFill>
                      <a:schemeClr val="tx1"/>
                    </a:solidFill>
                    <a:latin typeface="Segoe UI Light" panose="020B0502040204020203" pitchFamily="34" charset="0"/>
                    <a:ea typeface="Segoe UI Light" panose="020B0502040204020203" pitchFamily="34" charset="0"/>
                    <a:cs typeface="Segoe UI Light" panose="020B0502040204020203" pitchFamily="34" charset="0"/>
                  </a:defRPr>
                </a:lvl5pPr>
                <a:lvl6pPr marL="2513745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0789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7833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4878" indent="-228522" algn="l" defTabSz="91408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If the condition number is close to 1.0, the Hessian is </a:t>
                </a:r>
                <a:r>
                  <a:rPr lang="en-US" sz="2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well conditioned 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and convergence will be fast</a:t>
                </a:r>
              </a:p>
              <a:p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If the condition number is large ,e.g.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𝐶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≳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100</m:t>
                    </m:r>
                  </m:oMath>
                </a14:m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the Hessian is </a:t>
                </a:r>
                <a:r>
                  <a:rPr lang="en-US" sz="2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ill-conditioned</a:t>
                </a:r>
                <a:r>
                  <a:rPr lang="en-US" sz="2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and convergence will be slow; gradient is flat in some dimensions</a:t>
                </a:r>
              </a:p>
              <a:p>
                <a:pPr marL="0" indent="0">
                  <a:buFont typeface="Arial" pitchFamily="34" charset="0"/>
                  <a:buNone/>
                </a:pPr>
                <a:endParaRPr lang="en-US" sz="30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823D985E-C230-454D-ACC2-7CD689E58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" y="4114879"/>
                <a:ext cx="11525250" cy="675862"/>
              </a:xfrm>
              <a:prstGeom prst="rect">
                <a:avLst/>
              </a:prstGeom>
              <a:blipFill>
                <a:blip r:embed="rId6"/>
                <a:stretch>
                  <a:fillRect l="-952" t="-9009" b="-280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8222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4791F-1349-402E-BD8E-854A4676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77219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The Nature of Gradients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C7F73-8148-4FB5-B202-D57F58BF6F3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6307" y="1029210"/>
            <a:ext cx="11525250" cy="675862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Example of well-conditioned and ill-conditioned gradients:</a:t>
            </a:r>
          </a:p>
          <a:p>
            <a:pPr marL="0" indent="0"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F4A3809-D589-4DFA-B7C9-DFC5628E8F65}"/>
              </a:ext>
            </a:extLst>
          </p:cNvPr>
          <p:cNvSpPr/>
          <p:nvPr/>
        </p:nvSpPr>
        <p:spPr>
          <a:xfrm rot="19365406">
            <a:off x="1529898" y="3255890"/>
            <a:ext cx="1885950" cy="76675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19DE8E6-77A6-4359-8394-DF04ADA5B6DE}"/>
              </a:ext>
            </a:extLst>
          </p:cNvPr>
          <p:cNvSpPr/>
          <p:nvPr/>
        </p:nvSpPr>
        <p:spPr>
          <a:xfrm rot="19365406">
            <a:off x="902470" y="2905849"/>
            <a:ext cx="3224212" cy="1466839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3EED2DFC-4117-4814-B91F-E6C919A2E72C}"/>
              </a:ext>
            </a:extLst>
          </p:cNvPr>
          <p:cNvSpPr/>
          <p:nvPr/>
        </p:nvSpPr>
        <p:spPr>
          <a:xfrm rot="19365406">
            <a:off x="2289310" y="3427499"/>
            <a:ext cx="304800" cy="290513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CA2881-DEE9-4450-8A3C-2948972CCAE6}"/>
              </a:ext>
            </a:extLst>
          </p:cNvPr>
          <p:cNvSpPr txBox="1"/>
          <p:nvPr/>
        </p:nvSpPr>
        <p:spPr>
          <a:xfrm>
            <a:off x="2070097" y="3753098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Min</a:t>
            </a:r>
            <a:r>
              <a:rPr lang="en-US" b="1" baseline="-25000" dirty="0" err="1"/>
              <a:t>W</a:t>
            </a:r>
            <a:r>
              <a:rPr lang="en-US" b="1" baseline="-25000" dirty="0"/>
              <a:t> </a:t>
            </a:r>
            <a:r>
              <a:rPr lang="en-US" b="1" dirty="0"/>
              <a:t>(J(W)</a:t>
            </a:r>
            <a:r>
              <a:rPr lang="en-US" b="1" baseline="-25000" dirty="0"/>
              <a:t>MLE</a:t>
            </a:r>
            <a:r>
              <a:rPr lang="en-US" b="1" dirty="0"/>
              <a:t>)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8DB7B79-BE37-4139-969D-C498051B98A0}"/>
              </a:ext>
            </a:extLst>
          </p:cNvPr>
          <p:cNvSpPr/>
          <p:nvPr/>
        </p:nvSpPr>
        <p:spPr>
          <a:xfrm rot="19511555">
            <a:off x="5738589" y="3494896"/>
            <a:ext cx="5520690" cy="169343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BC2E1A6-C9AB-4D89-89EC-19FCC4274754}"/>
              </a:ext>
            </a:extLst>
          </p:cNvPr>
          <p:cNvSpPr/>
          <p:nvPr/>
        </p:nvSpPr>
        <p:spPr>
          <a:xfrm rot="19511555">
            <a:off x="4775072" y="3378344"/>
            <a:ext cx="7442935" cy="395568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Multiplication Sign 25">
            <a:extLst>
              <a:ext uri="{FF2B5EF4-FFF2-40B4-BE49-F238E27FC236}">
                <a16:creationId xmlns:a16="http://schemas.microsoft.com/office/drawing/2014/main" id="{9DFF26DE-FC7C-4B85-972B-0960634A3DE8}"/>
              </a:ext>
            </a:extLst>
          </p:cNvPr>
          <p:cNvSpPr/>
          <p:nvPr/>
        </p:nvSpPr>
        <p:spPr>
          <a:xfrm rot="19511555">
            <a:off x="8316731" y="3425048"/>
            <a:ext cx="304800" cy="290513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128F1D-8B29-4885-A779-AA6C10579E80}"/>
              </a:ext>
            </a:extLst>
          </p:cNvPr>
          <p:cNvSpPr txBox="1"/>
          <p:nvPr/>
        </p:nvSpPr>
        <p:spPr>
          <a:xfrm rot="183839">
            <a:off x="8048326" y="3663171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Min</a:t>
            </a:r>
            <a:r>
              <a:rPr lang="en-US" b="1" baseline="-25000" dirty="0" err="1"/>
              <a:t>W</a:t>
            </a:r>
            <a:r>
              <a:rPr lang="en-US" b="1" baseline="-25000" dirty="0"/>
              <a:t> </a:t>
            </a:r>
            <a:r>
              <a:rPr lang="en-US" b="1" dirty="0"/>
              <a:t>(J(W)</a:t>
            </a:r>
            <a:r>
              <a:rPr lang="en-US" b="1" baseline="-25000" dirty="0"/>
              <a:t>MLE</a:t>
            </a:r>
            <a:r>
              <a:rPr lang="en-US" b="1" dirty="0"/>
              <a:t>)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80D2B8CB-6201-4397-8EDF-48AC90270902}"/>
              </a:ext>
            </a:extLst>
          </p:cNvPr>
          <p:cNvSpPr txBox="1">
            <a:spLocks/>
          </p:cNvSpPr>
          <p:nvPr/>
        </p:nvSpPr>
        <p:spPr>
          <a:xfrm>
            <a:off x="361039" y="4957057"/>
            <a:ext cx="4579803" cy="675862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well-conditioned gradient</a:t>
            </a:r>
          </a:p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Eigenvalues of similar size, small condition number</a:t>
            </a:r>
          </a:p>
          <a:p>
            <a:pPr marL="0" indent="0">
              <a:buFont typeface="Arial" pitchFamily="34" charset="0"/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1C2721A8-71F4-4B28-BA08-CCC0D1807F84}"/>
              </a:ext>
            </a:extLst>
          </p:cNvPr>
          <p:cNvSpPr txBox="1">
            <a:spLocks/>
          </p:cNvSpPr>
          <p:nvPr/>
        </p:nvSpPr>
        <p:spPr>
          <a:xfrm>
            <a:off x="6305800" y="4809121"/>
            <a:ext cx="5775449" cy="675862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ill-conditioned gradient</a:t>
            </a:r>
          </a:p>
          <a:p>
            <a:pPr marL="0" indent="0" algn="ctr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One large and one small eigenvalue, large condition number</a:t>
            </a:r>
          </a:p>
          <a:p>
            <a:pPr marL="0" indent="0">
              <a:buFont typeface="Arial" pitchFamily="34" charset="0"/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266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6" grpId="0" animBg="1"/>
      <p:bldP spid="19" grpId="0"/>
      <p:bldP spid="23" grpId="0" animBg="1"/>
      <p:bldP spid="24" grpId="0" animBg="1"/>
      <p:bldP spid="26" grpId="0" animBg="1"/>
      <p:bldP spid="27" grpId="0"/>
      <p:bldP spid="28" grpId="0" uiExpand="1" build="p"/>
      <p:bldP spid="29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26DA-9EBE-4A51-845C-B0968922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63604"/>
          </a:xfrm>
        </p:spPr>
        <p:txBody>
          <a:bodyPr>
            <a:norm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Vanishing and Exploding Gradient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1F63-F6C3-45B7-B4A8-9B2C4F00C8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45820"/>
            <a:ext cx="11525250" cy="5290388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There is no guarantee that the gradient of the loss function is well behaved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gradient can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vanish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Flat spots in the gradient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Imagine a loss function with a long narrow valley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Ill-conditioned Hessian with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small eigenvalues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Slow convergence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gradient can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explode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Sudden changes in the gradient; falling off a cliff!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Ill-conditioned Hessian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Very large step; optimizer over-shoots the minimum point</a:t>
            </a:r>
          </a:p>
        </p:txBody>
      </p:sp>
    </p:spTree>
    <p:extLst>
      <p:ext uri="{BB962C8B-B14F-4D97-AF65-F5344CB8AC3E}">
        <p14:creationId xmlns:p14="http://schemas.microsoft.com/office/powerpoint/2010/main" val="3401567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26DA-9EBE-4A51-845C-B0968922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636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Vanishing and Exploding Gradient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1F63-F6C3-45B7-B4A8-9B2C4F00C8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931026"/>
            <a:ext cx="11525250" cy="1280679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What happens to the eigenvalues of the Hessian?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Consider an n layer NN with linear activation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gradient is just the weight tensor, W, with eigen decomposition: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C05F66-F336-492B-ACE9-0A0182897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068" y="2425280"/>
            <a:ext cx="1843001" cy="51604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EF4863B-45B9-4C6E-8F84-D1744A2CEF01}"/>
              </a:ext>
            </a:extLst>
          </p:cNvPr>
          <p:cNvSpPr txBox="1">
            <a:spLocks/>
          </p:cNvSpPr>
          <p:nvPr/>
        </p:nvSpPr>
        <p:spPr>
          <a:xfrm>
            <a:off x="378696" y="2994877"/>
            <a:ext cx="11525250" cy="603692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Multiplying the n weight tensors for the multi-layer NN:</a:t>
            </a:r>
          </a:p>
          <a:p>
            <a:pPr marL="0" indent="0">
              <a:buFont typeface="Arial" pitchFamily="34" charset="0"/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99038AC-E5E0-4458-9CA7-00354D65EED6}"/>
              </a:ext>
            </a:extLst>
          </p:cNvPr>
          <p:cNvSpPr txBox="1">
            <a:spLocks/>
          </p:cNvSpPr>
          <p:nvPr/>
        </p:nvSpPr>
        <p:spPr>
          <a:xfrm>
            <a:off x="419735" y="4381741"/>
            <a:ext cx="11525250" cy="603692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If the eigenvalue &lt;&lt; 1.0, the gradient vanishes</a:t>
            </a:r>
          </a:p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If the eigenvalue &gt;&gt; 1.0, the gradient explodes</a:t>
            </a:r>
          </a:p>
          <a:p>
            <a:pPr marL="0" indent="0">
              <a:buFont typeface="Arial" pitchFamily="34" charset="0"/>
              <a:buNone/>
            </a:pP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9111FC-35BD-4B24-B3E6-B8422038C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628" y="3573349"/>
            <a:ext cx="4367212" cy="55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832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26DA-9EBE-4A51-845C-B0968922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636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Vanishing and Exploding Gradient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1F63-F6C3-45B7-B4A8-9B2C4F00C8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132840"/>
            <a:ext cx="11525250" cy="5083378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What can be done about extreme gradient problems?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Dealing with vanishing gradient can be difficult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Normalization of input values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Regularization is essential!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ResNets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– recall last week’s lesson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Dealing with exploding gradients is easy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Gradient clipping 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prevents extreme values</a:t>
            </a:r>
          </a:p>
        </p:txBody>
      </p:sp>
    </p:spTree>
    <p:extLst>
      <p:ext uri="{BB962C8B-B14F-4D97-AF65-F5344CB8AC3E}">
        <p14:creationId xmlns:p14="http://schemas.microsoft.com/office/powerpoint/2010/main" val="3128585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26DA-9EBE-4A51-845C-B0968922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636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Convex vs. Non-Convex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1F63-F6C3-45B7-B4A8-9B2C4F00C8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959557" y="1264919"/>
            <a:ext cx="5944389" cy="4927309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+mj-lt"/>
                <a:cs typeface="Segoe UI" panose="020B0502040204020203" pitchFamily="34" charset="0"/>
              </a:rPr>
              <a:t>Gradient descent is well-behaved with </a:t>
            </a:r>
            <a:r>
              <a:rPr lang="en-US" sz="2800" b="1" dirty="0">
                <a:latin typeface="+mj-lt"/>
                <a:cs typeface="Segoe UI" panose="020B0502040204020203" pitchFamily="34" charset="0"/>
              </a:rPr>
              <a:t>convex loss function</a:t>
            </a:r>
          </a:p>
          <a:p>
            <a:r>
              <a:rPr lang="en-US" sz="2800" dirty="0">
                <a:latin typeface="+mj-lt"/>
                <a:cs typeface="Segoe UI" panose="020B0502040204020203" pitchFamily="34" charset="0"/>
              </a:rPr>
              <a:t>Only 1 </a:t>
            </a:r>
            <a:r>
              <a:rPr lang="en-US" sz="2800" b="1" dirty="0">
                <a:latin typeface="+mj-lt"/>
                <a:cs typeface="Segoe UI" panose="020B0502040204020203" pitchFamily="34" charset="0"/>
              </a:rPr>
              <a:t>global minimum</a:t>
            </a:r>
          </a:p>
          <a:p>
            <a:r>
              <a:rPr lang="en-US" sz="2800" dirty="0">
                <a:latin typeface="+mj-lt"/>
                <a:cs typeface="Segoe UI" panose="020B0502040204020203" pitchFamily="34" charset="0"/>
              </a:rPr>
              <a:t>From any starting point the gradient leads to global minimum</a:t>
            </a:r>
          </a:p>
          <a:p>
            <a:r>
              <a:rPr lang="en-US" sz="2800" dirty="0">
                <a:latin typeface="+mj-lt"/>
                <a:cs typeface="Segoe UI" panose="020B0502040204020203" pitchFamily="34" charset="0"/>
              </a:rPr>
              <a:t>Hessian is always </a:t>
            </a:r>
            <a:r>
              <a:rPr lang="en-US" sz="2800" b="1" dirty="0">
                <a:latin typeface="+mj-lt"/>
                <a:cs typeface="Segoe UI" panose="020B0502040204020203" pitchFamily="34" charset="0"/>
              </a:rPr>
              <a:t>positive definite </a:t>
            </a:r>
            <a:r>
              <a:rPr lang="en-US" sz="2800" dirty="0">
                <a:latin typeface="+mj-lt"/>
                <a:cs typeface="Segoe UI" panose="020B0502040204020203" pitchFamily="34" charset="0"/>
              </a:rPr>
              <a:t>– Only </a:t>
            </a:r>
            <a:r>
              <a:rPr lang="en-US" sz="2800">
                <a:latin typeface="+mj-lt"/>
                <a:cs typeface="Segoe UI" panose="020B0502040204020203" pitchFamily="34" charset="0"/>
              </a:rPr>
              <a:t>positive eigenvalues</a:t>
            </a:r>
            <a:endParaRPr lang="en-US" sz="2800" b="1" dirty="0">
              <a:latin typeface="+mj-lt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51C1AB-B7E1-450F-8C25-C883DD173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81" y="1134035"/>
            <a:ext cx="5472250" cy="458993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FA69D49-4315-4B99-8477-70E3BFF4CCDF}"/>
              </a:ext>
            </a:extLst>
          </p:cNvPr>
          <p:cNvSpPr txBox="1">
            <a:spLocks/>
          </p:cNvSpPr>
          <p:nvPr/>
        </p:nvSpPr>
        <p:spPr>
          <a:xfrm>
            <a:off x="161730" y="5703047"/>
            <a:ext cx="5725093" cy="1196721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itchFamily="34" charset="0"/>
              <a:buNone/>
            </a:pPr>
            <a:r>
              <a:rPr lang="en-US" sz="2800" b="1" dirty="0">
                <a:latin typeface="+mj-lt"/>
                <a:cs typeface="Segoe UI" panose="020B0502040204020203" pitchFamily="34" charset="0"/>
              </a:rPr>
              <a:t>Convex loss</a:t>
            </a:r>
          </a:p>
          <a:p>
            <a:pPr marL="0" indent="0" algn="ctr">
              <a:spcBef>
                <a:spcPts val="0"/>
              </a:spcBef>
              <a:buFont typeface="Arial" pitchFamily="34" charset="0"/>
              <a:buNone/>
            </a:pPr>
            <a:r>
              <a:rPr lang="en-US" sz="2800" dirty="0">
                <a:latin typeface="+mj-lt"/>
                <a:cs typeface="Segoe UI" panose="020B0502040204020203" pitchFamily="34" charset="0"/>
              </a:rPr>
              <a:t>Poorly conditioned</a:t>
            </a:r>
            <a:endParaRPr lang="en-US" dirty="0"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FB9F315E-0DDE-4FEC-80AA-8013CD20410D}"/>
              </a:ext>
            </a:extLst>
          </p:cNvPr>
          <p:cNvSpPr/>
          <p:nvPr/>
        </p:nvSpPr>
        <p:spPr>
          <a:xfrm>
            <a:off x="2898770" y="3290047"/>
            <a:ext cx="251012" cy="256988"/>
          </a:xfrm>
          <a:prstGeom prst="plus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D3C1538-8732-4F66-A219-2942F73153DD}"/>
              </a:ext>
            </a:extLst>
          </p:cNvPr>
          <p:cNvSpPr/>
          <p:nvPr/>
        </p:nvSpPr>
        <p:spPr>
          <a:xfrm>
            <a:off x="1598295" y="3476625"/>
            <a:ext cx="1314450" cy="936911"/>
          </a:xfrm>
          <a:custGeom>
            <a:avLst/>
            <a:gdLst>
              <a:gd name="connsiteX0" fmla="*/ 0 w 1314450"/>
              <a:gd name="connsiteY0" fmla="*/ 861060 h 936911"/>
              <a:gd name="connsiteX1" fmla="*/ 57150 w 1314450"/>
              <a:gd name="connsiteY1" fmla="*/ 902970 h 936911"/>
              <a:gd name="connsiteX2" fmla="*/ 100965 w 1314450"/>
              <a:gd name="connsiteY2" fmla="*/ 933450 h 936911"/>
              <a:gd name="connsiteX3" fmla="*/ 167640 w 1314450"/>
              <a:gd name="connsiteY3" fmla="*/ 933450 h 936911"/>
              <a:gd name="connsiteX4" fmla="*/ 213360 w 1314450"/>
              <a:gd name="connsiteY4" fmla="*/ 908685 h 936911"/>
              <a:gd name="connsiteX5" fmla="*/ 283845 w 1314450"/>
              <a:gd name="connsiteY5" fmla="*/ 849630 h 936911"/>
              <a:gd name="connsiteX6" fmla="*/ 716280 w 1314450"/>
              <a:gd name="connsiteY6" fmla="*/ 495300 h 936911"/>
              <a:gd name="connsiteX7" fmla="*/ 1314450 w 1314450"/>
              <a:gd name="connsiteY7" fmla="*/ 0 h 936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14450" h="936911">
                <a:moveTo>
                  <a:pt x="0" y="861060"/>
                </a:moveTo>
                <a:lnTo>
                  <a:pt x="57150" y="902970"/>
                </a:lnTo>
                <a:cubicBezTo>
                  <a:pt x="73977" y="915035"/>
                  <a:pt x="82550" y="928370"/>
                  <a:pt x="100965" y="933450"/>
                </a:cubicBezTo>
                <a:cubicBezTo>
                  <a:pt x="119380" y="938530"/>
                  <a:pt x="148908" y="937577"/>
                  <a:pt x="167640" y="933450"/>
                </a:cubicBezTo>
                <a:cubicBezTo>
                  <a:pt x="186372" y="929323"/>
                  <a:pt x="193993" y="922655"/>
                  <a:pt x="213360" y="908685"/>
                </a:cubicBezTo>
                <a:cubicBezTo>
                  <a:pt x="232727" y="894715"/>
                  <a:pt x="283845" y="849630"/>
                  <a:pt x="283845" y="849630"/>
                </a:cubicBezTo>
                <a:lnTo>
                  <a:pt x="716280" y="495300"/>
                </a:lnTo>
                <a:lnTo>
                  <a:pt x="1314450" y="0"/>
                </a:lnTo>
              </a:path>
            </a:pathLst>
          </a:custGeom>
          <a:noFill/>
          <a:ln w="50800">
            <a:solidFill>
              <a:srgbClr val="FF0000"/>
            </a:soli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142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D9BA06C-0F36-4A9C-A636-DD6BACFB7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08" y="1220210"/>
            <a:ext cx="5622527" cy="42721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AA26DA-9EBE-4A51-845C-B0968922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636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Convex vs. Non-Convex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1F63-F6C3-45B7-B4A8-9B2C4F00C8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964518" y="926352"/>
            <a:ext cx="5940245" cy="5289865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+mj-lt"/>
                <a:cs typeface="Segoe UI" panose="020B0502040204020203" pitchFamily="34" charset="0"/>
              </a:rPr>
              <a:t>Gradient descent can be problematic with </a:t>
            </a:r>
            <a:r>
              <a:rPr lang="en-US" sz="2800" b="1" dirty="0">
                <a:latin typeface="+mj-lt"/>
                <a:cs typeface="Segoe UI" panose="020B0502040204020203" pitchFamily="34" charset="0"/>
              </a:rPr>
              <a:t>nonconvex loss function</a:t>
            </a:r>
          </a:p>
          <a:p>
            <a:r>
              <a:rPr lang="en-US" sz="2800" dirty="0">
                <a:latin typeface="+mj-lt"/>
                <a:cs typeface="Segoe UI" panose="020B0502040204020203" pitchFamily="34" charset="0"/>
              </a:rPr>
              <a:t>There is a </a:t>
            </a:r>
            <a:r>
              <a:rPr lang="en-US" sz="2800" b="1" dirty="0">
                <a:latin typeface="+mj-lt"/>
                <a:cs typeface="Segoe UI" panose="020B0502040204020203" pitchFamily="34" charset="0"/>
              </a:rPr>
              <a:t>global minimum</a:t>
            </a:r>
          </a:p>
          <a:p>
            <a:r>
              <a:rPr lang="en-US" sz="2800" dirty="0">
                <a:latin typeface="+mj-lt"/>
                <a:cs typeface="Segoe UI" panose="020B0502040204020203" pitchFamily="34" charset="0"/>
              </a:rPr>
              <a:t>Possibly many </a:t>
            </a:r>
            <a:r>
              <a:rPr lang="en-US" sz="2800" b="1" dirty="0">
                <a:latin typeface="+mj-lt"/>
                <a:cs typeface="Segoe UI" panose="020B0502040204020203" pitchFamily="34" charset="0"/>
              </a:rPr>
              <a:t>local minimums</a:t>
            </a:r>
          </a:p>
          <a:p>
            <a:r>
              <a:rPr lang="en-US" sz="2800" dirty="0">
                <a:latin typeface="+mj-lt"/>
                <a:cs typeface="Segoe UI" panose="020B0502040204020203" pitchFamily="34" charset="0"/>
              </a:rPr>
              <a:t>Minimum found with gradient descent depends on starting point</a:t>
            </a:r>
          </a:p>
          <a:p>
            <a:r>
              <a:rPr lang="en-US" sz="2800" dirty="0">
                <a:latin typeface="+mj-lt"/>
                <a:cs typeface="Segoe UI" panose="020B0502040204020203" pitchFamily="34" charset="0"/>
              </a:rPr>
              <a:t>A good minimum may be good enough</a:t>
            </a:r>
          </a:p>
          <a:p>
            <a:r>
              <a:rPr lang="en-US" sz="2800" dirty="0">
                <a:latin typeface="+mj-lt"/>
                <a:cs typeface="Segoe UI" panose="020B0502040204020203" pitchFamily="34" charset="0"/>
              </a:rPr>
              <a:t>Hessian positive definite at any minimum, but globally who knows??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FA69D49-4315-4B99-8477-70E3BFF4CCDF}"/>
              </a:ext>
            </a:extLst>
          </p:cNvPr>
          <p:cNvSpPr txBox="1">
            <a:spLocks/>
          </p:cNvSpPr>
          <p:nvPr/>
        </p:nvSpPr>
        <p:spPr>
          <a:xfrm>
            <a:off x="114836" y="5617857"/>
            <a:ext cx="5725093" cy="1196721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itchFamily="34" charset="0"/>
              <a:buNone/>
            </a:pPr>
            <a:r>
              <a:rPr lang="en-US" sz="2800" b="1" dirty="0">
                <a:latin typeface="+mj-lt"/>
                <a:cs typeface="Segoe UI" panose="020B0502040204020203" pitchFamily="34" charset="0"/>
              </a:rPr>
              <a:t>Nonconvex loss</a:t>
            </a:r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AFD08F13-9D3B-48C1-9E18-31041125B9AA}"/>
              </a:ext>
            </a:extLst>
          </p:cNvPr>
          <p:cNvSpPr/>
          <p:nvPr/>
        </p:nvSpPr>
        <p:spPr>
          <a:xfrm>
            <a:off x="4408916" y="3172012"/>
            <a:ext cx="251012" cy="256988"/>
          </a:xfrm>
          <a:prstGeom prst="plus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>
            <a:extLst>
              <a:ext uri="{FF2B5EF4-FFF2-40B4-BE49-F238E27FC236}">
                <a16:creationId xmlns:a16="http://schemas.microsoft.com/office/drawing/2014/main" id="{BFBD1464-24D5-4921-96FE-679369956653}"/>
              </a:ext>
            </a:extLst>
          </p:cNvPr>
          <p:cNvSpPr/>
          <p:nvPr/>
        </p:nvSpPr>
        <p:spPr>
          <a:xfrm rot="19128044">
            <a:off x="1936794" y="3172012"/>
            <a:ext cx="251012" cy="256988"/>
          </a:xfrm>
          <a:prstGeom prst="plus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4A7CB67-1F7E-4FE3-8565-F601F798CA84}"/>
              </a:ext>
            </a:extLst>
          </p:cNvPr>
          <p:cNvSpPr/>
          <p:nvPr/>
        </p:nvSpPr>
        <p:spPr>
          <a:xfrm>
            <a:off x="1605041" y="3394710"/>
            <a:ext cx="363870" cy="786765"/>
          </a:xfrm>
          <a:custGeom>
            <a:avLst/>
            <a:gdLst>
              <a:gd name="connsiteX0" fmla="*/ 238140 w 363870"/>
              <a:gd name="connsiteY0" fmla="*/ 786765 h 786765"/>
              <a:gd name="connsiteX1" fmla="*/ 116220 w 363870"/>
              <a:gd name="connsiteY1" fmla="*/ 643890 h 786765"/>
              <a:gd name="connsiteX2" fmla="*/ 38115 w 363870"/>
              <a:gd name="connsiteY2" fmla="*/ 510540 h 786765"/>
              <a:gd name="connsiteX3" fmla="*/ 15 w 363870"/>
              <a:gd name="connsiteY3" fmla="*/ 384810 h 786765"/>
              <a:gd name="connsiteX4" fmla="*/ 41925 w 363870"/>
              <a:gd name="connsiteY4" fmla="*/ 285750 h 786765"/>
              <a:gd name="connsiteX5" fmla="*/ 144795 w 363870"/>
              <a:gd name="connsiteY5" fmla="*/ 171450 h 786765"/>
              <a:gd name="connsiteX6" fmla="*/ 278145 w 363870"/>
              <a:gd name="connsiteY6" fmla="*/ 59055 h 786765"/>
              <a:gd name="connsiteX7" fmla="*/ 363870 w 363870"/>
              <a:gd name="connsiteY7" fmla="*/ 0 h 786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3870" h="786765">
                <a:moveTo>
                  <a:pt x="238140" y="786765"/>
                </a:moveTo>
                <a:cubicBezTo>
                  <a:pt x="193848" y="738346"/>
                  <a:pt x="149557" y="689927"/>
                  <a:pt x="116220" y="643890"/>
                </a:cubicBezTo>
                <a:cubicBezTo>
                  <a:pt x="82882" y="597852"/>
                  <a:pt x="57483" y="553720"/>
                  <a:pt x="38115" y="510540"/>
                </a:cubicBezTo>
                <a:cubicBezTo>
                  <a:pt x="18747" y="467360"/>
                  <a:pt x="-620" y="422275"/>
                  <a:pt x="15" y="384810"/>
                </a:cubicBezTo>
                <a:cubicBezTo>
                  <a:pt x="650" y="347345"/>
                  <a:pt x="17795" y="321310"/>
                  <a:pt x="41925" y="285750"/>
                </a:cubicBezTo>
                <a:cubicBezTo>
                  <a:pt x="66055" y="250190"/>
                  <a:pt x="105425" y="209232"/>
                  <a:pt x="144795" y="171450"/>
                </a:cubicBezTo>
                <a:cubicBezTo>
                  <a:pt x="184165" y="133667"/>
                  <a:pt x="241633" y="87630"/>
                  <a:pt x="278145" y="59055"/>
                </a:cubicBezTo>
                <a:cubicBezTo>
                  <a:pt x="314657" y="30480"/>
                  <a:pt x="339263" y="15240"/>
                  <a:pt x="363870" y="0"/>
                </a:cubicBezTo>
              </a:path>
            </a:pathLst>
          </a:custGeom>
          <a:noFill/>
          <a:ln w="50800">
            <a:solidFill>
              <a:srgbClr val="FF0000"/>
            </a:soli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19D7A16-72A9-4B4D-9287-8C2CB48B6602}"/>
              </a:ext>
            </a:extLst>
          </p:cNvPr>
          <p:cNvSpPr/>
          <p:nvPr/>
        </p:nvSpPr>
        <p:spPr>
          <a:xfrm>
            <a:off x="2585085" y="3394710"/>
            <a:ext cx="1819275" cy="914765"/>
          </a:xfrm>
          <a:custGeom>
            <a:avLst/>
            <a:gdLst>
              <a:gd name="connsiteX0" fmla="*/ 0 w 1819275"/>
              <a:gd name="connsiteY0" fmla="*/ 775335 h 914765"/>
              <a:gd name="connsiteX1" fmla="*/ 169545 w 1819275"/>
              <a:gd name="connsiteY1" fmla="*/ 859155 h 914765"/>
              <a:gd name="connsiteX2" fmla="*/ 291465 w 1819275"/>
              <a:gd name="connsiteY2" fmla="*/ 899160 h 914765"/>
              <a:gd name="connsiteX3" fmla="*/ 396240 w 1819275"/>
              <a:gd name="connsiteY3" fmla="*/ 914400 h 914765"/>
              <a:gd name="connsiteX4" fmla="*/ 581025 w 1819275"/>
              <a:gd name="connsiteY4" fmla="*/ 885825 h 914765"/>
              <a:gd name="connsiteX5" fmla="*/ 695325 w 1819275"/>
              <a:gd name="connsiteY5" fmla="*/ 834390 h 914765"/>
              <a:gd name="connsiteX6" fmla="*/ 744855 w 1819275"/>
              <a:gd name="connsiteY6" fmla="*/ 794385 h 914765"/>
              <a:gd name="connsiteX7" fmla="*/ 1089660 w 1819275"/>
              <a:gd name="connsiteY7" fmla="*/ 548640 h 914765"/>
              <a:gd name="connsiteX8" fmla="*/ 1624965 w 1819275"/>
              <a:gd name="connsiteY8" fmla="*/ 144780 h 914765"/>
              <a:gd name="connsiteX9" fmla="*/ 1819275 w 1819275"/>
              <a:gd name="connsiteY9" fmla="*/ 0 h 914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19275" h="914765">
                <a:moveTo>
                  <a:pt x="0" y="775335"/>
                </a:moveTo>
                <a:cubicBezTo>
                  <a:pt x="60484" y="806926"/>
                  <a:pt x="120968" y="838518"/>
                  <a:pt x="169545" y="859155"/>
                </a:cubicBezTo>
                <a:cubicBezTo>
                  <a:pt x="218122" y="879792"/>
                  <a:pt x="253683" y="889953"/>
                  <a:pt x="291465" y="899160"/>
                </a:cubicBezTo>
                <a:cubicBezTo>
                  <a:pt x="329247" y="908367"/>
                  <a:pt x="347980" y="916622"/>
                  <a:pt x="396240" y="914400"/>
                </a:cubicBezTo>
                <a:cubicBezTo>
                  <a:pt x="444500" y="912178"/>
                  <a:pt x="531177" y="899160"/>
                  <a:pt x="581025" y="885825"/>
                </a:cubicBezTo>
                <a:cubicBezTo>
                  <a:pt x="630873" y="872490"/>
                  <a:pt x="668020" y="849630"/>
                  <a:pt x="695325" y="834390"/>
                </a:cubicBezTo>
                <a:cubicBezTo>
                  <a:pt x="722630" y="819150"/>
                  <a:pt x="679133" y="842010"/>
                  <a:pt x="744855" y="794385"/>
                </a:cubicBezTo>
                <a:cubicBezTo>
                  <a:pt x="810578" y="746760"/>
                  <a:pt x="942975" y="656907"/>
                  <a:pt x="1089660" y="548640"/>
                </a:cubicBezTo>
                <a:cubicBezTo>
                  <a:pt x="1236345" y="440373"/>
                  <a:pt x="1624965" y="144780"/>
                  <a:pt x="1624965" y="144780"/>
                </a:cubicBezTo>
                <a:lnTo>
                  <a:pt x="1819275" y="0"/>
                </a:lnTo>
              </a:path>
            </a:pathLst>
          </a:custGeom>
          <a:noFill/>
          <a:ln w="50800">
            <a:solidFill>
              <a:srgbClr val="FF0000"/>
            </a:solidFill>
            <a:headEnd type="oval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229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  <p:bldP spid="9" grpId="0" animBg="1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26DA-9EBE-4A51-845C-B0968922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636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Convex vs. Non-Convex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1F63-F6C3-45B7-B4A8-9B2C4F00C8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18306" y="1153160"/>
            <a:ext cx="5886457" cy="5063058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+mj-lt"/>
                <a:cs typeface="Segoe UI" panose="020B0502040204020203" pitchFamily="34" charset="0"/>
              </a:rPr>
              <a:t>Gradient descent can be problematic with </a:t>
            </a:r>
            <a:r>
              <a:rPr lang="en-US" sz="2800" b="1" dirty="0">
                <a:latin typeface="+mj-lt"/>
                <a:cs typeface="Segoe UI" panose="020B0502040204020203" pitchFamily="34" charset="0"/>
              </a:rPr>
              <a:t>nonconvex loss function</a:t>
            </a:r>
          </a:p>
          <a:p>
            <a:r>
              <a:rPr lang="en-US" sz="2800" dirty="0">
                <a:latin typeface="+mj-lt"/>
                <a:cs typeface="Segoe UI" panose="020B0502040204020203" pitchFamily="34" charset="0"/>
              </a:rPr>
              <a:t>Can get stuck at </a:t>
            </a:r>
            <a:r>
              <a:rPr lang="en-US" sz="2800" b="1" dirty="0">
                <a:latin typeface="+mj-lt"/>
                <a:cs typeface="Segoe UI" panose="020B0502040204020203" pitchFamily="34" charset="0"/>
              </a:rPr>
              <a:t>saddle point!</a:t>
            </a:r>
          </a:p>
          <a:p>
            <a:r>
              <a:rPr lang="en-US" sz="2800" dirty="0">
                <a:latin typeface="+mj-lt"/>
                <a:cs typeface="Segoe UI" panose="020B0502040204020203" pitchFamily="34" charset="0"/>
              </a:rPr>
              <a:t>Gradient is ambiguous at saddle point</a:t>
            </a:r>
          </a:p>
          <a:p>
            <a:r>
              <a:rPr lang="en-US" sz="2800" dirty="0">
                <a:latin typeface="+mj-lt"/>
                <a:cs typeface="Segoe UI" panose="020B0502040204020203" pitchFamily="34" charset="0"/>
              </a:rPr>
              <a:t>Hessian is not positive definite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FA69D49-4315-4B99-8477-70E3BFF4CCDF}"/>
              </a:ext>
            </a:extLst>
          </p:cNvPr>
          <p:cNvSpPr txBox="1">
            <a:spLocks/>
          </p:cNvSpPr>
          <p:nvPr/>
        </p:nvSpPr>
        <p:spPr>
          <a:xfrm>
            <a:off x="115142" y="5647200"/>
            <a:ext cx="5725093" cy="1196721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itchFamily="34" charset="0"/>
              <a:buNone/>
            </a:pPr>
            <a:r>
              <a:rPr lang="en-US" sz="2800" b="1" dirty="0">
                <a:latin typeface="+mj-lt"/>
                <a:cs typeface="Segoe UI" panose="020B0502040204020203" pitchFamily="34" charset="0"/>
              </a:rPr>
              <a:t>Nonconvex loss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9BA06C-0F36-4A9C-A636-DD6BACFB7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24" y="1220210"/>
            <a:ext cx="5622527" cy="4272166"/>
          </a:xfrm>
          <a:prstGeom prst="rect">
            <a:avLst/>
          </a:prstGeom>
        </p:spPr>
      </p:pic>
      <p:sp>
        <p:nvSpPr>
          <p:cNvPr id="7" name="Cross 6">
            <a:extLst>
              <a:ext uri="{FF2B5EF4-FFF2-40B4-BE49-F238E27FC236}">
                <a16:creationId xmlns:a16="http://schemas.microsoft.com/office/drawing/2014/main" id="{B3909A94-6B91-437F-BC2B-66B95DAC48DA}"/>
              </a:ext>
            </a:extLst>
          </p:cNvPr>
          <p:cNvSpPr/>
          <p:nvPr/>
        </p:nvSpPr>
        <p:spPr>
          <a:xfrm>
            <a:off x="3054432" y="3227799"/>
            <a:ext cx="251012" cy="256988"/>
          </a:xfrm>
          <a:prstGeom prst="plus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2F12E40-2E42-4B77-960F-2F46502F170A}"/>
              </a:ext>
            </a:extLst>
          </p:cNvPr>
          <p:cNvCxnSpPr>
            <a:cxnSpLocks/>
          </p:cNvCxnSpPr>
          <p:nvPr/>
        </p:nvCxnSpPr>
        <p:spPr>
          <a:xfrm>
            <a:off x="3228681" y="3356293"/>
            <a:ext cx="212413" cy="198188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4A0DD6-251E-4758-8998-FCBAF4894024}"/>
              </a:ext>
            </a:extLst>
          </p:cNvPr>
          <p:cNvCxnSpPr>
            <a:cxnSpLocks/>
          </p:cNvCxnSpPr>
          <p:nvPr/>
        </p:nvCxnSpPr>
        <p:spPr>
          <a:xfrm flipH="1" flipV="1">
            <a:off x="2854036" y="3172012"/>
            <a:ext cx="257985" cy="12849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064A174-D7D6-4166-95BA-180BC27E3CE2}"/>
              </a:ext>
            </a:extLst>
          </p:cNvPr>
          <p:cNvSpPr txBox="1">
            <a:spLocks/>
          </p:cNvSpPr>
          <p:nvPr/>
        </p:nvSpPr>
        <p:spPr>
          <a:xfrm>
            <a:off x="3285145" y="3356293"/>
            <a:ext cx="499308" cy="463971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itchFamily="34" charset="0"/>
              <a:buNone/>
            </a:pPr>
            <a:r>
              <a:rPr lang="en-US" sz="2800" b="1" dirty="0">
                <a:solidFill>
                  <a:srgbClr val="FF0000"/>
                </a:solidFill>
                <a:latin typeface="+mj-lt"/>
                <a:cs typeface="Segoe UI" panose="020B0502040204020203" pitchFamily="34" charset="0"/>
              </a:rPr>
              <a:t>?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1173BDA-736D-493B-96BF-F9C4DB513E0E}"/>
              </a:ext>
            </a:extLst>
          </p:cNvPr>
          <p:cNvSpPr txBox="1">
            <a:spLocks/>
          </p:cNvSpPr>
          <p:nvPr/>
        </p:nvSpPr>
        <p:spPr>
          <a:xfrm>
            <a:off x="2576781" y="2892322"/>
            <a:ext cx="499308" cy="463971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itchFamily="34" charset="0"/>
              <a:buNone/>
            </a:pPr>
            <a:r>
              <a:rPr lang="en-US" sz="2800" b="1" dirty="0">
                <a:solidFill>
                  <a:srgbClr val="FF0000"/>
                </a:solidFill>
                <a:latin typeface="+mj-lt"/>
                <a:cs typeface="Segoe UI" panose="020B0502040204020203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70077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15" grpId="0" uiExpand="1" build="p"/>
      <p:bldP spid="16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Batch Gradient Descent Algorithms</a:t>
            </a:r>
          </a:p>
        </p:txBody>
      </p:sp>
    </p:spTree>
    <p:extLst>
      <p:ext uri="{BB962C8B-B14F-4D97-AF65-F5344CB8AC3E}">
        <p14:creationId xmlns:p14="http://schemas.microsoft.com/office/powerpoint/2010/main" val="21872696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26DA-9EBE-4A51-845C-B0968922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636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Batch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1F63-F6C3-45B7-B4A8-9B2C4F00C8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080135"/>
            <a:ext cx="11525250" cy="565785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Recall the basic gradient descent equation: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46E0CD-0240-490F-B6BE-F6F0942E1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767" y="1645921"/>
            <a:ext cx="4127633" cy="5538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6CF179-45C2-4112-95F9-68E3650EB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573" y="2830749"/>
            <a:ext cx="8832027" cy="495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ED2F79-DD9A-4B7D-950C-9B48A7C1E2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201" y="4029121"/>
            <a:ext cx="4803119" cy="4056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F30A66-623A-4B6D-AC0D-F02CAAFB26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573" y="3406797"/>
            <a:ext cx="8683625" cy="514058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0370B45-92CE-4543-8071-C746FF2C701A}"/>
              </a:ext>
            </a:extLst>
          </p:cNvPr>
          <p:cNvSpPr txBox="1">
            <a:spLocks/>
          </p:cNvSpPr>
          <p:nvPr/>
        </p:nvSpPr>
        <p:spPr>
          <a:xfrm>
            <a:off x="379514" y="2184391"/>
            <a:ext cx="11525250" cy="565785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Where: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F29A627-2919-4967-897B-5A55C5BDC824}"/>
              </a:ext>
            </a:extLst>
          </p:cNvPr>
          <p:cNvSpPr txBox="1">
            <a:spLocks/>
          </p:cNvSpPr>
          <p:nvPr/>
        </p:nvSpPr>
        <p:spPr>
          <a:xfrm>
            <a:off x="379514" y="4598987"/>
            <a:ext cx="11525250" cy="565785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gradients of the multi-layer NN are computed using the chain rule</a:t>
            </a:r>
          </a:p>
        </p:txBody>
      </p:sp>
    </p:spTree>
    <p:extLst>
      <p:ext uri="{BB962C8B-B14F-4D97-AF65-F5344CB8AC3E}">
        <p14:creationId xmlns:p14="http://schemas.microsoft.com/office/powerpoint/2010/main" val="3232993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10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26DA-9EBE-4A51-845C-B0968922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636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Batch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1F63-F6C3-45B7-B4A8-9B2C4F00C8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1080135"/>
            <a:ext cx="11525250" cy="565785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Can we use the gradient descent equation directly?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Yes, we can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Iterate the weight tensor relation until a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stopping criteria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or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error tolerance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is reached:</a:t>
            </a:r>
          </a:p>
          <a:p>
            <a:pPr marL="2743200" lvl="2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||W</a:t>
            </a:r>
            <a:r>
              <a:rPr lang="en-US" sz="2800" baseline="30000" dirty="0">
                <a:latin typeface="Segoe UI" panose="020B0502040204020203" pitchFamily="34" charset="0"/>
                <a:cs typeface="Segoe UI" panose="020B0502040204020203" pitchFamily="34" charset="0"/>
              </a:rPr>
              <a:t>t+1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–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W</a:t>
            </a:r>
            <a:r>
              <a:rPr lang="en-US" sz="2800" baseline="30000" dirty="0" err="1">
                <a:latin typeface="Segoe UI" panose="020B0502040204020203" pitchFamily="34" charset="0"/>
                <a:cs typeface="Segoe UI" panose="020B0502040204020203" pitchFamily="34" charset="0"/>
              </a:rPr>
              <a:t>t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|| &lt; tolerance 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But;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Must compute the gradient for all weights at one time as a 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batch 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at each step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Does not scale if there are a large number of weights, e.g. for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274284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Stochastic 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15136168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26DA-9EBE-4A51-845C-B0968922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636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Stochastic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1F63-F6C3-45B7-B4A8-9B2C4F00C8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3" y="991552"/>
            <a:ext cx="11359495" cy="4612005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Need a highly scalable gradient descent algorithm</a:t>
            </a:r>
          </a:p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Stochastic gradient descent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is just such a method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weight tensor update for stochastic gradient descent follows this relationship: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C00C27-2E17-4182-8F16-90D773019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331" y="3215640"/>
            <a:ext cx="4588949" cy="83787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5928695-C8E3-4107-A182-E0E2E30AF97F}"/>
              </a:ext>
            </a:extLst>
          </p:cNvPr>
          <p:cNvSpPr txBox="1">
            <a:spLocks/>
          </p:cNvSpPr>
          <p:nvPr/>
        </p:nvSpPr>
        <p:spPr>
          <a:xfrm>
            <a:off x="272396" y="3935694"/>
            <a:ext cx="11525250" cy="663604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046" lvl="1" indent="0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Where:</a:t>
            </a:r>
          </a:p>
          <a:p>
            <a:pPr marL="457046" lvl="1" indent="0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               is the Bernoulli sampled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mini-batch</a:t>
            </a:r>
          </a:p>
          <a:p>
            <a:pPr marL="457046" lvl="1" indent="0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                is the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expected value of the gradient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given the Bernoulli</a:t>
            </a:r>
          </a:p>
          <a:p>
            <a:pPr marL="457046" lvl="1" indent="0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                sample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D58561-EB66-4CAA-8ABF-27EA17D71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902" y="4515181"/>
            <a:ext cx="866097" cy="4596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877A56-6EA0-411A-87B0-C6E975E74D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40" y="4935176"/>
            <a:ext cx="1082038" cy="580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643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26DA-9EBE-4A51-845C-B0968922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636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Stochastic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1F63-F6C3-45B7-B4A8-9B2C4F00C8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1183005"/>
            <a:ext cx="11525250" cy="4612005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Stochastic gradient descent is massively scalable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Stochastic gradient descent is known to converge well in practice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Empirically, using mini-batch samples provide a better exploration of the loss function space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Can help solution escape from small local gradient problems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Sampling is dependent on mini-batch size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141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26DA-9EBE-4A51-845C-B0968922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636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Stochastic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1F63-F6C3-45B7-B4A8-9B2C4F00C8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1183005"/>
            <a:ext cx="11525250" cy="4612005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Stochastic gradient descent algorithm</a:t>
            </a: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Random_sort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(cases)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while(grad &gt;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stopping_criteria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		mini-batch =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sample_next_n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(cases)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		grad =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compute_expected_grad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mini_batch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		weights =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update_weights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(weights, grad)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Notice that the addition rounds repeat the samples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In practice this does not create much bias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For large samples this may not happen</a:t>
            </a:r>
          </a:p>
          <a:p>
            <a:pPr marL="0" indent="0">
              <a:buNone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49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Improving Convergence of SGD</a:t>
            </a:r>
          </a:p>
        </p:txBody>
      </p:sp>
    </p:spTree>
    <p:extLst>
      <p:ext uri="{BB962C8B-B14F-4D97-AF65-F5344CB8AC3E}">
        <p14:creationId xmlns:p14="http://schemas.microsoft.com/office/powerpoint/2010/main" val="35173288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26DA-9EBE-4A51-845C-B0968922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63604"/>
          </a:xfrm>
        </p:spPr>
        <p:txBody>
          <a:bodyPr>
            <a:norm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Stochastic Gradient Descent with Momentum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1F63-F6C3-45B7-B4A8-9B2C4F00C8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957262"/>
            <a:ext cx="11525250" cy="546016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Momentum improves convergence of SGD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Stochastic gradient descent is slow to converge if flat spots in the gradient are encountered – Hessian with small eigenvalues 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What is a solution? 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Add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momentum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to the gradient;</a:t>
            </a:r>
          </a:p>
          <a:p>
            <a:pPr marL="457046" lvl="1" indent="0">
              <a:buNone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Where: </a:t>
            </a:r>
          </a:p>
          <a:p>
            <a:pPr marL="457046" lvl="1" indent="0">
              <a:buNone/>
            </a:pP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Analogy with Newtonian mechanics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Momentum maintains the trajectory of the descent through flat gradient regions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2306ED-BA57-4AC2-A4EF-363812B42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731" y="3285711"/>
            <a:ext cx="3169909" cy="3591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3946D1-014D-470C-AF81-93144D0E7D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8651" y="3772535"/>
            <a:ext cx="2099248" cy="3534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456E21-5558-47EF-A6B3-CCABE83A5E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8651" y="4221481"/>
            <a:ext cx="2205989" cy="31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510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26DA-9EBE-4A51-845C-B0968922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63604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Stochastic Gradient Descent with Momentum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1F63-F6C3-45B7-B4A8-9B2C4F00C8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4820" y="1062990"/>
            <a:ext cx="11525250" cy="611505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Letting the mass be 1.0 update the weight tensor in  two steps: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68825E-800D-44EA-B027-6CE0B0380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623061"/>
            <a:ext cx="6238240" cy="123627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BC77B7C-9A75-4F8C-A96E-3AA1A62FC17A}"/>
              </a:ext>
            </a:extLst>
          </p:cNvPr>
          <p:cNvSpPr txBox="1">
            <a:spLocks/>
          </p:cNvSpPr>
          <p:nvPr/>
        </p:nvSpPr>
        <p:spPr>
          <a:xfrm>
            <a:off x="609600" y="2817495"/>
            <a:ext cx="11525250" cy="611505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Where: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30FFA5-3183-4292-8B2B-EC2231424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103" y="2902892"/>
            <a:ext cx="3421114" cy="3705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BC691F-1EC7-4EC8-AE35-8BBBB1ED8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151" y="3367968"/>
            <a:ext cx="5291332" cy="3000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5B812D-2ACB-4526-BED6-5B84A61C99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2151" y="3699239"/>
            <a:ext cx="2813050" cy="359258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EBBA345-14A0-4D2A-8013-8A34CE2F7C6F}"/>
              </a:ext>
            </a:extLst>
          </p:cNvPr>
          <p:cNvSpPr txBox="1">
            <a:spLocks/>
          </p:cNvSpPr>
          <p:nvPr/>
        </p:nvSpPr>
        <p:spPr>
          <a:xfrm>
            <a:off x="534670" y="4266247"/>
            <a:ext cx="11525250" cy="611505"/>
          </a:xfrm>
          <a:prstGeom prst="rect">
            <a:avLst/>
          </a:prstGeom>
        </p:spPr>
        <p:txBody>
          <a:bodyPr/>
          <a:lstStyle>
            <a:lvl1pPr marL="342783" indent="-342783" algn="l" defTabSz="914088" rtl="0" eaLnBrk="1" latinLnBrk="0" hangingPunct="1">
              <a:spcBef>
                <a:spcPts val="1400"/>
              </a:spcBef>
              <a:buFont typeface="Arial" pitchFamily="34" charset="0"/>
              <a:buChar char="•"/>
              <a:defRPr sz="3200" b="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742698" indent="-285652" algn="l" defTabSz="914088" rtl="0" eaLnBrk="1" latinLnBrk="0" hangingPunct="1">
              <a:spcBef>
                <a:spcPts val="300"/>
              </a:spcBef>
              <a:spcAft>
                <a:spcPts val="300"/>
              </a:spcAft>
              <a:buFont typeface="Arial" pitchFamily="34" charset="0"/>
              <a:buChar char="–"/>
              <a:defRPr sz="28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2612" indent="-228522" algn="l" defTabSz="914088" rtl="0" eaLnBrk="1" latinLnBrk="0" hangingPunct="1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  <a:defRPr sz="24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599657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6700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0" baseline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3745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89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33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78" indent="-228522" algn="l" defTabSz="9140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Notice the algorithm now has two hyperparameters</a:t>
            </a:r>
          </a:p>
        </p:txBody>
      </p:sp>
    </p:spTree>
    <p:extLst>
      <p:ext uri="{BB962C8B-B14F-4D97-AF65-F5344CB8AC3E}">
        <p14:creationId xmlns:p14="http://schemas.microsoft.com/office/powerpoint/2010/main" val="2491612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12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26DA-9EBE-4A51-845C-B0968922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63604"/>
          </a:xfrm>
        </p:spPr>
        <p:txBody>
          <a:bodyPr>
            <a:norm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Adaptive Stochastic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1F63-F6C3-45B7-B4A8-9B2C4F00C8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4815" y="902970"/>
            <a:ext cx="11525250" cy="558927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How can we improve convergence with a variable learning rate?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 single learning rate is not likely to be optimal</a:t>
            </a:r>
          </a:p>
          <a:p>
            <a:pPr marL="857115" lvl="1" indent="-457200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Far from the minimum, a large learning rate speeds convergence</a:t>
            </a:r>
          </a:p>
          <a:p>
            <a:pPr marL="857115" lvl="1" indent="-457200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Near the minimum a small learning rate prevents over-shooting the minimum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Use a manually created learning schedule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Introduces additional hyperparameters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Use an adaptive algorithm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Learning rate is adjusted based on the estimates of the gradient</a:t>
            </a:r>
          </a:p>
        </p:txBody>
      </p:sp>
    </p:spTree>
    <p:extLst>
      <p:ext uri="{BB962C8B-B14F-4D97-AF65-F5344CB8AC3E}">
        <p14:creationId xmlns:p14="http://schemas.microsoft.com/office/powerpoint/2010/main" val="1760686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A26DA-9EBE-4A51-845C-B0968922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14" y="182216"/>
            <a:ext cx="11524432" cy="663604"/>
          </a:xfrm>
        </p:spPr>
        <p:txBody>
          <a:bodyPr>
            <a:norm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Selecting Initial Weight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1F63-F6C3-45B7-B4A8-9B2C4F00C8D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4815" y="902970"/>
            <a:ext cx="11525250" cy="530352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To prevent weights from becoming linearly dependent 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initial values must be randomly selected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Otherwise, some weight values are never learned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Simple truncated Gaussian or Uniform distributed values work well in practice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This process is referred as adding </a:t>
            </a: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fuzz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to the initial values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Many other initialization schemes have been developed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For example, see the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Keras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 initializers documentation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24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Appendix: Review of Eigenvectors and Eigenvalues</a:t>
            </a:r>
          </a:p>
        </p:txBody>
      </p:sp>
    </p:spTree>
    <p:extLst>
      <p:ext uri="{BB962C8B-B14F-4D97-AF65-F5344CB8AC3E}">
        <p14:creationId xmlns:p14="http://schemas.microsoft.com/office/powerpoint/2010/main" val="26206297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Review of Eigenvalues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Eigenvalues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are characteristic roots or characteristic values of a linear system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Start with a square n x n matrix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A,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and vector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 x: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Then, an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eigenvalue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of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has the property: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CF38E3-1B3F-436C-97BF-63AD5ED66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764" y="2613017"/>
            <a:ext cx="4475709" cy="22675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1B4C32-37D6-4341-BA80-631043D4F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182" y="2617521"/>
            <a:ext cx="1653578" cy="23835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EA1668-3240-481F-9ADA-8EBE27A38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411" y="5848341"/>
            <a:ext cx="1554513" cy="38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991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Review of Eigenvalues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Eigenvalues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are characteristic roots or characteristic values of a linear system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Rewrite the eigenvalue relationship: 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To see that </a:t>
            </a:r>
            <a:r>
              <a:rPr lang="en-US" sz="2800" dirty="0">
                <a:latin typeface="Symbol" panose="05050102010706020507" pitchFamily="18" charset="2"/>
                <a:cs typeface="Segoe UI" panose="020B0502040204020203" pitchFamily="34" charset="0"/>
              </a:rPr>
              <a:t>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is a root of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we can rearrange as follows: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EA1668-3240-481F-9ADA-8EBE27A38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391" y="2602221"/>
            <a:ext cx="1554513" cy="3886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7ECF0E-4535-45CF-9C92-AF8E6CAD2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391" y="3185218"/>
            <a:ext cx="5064260" cy="17754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0533CD-4735-4F33-89BD-8EFA70FAB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763" y="5611626"/>
            <a:ext cx="2446991" cy="3410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F4DAA7-9F50-47C2-9B46-BABFA5B1A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5696" y="6056341"/>
            <a:ext cx="2597382" cy="41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329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Review of Eigenvalues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Eigenvalues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are characteristic roots or characteristic values of a linear system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 n x n matrix A will have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n eigenvalues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Find eigenvalues by solving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Find n roots of 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determinant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For more detail on determinants see: 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https://en.wikipedia.org/wiki/Determinant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F4DAA7-9F50-47C2-9B46-BABFA5B1A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311" y="3267421"/>
            <a:ext cx="2597382" cy="4130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2F8876-69CB-4798-BDF2-B1C4264CC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0626" y="4514842"/>
            <a:ext cx="2597382" cy="3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533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Review of Eigenvalues and Eigenvectors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Each eigenvalue of a square matrix is associated with an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eigenvector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There is a left and right eigenvector for each eigenvalue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right eigenvector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has the following relationship to the matrix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and eigenvalue </a:t>
            </a:r>
            <a:r>
              <a:rPr lang="en-US" sz="2800" dirty="0">
                <a:latin typeface="Symbol" panose="05050102010706020507" pitchFamily="18" charset="2"/>
                <a:cs typeface="Segoe UI" panose="020B0502040204020203" pitchFamily="34" charset="0"/>
              </a:rPr>
              <a:t>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Notice that the right eigenvector is to the right of the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0DD0EB-E14E-4A1D-996D-436AD5067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871" y="3631177"/>
            <a:ext cx="2178233" cy="4950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F57897-AE9D-486D-83E1-C440D9F29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444" y="4192895"/>
            <a:ext cx="3240350" cy="49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557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Review of Eigenvalues and Eigenvectors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Each eigenvalue of a square matrix is associated with an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eigenvector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There is also a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left eigenvector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with the following relationship to the matrix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and eigenvalue </a:t>
            </a:r>
            <a:r>
              <a:rPr lang="en-US" sz="2800" dirty="0">
                <a:latin typeface="Symbol" panose="05050102010706020507" pitchFamily="18" charset="2"/>
                <a:cs typeface="Segoe UI" panose="020B0502040204020203" pitchFamily="34" charset="0"/>
              </a:rPr>
              <a:t>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Notice that the left eigenvector is to the left of the matrix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415EF6-4D4E-465E-B270-AC40CCF10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115" y="3135083"/>
            <a:ext cx="2013625" cy="4614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10A768-FA1A-480B-8B3A-E17398600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138" y="3759245"/>
            <a:ext cx="2714332" cy="6204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B5F11F-C2D8-4B13-859C-75C34FC23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2304" y="4576426"/>
            <a:ext cx="3280490" cy="56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465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Review of Eigenvalues and Eigenvectors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Each eigenvalue of a square matrix is associated with an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eigenvector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l2 norm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of any eigenvector is 1: </a:t>
            </a: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This property means that the matrix of n eigenvectors,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Q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is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unitary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For a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full rank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matrix, each eigenvector is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orthogonal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to every other eigenvector, and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linearly independent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Thus, for diagonal matrix of n eigenvalues, </a:t>
            </a:r>
            <a:r>
              <a:rPr lang="en-US" sz="2800" dirty="0">
                <a:latin typeface="Symbol" panose="05050102010706020507" pitchFamily="18" charset="2"/>
                <a:cs typeface="Segoe UI" panose="020B0502040204020203" pitchFamily="34" charset="0"/>
              </a:rPr>
              <a:t>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an n x n matrix,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can be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factored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D5A706-AE59-4938-9034-7B4C6590F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756" y="2615553"/>
            <a:ext cx="4894368" cy="4991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52BD74-B5D4-4FC4-850F-4480FD65D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005" y="5846514"/>
            <a:ext cx="1974133" cy="49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815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Review of Eigenvalues and Eigenvectors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Each eigenvalue of a square matrix is associated with an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eigenvector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Given the eigenvalue-eigenvector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factorization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of the matrix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inverse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of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can be found: </a:t>
            </a: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And, A to 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Nth power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can be computed: 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You can find more on eigenvalue-eigenvector decomposition: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https://en.wikipedia.org/wiki/Eigendecomposition_of_a_matrix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52BD74-B5D4-4FC4-850F-4480FD65D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830" y="2581264"/>
            <a:ext cx="1974133" cy="4991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1C9548-E9C3-465E-A619-8DA19A7E5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763" y="3851910"/>
            <a:ext cx="2745261" cy="4229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630BCD-6C5E-41B8-8898-00E90F59C2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7763" y="5046355"/>
            <a:ext cx="2560006" cy="53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427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Review of Eigenvalues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Eigenvalues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are characteristic roots or characteristic values of a linear system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Start with a square n x n matrix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A,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and vector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 x: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Then, an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eigenvalue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of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has the property: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CF38E3-1B3F-436C-97BF-63AD5ED66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764" y="2613017"/>
            <a:ext cx="4475709" cy="22675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1B4C32-37D6-4341-BA80-631043D4F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182" y="2617521"/>
            <a:ext cx="1653578" cy="23835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EA1668-3240-481F-9ADA-8EBE27A38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411" y="5848341"/>
            <a:ext cx="1554513" cy="38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948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Review of Eigenvalues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Eigenvalues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are characteristic roots or characteristic values of a linear system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Rewrite the eigenvalue relationship: 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To see that </a:t>
            </a:r>
            <a:r>
              <a:rPr lang="en-US" sz="2800" dirty="0">
                <a:latin typeface="Symbol" panose="05050102010706020507" pitchFamily="18" charset="2"/>
                <a:cs typeface="Segoe UI" panose="020B0502040204020203" pitchFamily="34" charset="0"/>
              </a:rPr>
              <a:t>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is a root of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we can rearrange as follows: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EA1668-3240-481F-9ADA-8EBE27A38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391" y="2602221"/>
            <a:ext cx="1554513" cy="3886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7ECF0E-4535-45CF-9C92-AF8E6CAD2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391" y="3185218"/>
            <a:ext cx="5064260" cy="17754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0533CD-4735-4F33-89BD-8EFA70FAB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763" y="5611626"/>
            <a:ext cx="2446991" cy="3410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F4DAA7-9F50-47C2-9B46-BABFA5B1A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5696" y="6056341"/>
            <a:ext cx="2597382" cy="41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570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Review of Eigenvalues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Eigenvalues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are characteristic roots or characteristic values of a linear system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 n x n matrix A will have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n eigenvalues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Find eigenvalues by solving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Solve n equations involving 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determinant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For more detail on determinants see: 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https://en.wikipedia.org/wiki/Determinant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F4DAA7-9F50-47C2-9B46-BABFA5B1A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311" y="3267421"/>
            <a:ext cx="2597382" cy="4130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2F8876-69CB-4798-BDF2-B1C4264CC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0626" y="4514842"/>
            <a:ext cx="2597382" cy="3596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329F0C-D518-49F7-8185-35E76D9B129C}"/>
              </a:ext>
            </a:extLst>
          </p:cNvPr>
          <p:cNvSpPr txBox="1"/>
          <p:nvPr/>
        </p:nvSpPr>
        <p:spPr>
          <a:xfrm>
            <a:off x="1281953" y="6595077"/>
            <a:ext cx="88840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Copyright 2020, Stephen F Elston.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882176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Review of Eigenvalues and Eigenvectors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Each eigenvalue of a square matrix is associated with an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eigenvector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There is a left and right eigenvector for each eigenvalue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right eigenvector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has the following relationship to the matrix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and eigenvalue </a:t>
            </a:r>
            <a:r>
              <a:rPr lang="en-US" sz="2800" dirty="0">
                <a:latin typeface="Symbol" panose="05050102010706020507" pitchFamily="18" charset="2"/>
                <a:cs typeface="Segoe UI" panose="020B0502040204020203" pitchFamily="34" charset="0"/>
              </a:rPr>
              <a:t>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Notice that the right eigenvector is to the right of the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0DD0EB-E14E-4A1D-996D-436AD5067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871" y="3631177"/>
            <a:ext cx="2178233" cy="4950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F57897-AE9D-486D-83E1-C440D9F29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444" y="4192895"/>
            <a:ext cx="3240350" cy="49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554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Review of Eigenvalues and Eigenvectors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Each eigenvalue of a square matrix is associated with an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eigenvector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There is also a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left eigenvector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with the following relationship to the matrix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and eigenvalue </a:t>
            </a:r>
            <a:r>
              <a:rPr lang="en-US" sz="2800" dirty="0">
                <a:latin typeface="Symbol" panose="05050102010706020507" pitchFamily="18" charset="2"/>
                <a:cs typeface="Segoe UI" panose="020B0502040204020203" pitchFamily="34" charset="0"/>
              </a:rPr>
              <a:t>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Notice that the right eigenvector is to the right of the matrix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415EF6-4D4E-465E-B270-AC40CCF10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115" y="3135083"/>
            <a:ext cx="2013625" cy="4614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10A768-FA1A-480B-8B3A-E17398600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138" y="3759245"/>
            <a:ext cx="2714332" cy="6204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B5F11F-C2D8-4B13-859C-75C34FC23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2304" y="4576426"/>
            <a:ext cx="3280490" cy="56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213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Review of Eigenvalues and Eigenvectors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9514" y="872411"/>
            <a:ext cx="11525250" cy="5803374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Each eigenvalue of a square matrix is associated with an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eigenvector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l2 norm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of any eigenvector is 1: </a:t>
            </a: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This property means that the matrix of n eigenvectors,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Q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is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unitary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For a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full rank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matrix, each eigenvector is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orthogonal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to every other eigenvector, and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linearly independent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Thus, for diagonal matrix of n eigenvalues, </a:t>
            </a:r>
            <a:r>
              <a:rPr lang="en-US" sz="2800" dirty="0">
                <a:latin typeface="Symbol" panose="05050102010706020507" pitchFamily="18" charset="2"/>
                <a:cs typeface="Segoe UI" panose="020B0502040204020203" pitchFamily="34" charset="0"/>
              </a:rPr>
              <a:t>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an n x n matrix,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, can be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factored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D5A706-AE59-4938-9034-7B4C6590F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756" y="2615553"/>
            <a:ext cx="4894368" cy="4991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52BD74-B5D4-4FC4-850F-4480FD65D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005" y="5846514"/>
            <a:ext cx="1974133" cy="49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34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8F462-DC1F-48AF-8BA3-5D8B88718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Review of Eigenvalues and Eigenvectors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E274-B4C9-49D5-BB15-6A382137E2D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8184" y="767117"/>
            <a:ext cx="11525250" cy="5803374"/>
          </a:xfrm>
        </p:spPr>
        <p:txBody>
          <a:bodyPr/>
          <a:lstStyle/>
          <a:p>
            <a:pPr marL="0" indent="1828800">
              <a:buNone/>
            </a:pPr>
            <a:r>
              <a:rPr lang="en-US" sz="28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Warning! – Advanced concepts ahead</a:t>
            </a:r>
          </a:p>
          <a:p>
            <a:pPr marL="0" indent="0"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Each eigenvalue of a square matrix is associated with an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eigenvector</a:t>
            </a: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Given the eigenvalue-eigenvector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factorization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of the matrix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inverse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of </a:t>
            </a:r>
            <a:r>
              <a:rPr lang="en-US" sz="2800" i="1" dirty="0"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can be found: </a:t>
            </a:r>
          </a:p>
          <a:p>
            <a:pPr marL="0" indent="0">
              <a:buNone/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You can find more on eigenvalue-eigenvector decomposition: 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https://en.wikipedia.org/wiki/Eigendecomposition_of_a_matrix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52BD74-B5D4-4FC4-850F-4480FD65D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668" y="3105300"/>
            <a:ext cx="1974133" cy="4991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1C9548-E9C3-465E-A619-8DA19A7E5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2440" y="4291334"/>
            <a:ext cx="2745261" cy="42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211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1E57C78B9F604FB8BAD296D1460E2A" ma:contentTypeVersion="1" ma:contentTypeDescription="Create a new document." ma:contentTypeScope="" ma:versionID="fb382fe2362acd2155f454904f478e4d">
  <xsd:schema xmlns:xsd="http://www.w3.org/2001/XMLSchema" xmlns:xs="http://www.w3.org/2001/XMLSchema" xmlns:p="http://schemas.microsoft.com/office/2006/metadata/properties" xmlns:ns3="636b0322-90fb-440c-9cbc-22749e7231e9" targetNamespace="http://schemas.microsoft.com/office/2006/metadata/properties" ma:root="true" ma:fieldsID="b9887c63ce4710c1aeb75a5f03aecb69" ns3:_="">
    <xsd:import namespace="636b0322-90fb-440c-9cbc-22749e7231e9"/>
    <xsd:element name="properties">
      <xsd:complexType>
        <xsd:sequence>
          <xsd:element name="documentManagement">
            <xsd:complexType>
              <xsd:all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6b0322-90fb-440c-9cbc-22749e7231e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6DB243D-F585-435F-A2EA-E3678FDD33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6b0322-90fb-440c-9cbc-22749e7231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0CA13EC-1D3C-4D6F-8D1C-E8A452CFC79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25FDD9-4C58-4084-9F89-0E6ADD6FFF55}">
  <ds:schemaRefs>
    <ds:schemaRef ds:uri="http://purl.org/dc/terms/"/>
    <ds:schemaRef ds:uri="http://schemas.microsoft.com/office/2006/documentManagement/types"/>
    <ds:schemaRef ds:uri="636b0322-90fb-440c-9cbc-22749e7231e9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21685</TotalTime>
  <Words>2735</Words>
  <Application>Microsoft Office PowerPoint</Application>
  <PresentationFormat>Widescreen</PresentationFormat>
  <Paragraphs>396</Paragraphs>
  <Slides>58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58</vt:i4>
      </vt:variant>
    </vt:vector>
  </HeadingPairs>
  <TitlesOfParts>
    <vt:vector size="70" baseType="lpstr">
      <vt:lpstr>Arial</vt:lpstr>
      <vt:lpstr>Calibri</vt:lpstr>
      <vt:lpstr>Calibri Light</vt:lpstr>
      <vt:lpstr>Cambria Math</vt:lpstr>
      <vt:lpstr>Courier New</vt:lpstr>
      <vt:lpstr>Segoe</vt:lpstr>
      <vt:lpstr>Segoe UI</vt:lpstr>
      <vt:lpstr>Segoe UI Light</vt:lpstr>
      <vt:lpstr>Symbol</vt:lpstr>
      <vt:lpstr>Wingdings</vt:lpstr>
      <vt:lpstr>1_Office Theme</vt:lpstr>
      <vt:lpstr>Office Theme</vt:lpstr>
      <vt:lpstr>CSCI E-25 Computer Vision</vt:lpstr>
      <vt:lpstr>Optimization for Machine Learning</vt:lpstr>
      <vt:lpstr>PowerPoint Presentation</vt:lpstr>
      <vt:lpstr>Optimization for Deep Neural Networks</vt:lpstr>
      <vt:lpstr>Local Convergence of Gradient Descent</vt:lpstr>
      <vt:lpstr>PowerPoint Presentation</vt:lpstr>
      <vt:lpstr>The Chain Rule of Calculus </vt:lpstr>
      <vt:lpstr>The Chain Rule of Calculus </vt:lpstr>
      <vt:lpstr>The Chain Rule of Calculus </vt:lpstr>
      <vt:lpstr>The Chain Rule of Calculus </vt:lpstr>
      <vt:lpstr>The Chain Rule of Calculus </vt:lpstr>
      <vt:lpstr>PowerPoint Presentation</vt:lpstr>
      <vt:lpstr>Local Convergence of Gradient Descent</vt:lpstr>
      <vt:lpstr>Local Convergence of Gradient Descent</vt:lpstr>
      <vt:lpstr>Local Convergence of Gradient Descent</vt:lpstr>
      <vt:lpstr>Local Convergence of Gradient Descent</vt:lpstr>
      <vt:lpstr>PowerPoint Presentation</vt:lpstr>
      <vt:lpstr>The Nature of Gradients</vt:lpstr>
      <vt:lpstr>The Nature of Gradients </vt:lpstr>
      <vt:lpstr>The Nature of Gradients </vt:lpstr>
      <vt:lpstr>The Nature of Gradients </vt:lpstr>
      <vt:lpstr>The Nature of Gradients </vt:lpstr>
      <vt:lpstr>The Nature of Gradients</vt:lpstr>
      <vt:lpstr>The Nature of Gradients</vt:lpstr>
      <vt:lpstr>The Nature of Gradients</vt:lpstr>
      <vt:lpstr>Vanishing and Exploding Gradient Problems</vt:lpstr>
      <vt:lpstr>Vanishing and Exploding Gradient Problems</vt:lpstr>
      <vt:lpstr>Vanishing and Exploding Gradient Problems</vt:lpstr>
      <vt:lpstr>Convex vs. Non-Convex Optimization</vt:lpstr>
      <vt:lpstr>Convex vs. Non-Convex Optimization</vt:lpstr>
      <vt:lpstr>Convex vs. Non-Convex Optimization</vt:lpstr>
      <vt:lpstr>PowerPoint Presentation</vt:lpstr>
      <vt:lpstr>Batch Gradient Descent</vt:lpstr>
      <vt:lpstr>Batch Gradient Descent</vt:lpstr>
      <vt:lpstr>PowerPoint Presentation</vt:lpstr>
      <vt:lpstr>Stochastic Gradient Descent</vt:lpstr>
      <vt:lpstr>Stochastic Gradient Descent</vt:lpstr>
      <vt:lpstr>Stochastic Gradient Descent</vt:lpstr>
      <vt:lpstr>PowerPoint Presentation</vt:lpstr>
      <vt:lpstr>Stochastic Gradient Descent with Momentum</vt:lpstr>
      <vt:lpstr>Stochastic Gradient Descent with Momentum</vt:lpstr>
      <vt:lpstr>Adaptive Stochastic Gradient Descent</vt:lpstr>
      <vt:lpstr>Selecting Initial Weight Values</vt:lpstr>
      <vt:lpstr>PowerPoint Presentation</vt:lpstr>
      <vt:lpstr>Review of Eigenvalues</vt:lpstr>
      <vt:lpstr>Review of Eigenvalues</vt:lpstr>
      <vt:lpstr>Review of Eigenvalues</vt:lpstr>
      <vt:lpstr>Review of Eigenvalues and Eigenvectors</vt:lpstr>
      <vt:lpstr>Review of Eigenvalues and Eigenvectors</vt:lpstr>
      <vt:lpstr>Review of Eigenvalues and Eigenvectors</vt:lpstr>
      <vt:lpstr>Review of Eigenvalues and Eigenvectors</vt:lpstr>
      <vt:lpstr>Review of Eigenvalues</vt:lpstr>
      <vt:lpstr>Review of Eigenvalues</vt:lpstr>
      <vt:lpstr>Review of Eigenvalues</vt:lpstr>
      <vt:lpstr>Review of Eigenvalues and Eigenvectors</vt:lpstr>
      <vt:lpstr>Review of Eigenvalues and Eigenvectors</vt:lpstr>
      <vt:lpstr>Review of Eigenvalues and Eigenvectors</vt:lpstr>
      <vt:lpstr>Review of Eigenvalues and Eigenvectors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Gartland</dc:creator>
  <cp:lastModifiedBy>Stephen Elston</cp:lastModifiedBy>
  <cp:revision>575</cp:revision>
  <cp:lastPrinted>2019-03-10T03:16:43Z</cp:lastPrinted>
  <dcterms:created xsi:type="dcterms:W3CDTF">2013-02-15T23:12:42Z</dcterms:created>
  <dcterms:modified xsi:type="dcterms:W3CDTF">2026-02-10T19:02:23Z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0x010100391E57C78B9F604FB8BAD296D1460E2A</vt:lpwstr>
  </property>
  <property fmtid="{D5CDD505-2E9C-101B-9397-08002B2CF9AE}" pid="3" name="IsMyDocuments">
    <vt:bool>true</vt:bool>
  </property>
  <property fmtid="{D5CDD505-2E9C-101B-9397-08002B2CF9AE}" pid="4" name="Related Type Document">
    <vt:lpwstr/>
  </property>
  <property fmtid="{D5CDD505-2E9C-101B-9397-08002B2CF9AE}" pid="5" name="Document Tag">
    <vt:lpwstr>24;#Content Templates|bdbbc9aa-4892-4816-9e36-bf1120da60e9</vt:lpwstr>
  </property>
  <property fmtid="{D5CDD505-2E9C-101B-9397-08002B2CF9AE}" pid="6" name="TaxKeyword">
    <vt:lpwstr/>
  </property>
  <property fmtid="{D5CDD505-2E9C-101B-9397-08002B2CF9AE}" pid="7" name="DocVizPreviewMetadata_Count">
    <vt:i4>12</vt:i4>
  </property>
  <property fmtid="{D5CDD505-2E9C-101B-9397-08002B2CF9AE}" pid="8" name="DocVizPreviewMetadata_0">
    <vt:lpwstr>300x168x2</vt:lpwstr>
  </property>
</Properties>
</file>