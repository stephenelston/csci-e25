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100"/>
  </p:notesMasterIdLst>
  <p:handoutMasterIdLst>
    <p:handoutMasterId r:id="rId101"/>
  </p:handoutMasterIdLst>
  <p:sldIdLst>
    <p:sldId id="391" r:id="rId6"/>
    <p:sldId id="406" r:id="rId7"/>
    <p:sldId id="407" r:id="rId8"/>
    <p:sldId id="408" r:id="rId9"/>
    <p:sldId id="364" r:id="rId10"/>
    <p:sldId id="320" r:id="rId11"/>
    <p:sldId id="363" r:id="rId12"/>
    <p:sldId id="339" r:id="rId13"/>
    <p:sldId id="321" r:id="rId14"/>
    <p:sldId id="481" r:id="rId15"/>
    <p:sldId id="366" r:id="rId16"/>
    <p:sldId id="367" r:id="rId17"/>
    <p:sldId id="368" r:id="rId18"/>
    <p:sldId id="369" r:id="rId19"/>
    <p:sldId id="370" r:id="rId20"/>
    <p:sldId id="371" r:id="rId21"/>
    <p:sldId id="482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0" r:id="rId31"/>
    <p:sldId id="381" r:id="rId32"/>
    <p:sldId id="490" r:id="rId33"/>
    <p:sldId id="485" r:id="rId34"/>
    <p:sldId id="325" r:id="rId35"/>
    <p:sldId id="326" r:id="rId36"/>
    <p:sldId id="327" r:id="rId37"/>
    <p:sldId id="523" r:id="rId38"/>
    <p:sldId id="328" r:id="rId39"/>
    <p:sldId id="355" r:id="rId40"/>
    <p:sldId id="486" r:id="rId41"/>
    <p:sldId id="399" r:id="rId42"/>
    <p:sldId id="400" r:id="rId43"/>
    <p:sldId id="401" r:id="rId44"/>
    <p:sldId id="402" r:id="rId45"/>
    <p:sldId id="403" r:id="rId46"/>
    <p:sldId id="404" r:id="rId47"/>
    <p:sldId id="405" r:id="rId48"/>
    <p:sldId id="487" r:id="rId49"/>
    <p:sldId id="342" r:id="rId50"/>
    <p:sldId id="330" r:id="rId51"/>
    <p:sldId id="331" r:id="rId52"/>
    <p:sldId id="524" r:id="rId53"/>
    <p:sldId id="488" r:id="rId54"/>
    <p:sldId id="332" r:id="rId55"/>
    <p:sldId id="333" r:id="rId56"/>
    <p:sldId id="489" r:id="rId57"/>
    <p:sldId id="334" r:id="rId58"/>
    <p:sldId id="335" r:id="rId59"/>
    <p:sldId id="336" r:id="rId60"/>
    <p:sldId id="337" r:id="rId61"/>
    <p:sldId id="361" r:id="rId62"/>
    <p:sldId id="362" r:id="rId63"/>
    <p:sldId id="522" r:id="rId64"/>
    <p:sldId id="338" r:id="rId65"/>
    <p:sldId id="492" r:id="rId66"/>
    <p:sldId id="493" r:id="rId67"/>
    <p:sldId id="494" r:id="rId68"/>
    <p:sldId id="495" r:id="rId69"/>
    <p:sldId id="496" r:id="rId70"/>
    <p:sldId id="497" r:id="rId71"/>
    <p:sldId id="498" r:id="rId72"/>
    <p:sldId id="510" r:id="rId73"/>
    <p:sldId id="511" r:id="rId74"/>
    <p:sldId id="512" r:id="rId75"/>
    <p:sldId id="513" r:id="rId76"/>
    <p:sldId id="514" r:id="rId77"/>
    <p:sldId id="515" r:id="rId78"/>
    <p:sldId id="516" r:id="rId79"/>
    <p:sldId id="517" r:id="rId80"/>
    <p:sldId id="518" r:id="rId81"/>
    <p:sldId id="519" r:id="rId82"/>
    <p:sldId id="520" r:id="rId83"/>
    <p:sldId id="521" r:id="rId84"/>
    <p:sldId id="480" r:id="rId85"/>
    <p:sldId id="329" r:id="rId86"/>
    <p:sldId id="343" r:id="rId87"/>
    <p:sldId id="344" r:id="rId88"/>
    <p:sldId id="346" r:id="rId89"/>
    <p:sldId id="347" r:id="rId90"/>
    <p:sldId id="348" r:id="rId91"/>
    <p:sldId id="349" r:id="rId92"/>
    <p:sldId id="392" r:id="rId93"/>
    <p:sldId id="393" r:id="rId94"/>
    <p:sldId id="394" r:id="rId95"/>
    <p:sldId id="395" r:id="rId96"/>
    <p:sldId id="396" r:id="rId97"/>
    <p:sldId id="397" r:id="rId98"/>
    <p:sldId id="398" r:id="rId9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50"/>
    <a:srgbClr val="007233"/>
    <a:srgbClr val="86C400"/>
    <a:srgbClr val="82BF36"/>
    <a:srgbClr val="7FBA00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94944" autoAdjust="0"/>
  </p:normalViewPr>
  <p:slideViewPr>
    <p:cSldViewPr snapToGrid="0">
      <p:cViewPr varScale="1">
        <p:scale>
          <a:sx n="71" d="100"/>
          <a:sy n="71" d="100"/>
        </p:scale>
        <p:origin x="53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796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12E7B4A-039C-48A2-9B2C-AF16AA3873D8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F5FCDD8-505C-48BF-B1E5-CD9B258934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922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A005A0C-54D9-45AA-87D4-C551D08DFCE1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CFD207A-07DF-40AD-A916-9872E089CE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71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dirty="0" err="1">
                <a:solidFill>
                  <a:schemeClr val="tx2"/>
                </a:solidFill>
                <a:latin typeface="Segoe" pitchFamily="34" charset="0"/>
              </a:rPr>
              <a:t>jec</a:t>
            </a:r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176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dirty="0" err="1">
                <a:solidFill>
                  <a:schemeClr val="tx2"/>
                </a:solidFill>
                <a:latin typeface="Segoe" pitchFamily="34" charset="0"/>
              </a:rPr>
              <a:t>jec</a:t>
            </a:r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240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dirty="0" err="1">
                <a:solidFill>
                  <a:schemeClr val="tx2"/>
                </a:solidFill>
                <a:latin typeface="Segoe" pitchFamily="34" charset="0"/>
              </a:rPr>
              <a:t>jec</a:t>
            </a:r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28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039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757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037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133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044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75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791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066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84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205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201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810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3740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1290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40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9267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4418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6823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2599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9646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0598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506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4538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229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8223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1276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2663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19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4114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40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774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51761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2940-C286-42C1-9010-1A658D157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F8782-4683-4B9D-8881-A996710D8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84089-8433-45A4-95CA-B1B45415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9F063-8808-4E6D-B458-8E13FC56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BDFCD-9E64-42AA-BC33-A02ED693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65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809C4-331A-4F8E-9C63-303C3145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9F34A-2443-468B-9DEC-057918C7E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5C0A4-0B19-4954-BD29-F08BE6119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EFD81-5068-48B4-9648-85B0D12C1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B328E-80D6-472E-8A1E-831F39043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02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80E2-9234-4188-8816-EACEC691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A4C78-7C62-4472-A49B-ABDD52A99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3B61A-B612-41BA-8B68-6800728F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8830D-FE6F-447E-93E1-DE4EB1A8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B7A6B-EC4D-4149-A9F8-89583742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1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A7F82-A46A-40DC-8A7F-3628C8AF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16B2C-AC1F-4F94-8635-5B5AE8B7F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B9CB3-DD43-404A-8EC3-A66681BAF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ABB4A-28C2-479E-900D-4192EE9DF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D6A09-75F4-4526-859A-A2903571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4D064-C25A-4932-907B-686C3859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721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183E-9FC4-4428-AB2E-4F644809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219C6-EC01-41A6-94DD-327FCC904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5DAFF-4CAE-4C24-95F5-30AA60C5A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81E108-BF48-4DE6-80C1-BC1B6D9B7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05F2E3-F653-4AD8-A722-7118506E9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993AB9-18CF-412E-9678-7587B326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07A225-C4C6-44A7-83BB-A21DC549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BA5BA-E66A-4A42-8125-C7DC51F97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3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56E26-53B1-4FE0-ABBA-11E686BA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931B7-899E-4140-87AC-B2122CB10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431E3-40EF-4F54-98E1-9E480C7FE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319B9-169B-43A4-AE80-AB37BA3D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4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876BF-0B9C-410F-8893-DD9E11DDC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A06A4-B178-4424-9C5F-67F147356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55DA6-67A6-4B9E-A3E4-42AFA4A4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EF1E-7615-42AD-805D-A2FD24708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321E6-C526-49E7-B02E-08EA923D0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977B9-143B-41FB-B988-793F2AD68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230FB-14D9-4D8A-BBEC-A7782D52C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61659-843A-4959-96BA-8849D497C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24B95-331A-4505-8464-6C6C6CFD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6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B093-7F4C-4930-BC54-F12270701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67225-0793-40F8-89CB-5F1EC1AB3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6DB63-CB17-4E21-9AE8-CCE1E9805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745AD-8D6F-4481-BD90-493E3CBF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1747A-ED49-481E-9A48-FC59ED9F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D0CA3-0584-4F67-89A5-3F62C28B4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06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BB0A-C1BF-45C5-8108-46542AFE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1A5A9-7FA5-43CB-9ED4-241FEBBF0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60C29-8E1C-41B1-B4E8-FCEB7A9AD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58C8B-B2B2-432A-86CA-6376158D3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811AE-A55A-437F-860D-8326A0BC9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07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B18A12-841B-4AF8-8EC5-CB048068D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96B34-27D2-4043-9D83-17FDA4475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9E835-CDFD-49BD-806F-3E1A8F4F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C70A1-95EE-415E-863A-EA224FE5D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44889-227C-49F0-8C46-A6BF65C8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3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878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4" r:id="rId2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072130-6BA1-4D9E-B6B5-EE0FF1239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18A96-4198-45A7-AA43-CCD2BADCE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469E1-B400-40D2-A33F-F19C85220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85E44-FE1D-42BD-8BEC-66E1A709512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07CD1-B0F8-4DF5-A0FF-8E28DF531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CA3E6-D767-4BAD-AA88-8F2BD19E0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9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toronto.edu/~rsalakhu/papers/srivastava14a.pdf" TargetMode="Externa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502.03167.pdf" TargetMode="Externa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keras.io/api/layers/initializers/" TargetMode="Externa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en.wikipedia.org/wiki/Determinant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hyperlink" Target="https://en.wikipedia.org/wiki/Eigendecomposition_of_a_matrix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en.wikipedia.org/wiki/Determinant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hyperlink" Target="https://en.wikipedia.org/wiki/Eigendecomposition_of_a_matrix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955" y="273713"/>
            <a:ext cx="9601200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CSCI E-25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968" y="4031808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093" y="4750441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169F207C-EF37-41D2-8510-622FD323B072}"/>
              </a:ext>
            </a:extLst>
          </p:cNvPr>
          <p:cNvSpPr txBox="1">
            <a:spLocks/>
          </p:cNvSpPr>
          <p:nvPr/>
        </p:nvSpPr>
        <p:spPr>
          <a:xfrm>
            <a:off x="1382693" y="6306671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2021, 2022, 2023,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Stephen F Elston. All rights reserved.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37018-A4F9-4B1C-806D-0E7F64A950E8}"/>
              </a:ext>
            </a:extLst>
          </p:cNvPr>
          <p:cNvSpPr txBox="1"/>
          <p:nvPr/>
        </p:nvSpPr>
        <p:spPr>
          <a:xfrm>
            <a:off x="660977" y="2672968"/>
            <a:ext cx="11036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Regularization and Optimization</a:t>
            </a:r>
            <a:r>
              <a:rPr lang="en-US" sz="4000" dirty="0">
                <a:solidFill>
                  <a:prstClr val="black"/>
                </a:solidFill>
                <a:latin typeface="Calibri" panose="020F0502020204030204"/>
              </a:rPr>
              <a:t>n for Machine Learning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1068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390025" y="1049383"/>
            <a:ext cx="11525250" cy="5591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Many widely used CV machine learning algorithms use optimization algorithms at the core 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Object identification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Object detection 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Image stitching 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3-d vision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Motion tracking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Generative models  </a:t>
            </a:r>
            <a:endParaRPr lang="en-GB" dirty="0">
              <a:latin typeface="+mj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" y="331471"/>
            <a:ext cx="11903845" cy="58026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goe"/>
              </a:rPr>
              <a:t>Optimization and regularization for ML</a:t>
            </a:r>
          </a:p>
        </p:txBody>
      </p:sp>
    </p:spTree>
    <p:extLst>
      <p:ext uri="{BB962C8B-B14F-4D97-AF65-F5344CB8AC3E}">
        <p14:creationId xmlns:p14="http://schemas.microsoft.com/office/powerpoint/2010/main" val="280644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390025" y="1049383"/>
            <a:ext cx="11525250" cy="5591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Many widely used CV machine learning algorithms use optimization algorithms at the core 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Many machine learning algorithms use optimization to </a:t>
            </a:r>
            <a:r>
              <a:rPr lang="en-GB" sz="28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minimize a loss function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Optimization algorithms learn </a:t>
            </a:r>
            <a:r>
              <a:rPr lang="en-GB" sz="2800" b="1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optimal model parameters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The more parameters and higher capacity the model, the harder it is to learn the model parameters   </a:t>
            </a:r>
            <a:endParaRPr lang="en-GB" dirty="0">
              <a:latin typeface="+mj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" y="331471"/>
            <a:ext cx="11903845" cy="58026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goe"/>
              </a:rPr>
              <a:t>Optimization and regularization for ML</a:t>
            </a:r>
          </a:p>
        </p:txBody>
      </p:sp>
    </p:spTree>
    <p:extLst>
      <p:ext uri="{BB962C8B-B14F-4D97-AF65-F5344CB8AC3E}">
        <p14:creationId xmlns:p14="http://schemas.microsoft.com/office/powerpoint/2010/main" val="165053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90025" y="1049383"/>
                <a:ext cx="11525250" cy="559144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Optimization for ML models with a large number of parameters is hard</a:t>
                </a:r>
              </a:p>
              <a:p>
                <a:r>
                  <a:rPr lang="en-GB" sz="2800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Large number of parameters </a:t>
                </a:r>
                <a:endParaRPr lang="en-US" sz="2800" i="1" dirty="0">
                  <a:latin typeface="Cambria Math" panose="02040503050406030204" pitchFamily="18" charset="0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GB" sz="2800" dirty="0">
                    <a:ea typeface="Cambria Math" panose="02040503050406030204" pitchFamily="18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⟹</m:t>
                    </m:r>
                  </m:oMath>
                </a14:m>
                <a:r>
                  <a:rPr lang="en-GB" sz="2800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GB" sz="2800" b="1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high dimensional parameter space   </a:t>
                </a:r>
                <a:endParaRPr lang="en-GB" sz="2800" dirty="0">
                  <a:latin typeface="+mj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GB" sz="2800" dirty="0">
                    <a:ea typeface="Cambria Math" panose="02040503050406030204" pitchFamily="18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⟹</m:t>
                    </m:r>
                  </m:oMath>
                </a14:m>
                <a:r>
                  <a:rPr lang="en-GB" sz="2800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GB" sz="2800" b="1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poor convergence </a:t>
                </a:r>
              </a:p>
              <a:p>
                <a:pPr marL="0" indent="0">
                  <a:buNone/>
                </a:pPr>
                <a:r>
                  <a:rPr lang="en-GB" sz="2800" dirty="0">
                    <a:ea typeface="Cambria Math" panose="02040503050406030204" pitchFamily="18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⟹</m:t>
                    </m:r>
                  </m:oMath>
                </a14:m>
                <a:r>
                  <a:rPr lang="en-GB" sz="2800" dirty="0">
                    <a:latin typeface="Forte" panose="03060902040502070203" pitchFamily="66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 ‘Curse of Dimensionality’</a:t>
                </a:r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GB" sz="2800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Optimization in high dimensions is often </a:t>
                </a:r>
                <a:r>
                  <a:rPr lang="en-GB" sz="2800" b="1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ill-posed</a:t>
                </a:r>
              </a:p>
              <a:p>
                <a:pPr lvl="1"/>
                <a:r>
                  <a:rPr lang="en-GB" sz="2400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Data not sufficient to uniquely </a:t>
                </a:r>
                <a:r>
                  <a:rPr lang="en-GB" sz="2400" b="1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identify </a:t>
                </a:r>
                <a:r>
                  <a:rPr lang="en-GB" sz="2400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values of all model parameters</a:t>
                </a:r>
              </a:p>
              <a:p>
                <a:r>
                  <a:rPr lang="en-GB" sz="2800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Use regularization methods to improve convergence</a:t>
                </a:r>
              </a:p>
              <a:p>
                <a:pPr lvl="1"/>
                <a:r>
                  <a:rPr lang="en-GB" sz="2400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Regularization restricts effective dimensionality</a:t>
                </a:r>
              </a:p>
              <a:p>
                <a:pPr lvl="1"/>
                <a:r>
                  <a:rPr lang="en-GB" sz="2400" dirty="0">
                    <a:latin typeface="+mj-lt"/>
                    <a:ea typeface="Segoe UI" panose="020B0502040204020203" pitchFamily="34" charset="0"/>
                    <a:cs typeface="Segoe UI" panose="020B0502040204020203" pitchFamily="34" charset="0"/>
                  </a:rPr>
                  <a:t>Required for most real-world CV problems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90025" y="1049383"/>
                <a:ext cx="11525250" cy="5591447"/>
              </a:xfrm>
              <a:blipFill>
                <a:blip r:embed="rId3"/>
                <a:stretch>
                  <a:fillRect l="-1111" t="-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" y="331471"/>
            <a:ext cx="11903845" cy="58026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goe"/>
              </a:rPr>
              <a:t>Optimization and regularization for ML</a:t>
            </a:r>
          </a:p>
        </p:txBody>
      </p:sp>
    </p:spTree>
    <p:extLst>
      <p:ext uri="{BB962C8B-B14F-4D97-AF65-F5344CB8AC3E}">
        <p14:creationId xmlns:p14="http://schemas.microsoft.com/office/powerpoint/2010/main" val="351778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390025" y="1507253"/>
            <a:ext cx="11525250" cy="51335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Training deep neural networks requires learning a large number parameters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Millions of parameters is typical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Parameters are learned by gradient descent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Requires optimization in high dimensions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Must be executed on a large scale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The over-fit optimization problem is ill-posed – requires regularization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Can have slow convergence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May not have unique solution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But, a good solution is often good enough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207" y="331471"/>
            <a:ext cx="11109648" cy="58026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goe"/>
              </a:rPr>
              <a:t>Optimization and Regularization for Deep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401259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3" y="0"/>
            <a:ext cx="11392857" cy="935523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Optimization and Regularization for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E2954-B31F-4150-997E-D588BF9C5E0A}"/>
              </a:ext>
            </a:extLst>
          </p:cNvPr>
          <p:cNvSpPr txBox="1"/>
          <p:nvPr/>
        </p:nvSpPr>
        <p:spPr>
          <a:xfrm>
            <a:off x="213528" y="2268703"/>
            <a:ext cx="1864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 = X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94350B-80B7-4D78-8420-4D67FA6ABA86}"/>
              </a:ext>
            </a:extLst>
          </p:cNvPr>
          <p:cNvSpPr/>
          <p:nvPr/>
        </p:nvSpPr>
        <p:spPr>
          <a:xfrm>
            <a:off x="2475272" y="1651802"/>
            <a:ext cx="3127464" cy="1900107"/>
          </a:xfrm>
          <a:prstGeom prst="roundRect">
            <a:avLst/>
          </a:prstGeom>
          <a:noFill/>
          <a:ln w="31750">
            <a:solidFill>
              <a:schemeClr val="accent1">
                <a:shade val="50000"/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Representation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89598B-FA8B-47CB-A87D-8305C0F61CDC}"/>
              </a:ext>
            </a:extLst>
          </p:cNvPr>
          <p:cNvSpPr/>
          <p:nvPr/>
        </p:nvSpPr>
        <p:spPr>
          <a:xfrm>
            <a:off x="2512870" y="4587622"/>
            <a:ext cx="3078258" cy="19001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1750">
            <a:solidFill>
              <a:schemeClr val="accent1">
                <a:shade val="50000"/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Learning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E59D32-96A0-4868-8763-B3B7E926825B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5602736" y="2590211"/>
            <a:ext cx="493264" cy="1297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E965D1-6E91-40B9-8D5B-1D18B74B4CC4}"/>
              </a:ext>
            </a:extLst>
          </p:cNvPr>
          <p:cNvCxnSpPr>
            <a:cxnSpLocks/>
          </p:cNvCxnSpPr>
          <p:nvPr/>
        </p:nvCxnSpPr>
        <p:spPr>
          <a:xfrm>
            <a:off x="1985330" y="2561091"/>
            <a:ext cx="489941" cy="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6646EF-2CA4-4325-B3D7-7016D1B330FB}"/>
              </a:ext>
            </a:extLst>
          </p:cNvPr>
          <p:cNvCxnSpPr>
            <a:cxnSpLocks/>
          </p:cNvCxnSpPr>
          <p:nvPr/>
        </p:nvCxnSpPr>
        <p:spPr>
          <a:xfrm>
            <a:off x="3593066" y="3551909"/>
            <a:ext cx="0" cy="1076307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8B7000-87C1-4999-8599-FF3B42ED9423}"/>
              </a:ext>
            </a:extLst>
          </p:cNvPr>
          <p:cNvCxnSpPr>
            <a:cxnSpLocks/>
          </p:cNvCxnSpPr>
          <p:nvPr/>
        </p:nvCxnSpPr>
        <p:spPr>
          <a:xfrm flipH="1" flipV="1">
            <a:off x="4667460" y="3551909"/>
            <a:ext cx="5804" cy="1035714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A1DDAB-CD1D-40A5-A89D-FE8F422CB961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591128" y="5537675"/>
            <a:ext cx="2068604" cy="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80E48C-CF71-4132-8602-296FA492A746}"/>
              </a:ext>
            </a:extLst>
          </p:cNvPr>
          <p:cNvCxnSpPr>
            <a:cxnSpLocks/>
          </p:cNvCxnSpPr>
          <p:nvPr/>
        </p:nvCxnSpPr>
        <p:spPr>
          <a:xfrm>
            <a:off x="7659732" y="3540264"/>
            <a:ext cx="0" cy="1997411"/>
          </a:xfrm>
          <a:prstGeom prst="straightConnector1">
            <a:avLst/>
          </a:prstGeom>
          <a:ln w="317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9A60D5-6AB5-459A-8E61-ED26181975B8}"/>
              </a:ext>
            </a:extLst>
          </p:cNvPr>
          <p:cNvSpPr/>
          <p:nvPr/>
        </p:nvSpPr>
        <p:spPr>
          <a:xfrm>
            <a:off x="6096000" y="1653128"/>
            <a:ext cx="3127464" cy="1900107"/>
          </a:xfrm>
          <a:prstGeom prst="roundRect">
            <a:avLst/>
          </a:prstGeom>
          <a:noFill/>
          <a:ln w="31750">
            <a:solidFill>
              <a:schemeClr val="accent1">
                <a:shade val="50000"/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Inference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567B981-B87C-4343-9E68-A8C6379E2F02}"/>
              </a:ext>
            </a:extLst>
          </p:cNvPr>
          <p:cNvCxnSpPr>
            <a:cxnSpLocks/>
          </p:cNvCxnSpPr>
          <p:nvPr/>
        </p:nvCxnSpPr>
        <p:spPr>
          <a:xfrm flipV="1">
            <a:off x="9223464" y="2596696"/>
            <a:ext cx="493264" cy="6485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B1ABCE0-A2EE-4BF2-81D9-4FD9F33757F7}"/>
              </a:ext>
            </a:extLst>
          </p:cNvPr>
          <p:cNvSpPr txBox="1"/>
          <p:nvPr/>
        </p:nvSpPr>
        <p:spPr>
          <a:xfrm>
            <a:off x="9782951" y="2297823"/>
            <a:ext cx="2226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 = Y</a:t>
            </a:r>
          </a:p>
        </p:txBody>
      </p:sp>
    </p:spTree>
    <p:extLst>
      <p:ext uri="{BB962C8B-B14F-4D97-AF65-F5344CB8AC3E}">
        <p14:creationId xmlns:p14="http://schemas.microsoft.com/office/powerpoint/2010/main" val="402752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6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390025" y="1049383"/>
            <a:ext cx="11525250" cy="5591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Key points for this lesson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Many ML algorithms learn weights or parameters using optimizations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With millions of weights, we need highly efficient and reliable algorithms for gradient descent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Properties of gradient descent algorithms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Convergence problems and over-fitting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Batch gradient descent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Stochastic gradient descent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Adaptive stochastic gradient descent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025" y="331471"/>
            <a:ext cx="11593830" cy="58026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goe"/>
              </a:rPr>
              <a:t>Optimization for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07546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66750" y="1301328"/>
            <a:ext cx="11525250" cy="52903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Key points for this lesson</a:t>
            </a:r>
          </a:p>
          <a:p>
            <a:r>
              <a:rPr lang="en-GB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Deep learning models have very large numbers of parameters which must be learned.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Even with large training datasets there may only be a few samples per parameters</a:t>
            </a:r>
          </a:p>
          <a:p>
            <a:r>
              <a:rPr lang="en-GB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Large number of parameters leads to high chance of </a:t>
            </a:r>
            <a:r>
              <a:rPr lang="en-GB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over-fitting</a:t>
            </a:r>
            <a:r>
              <a:rPr lang="en-GB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deep  models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Over-fit models do not generalize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Over-fit models have poor response to input noise</a:t>
            </a:r>
          </a:p>
          <a:p>
            <a:r>
              <a:rPr lang="en-GB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To prevent over-fitting, we apply </a:t>
            </a:r>
            <a:r>
              <a:rPr lang="en-GB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regularization methods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GB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en-GB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626" y="1"/>
            <a:ext cx="11150219" cy="1388226"/>
          </a:xfrm>
        </p:spPr>
        <p:txBody>
          <a:bodyPr>
            <a:normAutofit/>
          </a:bodyPr>
          <a:lstStyle/>
          <a:p>
            <a:br>
              <a:rPr lang="en-US" dirty="0">
                <a:latin typeface="Segoe"/>
              </a:rPr>
            </a:br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Regularization for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3232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66750" y="1301328"/>
            <a:ext cx="11525250" cy="5290388"/>
          </a:xfrm>
        </p:spPr>
        <p:txBody>
          <a:bodyPr>
            <a:normAutofit/>
          </a:bodyPr>
          <a:lstStyle/>
          <a:p>
            <a:r>
              <a:rPr lang="en-GB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Bias-variance trade-off</a:t>
            </a:r>
          </a:p>
          <a:p>
            <a:r>
              <a:rPr lang="en-GB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L2 regularization</a:t>
            </a:r>
          </a:p>
          <a:p>
            <a:r>
              <a:rPr lang="en-GB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L1 regularization</a:t>
            </a:r>
          </a:p>
          <a:p>
            <a:r>
              <a:rPr lang="en-GB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Early stopping</a:t>
            </a:r>
          </a:p>
          <a:p>
            <a:r>
              <a:rPr lang="en-GB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Dropout regularization</a:t>
            </a:r>
          </a:p>
          <a:p>
            <a:r>
              <a:rPr lang="en-GB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Batch normalization</a:t>
            </a:r>
          </a:p>
          <a:p>
            <a:endParaRPr lang="en-GB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en-GB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1388226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Regularization for Deep Learning</a:t>
            </a:r>
          </a:p>
        </p:txBody>
      </p:sp>
    </p:spTree>
    <p:extLst>
      <p:ext uri="{BB962C8B-B14F-4D97-AF65-F5344CB8AC3E}">
        <p14:creationId xmlns:p14="http://schemas.microsoft.com/office/powerpoint/2010/main" val="103932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Quadratic Optimization and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3010856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323215" y="1030410"/>
            <a:ext cx="11525250" cy="19047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Gradient descent is a widely used optimization method for machine learning </a:t>
            </a:r>
          </a:p>
          <a:p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Neural networks </a:t>
            </a:r>
            <a:r>
              <a:rPr lang="en-GB" sz="33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learn weights </a:t>
            </a:r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using the backpropagation algorithm</a:t>
            </a:r>
          </a:p>
          <a:p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Weights are learned using the </a:t>
            </a:r>
            <a:r>
              <a:rPr lang="en-GB" sz="33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gradient descent </a:t>
            </a:r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method</a:t>
            </a:r>
          </a:p>
          <a:p>
            <a:pPr marL="0" indent="0">
              <a:buNone/>
            </a:pPr>
            <a:endParaRPr lang="en-GB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53" y="212492"/>
            <a:ext cx="11903845" cy="67437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"/>
              </a:rPr>
              <a:t>Optimization for Deep Neural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DEE622-8C35-4DB4-B794-B6E2F7712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267" y="2943075"/>
            <a:ext cx="3998093" cy="53650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AB5799-6570-4E90-B8AE-204B1A7924BC}"/>
              </a:ext>
            </a:extLst>
          </p:cNvPr>
          <p:cNvSpPr txBox="1">
            <a:spLocks/>
          </p:cNvSpPr>
          <p:nvPr/>
        </p:nvSpPr>
        <p:spPr>
          <a:xfrm>
            <a:off x="666750" y="3506987"/>
            <a:ext cx="11525250" cy="613039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0D0A0E-2CEB-4EFD-84EF-EC6F562A2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771" y="4044304"/>
            <a:ext cx="9540687" cy="535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CAF85C-9EFC-4742-8876-560204CB6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033" y="5784956"/>
            <a:ext cx="5161727" cy="435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DD7EF9-9C34-4A7E-8694-17D5DF44A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033" y="4554892"/>
            <a:ext cx="6213287" cy="511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08976E-3C91-4554-A528-1AE95B1198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967" y="5151325"/>
            <a:ext cx="9280993" cy="54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9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400" y="1014120"/>
            <a:ext cx="11525250" cy="77219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Ideally, the loss function, J(W),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convex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with respect to the weights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702B459-14B8-4D94-9214-2AAEF2A7FA80}"/>
              </a:ext>
            </a:extLst>
          </p:cNvPr>
          <p:cNvSpPr/>
          <p:nvPr/>
        </p:nvSpPr>
        <p:spPr>
          <a:xfrm>
            <a:off x="3670299" y="1966913"/>
            <a:ext cx="5386388" cy="292417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525096C-052B-4E78-9F1F-315853EC8BD0}"/>
              </a:ext>
            </a:extLst>
          </p:cNvPr>
          <p:cNvSpPr/>
          <p:nvPr/>
        </p:nvSpPr>
        <p:spPr>
          <a:xfrm>
            <a:off x="5193213" y="2981570"/>
            <a:ext cx="1885950" cy="76675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8DE6EA8-00F3-493C-89C3-C6ACBA14FAAE}"/>
              </a:ext>
            </a:extLst>
          </p:cNvPr>
          <p:cNvSpPr/>
          <p:nvPr/>
        </p:nvSpPr>
        <p:spPr>
          <a:xfrm>
            <a:off x="4628650" y="2633664"/>
            <a:ext cx="3224212" cy="146683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5DAEE0-DA1B-44BB-8859-8D524D4E580A}"/>
              </a:ext>
            </a:extLst>
          </p:cNvPr>
          <p:cNvSpPr/>
          <p:nvPr/>
        </p:nvSpPr>
        <p:spPr>
          <a:xfrm>
            <a:off x="4135592" y="2319339"/>
            <a:ext cx="4252912" cy="221931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80B1703-7A3C-4161-9EF3-BF994E9D632D}"/>
              </a:ext>
            </a:extLst>
          </p:cNvPr>
          <p:cNvSpPr/>
          <p:nvPr/>
        </p:nvSpPr>
        <p:spPr>
          <a:xfrm>
            <a:off x="3276099" y="1662117"/>
            <a:ext cx="6174789" cy="3533765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7E1532C4-1CE1-419D-890E-8DB69ABEB34A}"/>
              </a:ext>
            </a:extLst>
          </p:cNvPr>
          <p:cNvSpPr/>
          <p:nvPr/>
        </p:nvSpPr>
        <p:spPr>
          <a:xfrm>
            <a:off x="5952625" y="3153179"/>
            <a:ext cx="304800" cy="29051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9DBCA7-E539-4023-B682-091BE9398AF3}"/>
              </a:ext>
            </a:extLst>
          </p:cNvPr>
          <p:cNvSpPr/>
          <p:nvPr/>
        </p:nvSpPr>
        <p:spPr>
          <a:xfrm>
            <a:off x="4419192" y="4124905"/>
            <a:ext cx="228600" cy="25599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A4605B-A78C-4C14-9B1A-B2AFB2EC3D36}"/>
              </a:ext>
            </a:extLst>
          </p:cNvPr>
          <p:cNvSpPr txBox="1"/>
          <p:nvPr/>
        </p:nvSpPr>
        <p:spPr>
          <a:xfrm>
            <a:off x="5776320" y="337899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Min</a:t>
            </a:r>
            <a:r>
              <a:rPr lang="en-US" b="1" baseline="-25000" dirty="0" err="1"/>
              <a:t>W</a:t>
            </a:r>
            <a:r>
              <a:rPr lang="en-US" b="1" baseline="-25000" dirty="0"/>
              <a:t> </a:t>
            </a:r>
            <a:r>
              <a:rPr lang="en-US" b="1" dirty="0"/>
              <a:t>(J(W)</a:t>
            </a:r>
            <a:r>
              <a:rPr lang="en-US" b="1" baseline="-25000" dirty="0"/>
              <a:t>MLE</a:t>
            </a:r>
            <a:r>
              <a:rPr lang="en-US" b="1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CDE45-59F1-43D6-AB3C-25F693201FE3}"/>
              </a:ext>
            </a:extLst>
          </p:cNvPr>
          <p:cNvSpPr txBox="1"/>
          <p:nvPr/>
        </p:nvSpPr>
        <p:spPr>
          <a:xfrm>
            <a:off x="4690470" y="4106339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Initial 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C5277B-E800-4DEE-81BE-DA5FDB9E48DA}"/>
              </a:ext>
            </a:extLst>
          </p:cNvPr>
          <p:cNvSpPr txBox="1"/>
          <p:nvPr/>
        </p:nvSpPr>
        <p:spPr>
          <a:xfrm>
            <a:off x="2067974" y="2253700"/>
            <a:ext cx="1484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Contours of J(W)</a:t>
            </a:r>
            <a:r>
              <a:rPr lang="en-US" b="1" baseline="-25000" dirty="0"/>
              <a:t>MLE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E04833-58CD-4469-8F76-F336664E4D29}"/>
              </a:ext>
            </a:extLst>
          </p:cNvPr>
          <p:cNvCxnSpPr>
            <a:cxnSpLocks/>
          </p:cNvCxnSpPr>
          <p:nvPr/>
        </p:nvCxnSpPr>
        <p:spPr>
          <a:xfrm>
            <a:off x="3056699" y="2671765"/>
            <a:ext cx="505868" cy="69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DC1A57B-5EA4-4FA2-BA51-80686BB248F6}"/>
              </a:ext>
            </a:extLst>
          </p:cNvPr>
          <p:cNvSpPr txBox="1">
            <a:spLocks/>
          </p:cNvSpPr>
          <p:nvPr/>
        </p:nvSpPr>
        <p:spPr>
          <a:xfrm>
            <a:off x="373563" y="5274866"/>
            <a:ext cx="11525250" cy="84275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Convex loss function has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one unique minimum</a:t>
            </a:r>
          </a:p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Convergence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for convex loss function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guaranteed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CE622A4-397D-4B4C-BDD1-D44BCFABE263}"/>
              </a:ext>
            </a:extLst>
          </p:cNvPr>
          <p:cNvSpPr/>
          <p:nvPr/>
        </p:nvSpPr>
        <p:spPr>
          <a:xfrm>
            <a:off x="4535837" y="3308865"/>
            <a:ext cx="1431010" cy="953169"/>
          </a:xfrm>
          <a:custGeom>
            <a:avLst/>
            <a:gdLst>
              <a:gd name="connsiteX0" fmla="*/ 0 w 1431010"/>
              <a:gd name="connsiteY0" fmla="*/ 953169 h 953169"/>
              <a:gd name="connsiteX1" fmla="*/ 103322 w 1431010"/>
              <a:gd name="connsiteY1" fmla="*/ 818850 h 953169"/>
              <a:gd name="connsiteX2" fmla="*/ 268638 w 1431010"/>
              <a:gd name="connsiteY2" fmla="*/ 663867 h 953169"/>
              <a:gd name="connsiteX3" fmla="*/ 444285 w 1431010"/>
              <a:gd name="connsiteY3" fmla="*/ 503718 h 953169"/>
              <a:gd name="connsiteX4" fmla="*/ 759417 w 1431010"/>
              <a:gd name="connsiteY4" fmla="*/ 240247 h 953169"/>
              <a:gd name="connsiteX5" fmla="*/ 971227 w 1431010"/>
              <a:gd name="connsiteY5" fmla="*/ 95596 h 953169"/>
              <a:gd name="connsiteX6" fmla="*/ 1260529 w 1431010"/>
              <a:gd name="connsiteY6" fmla="*/ 7772 h 953169"/>
              <a:gd name="connsiteX7" fmla="*/ 1431010 w 1431010"/>
              <a:gd name="connsiteY7" fmla="*/ 2606 h 95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31010" h="953169">
                <a:moveTo>
                  <a:pt x="0" y="953169"/>
                </a:moveTo>
                <a:cubicBezTo>
                  <a:pt x="29274" y="910118"/>
                  <a:pt x="58549" y="867067"/>
                  <a:pt x="103322" y="818850"/>
                </a:cubicBezTo>
                <a:cubicBezTo>
                  <a:pt x="148095" y="770633"/>
                  <a:pt x="211811" y="716389"/>
                  <a:pt x="268638" y="663867"/>
                </a:cubicBezTo>
                <a:cubicBezTo>
                  <a:pt x="325465" y="611345"/>
                  <a:pt x="362489" y="574321"/>
                  <a:pt x="444285" y="503718"/>
                </a:cubicBezTo>
                <a:cubicBezTo>
                  <a:pt x="526081" y="433115"/>
                  <a:pt x="671593" y="308267"/>
                  <a:pt x="759417" y="240247"/>
                </a:cubicBezTo>
                <a:cubicBezTo>
                  <a:pt x="847241" y="172227"/>
                  <a:pt x="887708" y="134342"/>
                  <a:pt x="971227" y="95596"/>
                </a:cubicBezTo>
                <a:cubicBezTo>
                  <a:pt x="1054746" y="56850"/>
                  <a:pt x="1183899" y="23270"/>
                  <a:pt x="1260529" y="7772"/>
                </a:cubicBezTo>
                <a:cubicBezTo>
                  <a:pt x="1337159" y="-7726"/>
                  <a:pt x="1388820" y="5189"/>
                  <a:pt x="1431010" y="2606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7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/>
      <p:bldP spid="18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84" y="202998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DB1773-97C0-4D9B-B51C-C848496FF8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2557" y="1043140"/>
            <a:ext cx="11525250" cy="88024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Expand loss function to understand convergence properties of gradient descent: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F1660B-29CE-4C57-9749-F57F7956A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78" y="1923385"/>
            <a:ext cx="11087738" cy="78425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8B2713A-3472-497D-839D-53D0A06D7457}"/>
              </a:ext>
            </a:extLst>
          </p:cNvPr>
          <p:cNvSpPr txBox="1">
            <a:spLocks/>
          </p:cNvSpPr>
          <p:nvPr/>
        </p:nvSpPr>
        <p:spPr>
          <a:xfrm>
            <a:off x="333375" y="2751877"/>
            <a:ext cx="11525250" cy="559359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3D6D14-6205-4069-9279-9E763C577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394" y="3395274"/>
            <a:ext cx="5905326" cy="5177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85841B-1FB1-4A89-AA98-BAAEBCA3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0323" y="3934300"/>
            <a:ext cx="3842758" cy="6022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B93A92-479D-41D8-BD79-5A57892D6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6735" y="4652315"/>
            <a:ext cx="4065905" cy="56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23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779338"/>
            <a:ext cx="11525250" cy="67586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you understand the Hessian matrix?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D69748C-EDED-4AAB-AD86-7D400B7E4749}"/>
              </a:ext>
            </a:extLst>
          </p:cNvPr>
          <p:cNvSpPr txBox="1">
            <a:spLocks/>
          </p:cNvSpPr>
          <p:nvPr/>
        </p:nvSpPr>
        <p:spPr>
          <a:xfrm>
            <a:off x="379514" y="4994156"/>
            <a:ext cx="11525250" cy="67586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Hessian is the matrix of all derivatives of the gradient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Properties of the Hessian determine convergence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44212-239D-47F5-AC87-0B41B5A72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738" y="1405891"/>
            <a:ext cx="6773862" cy="343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0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2735" y="1069533"/>
            <a:ext cx="11525250" cy="60369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we solve this convex optimization problem?</a:t>
            </a: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15766-B762-4202-BF0A-5C7EA2540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40" y="1673225"/>
            <a:ext cx="11630387" cy="8226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55A808-E10B-4B1E-A54E-3E25D5ACD065}"/>
              </a:ext>
            </a:extLst>
          </p:cNvPr>
          <p:cNvSpPr txBox="1">
            <a:spLocks/>
          </p:cNvSpPr>
          <p:nvPr/>
        </p:nvSpPr>
        <p:spPr>
          <a:xfrm>
            <a:off x="292734" y="2367502"/>
            <a:ext cx="11713153" cy="60369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Given a step size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we can rewrite the above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quadradic equation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DDEAD4-CCD5-4CA2-9D50-AEFE2D95B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719" y="2874902"/>
            <a:ext cx="6639125" cy="87921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9143E7-C711-4F12-B23A-DE339F8108C7}"/>
              </a:ext>
            </a:extLst>
          </p:cNvPr>
          <p:cNvSpPr txBox="1">
            <a:spLocks/>
          </p:cNvSpPr>
          <p:nvPr/>
        </p:nvSpPr>
        <p:spPr>
          <a:xfrm>
            <a:off x="333375" y="3675602"/>
            <a:ext cx="11525250" cy="60369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minimum occurs where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gradient is 0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8D41DE-0DA7-41ED-8F3E-976874D12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192" y="4289827"/>
            <a:ext cx="3881968" cy="60369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29AF9C4-4E2C-465A-9B56-EFC83E84D33E}"/>
              </a:ext>
            </a:extLst>
          </p:cNvPr>
          <p:cNvSpPr txBox="1">
            <a:spLocks/>
          </p:cNvSpPr>
          <p:nvPr/>
        </p:nvSpPr>
        <p:spPr>
          <a:xfrm>
            <a:off x="379514" y="4893519"/>
            <a:ext cx="11525250" cy="60369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And, with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optimal step size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B063E0-9994-4A53-A92A-603B98FF7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5314" y="5180038"/>
            <a:ext cx="2365692" cy="121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23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066799"/>
            <a:ext cx="11525250" cy="4944035"/>
          </a:xfrm>
        </p:spPr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Real-world loss functions are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typically not convex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can be multiple minimums and maximums;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multi-modal loss function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Finding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globally optimal solution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is hard!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minimum reached by an optimizer depends on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starting value of W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practice, we are happy with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good local solution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if not, the globally optimal solution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First order optimization found to perform as well, or better, than second order</a:t>
            </a: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27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Properties of Gradients</a:t>
            </a:r>
          </a:p>
        </p:txBody>
      </p:sp>
    </p:spTree>
    <p:extLst>
      <p:ext uri="{BB962C8B-B14F-4D97-AF65-F5344CB8AC3E}">
        <p14:creationId xmlns:p14="http://schemas.microsoft.com/office/powerpoint/2010/main" val="2048841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Nature of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705042"/>
            <a:ext cx="11525250" cy="615295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Convergence of quadratic optimization depends on the Hessian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understand the behavior of the Hessian we need to examine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 square matrix can be decomposed into eigenvalues and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 Q is the matrix of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unitary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eigenvectors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eigenvalues are a diagonal matrix</a:t>
            </a: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C28BFD-DAEC-494C-B73F-13BD91B63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719" y="2827524"/>
            <a:ext cx="2026657" cy="484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A41832-2712-468F-ADEB-FB7063100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217" y="4371480"/>
            <a:ext cx="4850823" cy="233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5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Nature of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76493"/>
            <a:ext cx="11525250" cy="675862"/>
          </a:xfrm>
        </p:spPr>
        <p:txBody>
          <a:bodyPr/>
          <a:lstStyle/>
          <a:p>
            <a:pPr marL="0" indent="0">
              <a:buNone/>
            </a:pP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Some key properties of the Hessian matrix: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The Hessian is symmetric since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For a convex loss function the Hessian has all </a:t>
            </a:r>
            <a:r>
              <a:rPr lang="en-US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positive eigenvalues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; it is </a:t>
            </a:r>
            <a:r>
              <a:rPr lang="en-US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positive definite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a minimum!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At a maximum point the Hessian has all </a:t>
            </a:r>
            <a:r>
              <a:rPr lang="en-US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negative eigenvalues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; it is </a:t>
            </a:r>
            <a:r>
              <a:rPr lang="en-US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negative definite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The Hessian has </a:t>
            </a:r>
            <a:r>
              <a:rPr lang="en-US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some positive and some negative eigenvalues 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at a </a:t>
            </a:r>
            <a:r>
              <a:rPr lang="en-US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saddle point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Saddle points are problematic since direction of descent to the minimum is unclear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If Hessian has some </a:t>
            </a:r>
            <a:r>
              <a:rPr lang="en-US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very small eigenvalues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, the gradient is low and </a:t>
            </a:r>
            <a:r>
              <a:rPr lang="en-US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convergence will be slow</a:t>
            </a:r>
          </a:p>
          <a:p>
            <a:pPr marL="457046" lvl="1" indent="0">
              <a:buNone/>
            </a:pP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5D387D-17F5-4EFF-AF7C-169336C4B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325880"/>
            <a:ext cx="2489835" cy="86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4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Nature of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34556"/>
            <a:ext cx="11525250" cy="67586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quadratic optimization, the rate of convergence is determined by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condition number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of the Hessian:</a:t>
            </a: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C89096-B87C-401F-8946-2932ED289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413" y="1992838"/>
            <a:ext cx="2509838" cy="81521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0CD835-ECC6-4F6B-BC14-191D5AF82D6F}"/>
              </a:ext>
            </a:extLst>
          </p:cNvPr>
          <p:cNvSpPr txBox="1">
            <a:spLocks/>
          </p:cNvSpPr>
          <p:nvPr/>
        </p:nvSpPr>
        <p:spPr>
          <a:xfrm>
            <a:off x="333375" y="2660890"/>
            <a:ext cx="11525250" cy="67586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8BC602-8A27-4757-A33C-4502E9DB3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673" y="3654834"/>
            <a:ext cx="8827487" cy="443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E78A7E-FF46-4D8F-8863-5AE17B739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0673" y="3178574"/>
            <a:ext cx="8405847" cy="4185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23D985E-C230-454D-ACC2-7CD689E58E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3375" y="4114879"/>
                <a:ext cx="11525250" cy="675862"/>
              </a:xfrm>
              <a:prstGeom prst="rect">
                <a:avLst/>
              </a:prstGeom>
            </p:spPr>
            <p:txBody>
              <a:bodyPr/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If the condition number is close to 1.0, the Hessian is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well conditioned 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and convergence will be fast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If the condition number is large ,e.g.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𝐶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≳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100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the Hessian is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ill-conditioned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convergence will be slow; gradient is flat in some dimensions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23D985E-C230-454D-ACC2-7CD689E58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4114879"/>
                <a:ext cx="11525250" cy="675862"/>
              </a:xfrm>
              <a:prstGeom prst="rect">
                <a:avLst/>
              </a:prstGeom>
              <a:blipFill>
                <a:blip r:embed="rId6"/>
                <a:stretch>
                  <a:fillRect l="-952" t="-9009" b="-280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22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Nature of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6307" y="1029210"/>
            <a:ext cx="11525250" cy="67586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Example of well-conditioned and ill-conditioned gradients:</a:t>
            </a: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4A3809-D589-4DFA-B7C9-DFC5628E8F65}"/>
              </a:ext>
            </a:extLst>
          </p:cNvPr>
          <p:cNvSpPr/>
          <p:nvPr/>
        </p:nvSpPr>
        <p:spPr>
          <a:xfrm rot="19365406">
            <a:off x="1529898" y="3255890"/>
            <a:ext cx="1885950" cy="76675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19DE8E6-77A6-4359-8394-DF04ADA5B6DE}"/>
              </a:ext>
            </a:extLst>
          </p:cNvPr>
          <p:cNvSpPr/>
          <p:nvPr/>
        </p:nvSpPr>
        <p:spPr>
          <a:xfrm rot="19365406">
            <a:off x="902470" y="2905849"/>
            <a:ext cx="3224212" cy="146683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EED2DFC-4117-4814-B91F-E6C919A2E72C}"/>
              </a:ext>
            </a:extLst>
          </p:cNvPr>
          <p:cNvSpPr/>
          <p:nvPr/>
        </p:nvSpPr>
        <p:spPr>
          <a:xfrm rot="19365406">
            <a:off x="2289310" y="3427499"/>
            <a:ext cx="304800" cy="29051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CA2881-DEE9-4450-8A3C-2948972CCAE6}"/>
              </a:ext>
            </a:extLst>
          </p:cNvPr>
          <p:cNvSpPr txBox="1"/>
          <p:nvPr/>
        </p:nvSpPr>
        <p:spPr>
          <a:xfrm>
            <a:off x="2070097" y="3753098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Min</a:t>
            </a:r>
            <a:r>
              <a:rPr lang="en-US" b="1" baseline="-25000" dirty="0" err="1"/>
              <a:t>W</a:t>
            </a:r>
            <a:r>
              <a:rPr lang="en-US" b="1" baseline="-25000" dirty="0"/>
              <a:t> </a:t>
            </a:r>
            <a:r>
              <a:rPr lang="en-US" b="1" dirty="0"/>
              <a:t>(J(W)</a:t>
            </a:r>
            <a:r>
              <a:rPr lang="en-US" b="1" baseline="-25000" dirty="0"/>
              <a:t>MLE</a:t>
            </a:r>
            <a:r>
              <a:rPr lang="en-US" b="1" dirty="0"/>
              <a:t>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8DB7B79-BE37-4139-969D-C498051B98A0}"/>
              </a:ext>
            </a:extLst>
          </p:cNvPr>
          <p:cNvSpPr/>
          <p:nvPr/>
        </p:nvSpPr>
        <p:spPr>
          <a:xfrm rot="19511555">
            <a:off x="5738589" y="3494896"/>
            <a:ext cx="5520690" cy="169343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BC2E1A6-C9AB-4D89-89EC-19FCC4274754}"/>
              </a:ext>
            </a:extLst>
          </p:cNvPr>
          <p:cNvSpPr/>
          <p:nvPr/>
        </p:nvSpPr>
        <p:spPr>
          <a:xfrm rot="19511555">
            <a:off x="4775072" y="3378344"/>
            <a:ext cx="7442935" cy="3955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9DFF26DE-FC7C-4B85-972B-0960634A3DE8}"/>
              </a:ext>
            </a:extLst>
          </p:cNvPr>
          <p:cNvSpPr/>
          <p:nvPr/>
        </p:nvSpPr>
        <p:spPr>
          <a:xfrm rot="19511555">
            <a:off x="8316731" y="3425048"/>
            <a:ext cx="304800" cy="29051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128F1D-8B29-4885-A779-AA6C10579E80}"/>
              </a:ext>
            </a:extLst>
          </p:cNvPr>
          <p:cNvSpPr txBox="1"/>
          <p:nvPr/>
        </p:nvSpPr>
        <p:spPr>
          <a:xfrm rot="183839">
            <a:off x="8048326" y="3663171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Min</a:t>
            </a:r>
            <a:r>
              <a:rPr lang="en-US" b="1" baseline="-25000" dirty="0" err="1"/>
              <a:t>W</a:t>
            </a:r>
            <a:r>
              <a:rPr lang="en-US" b="1" baseline="-25000" dirty="0"/>
              <a:t> </a:t>
            </a:r>
            <a:r>
              <a:rPr lang="en-US" b="1" dirty="0"/>
              <a:t>(J(W)</a:t>
            </a:r>
            <a:r>
              <a:rPr lang="en-US" b="1" baseline="-25000" dirty="0"/>
              <a:t>MLE</a:t>
            </a:r>
            <a:r>
              <a:rPr lang="en-US" b="1" dirty="0"/>
              <a:t>)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0D2B8CB-6201-4397-8EDF-48AC90270902}"/>
              </a:ext>
            </a:extLst>
          </p:cNvPr>
          <p:cNvSpPr txBox="1">
            <a:spLocks/>
          </p:cNvSpPr>
          <p:nvPr/>
        </p:nvSpPr>
        <p:spPr>
          <a:xfrm>
            <a:off x="224674" y="5850556"/>
            <a:ext cx="4579803" cy="67586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well-conditioned gradient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C2721A8-71F4-4B28-BA08-CCC0D1807F84}"/>
              </a:ext>
            </a:extLst>
          </p:cNvPr>
          <p:cNvSpPr txBox="1">
            <a:spLocks/>
          </p:cNvSpPr>
          <p:nvPr/>
        </p:nvSpPr>
        <p:spPr>
          <a:xfrm>
            <a:off x="6503554" y="5828327"/>
            <a:ext cx="4579803" cy="67586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ill-conditioned gradient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26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 animBg="1"/>
      <p:bldP spid="19" grpId="0"/>
      <p:bldP spid="23" grpId="0" animBg="1"/>
      <p:bldP spid="24" grpId="0" animBg="1"/>
      <p:bldP spid="26" grpId="0" animBg="1"/>
      <p:bldP spid="27" grpId="0"/>
      <p:bldP spid="28" grpId="0" build="p"/>
      <p:bldP spid="2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Vanishing and Exploding Gradient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45820"/>
            <a:ext cx="11525250" cy="529038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no guarantee that the gradient of the loss function is well behaved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gradient can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vanish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Flat spots in the gradient – Hessian with small eigenvalues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Imagine a loss function with a long narrow valley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Ill-conditioned Hessian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Slow convergence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gradient can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explode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Sudden changes in the gradient; falling off a cliff!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Ill-conditioned Hessian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Very large step; optimizer over-shoots the minimum point</a:t>
            </a:r>
          </a:p>
        </p:txBody>
      </p:sp>
    </p:spTree>
    <p:extLst>
      <p:ext uri="{BB962C8B-B14F-4D97-AF65-F5344CB8AC3E}">
        <p14:creationId xmlns:p14="http://schemas.microsoft.com/office/powerpoint/2010/main" val="340156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Vanishing and Exploding Gradient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931026"/>
            <a:ext cx="11525250" cy="1280679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What happens to the eigenvalues of the Hessian?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Consider an n layer NN with linear activation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  <a:cs typeface="Segoe UI" panose="020B0502040204020203" pitchFamily="34" charset="0"/>
              </a:rPr>
              <a:t>The gradient is just the weight tensor, W, with eigen decomposition: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C05F66-F336-492B-ACE9-0A0182897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068" y="2425280"/>
            <a:ext cx="1843001" cy="51604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F4863B-45B9-4C6E-8F84-D1744A2CEF01}"/>
              </a:ext>
            </a:extLst>
          </p:cNvPr>
          <p:cNvSpPr txBox="1">
            <a:spLocks/>
          </p:cNvSpPr>
          <p:nvPr/>
        </p:nvSpPr>
        <p:spPr>
          <a:xfrm>
            <a:off x="378696" y="2982805"/>
            <a:ext cx="11525250" cy="60369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Multiplying the n weight tensors for the multi-layer NN: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99038AC-E5E0-4458-9CA7-00354D65EE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9735" y="4381740"/>
                <a:ext cx="11525250" cy="1502449"/>
              </a:xfrm>
              <a:prstGeom prst="rect">
                <a:avLst/>
              </a:prstGeom>
            </p:spPr>
            <p:txBody>
              <a:bodyPr/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If the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≪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1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the gradient vanishes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If the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≫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1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eigenvalue &gt;&gt; 1.0, the gradient explodes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99038AC-E5E0-4458-9CA7-00354D65E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35" y="4381740"/>
                <a:ext cx="11525250" cy="1502449"/>
              </a:xfrm>
              <a:prstGeom prst="rect">
                <a:avLst/>
              </a:prstGeom>
              <a:blipFill>
                <a:blip r:embed="rId3"/>
                <a:stretch>
                  <a:fillRect l="-952" t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99111FC-35BD-4B24-B3E6-B8422038C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628" y="3573349"/>
            <a:ext cx="4367212" cy="55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3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Vanishing and Exploding Gradient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132840"/>
            <a:ext cx="11525250" cy="508337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What can be done about extreme gradient problems?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Dealing with vanishing gradient can be difficult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Normalization of input values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Regularization is essential!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Batch normalization improves gradient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ResNets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next week’s lesson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Dealing with exploding gradients is easy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Gradient clipping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prevents extreme values</a:t>
            </a:r>
          </a:p>
        </p:txBody>
      </p:sp>
    </p:spTree>
    <p:extLst>
      <p:ext uri="{BB962C8B-B14F-4D97-AF65-F5344CB8AC3E}">
        <p14:creationId xmlns:p14="http://schemas.microsoft.com/office/powerpoint/2010/main" val="312858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Convex vs. Non-Convex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861F63-F6C3-45B7-B4A8-9B2C4F00C8D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959557" y="1264919"/>
                <a:ext cx="5944389" cy="492730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>
                    <a:latin typeface="+mj-lt"/>
                    <a:cs typeface="Segoe UI" panose="020B0502040204020203" pitchFamily="34" charset="0"/>
                  </a:rPr>
                  <a:t>Gradient descent is well-behaved with </a:t>
                </a:r>
                <a:r>
                  <a:rPr lang="en-US" sz="2800" b="1" dirty="0">
                    <a:latin typeface="+mj-lt"/>
                    <a:cs typeface="Segoe UI" panose="020B0502040204020203" pitchFamily="34" charset="0"/>
                  </a:rPr>
                  <a:t>convex loss function</a:t>
                </a:r>
              </a:p>
              <a:p>
                <a:r>
                  <a:rPr lang="en-US" sz="2800" dirty="0">
                    <a:latin typeface="+mj-lt"/>
                    <a:cs typeface="Segoe UI" panose="020B0502040204020203" pitchFamily="34" charset="0"/>
                  </a:rPr>
                  <a:t>Only 1 </a:t>
                </a:r>
                <a:r>
                  <a:rPr lang="en-US" sz="2800" b="1" dirty="0">
                    <a:latin typeface="+mj-lt"/>
                    <a:cs typeface="Segoe UI" panose="020B0502040204020203" pitchFamily="34" charset="0"/>
                  </a:rPr>
                  <a:t>global minimum</a:t>
                </a:r>
              </a:p>
              <a:p>
                <a:r>
                  <a:rPr lang="en-US" sz="2800" dirty="0">
                    <a:latin typeface="+mj-lt"/>
                    <a:cs typeface="Segoe UI" panose="020B0502040204020203" pitchFamily="34" charset="0"/>
                  </a:rPr>
                  <a:t>From any starting point the gradient leads to global minimum</a:t>
                </a:r>
              </a:p>
              <a:p>
                <a:r>
                  <a:rPr lang="en-US" sz="2800" dirty="0">
                    <a:latin typeface="+mj-lt"/>
                    <a:cs typeface="Segoe UI" panose="020B0502040204020203" pitchFamily="34" charset="0"/>
                  </a:rPr>
                  <a:t>Only </a:t>
                </a:r>
                <a:r>
                  <a:rPr lang="en-US" sz="2800" b="1" dirty="0">
                    <a:latin typeface="+mj-lt"/>
                    <a:cs typeface="Segoe UI" panose="020B0502040204020203" pitchFamily="34" charset="0"/>
                  </a:rPr>
                  <a:t>positive curvature at minimum</a:t>
                </a:r>
              </a:p>
              <a:p>
                <a:r>
                  <a:rPr lang="en-US" sz="2800" b="1" dirty="0">
                    <a:latin typeface="+mj-lt"/>
                    <a:cs typeface="Segoe UI" panose="020B0502040204020203" pitchFamily="34" charset="0"/>
                  </a:rPr>
                  <a:t>Positive definite Hessian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⇒</m:t>
                    </m:r>
                  </m:oMath>
                </a14:m>
                <a:r>
                  <a:rPr lang="en-US" sz="2800" dirty="0">
                    <a:latin typeface="+mj-lt"/>
                    <a:cs typeface="Segoe UI" panose="020B0502040204020203" pitchFamily="34" charset="0"/>
                  </a:rPr>
                  <a:t> </a:t>
                </a:r>
                <a:r>
                  <a:rPr lang="en-US" sz="2800" b="1" dirty="0">
                    <a:latin typeface="+mj-lt"/>
                    <a:cs typeface="Segoe UI" panose="020B0502040204020203" pitchFamily="34" charset="0"/>
                  </a:rPr>
                  <a:t>positive curvature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861F63-F6C3-45B7-B4A8-9B2C4F00C8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959557" y="1264919"/>
                <a:ext cx="5944389" cy="4927309"/>
              </a:xfrm>
              <a:blipFill>
                <a:blip r:embed="rId3"/>
                <a:stretch>
                  <a:fillRect l="-2154" t="-1112" r="-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F51C1AB-B7E1-450F-8C25-C883DD173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81" y="1134035"/>
            <a:ext cx="5472250" cy="458993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A69D49-4315-4B99-8477-70E3BFF4CCDF}"/>
              </a:ext>
            </a:extLst>
          </p:cNvPr>
          <p:cNvSpPr txBox="1">
            <a:spLocks/>
          </p:cNvSpPr>
          <p:nvPr/>
        </p:nvSpPr>
        <p:spPr>
          <a:xfrm>
            <a:off x="161730" y="5703047"/>
            <a:ext cx="5725093" cy="1196721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800" b="1" dirty="0">
                <a:latin typeface="+mj-lt"/>
                <a:cs typeface="Segoe UI" panose="020B0502040204020203" pitchFamily="34" charset="0"/>
              </a:rPr>
              <a:t>Convex loss</a:t>
            </a:r>
          </a:p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800" dirty="0">
                <a:latin typeface="+mj-lt"/>
                <a:cs typeface="Segoe UI" panose="020B0502040204020203" pitchFamily="34" charset="0"/>
              </a:rPr>
              <a:t>Poorly conditioned</a:t>
            </a:r>
            <a:endParaRPr lang="en-US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FB9F315E-0DDE-4FEC-80AA-8013CD20410D}"/>
              </a:ext>
            </a:extLst>
          </p:cNvPr>
          <p:cNvSpPr/>
          <p:nvPr/>
        </p:nvSpPr>
        <p:spPr>
          <a:xfrm>
            <a:off x="2898770" y="3290047"/>
            <a:ext cx="251012" cy="256988"/>
          </a:xfrm>
          <a:prstGeom prst="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3C1538-8732-4F66-A219-2942F73153DD}"/>
              </a:ext>
            </a:extLst>
          </p:cNvPr>
          <p:cNvSpPr/>
          <p:nvPr/>
        </p:nvSpPr>
        <p:spPr>
          <a:xfrm>
            <a:off x="1598295" y="3476625"/>
            <a:ext cx="1314450" cy="936911"/>
          </a:xfrm>
          <a:custGeom>
            <a:avLst/>
            <a:gdLst>
              <a:gd name="connsiteX0" fmla="*/ 0 w 1314450"/>
              <a:gd name="connsiteY0" fmla="*/ 861060 h 936911"/>
              <a:gd name="connsiteX1" fmla="*/ 57150 w 1314450"/>
              <a:gd name="connsiteY1" fmla="*/ 902970 h 936911"/>
              <a:gd name="connsiteX2" fmla="*/ 100965 w 1314450"/>
              <a:gd name="connsiteY2" fmla="*/ 933450 h 936911"/>
              <a:gd name="connsiteX3" fmla="*/ 167640 w 1314450"/>
              <a:gd name="connsiteY3" fmla="*/ 933450 h 936911"/>
              <a:gd name="connsiteX4" fmla="*/ 213360 w 1314450"/>
              <a:gd name="connsiteY4" fmla="*/ 908685 h 936911"/>
              <a:gd name="connsiteX5" fmla="*/ 283845 w 1314450"/>
              <a:gd name="connsiteY5" fmla="*/ 849630 h 936911"/>
              <a:gd name="connsiteX6" fmla="*/ 716280 w 1314450"/>
              <a:gd name="connsiteY6" fmla="*/ 495300 h 936911"/>
              <a:gd name="connsiteX7" fmla="*/ 1314450 w 1314450"/>
              <a:gd name="connsiteY7" fmla="*/ 0 h 93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4450" h="936911">
                <a:moveTo>
                  <a:pt x="0" y="861060"/>
                </a:moveTo>
                <a:lnTo>
                  <a:pt x="57150" y="902970"/>
                </a:lnTo>
                <a:cubicBezTo>
                  <a:pt x="73977" y="915035"/>
                  <a:pt x="82550" y="928370"/>
                  <a:pt x="100965" y="933450"/>
                </a:cubicBezTo>
                <a:cubicBezTo>
                  <a:pt x="119380" y="938530"/>
                  <a:pt x="148908" y="937577"/>
                  <a:pt x="167640" y="933450"/>
                </a:cubicBezTo>
                <a:cubicBezTo>
                  <a:pt x="186372" y="929323"/>
                  <a:pt x="193993" y="922655"/>
                  <a:pt x="213360" y="908685"/>
                </a:cubicBezTo>
                <a:cubicBezTo>
                  <a:pt x="232727" y="894715"/>
                  <a:pt x="283845" y="849630"/>
                  <a:pt x="283845" y="849630"/>
                </a:cubicBezTo>
                <a:lnTo>
                  <a:pt x="716280" y="495300"/>
                </a:lnTo>
                <a:lnTo>
                  <a:pt x="1314450" y="0"/>
                </a:lnTo>
              </a:path>
            </a:pathLst>
          </a:custGeom>
          <a:noFill/>
          <a:ln w="50800"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4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build="p"/>
      <p:bldP spid="6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D9BA06C-0F36-4A9C-A636-DD6BACFB7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08" y="1220210"/>
            <a:ext cx="5622527" cy="42721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Convex vs. Non-Convex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964518" y="926352"/>
            <a:ext cx="5940245" cy="528986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j-lt"/>
                <a:cs typeface="Segoe UI" panose="020B0502040204020203" pitchFamily="34" charset="0"/>
              </a:rPr>
              <a:t>Gradient descent can be problematic with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nonconvex loss function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There is a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global minimum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Possibly many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local minimums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Minimum found with gradient descent depends on starting point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A good minimum may be good enough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Hessian negative definite at any minimum, but globally who knows??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A69D49-4315-4B99-8477-70E3BFF4CCDF}"/>
              </a:ext>
            </a:extLst>
          </p:cNvPr>
          <p:cNvSpPr txBox="1">
            <a:spLocks/>
          </p:cNvSpPr>
          <p:nvPr/>
        </p:nvSpPr>
        <p:spPr>
          <a:xfrm>
            <a:off x="114836" y="5617857"/>
            <a:ext cx="5725093" cy="1196721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800" b="1" dirty="0">
                <a:latin typeface="+mj-lt"/>
                <a:cs typeface="Segoe UI" panose="020B0502040204020203" pitchFamily="34" charset="0"/>
              </a:rPr>
              <a:t>Nonconvex loss</a:t>
            </a:r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AFD08F13-9D3B-48C1-9E18-31041125B9AA}"/>
              </a:ext>
            </a:extLst>
          </p:cNvPr>
          <p:cNvSpPr/>
          <p:nvPr/>
        </p:nvSpPr>
        <p:spPr>
          <a:xfrm>
            <a:off x="4408916" y="3172012"/>
            <a:ext cx="251012" cy="256988"/>
          </a:xfrm>
          <a:prstGeom prst="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BFBD1464-24D5-4921-96FE-679369956653}"/>
              </a:ext>
            </a:extLst>
          </p:cNvPr>
          <p:cNvSpPr/>
          <p:nvPr/>
        </p:nvSpPr>
        <p:spPr>
          <a:xfrm rot="19128044">
            <a:off x="1936794" y="3172012"/>
            <a:ext cx="251012" cy="256988"/>
          </a:xfrm>
          <a:prstGeom prst="plu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4A7CB67-1F7E-4FE3-8565-F601F798CA84}"/>
              </a:ext>
            </a:extLst>
          </p:cNvPr>
          <p:cNvSpPr/>
          <p:nvPr/>
        </p:nvSpPr>
        <p:spPr>
          <a:xfrm>
            <a:off x="1605041" y="3394710"/>
            <a:ext cx="363870" cy="786765"/>
          </a:xfrm>
          <a:custGeom>
            <a:avLst/>
            <a:gdLst>
              <a:gd name="connsiteX0" fmla="*/ 238140 w 363870"/>
              <a:gd name="connsiteY0" fmla="*/ 786765 h 786765"/>
              <a:gd name="connsiteX1" fmla="*/ 116220 w 363870"/>
              <a:gd name="connsiteY1" fmla="*/ 643890 h 786765"/>
              <a:gd name="connsiteX2" fmla="*/ 38115 w 363870"/>
              <a:gd name="connsiteY2" fmla="*/ 510540 h 786765"/>
              <a:gd name="connsiteX3" fmla="*/ 15 w 363870"/>
              <a:gd name="connsiteY3" fmla="*/ 384810 h 786765"/>
              <a:gd name="connsiteX4" fmla="*/ 41925 w 363870"/>
              <a:gd name="connsiteY4" fmla="*/ 285750 h 786765"/>
              <a:gd name="connsiteX5" fmla="*/ 144795 w 363870"/>
              <a:gd name="connsiteY5" fmla="*/ 171450 h 786765"/>
              <a:gd name="connsiteX6" fmla="*/ 278145 w 363870"/>
              <a:gd name="connsiteY6" fmla="*/ 59055 h 786765"/>
              <a:gd name="connsiteX7" fmla="*/ 363870 w 363870"/>
              <a:gd name="connsiteY7" fmla="*/ 0 h 786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3870" h="786765">
                <a:moveTo>
                  <a:pt x="238140" y="786765"/>
                </a:moveTo>
                <a:cubicBezTo>
                  <a:pt x="193848" y="738346"/>
                  <a:pt x="149557" y="689927"/>
                  <a:pt x="116220" y="643890"/>
                </a:cubicBezTo>
                <a:cubicBezTo>
                  <a:pt x="82882" y="597852"/>
                  <a:pt x="57483" y="553720"/>
                  <a:pt x="38115" y="510540"/>
                </a:cubicBezTo>
                <a:cubicBezTo>
                  <a:pt x="18747" y="467360"/>
                  <a:pt x="-620" y="422275"/>
                  <a:pt x="15" y="384810"/>
                </a:cubicBezTo>
                <a:cubicBezTo>
                  <a:pt x="650" y="347345"/>
                  <a:pt x="17795" y="321310"/>
                  <a:pt x="41925" y="285750"/>
                </a:cubicBezTo>
                <a:cubicBezTo>
                  <a:pt x="66055" y="250190"/>
                  <a:pt x="105425" y="209232"/>
                  <a:pt x="144795" y="171450"/>
                </a:cubicBezTo>
                <a:cubicBezTo>
                  <a:pt x="184165" y="133667"/>
                  <a:pt x="241633" y="87630"/>
                  <a:pt x="278145" y="59055"/>
                </a:cubicBezTo>
                <a:cubicBezTo>
                  <a:pt x="314657" y="30480"/>
                  <a:pt x="339263" y="15240"/>
                  <a:pt x="363870" y="0"/>
                </a:cubicBezTo>
              </a:path>
            </a:pathLst>
          </a:custGeom>
          <a:noFill/>
          <a:ln w="50800"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19D7A16-72A9-4B4D-9287-8C2CB48B6602}"/>
              </a:ext>
            </a:extLst>
          </p:cNvPr>
          <p:cNvSpPr/>
          <p:nvPr/>
        </p:nvSpPr>
        <p:spPr>
          <a:xfrm>
            <a:off x="2585085" y="3394710"/>
            <a:ext cx="1819275" cy="914765"/>
          </a:xfrm>
          <a:custGeom>
            <a:avLst/>
            <a:gdLst>
              <a:gd name="connsiteX0" fmla="*/ 0 w 1819275"/>
              <a:gd name="connsiteY0" fmla="*/ 775335 h 914765"/>
              <a:gd name="connsiteX1" fmla="*/ 169545 w 1819275"/>
              <a:gd name="connsiteY1" fmla="*/ 859155 h 914765"/>
              <a:gd name="connsiteX2" fmla="*/ 291465 w 1819275"/>
              <a:gd name="connsiteY2" fmla="*/ 899160 h 914765"/>
              <a:gd name="connsiteX3" fmla="*/ 396240 w 1819275"/>
              <a:gd name="connsiteY3" fmla="*/ 914400 h 914765"/>
              <a:gd name="connsiteX4" fmla="*/ 581025 w 1819275"/>
              <a:gd name="connsiteY4" fmla="*/ 885825 h 914765"/>
              <a:gd name="connsiteX5" fmla="*/ 695325 w 1819275"/>
              <a:gd name="connsiteY5" fmla="*/ 834390 h 914765"/>
              <a:gd name="connsiteX6" fmla="*/ 744855 w 1819275"/>
              <a:gd name="connsiteY6" fmla="*/ 794385 h 914765"/>
              <a:gd name="connsiteX7" fmla="*/ 1089660 w 1819275"/>
              <a:gd name="connsiteY7" fmla="*/ 548640 h 914765"/>
              <a:gd name="connsiteX8" fmla="*/ 1624965 w 1819275"/>
              <a:gd name="connsiteY8" fmla="*/ 144780 h 914765"/>
              <a:gd name="connsiteX9" fmla="*/ 1819275 w 1819275"/>
              <a:gd name="connsiteY9" fmla="*/ 0 h 914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19275" h="914765">
                <a:moveTo>
                  <a:pt x="0" y="775335"/>
                </a:moveTo>
                <a:cubicBezTo>
                  <a:pt x="60484" y="806926"/>
                  <a:pt x="120968" y="838518"/>
                  <a:pt x="169545" y="859155"/>
                </a:cubicBezTo>
                <a:cubicBezTo>
                  <a:pt x="218122" y="879792"/>
                  <a:pt x="253683" y="889953"/>
                  <a:pt x="291465" y="899160"/>
                </a:cubicBezTo>
                <a:cubicBezTo>
                  <a:pt x="329247" y="908367"/>
                  <a:pt x="347980" y="916622"/>
                  <a:pt x="396240" y="914400"/>
                </a:cubicBezTo>
                <a:cubicBezTo>
                  <a:pt x="444500" y="912178"/>
                  <a:pt x="531177" y="899160"/>
                  <a:pt x="581025" y="885825"/>
                </a:cubicBezTo>
                <a:cubicBezTo>
                  <a:pt x="630873" y="872490"/>
                  <a:pt x="668020" y="849630"/>
                  <a:pt x="695325" y="834390"/>
                </a:cubicBezTo>
                <a:cubicBezTo>
                  <a:pt x="722630" y="819150"/>
                  <a:pt x="679133" y="842010"/>
                  <a:pt x="744855" y="794385"/>
                </a:cubicBezTo>
                <a:cubicBezTo>
                  <a:pt x="810578" y="746760"/>
                  <a:pt x="942975" y="656907"/>
                  <a:pt x="1089660" y="548640"/>
                </a:cubicBezTo>
                <a:cubicBezTo>
                  <a:pt x="1236345" y="440373"/>
                  <a:pt x="1624965" y="144780"/>
                  <a:pt x="1624965" y="144780"/>
                </a:cubicBezTo>
                <a:lnTo>
                  <a:pt x="1819275" y="0"/>
                </a:lnTo>
              </a:path>
            </a:pathLst>
          </a:custGeom>
          <a:noFill/>
          <a:ln w="50800"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2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build="p"/>
      <p:bldP spid="7" grpId="0" animBg="1"/>
      <p:bldP spid="8" grpId="0" animBg="1"/>
      <p:bldP spid="9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Convex vs. Non-Convex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18306" y="1153160"/>
            <a:ext cx="5886457" cy="506305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j-lt"/>
                <a:cs typeface="Segoe UI" panose="020B0502040204020203" pitchFamily="34" charset="0"/>
              </a:rPr>
              <a:t>Gradient descent can be problematic with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nonconvex loss function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Can get stuck at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saddle point!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Gradient is ambiguous at saddle point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Some dimensions with positive gradient, others with negative gradient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Hessian is not positive definite, so not minimum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A69D49-4315-4B99-8477-70E3BFF4CCDF}"/>
              </a:ext>
            </a:extLst>
          </p:cNvPr>
          <p:cNvSpPr txBox="1">
            <a:spLocks/>
          </p:cNvSpPr>
          <p:nvPr/>
        </p:nvSpPr>
        <p:spPr>
          <a:xfrm>
            <a:off x="115142" y="5647200"/>
            <a:ext cx="5725093" cy="1196721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800" b="1" dirty="0">
                <a:latin typeface="+mj-lt"/>
                <a:cs typeface="Segoe UI" panose="020B0502040204020203" pitchFamily="34" charset="0"/>
              </a:rPr>
              <a:t>Nonconvex loss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9BA06C-0F36-4A9C-A636-DD6BACFB7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4" y="1220210"/>
            <a:ext cx="5622527" cy="4272166"/>
          </a:xfrm>
          <a:prstGeom prst="rect">
            <a:avLst/>
          </a:prstGeom>
        </p:spPr>
      </p:pic>
      <p:sp>
        <p:nvSpPr>
          <p:cNvPr id="7" name="Cross 6">
            <a:extLst>
              <a:ext uri="{FF2B5EF4-FFF2-40B4-BE49-F238E27FC236}">
                <a16:creationId xmlns:a16="http://schemas.microsoft.com/office/drawing/2014/main" id="{B3909A94-6B91-437F-BC2B-66B95DAC48DA}"/>
              </a:ext>
            </a:extLst>
          </p:cNvPr>
          <p:cNvSpPr/>
          <p:nvPr/>
        </p:nvSpPr>
        <p:spPr>
          <a:xfrm>
            <a:off x="3054432" y="3227799"/>
            <a:ext cx="251012" cy="256988"/>
          </a:xfrm>
          <a:prstGeom prst="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F12E40-2E42-4B77-960F-2F46502F170A}"/>
              </a:ext>
            </a:extLst>
          </p:cNvPr>
          <p:cNvCxnSpPr>
            <a:cxnSpLocks/>
          </p:cNvCxnSpPr>
          <p:nvPr/>
        </p:nvCxnSpPr>
        <p:spPr>
          <a:xfrm>
            <a:off x="3228681" y="3356293"/>
            <a:ext cx="212413" cy="19818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4A0DD6-251E-4758-8998-FCBAF4894024}"/>
              </a:ext>
            </a:extLst>
          </p:cNvPr>
          <p:cNvCxnSpPr>
            <a:cxnSpLocks/>
          </p:cNvCxnSpPr>
          <p:nvPr/>
        </p:nvCxnSpPr>
        <p:spPr>
          <a:xfrm flipH="1" flipV="1">
            <a:off x="2854036" y="3172012"/>
            <a:ext cx="257985" cy="12849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064A174-D7D6-4166-95BA-180BC27E3CE2}"/>
              </a:ext>
            </a:extLst>
          </p:cNvPr>
          <p:cNvSpPr txBox="1">
            <a:spLocks/>
          </p:cNvSpPr>
          <p:nvPr/>
        </p:nvSpPr>
        <p:spPr>
          <a:xfrm>
            <a:off x="3285145" y="3356293"/>
            <a:ext cx="499308" cy="463971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1173BDA-736D-493B-96BF-F9C4DB513E0E}"/>
              </a:ext>
            </a:extLst>
          </p:cNvPr>
          <p:cNvSpPr txBox="1">
            <a:spLocks/>
          </p:cNvSpPr>
          <p:nvPr/>
        </p:nvSpPr>
        <p:spPr>
          <a:xfrm>
            <a:off x="2576781" y="2892322"/>
            <a:ext cx="499308" cy="463971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7007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15" grpId="0" uiExpand="1" build="p"/>
      <p:bldP spid="16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6750" y="1301328"/>
                <a:ext cx="11525250" cy="52903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Regularization is essential for complex ML models</a:t>
                </a:r>
              </a:p>
              <a:p>
                <a:r>
                  <a:rPr lang="en-GB" sz="2800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Deep learning models require learning very large numbers of parameters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Even with large training datasets there are only a few samples per parameters</a:t>
                </a:r>
              </a:p>
              <a:p>
                <a:r>
                  <a:rPr lang="en-GB" sz="2800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Large number of parameters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⟹</m:t>
                    </m:r>
                  </m:oMath>
                </a14:m>
                <a:r>
                  <a:rPr lang="en-GB" sz="2800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 high chance of </a:t>
                </a:r>
                <a:r>
                  <a:rPr lang="en-GB" sz="2800" b="1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over-fitting</a:t>
                </a:r>
                <a:r>
                  <a:rPr lang="en-GB" sz="2800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 ML  models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Over-fit models learn the training data too well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Over-fit models do not generalize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Over-fit models have poor response to input noise</a:t>
                </a:r>
              </a:p>
              <a:p>
                <a:r>
                  <a:rPr lang="en-GB" sz="2800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To </a:t>
                </a:r>
                <a:r>
                  <a:rPr lang="en-GB" sz="280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prevent over-fitting, </a:t>
                </a:r>
                <a:r>
                  <a:rPr lang="en-GB" sz="2800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we apply </a:t>
                </a:r>
                <a:r>
                  <a:rPr lang="en-GB" sz="2800" b="1" dirty="0">
                    <a:latin typeface="Segoe UI" panose="020B0502040204020203" pitchFamily="34" charset="0"/>
                    <a:ea typeface="Segoe UI" panose="020B0502040204020203" pitchFamily="34" charset="0"/>
                    <a:cs typeface="Segoe UI" panose="020B0502040204020203" pitchFamily="34" charset="0"/>
                  </a:rPr>
                  <a:t>regularization methods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GB" dirty="0"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GB" dirty="0"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lvl="1"/>
                <a:endParaRPr lang="en-GB" dirty="0"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6750" y="1301328"/>
                <a:ext cx="11525250" cy="5290388"/>
              </a:xfrm>
              <a:blipFill>
                <a:blip r:embed="rId3"/>
                <a:stretch>
                  <a:fillRect l="-1058" t="-1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626" y="1"/>
            <a:ext cx="11150219" cy="1388226"/>
          </a:xfrm>
        </p:spPr>
        <p:txBody>
          <a:bodyPr>
            <a:normAutofit/>
          </a:bodyPr>
          <a:lstStyle/>
          <a:p>
            <a:br>
              <a:rPr lang="en-US" dirty="0">
                <a:latin typeface="Segoe"/>
              </a:rPr>
            </a:br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Regularization for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00184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The L2 Regularization Method</a:t>
            </a:r>
          </a:p>
        </p:txBody>
      </p:sp>
    </p:spTree>
    <p:extLst>
      <p:ext uri="{BB962C8B-B14F-4D97-AF65-F5344CB8AC3E}">
        <p14:creationId xmlns:p14="http://schemas.microsoft.com/office/powerpoint/2010/main" val="1663121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3433866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L2 or Euclidean norm regularization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is a widely used method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Over-fit models tend to have parameters (weights) with extreme values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One way to regularize models is to limit the values of the parameters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Limit the L2 norm of the model parameter 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We add a small bias term to (greatly) reduce the variance</a:t>
            </a:r>
          </a:p>
        </p:txBody>
      </p:sp>
    </p:spTree>
    <p:extLst>
      <p:ext uri="{BB962C8B-B14F-4D97-AF65-F5344CB8AC3E}">
        <p14:creationId xmlns:p14="http://schemas.microsoft.com/office/powerpoint/2010/main" val="420962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123774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Limit the size of the model parameters is to constrain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l2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or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Euclidian norm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5B79A8-7BED-40C4-A2EF-1469FDD9B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045" y="1784492"/>
            <a:ext cx="7577675" cy="123089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789D93-718F-4750-91FC-A2A4EBC2367F}"/>
              </a:ext>
            </a:extLst>
          </p:cNvPr>
          <p:cNvSpPr txBox="1">
            <a:spLocks/>
          </p:cNvSpPr>
          <p:nvPr/>
        </p:nvSpPr>
        <p:spPr>
          <a:xfrm>
            <a:off x="415074" y="3065585"/>
            <a:ext cx="11525250" cy="702390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regularized loss function is then: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BD771B-6145-433F-97CB-A93894EB7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811" y="3600336"/>
            <a:ext cx="4280389" cy="54643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DAF3582-C777-46B4-902F-5C6DDE05FDBB}"/>
              </a:ext>
            </a:extLst>
          </p:cNvPr>
          <p:cNvSpPr txBox="1">
            <a:spLocks/>
          </p:cNvSpPr>
          <p:nvPr/>
        </p:nvSpPr>
        <p:spPr>
          <a:xfrm>
            <a:off x="415074" y="4372211"/>
            <a:ext cx="11525250" cy="702390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is the regularization hyperparameter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Large </a:t>
            </a:r>
            <a:r>
              <a:rPr lang="en-US" sz="24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increases bias but reduces variance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Small </a:t>
            </a:r>
            <a:r>
              <a:rPr lang="en-US" sz="24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decreases bias and increases variance</a:t>
            </a:r>
          </a:p>
        </p:txBody>
      </p:sp>
    </p:spTree>
    <p:extLst>
      <p:ext uri="{BB962C8B-B14F-4D97-AF65-F5344CB8AC3E}">
        <p14:creationId xmlns:p14="http://schemas.microsoft.com/office/powerpoint/2010/main" val="231309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7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949150"/>
            <a:ext cx="11525250" cy="645629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you gain some intuition about l2 regularization?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E61B3B3-40C8-4D52-93DF-51F747B0E473}"/>
              </a:ext>
            </a:extLst>
          </p:cNvPr>
          <p:cNvSpPr/>
          <p:nvPr/>
        </p:nvSpPr>
        <p:spPr bwMode="auto">
          <a:xfrm>
            <a:off x="4048370" y="2256203"/>
            <a:ext cx="3708400" cy="3505200"/>
          </a:xfrm>
          <a:prstGeom prst="ellipse">
            <a:avLst/>
          </a:prstGeom>
          <a:noFill/>
          <a:ln w="25400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en-US" sz="7466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E9076E5-59DA-49C1-B1BB-81A5DBD05FC2}"/>
              </a:ext>
            </a:extLst>
          </p:cNvPr>
          <p:cNvCxnSpPr/>
          <p:nvPr/>
        </p:nvCxnSpPr>
        <p:spPr bwMode="auto">
          <a:xfrm>
            <a:off x="5902570" y="1900604"/>
            <a:ext cx="0" cy="4129617"/>
          </a:xfrm>
          <a:prstGeom prst="line">
            <a:avLst/>
          </a:prstGeom>
          <a:solidFill>
            <a:srgbClr val="000000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CCF9BF-DF5A-46BA-AB5C-2B4C3BB85667}"/>
              </a:ext>
            </a:extLst>
          </p:cNvPr>
          <p:cNvCxnSpPr/>
          <p:nvPr/>
        </p:nvCxnSpPr>
        <p:spPr bwMode="auto">
          <a:xfrm flipH="1">
            <a:off x="3489570" y="4008803"/>
            <a:ext cx="4775200" cy="0"/>
          </a:xfrm>
          <a:prstGeom prst="line">
            <a:avLst/>
          </a:prstGeom>
          <a:solidFill>
            <a:srgbClr val="000000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772040BB-E43B-465E-B5F5-CDC0479A4B6A}"/>
              </a:ext>
            </a:extLst>
          </p:cNvPr>
          <p:cNvSpPr txBox="1">
            <a:spLocks/>
          </p:cNvSpPr>
          <p:nvPr/>
        </p:nvSpPr>
        <p:spPr>
          <a:xfrm>
            <a:off x="5526033" y="1398953"/>
            <a:ext cx="702275" cy="5884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79400" indent="-27940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685800" indent="-2743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914400" indent="-18288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76807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96009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115211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134413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153615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172817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 marL="0" indent="0">
              <a:buNone/>
            </a:pPr>
            <a:r>
              <a:rPr lang="en-US" sz="2933" kern="0" dirty="0"/>
              <a:t>X2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F7E4A36-5924-43C4-809F-7D1DFB854952}"/>
              </a:ext>
            </a:extLst>
          </p:cNvPr>
          <p:cNvSpPr txBox="1">
            <a:spLocks/>
          </p:cNvSpPr>
          <p:nvPr/>
        </p:nvSpPr>
        <p:spPr>
          <a:xfrm>
            <a:off x="8162413" y="3645067"/>
            <a:ext cx="702275" cy="5884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79400" indent="-27940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685800" indent="-2743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914400" indent="-18288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76807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96009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115211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134413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153615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172817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 marL="0" indent="0">
              <a:buNone/>
            </a:pPr>
            <a:r>
              <a:rPr lang="en-US" sz="2933" kern="0" dirty="0"/>
              <a:t>X1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5B723FAF-73C4-4CB2-A562-66E36ADA4617}"/>
              </a:ext>
            </a:extLst>
          </p:cNvPr>
          <p:cNvSpPr txBox="1">
            <a:spLocks/>
          </p:cNvSpPr>
          <p:nvPr/>
        </p:nvSpPr>
        <p:spPr>
          <a:xfrm>
            <a:off x="1470271" y="5079840"/>
            <a:ext cx="2946400" cy="5884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79400" indent="-27940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685800" indent="-2743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914400" indent="-18288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76807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96009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115211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134413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153615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172817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 marL="0" indent="0">
              <a:buNone/>
            </a:pPr>
            <a:r>
              <a:rPr lang="en-US" sz="2933" kern="0" dirty="0"/>
              <a:t>Constant ||</a:t>
            </a:r>
            <a:r>
              <a:rPr lang="en-US" sz="2933" kern="0" dirty="0">
                <a:latin typeface="Symbol" panose="05050102010706020507" pitchFamily="18" charset="2"/>
              </a:rPr>
              <a:t>B</a:t>
            </a:r>
            <a:r>
              <a:rPr lang="en-US" sz="2933" kern="0" dirty="0"/>
              <a:t>||</a:t>
            </a:r>
            <a:r>
              <a:rPr lang="en-US" sz="2933" kern="0" baseline="30000" dirty="0"/>
              <a:t>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3D4CF52-5E8C-484D-8D57-A5FD48868151}"/>
              </a:ext>
            </a:extLst>
          </p:cNvPr>
          <p:cNvCxnSpPr/>
          <p:nvPr/>
        </p:nvCxnSpPr>
        <p:spPr bwMode="auto">
          <a:xfrm flipV="1">
            <a:off x="3107383" y="4643804"/>
            <a:ext cx="991788" cy="436036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D9EA6A8-6535-4590-82CD-FD7C9EA72C03}"/>
              </a:ext>
            </a:extLst>
          </p:cNvPr>
          <p:cNvCxnSpPr>
            <a:endCxn id="27" idx="0"/>
          </p:cNvCxnSpPr>
          <p:nvPr/>
        </p:nvCxnSpPr>
        <p:spPr bwMode="auto">
          <a:xfrm flipV="1">
            <a:off x="5902570" y="2256204"/>
            <a:ext cx="0" cy="1752599"/>
          </a:xfrm>
          <a:prstGeom prst="straightConnector1">
            <a:avLst/>
          </a:prstGeom>
          <a:solidFill>
            <a:srgbClr val="000000"/>
          </a:solidFill>
          <a:ln w="476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5BCAB8F-C56E-4151-B2B0-2FE1E1446BE8}"/>
              </a:ext>
            </a:extLst>
          </p:cNvPr>
          <p:cNvCxnSpPr>
            <a:endCxn id="27" idx="6"/>
          </p:cNvCxnSpPr>
          <p:nvPr/>
        </p:nvCxnSpPr>
        <p:spPr bwMode="auto">
          <a:xfrm flipV="1">
            <a:off x="5902570" y="4008804"/>
            <a:ext cx="1854200" cy="25401"/>
          </a:xfrm>
          <a:prstGeom prst="straightConnector1">
            <a:avLst/>
          </a:prstGeom>
          <a:solidFill>
            <a:srgbClr val="000000"/>
          </a:solidFill>
          <a:ln w="476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89BBF3-2E72-454B-AC5F-5271D5819BBC}"/>
              </a:ext>
            </a:extLst>
          </p:cNvPr>
          <p:cNvCxnSpPr/>
          <p:nvPr/>
        </p:nvCxnSpPr>
        <p:spPr bwMode="auto">
          <a:xfrm flipH="1" flipV="1">
            <a:off x="4563215" y="2801252"/>
            <a:ext cx="1364756" cy="1232952"/>
          </a:xfrm>
          <a:prstGeom prst="straightConnector1">
            <a:avLst/>
          </a:prstGeom>
          <a:solidFill>
            <a:srgbClr val="000000"/>
          </a:solidFill>
          <a:ln w="476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98E981BE-FA5A-4FF0-9D0C-50F4CEFB53BF}"/>
              </a:ext>
            </a:extLst>
          </p:cNvPr>
          <p:cNvSpPr txBox="1">
            <a:spLocks/>
          </p:cNvSpPr>
          <p:nvPr/>
        </p:nvSpPr>
        <p:spPr>
          <a:xfrm>
            <a:off x="7841951" y="1922809"/>
            <a:ext cx="1944739" cy="5884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79400" indent="-27940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685800" indent="-2743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914400" indent="-18288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76807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96009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115211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134413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153615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172817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 marL="0" indent="0">
              <a:buNone/>
            </a:pPr>
            <a:r>
              <a:rPr lang="en-US" sz="2933" kern="0" dirty="0">
                <a:latin typeface="Symbol" panose="05050102010706020507" pitchFamily="18" charset="2"/>
              </a:rPr>
              <a:t>B</a:t>
            </a:r>
            <a:r>
              <a:rPr lang="en-US" sz="2933" kern="0" dirty="0"/>
              <a:t>1 large</a:t>
            </a:r>
          </a:p>
          <a:p>
            <a:pPr marL="0" indent="0">
              <a:buNone/>
            </a:pPr>
            <a:r>
              <a:rPr lang="en-US" sz="2933" kern="0" dirty="0">
                <a:latin typeface="Symbol" panose="05050102010706020507" pitchFamily="18" charset="2"/>
              </a:rPr>
              <a:t>B</a:t>
            </a:r>
            <a:r>
              <a:rPr lang="en-US" sz="2933" kern="0" dirty="0"/>
              <a:t>2 small</a:t>
            </a:r>
            <a:endParaRPr lang="en-US" sz="2933" kern="0" baseline="300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3EA9B99-5BAC-45B1-9B35-ECA9FC3551E1}"/>
              </a:ext>
            </a:extLst>
          </p:cNvPr>
          <p:cNvCxnSpPr/>
          <p:nvPr/>
        </p:nvCxnSpPr>
        <p:spPr bwMode="auto">
          <a:xfrm flipH="1" flipV="1">
            <a:off x="7220095" y="4057733"/>
            <a:ext cx="1197075" cy="771121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C69C279-4AB0-404A-A64C-B4E34FCEBFFD}"/>
              </a:ext>
            </a:extLst>
          </p:cNvPr>
          <p:cNvSpPr txBox="1">
            <a:spLocks/>
          </p:cNvSpPr>
          <p:nvPr/>
        </p:nvSpPr>
        <p:spPr>
          <a:xfrm>
            <a:off x="3275885" y="1989875"/>
            <a:ext cx="1422400" cy="5884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79400" indent="-27940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685800" indent="-2743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914400" indent="-18288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76807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96009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115211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134413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153615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172817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 marL="0" indent="0">
              <a:buNone/>
            </a:pPr>
            <a:r>
              <a:rPr lang="en-US" sz="2933" kern="0" dirty="0">
                <a:latin typeface="Symbol" panose="05050102010706020507" pitchFamily="18" charset="2"/>
              </a:rPr>
              <a:t>B</a:t>
            </a:r>
            <a:r>
              <a:rPr lang="en-US" sz="2933" kern="0" dirty="0"/>
              <a:t>1 ~ 0</a:t>
            </a:r>
            <a:endParaRPr lang="en-US" sz="2933" kern="0" baseline="300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167A521-44E2-462E-8E7E-5FEB09AD6C7F}"/>
              </a:ext>
            </a:extLst>
          </p:cNvPr>
          <p:cNvCxnSpPr/>
          <p:nvPr/>
        </p:nvCxnSpPr>
        <p:spPr bwMode="auto">
          <a:xfrm>
            <a:off x="4620319" y="2419159"/>
            <a:ext cx="1164176" cy="794995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5669C91-EFB7-4AD5-9FAE-304A146082A7}"/>
              </a:ext>
            </a:extLst>
          </p:cNvPr>
          <p:cNvSpPr txBox="1">
            <a:spLocks/>
          </p:cNvSpPr>
          <p:nvPr/>
        </p:nvSpPr>
        <p:spPr>
          <a:xfrm>
            <a:off x="2108990" y="3204715"/>
            <a:ext cx="1804325" cy="5884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79400" indent="-27940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685800" indent="-2743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914400" indent="-18288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76807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96009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115211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134413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153615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172817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 marL="0" indent="0">
              <a:buNone/>
            </a:pPr>
            <a:r>
              <a:rPr lang="en-US" sz="2933" kern="0" dirty="0"/>
              <a:t>-</a:t>
            </a:r>
            <a:r>
              <a:rPr lang="en-US" sz="2933" kern="0" dirty="0">
                <a:latin typeface="Symbol" panose="05050102010706020507" pitchFamily="18" charset="2"/>
              </a:rPr>
              <a:t>B</a:t>
            </a:r>
            <a:r>
              <a:rPr lang="en-US" sz="2933" kern="0" dirty="0"/>
              <a:t>1 = </a:t>
            </a:r>
            <a:r>
              <a:rPr lang="en-US" sz="2933" kern="0" dirty="0">
                <a:latin typeface="Symbol" panose="05050102010706020507" pitchFamily="18" charset="2"/>
              </a:rPr>
              <a:t>B</a:t>
            </a:r>
            <a:r>
              <a:rPr lang="en-US" sz="2933" kern="0" dirty="0"/>
              <a:t>2</a:t>
            </a:r>
            <a:endParaRPr lang="en-US" sz="2933" kern="0" baseline="300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4126CF5-E28A-4859-9C76-051233A47DE6}"/>
              </a:ext>
            </a:extLst>
          </p:cNvPr>
          <p:cNvCxnSpPr/>
          <p:nvPr/>
        </p:nvCxnSpPr>
        <p:spPr bwMode="auto">
          <a:xfrm flipV="1">
            <a:off x="3743570" y="3373804"/>
            <a:ext cx="1320800" cy="185196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631FD2-A90B-47BB-892C-93EC687D7042}"/>
              </a:ext>
            </a:extLst>
          </p:cNvPr>
          <p:cNvCxnSpPr/>
          <p:nvPr/>
        </p:nvCxnSpPr>
        <p:spPr bwMode="auto">
          <a:xfrm flipV="1">
            <a:off x="5877172" y="3736652"/>
            <a:ext cx="1844516" cy="297552"/>
          </a:xfrm>
          <a:prstGeom prst="straightConnector1">
            <a:avLst/>
          </a:prstGeom>
          <a:solidFill>
            <a:srgbClr val="000000"/>
          </a:solidFill>
          <a:ln w="476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20604D03-D95A-4C36-B1CF-87644B059A86}"/>
              </a:ext>
            </a:extLst>
          </p:cNvPr>
          <p:cNvSpPr txBox="1">
            <a:spLocks/>
          </p:cNvSpPr>
          <p:nvPr/>
        </p:nvSpPr>
        <p:spPr>
          <a:xfrm>
            <a:off x="8384926" y="4653088"/>
            <a:ext cx="1422400" cy="5884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79400" indent="-27940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685800" indent="-2743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914400" indent="-18288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76807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96009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115211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134413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153615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172817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 marL="0" indent="0">
              <a:buNone/>
            </a:pPr>
            <a:r>
              <a:rPr lang="en-US" sz="2933" kern="0" dirty="0">
                <a:latin typeface="Symbol" panose="05050102010706020507" pitchFamily="18" charset="2"/>
              </a:rPr>
              <a:t>B</a:t>
            </a:r>
            <a:r>
              <a:rPr lang="en-US" sz="2933" kern="0" dirty="0"/>
              <a:t>2 ~ 0</a:t>
            </a:r>
            <a:endParaRPr lang="en-US" sz="2933" kern="0" baseline="30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06A8580-62A5-4CD0-A174-BC9AA16D7E45}"/>
              </a:ext>
            </a:extLst>
          </p:cNvPr>
          <p:cNvCxnSpPr/>
          <p:nvPr/>
        </p:nvCxnSpPr>
        <p:spPr bwMode="auto">
          <a:xfrm flipH="1">
            <a:off x="6940789" y="2532928"/>
            <a:ext cx="955236" cy="1260219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D97EDBAB-683D-434C-B1B7-6CC200DB0B69}"/>
              </a:ext>
            </a:extLst>
          </p:cNvPr>
          <p:cNvSpPr txBox="1">
            <a:spLocks/>
          </p:cNvSpPr>
          <p:nvPr/>
        </p:nvSpPr>
        <p:spPr>
          <a:xfrm>
            <a:off x="379514" y="6003441"/>
            <a:ext cx="11525250" cy="823527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 is considered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soft constraint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14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/>
      <p:bldP spid="31" grpId="0"/>
      <p:bldP spid="32" grpId="0"/>
      <p:bldP spid="37" grpId="0"/>
      <p:bldP spid="39" grpId="0"/>
      <p:bldP spid="41" grpId="0"/>
      <p:bldP spid="44" grpId="0"/>
      <p:bldP spid="4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ACB4-B9E3-4F36-AD20-90DB48B7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FE1B3-C1E3-45C1-A27C-6D150E2EF3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793797"/>
            <a:ext cx="11525250" cy="68720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you gain some intuition about l2 regularization?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AA082BA-EB53-450A-9708-669911063833}"/>
              </a:ext>
            </a:extLst>
          </p:cNvPr>
          <p:cNvSpPr/>
          <p:nvPr/>
        </p:nvSpPr>
        <p:spPr>
          <a:xfrm>
            <a:off x="4364757" y="2006651"/>
            <a:ext cx="5386388" cy="292417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E7CBAA-16F5-4CA5-8EE0-415531189D47}"/>
              </a:ext>
            </a:extLst>
          </p:cNvPr>
          <p:cNvCxnSpPr/>
          <p:nvPr/>
        </p:nvCxnSpPr>
        <p:spPr>
          <a:xfrm>
            <a:off x="3903974" y="1332966"/>
            <a:ext cx="66583" cy="547308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51B113-5937-470D-876D-BC3C9CAD41E2}"/>
              </a:ext>
            </a:extLst>
          </p:cNvPr>
          <p:cNvCxnSpPr>
            <a:cxnSpLocks/>
          </p:cNvCxnSpPr>
          <p:nvPr/>
        </p:nvCxnSpPr>
        <p:spPr>
          <a:xfrm flipH="1">
            <a:off x="2211022" y="5311827"/>
            <a:ext cx="70008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D0D688B-A5F9-4189-858B-AC5D38DC7DF9}"/>
              </a:ext>
            </a:extLst>
          </p:cNvPr>
          <p:cNvSpPr/>
          <p:nvPr/>
        </p:nvSpPr>
        <p:spPr>
          <a:xfrm>
            <a:off x="3373996" y="4737946"/>
            <a:ext cx="1193122" cy="1147762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53B47B-6FEC-48CF-8C0A-8450347BB5E2}"/>
              </a:ext>
            </a:extLst>
          </p:cNvPr>
          <p:cNvSpPr/>
          <p:nvPr/>
        </p:nvSpPr>
        <p:spPr>
          <a:xfrm>
            <a:off x="3025409" y="4396237"/>
            <a:ext cx="1885950" cy="1831179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6513A7-18F1-4175-AEF3-83201E43ECD1}"/>
              </a:ext>
            </a:extLst>
          </p:cNvPr>
          <p:cNvSpPr/>
          <p:nvPr/>
        </p:nvSpPr>
        <p:spPr>
          <a:xfrm>
            <a:off x="2708380" y="3989845"/>
            <a:ext cx="2547938" cy="2652709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9914B7-4715-4792-8438-A00B4B6A6468}"/>
              </a:ext>
            </a:extLst>
          </p:cNvPr>
          <p:cNvSpPr/>
          <p:nvPr/>
        </p:nvSpPr>
        <p:spPr>
          <a:xfrm>
            <a:off x="5887671" y="3021308"/>
            <a:ext cx="1885950" cy="76675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00EE73-9D9D-4117-9AE0-0F2DA763E7DE}"/>
              </a:ext>
            </a:extLst>
          </p:cNvPr>
          <p:cNvSpPr/>
          <p:nvPr/>
        </p:nvSpPr>
        <p:spPr>
          <a:xfrm>
            <a:off x="5323108" y="2673402"/>
            <a:ext cx="3224212" cy="146683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EF104E-2458-455D-A81E-83B89879BAA8}"/>
              </a:ext>
            </a:extLst>
          </p:cNvPr>
          <p:cNvSpPr/>
          <p:nvPr/>
        </p:nvSpPr>
        <p:spPr>
          <a:xfrm>
            <a:off x="4830050" y="2359077"/>
            <a:ext cx="4252912" cy="221931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E404D6D-2867-4C06-ABF8-A942256FEEF8}"/>
              </a:ext>
            </a:extLst>
          </p:cNvPr>
          <p:cNvSpPr/>
          <p:nvPr/>
        </p:nvSpPr>
        <p:spPr>
          <a:xfrm>
            <a:off x="3970557" y="1701855"/>
            <a:ext cx="6174789" cy="3533765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1D0DBBFF-5F27-4820-945B-990B8C6DC854}"/>
              </a:ext>
            </a:extLst>
          </p:cNvPr>
          <p:cNvSpPr/>
          <p:nvPr/>
        </p:nvSpPr>
        <p:spPr>
          <a:xfrm>
            <a:off x="6723490" y="3178224"/>
            <a:ext cx="304800" cy="29051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4FC2539-58AD-46D9-BE27-C9A08A9E3534}"/>
              </a:ext>
            </a:extLst>
          </p:cNvPr>
          <p:cNvSpPr/>
          <p:nvPr/>
        </p:nvSpPr>
        <p:spPr>
          <a:xfrm>
            <a:off x="3949334" y="3321102"/>
            <a:ext cx="2881312" cy="1981200"/>
          </a:xfrm>
          <a:custGeom>
            <a:avLst/>
            <a:gdLst>
              <a:gd name="connsiteX0" fmla="*/ 0 w 2881312"/>
              <a:gd name="connsiteY0" fmla="*/ 1981200 h 1981200"/>
              <a:gd name="connsiteX1" fmla="*/ 66675 w 2881312"/>
              <a:gd name="connsiteY1" fmla="*/ 1414463 h 1981200"/>
              <a:gd name="connsiteX2" fmla="*/ 280987 w 2881312"/>
              <a:gd name="connsiteY2" fmla="*/ 1081088 h 1981200"/>
              <a:gd name="connsiteX3" fmla="*/ 409575 w 2881312"/>
              <a:gd name="connsiteY3" fmla="*/ 981075 h 1981200"/>
              <a:gd name="connsiteX4" fmla="*/ 690562 w 2881312"/>
              <a:gd name="connsiteY4" fmla="*/ 785813 h 1981200"/>
              <a:gd name="connsiteX5" fmla="*/ 1109662 w 2881312"/>
              <a:gd name="connsiteY5" fmla="*/ 523875 h 1981200"/>
              <a:gd name="connsiteX6" fmla="*/ 1538287 w 2881312"/>
              <a:gd name="connsiteY6" fmla="*/ 290513 h 1981200"/>
              <a:gd name="connsiteX7" fmla="*/ 2076450 w 2881312"/>
              <a:gd name="connsiteY7" fmla="*/ 95250 h 1981200"/>
              <a:gd name="connsiteX8" fmla="*/ 2657475 w 2881312"/>
              <a:gd name="connsiteY8" fmla="*/ 14288 h 1981200"/>
              <a:gd name="connsiteX9" fmla="*/ 2881312 w 2881312"/>
              <a:gd name="connsiteY9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81312" h="1981200">
                <a:moveTo>
                  <a:pt x="0" y="1981200"/>
                </a:moveTo>
                <a:cubicBezTo>
                  <a:pt x="9922" y="1772841"/>
                  <a:pt x="19844" y="1564482"/>
                  <a:pt x="66675" y="1414463"/>
                </a:cubicBezTo>
                <a:cubicBezTo>
                  <a:pt x="113506" y="1264444"/>
                  <a:pt x="223837" y="1153319"/>
                  <a:pt x="280987" y="1081088"/>
                </a:cubicBezTo>
                <a:cubicBezTo>
                  <a:pt x="338137" y="1008857"/>
                  <a:pt x="341313" y="1030287"/>
                  <a:pt x="409575" y="981075"/>
                </a:cubicBezTo>
                <a:cubicBezTo>
                  <a:pt x="477838" y="931862"/>
                  <a:pt x="573881" y="862013"/>
                  <a:pt x="690562" y="785813"/>
                </a:cubicBezTo>
                <a:cubicBezTo>
                  <a:pt x="807243" y="709613"/>
                  <a:pt x="968375" y="606425"/>
                  <a:pt x="1109662" y="523875"/>
                </a:cubicBezTo>
                <a:cubicBezTo>
                  <a:pt x="1250950" y="441325"/>
                  <a:pt x="1377156" y="361950"/>
                  <a:pt x="1538287" y="290513"/>
                </a:cubicBezTo>
                <a:cubicBezTo>
                  <a:pt x="1699418" y="219076"/>
                  <a:pt x="1889919" y="141287"/>
                  <a:pt x="2076450" y="95250"/>
                </a:cubicBezTo>
                <a:cubicBezTo>
                  <a:pt x="2262981" y="49212"/>
                  <a:pt x="2523331" y="30163"/>
                  <a:pt x="2657475" y="14288"/>
                </a:cubicBezTo>
                <a:cubicBezTo>
                  <a:pt x="2791619" y="-1587"/>
                  <a:pt x="2846387" y="3969"/>
                  <a:pt x="2881312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0C5D52F-7CA8-490E-B819-8E0AC110B2F2}"/>
              </a:ext>
            </a:extLst>
          </p:cNvPr>
          <p:cNvSpPr/>
          <p:nvPr/>
        </p:nvSpPr>
        <p:spPr>
          <a:xfrm>
            <a:off x="4506292" y="4012244"/>
            <a:ext cx="228600" cy="25599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DF7164-17F4-47EA-B0FD-4EF2F7BCC52D}"/>
              </a:ext>
            </a:extLst>
          </p:cNvPr>
          <p:cNvSpPr txBox="1"/>
          <p:nvPr/>
        </p:nvSpPr>
        <p:spPr>
          <a:xfrm>
            <a:off x="6470778" y="3418734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Min</a:t>
            </a:r>
            <a:r>
              <a:rPr lang="en-US" b="1" baseline="-25000" dirty="0" err="1"/>
              <a:t>W</a:t>
            </a:r>
            <a:r>
              <a:rPr lang="en-US" b="1" baseline="-25000" dirty="0"/>
              <a:t> </a:t>
            </a:r>
            <a:r>
              <a:rPr lang="en-US" b="1" dirty="0"/>
              <a:t>(J(W)</a:t>
            </a:r>
            <a:r>
              <a:rPr lang="en-US" b="1" baseline="-25000" dirty="0"/>
              <a:t>MLE</a:t>
            </a:r>
            <a:r>
              <a:rPr lang="en-US" b="1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0B7DCA-461B-41E2-8525-7B5CC2A01082}"/>
              </a:ext>
            </a:extLst>
          </p:cNvPr>
          <p:cNvSpPr txBox="1"/>
          <p:nvPr/>
        </p:nvSpPr>
        <p:spPr>
          <a:xfrm>
            <a:off x="3918261" y="5337894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Initial 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65ADB7-E99E-44DE-B7D9-29D5130490EB}"/>
              </a:ext>
            </a:extLst>
          </p:cNvPr>
          <p:cNvSpPr txBox="1"/>
          <p:nvPr/>
        </p:nvSpPr>
        <p:spPr>
          <a:xfrm>
            <a:off x="4330288" y="4235130"/>
            <a:ext cx="217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Constraint on model parameters binds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F0A30C-8395-47CD-8B18-D3B7483F9CD6}"/>
              </a:ext>
            </a:extLst>
          </p:cNvPr>
          <p:cNvSpPr txBox="1"/>
          <p:nvPr/>
        </p:nvSpPr>
        <p:spPr>
          <a:xfrm>
            <a:off x="5278998" y="6042750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Contours of ||W||</a:t>
            </a:r>
            <a:r>
              <a:rPr lang="en-US" b="1" baseline="30000" dirty="0"/>
              <a:t>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0C8DE0-1400-440A-A3E0-908B576018D7}"/>
              </a:ext>
            </a:extLst>
          </p:cNvPr>
          <p:cNvCxnSpPr>
            <a:stCxn id="20" idx="1"/>
          </p:cNvCxnSpPr>
          <p:nvPr/>
        </p:nvCxnSpPr>
        <p:spPr>
          <a:xfrm flipH="1" flipV="1">
            <a:off x="5068521" y="6042750"/>
            <a:ext cx="210477" cy="1846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57250EB-4453-41D1-A5B2-971EC1DCFE5C}"/>
              </a:ext>
            </a:extLst>
          </p:cNvPr>
          <p:cNvSpPr txBox="1"/>
          <p:nvPr/>
        </p:nvSpPr>
        <p:spPr>
          <a:xfrm>
            <a:off x="1773958" y="2443254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Contours of J(W)</a:t>
            </a:r>
            <a:r>
              <a:rPr lang="en-US" b="1" baseline="-25000" dirty="0"/>
              <a:t>MLE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798057A-A3E0-4CBA-8E85-979A28EC8E3A}"/>
              </a:ext>
            </a:extLst>
          </p:cNvPr>
          <p:cNvCxnSpPr>
            <a:cxnSpLocks/>
          </p:cNvCxnSpPr>
          <p:nvPr/>
        </p:nvCxnSpPr>
        <p:spPr>
          <a:xfrm>
            <a:off x="3751157" y="2711503"/>
            <a:ext cx="505868" cy="69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F11354C-5ED3-4C4E-91F4-6DE19FEDA8C4}"/>
              </a:ext>
            </a:extLst>
          </p:cNvPr>
          <p:cNvSpPr txBox="1"/>
          <p:nvPr/>
        </p:nvSpPr>
        <p:spPr>
          <a:xfrm>
            <a:off x="7187118" y="5309318"/>
            <a:ext cx="255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Domain of Overfitting</a:t>
            </a:r>
            <a:endParaRPr lang="en-US" b="1" baseline="300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F4E34A-FB5E-4F79-9143-A4D8122C4654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8054609" y="4640315"/>
            <a:ext cx="411252" cy="6690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52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2" grpId="0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116251"/>
            <a:ext cx="11525250" cy="5172789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 goes by many names</a:t>
            </a:r>
          </a:p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Euclidian norm regularization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First published by Andrey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Tikonov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in late 1940s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Only published in English in 1977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Is known as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Tikhonov regularization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statistics literature often called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ridge regression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engineering literature is referred to as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pre-whitening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3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80DB07-22AE-4C73-B341-36A312858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205" y="917972"/>
            <a:ext cx="5949315" cy="446198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2DAF807-CAC3-4ED1-A725-2703C2AABF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7184" y="5528789"/>
            <a:ext cx="11338979" cy="1063487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Plaque commemorating Andrey </a:t>
            </a:r>
            <a:r>
              <a:rPr lang="en-US" sz="2800" b="1" dirty="0"/>
              <a:t>Tikhonov  at Moscow Institute of Mathematics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160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Eigenvalues and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37403089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Eigenvalues and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 with eigenvalue-eigenvector decomposition 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 linear model with feature matrix,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labels,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and parameter vector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is written: 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We want to find a solution: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normal equations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represent a computationally efficient approach: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FA8566-87AE-47CC-BC16-971989FD8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500" y="2477535"/>
            <a:ext cx="1440124" cy="3981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C65B20-C3A4-4FB1-8148-23D19052D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510" y="3648478"/>
            <a:ext cx="1862086" cy="487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5B10ED-202E-4FCD-B89F-FC55B4FC0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594" y="5424888"/>
            <a:ext cx="3338334" cy="56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8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Eigenvalues and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 with eigenvalue-eigenvector decomposition 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n coefficients of the linear model are found with the normal equations: 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solution requires finding the inverse of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symmetric n x n covariance matrix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matrix can be represented by its eigenvalue-eigenvector decomposition: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5B10ED-202E-4FCD-B89F-FC55B4FC0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111" y="2357120"/>
            <a:ext cx="3557638" cy="597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274609-BB39-4EAF-8A78-319142D10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296" y="5189542"/>
            <a:ext cx="2703224" cy="47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8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Eigenvalues and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 with eigenvalue-eigenvector decomposition 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We need the inverse of the symmetric matrix with decomposition: 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74609-BB39-4EAF-8A78-319142D10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601" y="2055939"/>
            <a:ext cx="2510365" cy="4430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D3C60B-86A6-4CA6-A52A-AF78CBC1B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551" y="2595887"/>
            <a:ext cx="3631009" cy="5769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B0D85D-2189-413B-92B0-2E30D4DE8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954" y="3429000"/>
            <a:ext cx="5475211" cy="295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8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Eigenvalues and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 with eigenvalue-eigenvector decomposition 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Can compute the inverse of the symmetric covariance matrix with decomposition: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But,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(A</a:t>
            </a:r>
            <a:r>
              <a:rPr lang="en-US" sz="2800" i="1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A)</a:t>
            </a:r>
            <a:r>
              <a:rPr lang="en-US" sz="2800" i="1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-1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can be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rank deficient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practice, many machine learning problems are rank deficient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columns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a rank deficient matrix are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not linearly independent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 rank deficient matrix has some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zero eigenvalues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 matrix with m nonzero eigenvalues is said to have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rank 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3C60B-86A6-4CA6-A52A-AF78CBC1B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981" y="2437154"/>
            <a:ext cx="3660219" cy="58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9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Eigenvalues and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 with eigenvalue-eigenvector decomposition 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l2 regularization we introduce a small bias term,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a</a:t>
            </a:r>
            <a:r>
              <a:rPr lang="en-US" sz="2800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least-squares, or l2 minimization problem, is then: 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With solution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F401F2-4AD0-4833-9709-CDBC4B41D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417" y="2649670"/>
            <a:ext cx="5705856" cy="594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D31E52-5906-458B-BAD1-63E74F978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480" y="3982036"/>
            <a:ext cx="5156536" cy="56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5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Eigenvalues and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 with eigenvalue-eigenvector decomposition 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the inverse                              the eigenvalue matrix is:</a:t>
            </a:r>
          </a:p>
          <a:p>
            <a:endParaRPr lang="en-US" sz="2800" baseline="30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baseline="30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baseline="30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baseline="30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baseline="30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baseline="30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Even for an eigenvalue,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of 0, the biased inverse becomes 1/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 a</a:t>
            </a:r>
            <a:r>
              <a:rPr lang="en-US" sz="2800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Thus, the bias term,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a</a:t>
            </a:r>
            <a:r>
              <a:rPr lang="en-US" sz="2800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creates a ‘ridge’ of nonzero values on the diagonal ensuring the inverse exists and is stable.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7F23EB-C123-4C53-BE63-37D16B14C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1503422"/>
            <a:ext cx="2570480" cy="4935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8C067D-8C7D-4F57-89A7-DFC0B2C70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532" y="2103278"/>
            <a:ext cx="6874964" cy="277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82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Eigenvalues and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l2 regularization with eigenvalue-eigenvector decomposition 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Consider the bias-variance trade off of the solution: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a</a:t>
            </a:r>
            <a:r>
              <a:rPr lang="en-US" sz="2800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= 0, there is no bias, but variance can be high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a large value of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a</a:t>
            </a:r>
            <a:r>
              <a:rPr lang="en-US" sz="2800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, the inverse is stable and the variance is low, but the bias can be high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31E52-5906-458B-BAD1-63E74F97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879" y="2056081"/>
            <a:ext cx="4841241" cy="53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6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L1 Regularization Methods</a:t>
            </a:r>
          </a:p>
        </p:txBody>
      </p:sp>
    </p:spTree>
    <p:extLst>
      <p:ext uri="{BB962C8B-B14F-4D97-AF65-F5344CB8AC3E}">
        <p14:creationId xmlns:p14="http://schemas.microsoft.com/office/powerpoint/2010/main" val="34238496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l1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0154" y="1245702"/>
            <a:ext cx="11525250" cy="823527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Regularization can be performed with other norms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l1 (min-max) norm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is another common choice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Conceptually, l1 norm limits the sum of the absolute values of the weights: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A78BD-C1D9-4CDB-9AB0-8257B437A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30" y="3428810"/>
            <a:ext cx="7211050" cy="1185281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54E00D5-5055-4EA1-A969-55D91C31C172}"/>
              </a:ext>
            </a:extLst>
          </p:cNvPr>
          <p:cNvSpPr txBox="1">
            <a:spLocks/>
          </p:cNvSpPr>
          <p:nvPr/>
        </p:nvSpPr>
        <p:spPr>
          <a:xfrm>
            <a:off x="378696" y="4637836"/>
            <a:ext cx="11525250" cy="823527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l1 norm is also known as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Manhattan distance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or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taxi cab distance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since it is the distance traveled on a grid between two points. </a:t>
            </a:r>
          </a:p>
          <a:p>
            <a:pPr marL="0" indent="0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59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l1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076960"/>
            <a:ext cx="11525250" cy="61897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Given the l1 norm of the weights, the loss function becomes: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D3CABE-58C2-483C-A6BB-2B5C70341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101" y="1695938"/>
            <a:ext cx="4600379" cy="52094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5EDB0A-275A-48B3-8565-FA4C74338046}"/>
              </a:ext>
            </a:extLst>
          </p:cNvPr>
          <p:cNvSpPr txBox="1">
            <a:spLocks/>
          </p:cNvSpPr>
          <p:nvPr/>
        </p:nvSpPr>
        <p:spPr>
          <a:xfrm>
            <a:off x="379514" y="2387724"/>
            <a:ext cx="11525250" cy="702390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is the regularization hyperparameter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Large </a:t>
            </a:r>
            <a:r>
              <a:rPr lang="en-US" sz="2400" dirty="0">
                <a:latin typeface="Symbol" panose="05050102010706020507" pitchFamily="18" charset="2"/>
                <a:cs typeface="Segoe UI" panose="020B0502040204020203" pitchFamily="34" charset="0"/>
              </a:rPr>
              <a:t>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increases bias but reduces variance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Small </a:t>
            </a:r>
            <a:r>
              <a:rPr lang="en-US" sz="2400" dirty="0">
                <a:latin typeface="Symbol" panose="05050102010706020507" pitchFamily="18" charset="2"/>
                <a:cs typeface="Segoe UI" panose="020B0502040204020203" pitchFamily="34" charset="0"/>
              </a:rPr>
              <a:t>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decreases bias and increases variance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l1 constraint drives some weights to exactly 0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This behavior leads to the term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lasso regularization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L1 regularization provides a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hard constraint on parameters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 contrast L2 provides soft constraints</a:t>
            </a:r>
          </a:p>
        </p:txBody>
      </p:sp>
    </p:spTree>
    <p:extLst>
      <p:ext uri="{BB962C8B-B14F-4D97-AF65-F5344CB8AC3E}">
        <p14:creationId xmlns:p14="http://schemas.microsoft.com/office/powerpoint/2010/main" val="213313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l1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823527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 diagram helps develop some intuition on l1 regularization: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5EDB0A-275A-48B3-8565-FA4C74338046}"/>
              </a:ext>
            </a:extLst>
          </p:cNvPr>
          <p:cNvSpPr txBox="1">
            <a:spLocks/>
          </p:cNvSpPr>
          <p:nvPr/>
        </p:nvSpPr>
        <p:spPr>
          <a:xfrm>
            <a:off x="512375" y="5767255"/>
            <a:ext cx="11525250" cy="702390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L1 regularization is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hard constraint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on the weights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255133-D04F-4B7F-B178-CBBF02943FAC}"/>
              </a:ext>
            </a:extLst>
          </p:cNvPr>
          <p:cNvCxnSpPr/>
          <p:nvPr/>
        </p:nvCxnSpPr>
        <p:spPr bwMode="auto">
          <a:xfrm>
            <a:off x="5589953" y="1747353"/>
            <a:ext cx="0" cy="4129617"/>
          </a:xfrm>
          <a:prstGeom prst="line">
            <a:avLst/>
          </a:prstGeom>
          <a:solidFill>
            <a:srgbClr val="000000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CBA1E9-7306-4941-A63B-0BD69600285C}"/>
              </a:ext>
            </a:extLst>
          </p:cNvPr>
          <p:cNvCxnSpPr/>
          <p:nvPr/>
        </p:nvCxnSpPr>
        <p:spPr bwMode="auto">
          <a:xfrm flipH="1">
            <a:off x="3176953" y="3855552"/>
            <a:ext cx="4775200" cy="0"/>
          </a:xfrm>
          <a:prstGeom prst="line">
            <a:avLst/>
          </a:prstGeom>
          <a:solidFill>
            <a:srgbClr val="000000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4DA3F4-E638-49D3-93D5-A10FF3159B40}"/>
              </a:ext>
            </a:extLst>
          </p:cNvPr>
          <p:cNvSpPr txBox="1">
            <a:spLocks/>
          </p:cNvSpPr>
          <p:nvPr/>
        </p:nvSpPr>
        <p:spPr>
          <a:xfrm>
            <a:off x="5213416" y="1245702"/>
            <a:ext cx="702275" cy="5884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79400" indent="-27940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685800" indent="-2743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914400" indent="-18288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76807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96009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115211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134413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153615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172817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 marL="0" indent="0">
              <a:buNone/>
            </a:pPr>
            <a:r>
              <a:rPr lang="en-US" sz="2933" kern="0" dirty="0"/>
              <a:t>X2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638B0B-DED5-4B31-97B2-1ECFB2DE4D96}"/>
              </a:ext>
            </a:extLst>
          </p:cNvPr>
          <p:cNvSpPr txBox="1">
            <a:spLocks/>
          </p:cNvSpPr>
          <p:nvPr/>
        </p:nvSpPr>
        <p:spPr>
          <a:xfrm>
            <a:off x="7849796" y="3491816"/>
            <a:ext cx="702275" cy="5884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79400" indent="-27940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685800" indent="-2743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914400" indent="-18288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76807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96009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115211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134413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153615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172817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 marL="0" indent="0">
              <a:buNone/>
            </a:pPr>
            <a:r>
              <a:rPr lang="en-US" sz="2933" kern="0" dirty="0"/>
              <a:t>X1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725DC9-1F97-4A19-A234-CB176C5819A4}"/>
              </a:ext>
            </a:extLst>
          </p:cNvPr>
          <p:cNvCxnSpPr/>
          <p:nvPr/>
        </p:nvCxnSpPr>
        <p:spPr bwMode="auto">
          <a:xfrm flipV="1">
            <a:off x="5589953" y="2102953"/>
            <a:ext cx="0" cy="1752599"/>
          </a:xfrm>
          <a:prstGeom prst="straightConnector1">
            <a:avLst/>
          </a:prstGeom>
          <a:solidFill>
            <a:srgbClr val="000000"/>
          </a:solidFill>
          <a:ln w="476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9FFCF6-1C73-4B87-A6E7-9E73A4BF8C76}"/>
              </a:ext>
            </a:extLst>
          </p:cNvPr>
          <p:cNvCxnSpPr/>
          <p:nvPr/>
        </p:nvCxnSpPr>
        <p:spPr bwMode="auto">
          <a:xfrm flipV="1">
            <a:off x="5589954" y="3855551"/>
            <a:ext cx="1730305" cy="25405"/>
          </a:xfrm>
          <a:prstGeom prst="straightConnector1">
            <a:avLst/>
          </a:prstGeom>
          <a:solidFill>
            <a:srgbClr val="000000"/>
          </a:solidFill>
          <a:ln w="476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5CEB2C-0B47-45E7-B6C3-D3BE68C07E6D}"/>
              </a:ext>
            </a:extLst>
          </p:cNvPr>
          <p:cNvCxnSpPr/>
          <p:nvPr/>
        </p:nvCxnSpPr>
        <p:spPr bwMode="auto">
          <a:xfrm flipH="1" flipV="1">
            <a:off x="6907478" y="3904482"/>
            <a:ext cx="1197075" cy="771121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C9322F1-B28D-49AD-8D64-FDFD6D2C6E42}"/>
              </a:ext>
            </a:extLst>
          </p:cNvPr>
          <p:cNvSpPr txBox="1">
            <a:spLocks/>
          </p:cNvSpPr>
          <p:nvPr/>
        </p:nvSpPr>
        <p:spPr>
          <a:xfrm>
            <a:off x="2963268" y="1836624"/>
            <a:ext cx="1422400" cy="5884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79400" indent="-27940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685800" indent="-2743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914400" indent="-18288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76807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96009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115211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134413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153615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172817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 marL="0" indent="0">
              <a:buNone/>
            </a:pPr>
            <a:r>
              <a:rPr lang="en-US" sz="2933" kern="0" dirty="0">
                <a:latin typeface="Symbol" panose="05050102010706020507" pitchFamily="18" charset="2"/>
              </a:rPr>
              <a:t>B</a:t>
            </a:r>
            <a:r>
              <a:rPr lang="en-US" sz="2933" kern="0" dirty="0"/>
              <a:t>1 = 0</a:t>
            </a:r>
            <a:endParaRPr lang="en-US" sz="2933" kern="0" baseline="30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01AC0B-C41D-41C4-8089-B3956500946A}"/>
              </a:ext>
            </a:extLst>
          </p:cNvPr>
          <p:cNvCxnSpPr/>
          <p:nvPr/>
        </p:nvCxnSpPr>
        <p:spPr bwMode="auto">
          <a:xfrm>
            <a:off x="4307702" y="2265908"/>
            <a:ext cx="1164176" cy="794995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D814B9D-2E51-4B9E-BAD1-FA5C83A0D3F2}"/>
              </a:ext>
            </a:extLst>
          </p:cNvPr>
          <p:cNvSpPr txBox="1">
            <a:spLocks/>
          </p:cNvSpPr>
          <p:nvPr/>
        </p:nvSpPr>
        <p:spPr>
          <a:xfrm>
            <a:off x="8072309" y="4499837"/>
            <a:ext cx="1422400" cy="5884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79400" indent="-27940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685800" indent="-2743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914400" indent="-18288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76807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96009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115211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134413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153615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172817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 marL="0" indent="0">
              <a:buNone/>
            </a:pPr>
            <a:r>
              <a:rPr lang="en-US" sz="2933" kern="0" dirty="0">
                <a:latin typeface="Symbol" panose="05050102010706020507" pitchFamily="18" charset="2"/>
              </a:rPr>
              <a:t>B</a:t>
            </a:r>
            <a:r>
              <a:rPr lang="en-US" sz="2933" kern="0" dirty="0"/>
              <a:t>2 = 0</a:t>
            </a:r>
            <a:endParaRPr lang="en-US" sz="2933" kern="0" baseline="30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1DDA7A-B9CB-4688-A55E-861B3F15A0D2}"/>
              </a:ext>
            </a:extLst>
          </p:cNvPr>
          <p:cNvSpPr/>
          <p:nvPr/>
        </p:nvSpPr>
        <p:spPr bwMode="auto">
          <a:xfrm rot="18910552">
            <a:off x="4379902" y="2625311"/>
            <a:ext cx="2441911" cy="2483116"/>
          </a:xfrm>
          <a:prstGeom prst="rect">
            <a:avLst/>
          </a:prstGeom>
          <a:noFill/>
          <a:ln w="25400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en-US" sz="7466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98002AF-BDAB-4B87-AB7A-ED2E551E31A5}"/>
              </a:ext>
            </a:extLst>
          </p:cNvPr>
          <p:cNvSpPr txBox="1">
            <a:spLocks/>
          </p:cNvSpPr>
          <p:nvPr/>
        </p:nvSpPr>
        <p:spPr>
          <a:xfrm>
            <a:off x="1623962" y="4821536"/>
            <a:ext cx="2946400" cy="588433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79400" indent="-27940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685800" indent="-2743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914400" indent="-18288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Wingdings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76807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960099" indent="-192020" algn="l" rtl="0" eaLnBrk="0" fontAlgn="base" hangingPunct="0">
              <a:spcBef>
                <a:spcPts val="504"/>
              </a:spcBef>
              <a:spcAft>
                <a:spcPct val="0"/>
              </a:spcAft>
              <a:buClrTx/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115211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1344139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153615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1728178" indent="-192020" algn="l" rtl="0" fontAlgn="base">
              <a:spcBef>
                <a:spcPts val="504"/>
              </a:spcBef>
              <a:spcAft>
                <a:spcPct val="0"/>
              </a:spcAft>
              <a:buClr>
                <a:srgbClr val="B9002D"/>
              </a:buClr>
              <a:buSzPct val="100000"/>
              <a:buFont typeface="Arial" charset="0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pPr marL="0" indent="0">
              <a:buNone/>
            </a:pPr>
            <a:r>
              <a:rPr lang="en-US" sz="2933" kern="0" dirty="0"/>
              <a:t>Constant ||</a:t>
            </a:r>
            <a:r>
              <a:rPr lang="en-US" sz="2933" kern="0" dirty="0">
                <a:latin typeface="Symbol" panose="05050102010706020507" pitchFamily="18" charset="2"/>
              </a:rPr>
              <a:t>B</a:t>
            </a:r>
            <a:r>
              <a:rPr lang="en-US" sz="2933" kern="0" dirty="0"/>
              <a:t>||</a:t>
            </a:r>
            <a:endParaRPr lang="en-US" sz="2933" kern="0" baseline="300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B4CF55-AF1F-46EC-AF47-8F865F1B9797}"/>
              </a:ext>
            </a:extLst>
          </p:cNvPr>
          <p:cNvCxnSpPr/>
          <p:nvPr/>
        </p:nvCxnSpPr>
        <p:spPr bwMode="auto">
          <a:xfrm flipV="1">
            <a:off x="3280642" y="4362881"/>
            <a:ext cx="991788" cy="436036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7401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9" grpId="0"/>
      <p:bldP spid="10" grpId="0"/>
      <p:bldP spid="14" grpId="0"/>
      <p:bldP spid="16" grpId="0"/>
      <p:bldP spid="17" grpId="0" animBg="1"/>
      <p:bldP spid="1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ACB4-B9E3-4F36-AD20-90DB48B7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L1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FE1B3-C1E3-45C1-A27C-6D150E2EF3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6673" y="796908"/>
            <a:ext cx="11525250" cy="68720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 diagram helps develop some intuition on l1 regularization: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AA082BA-EB53-450A-9708-669911063833}"/>
              </a:ext>
            </a:extLst>
          </p:cNvPr>
          <p:cNvSpPr/>
          <p:nvPr/>
        </p:nvSpPr>
        <p:spPr>
          <a:xfrm>
            <a:off x="4456203" y="2025070"/>
            <a:ext cx="5386388" cy="292417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E7CBAA-16F5-4CA5-8EE0-415531189D47}"/>
              </a:ext>
            </a:extLst>
          </p:cNvPr>
          <p:cNvCxnSpPr/>
          <p:nvPr/>
        </p:nvCxnSpPr>
        <p:spPr>
          <a:xfrm>
            <a:off x="4617403" y="1384916"/>
            <a:ext cx="66583" cy="547308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51B113-5937-470D-876D-BC3C9CAD41E2}"/>
              </a:ext>
            </a:extLst>
          </p:cNvPr>
          <p:cNvCxnSpPr>
            <a:cxnSpLocks/>
          </p:cNvCxnSpPr>
          <p:nvPr/>
        </p:nvCxnSpPr>
        <p:spPr>
          <a:xfrm flipH="1">
            <a:off x="2211022" y="5311827"/>
            <a:ext cx="70008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D9914B7-4715-4792-8438-A00B4B6A6468}"/>
              </a:ext>
            </a:extLst>
          </p:cNvPr>
          <p:cNvSpPr/>
          <p:nvPr/>
        </p:nvSpPr>
        <p:spPr>
          <a:xfrm>
            <a:off x="5887671" y="3021308"/>
            <a:ext cx="1885950" cy="76675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00EE73-9D9D-4117-9AE0-0F2DA763E7DE}"/>
              </a:ext>
            </a:extLst>
          </p:cNvPr>
          <p:cNvSpPr/>
          <p:nvPr/>
        </p:nvSpPr>
        <p:spPr>
          <a:xfrm>
            <a:off x="5323108" y="2673402"/>
            <a:ext cx="3224212" cy="146683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EF104E-2458-455D-A81E-83B89879BAA8}"/>
              </a:ext>
            </a:extLst>
          </p:cNvPr>
          <p:cNvSpPr/>
          <p:nvPr/>
        </p:nvSpPr>
        <p:spPr>
          <a:xfrm>
            <a:off x="4830050" y="2359077"/>
            <a:ext cx="4252912" cy="221931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E404D6D-2867-4C06-ABF8-A942256FEEF8}"/>
              </a:ext>
            </a:extLst>
          </p:cNvPr>
          <p:cNvSpPr/>
          <p:nvPr/>
        </p:nvSpPr>
        <p:spPr>
          <a:xfrm>
            <a:off x="3970557" y="1701855"/>
            <a:ext cx="6174789" cy="3533765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1D0DBBFF-5F27-4820-945B-990B8C6DC854}"/>
              </a:ext>
            </a:extLst>
          </p:cNvPr>
          <p:cNvSpPr/>
          <p:nvPr/>
        </p:nvSpPr>
        <p:spPr>
          <a:xfrm>
            <a:off x="6723490" y="3178224"/>
            <a:ext cx="304800" cy="29051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0C5D52F-7CA8-490E-B819-8E0AC110B2F2}"/>
              </a:ext>
            </a:extLst>
          </p:cNvPr>
          <p:cNvSpPr/>
          <p:nvPr/>
        </p:nvSpPr>
        <p:spPr>
          <a:xfrm>
            <a:off x="4506292" y="4012244"/>
            <a:ext cx="228600" cy="25599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DF7164-17F4-47EA-B0FD-4EF2F7BCC52D}"/>
              </a:ext>
            </a:extLst>
          </p:cNvPr>
          <p:cNvSpPr txBox="1"/>
          <p:nvPr/>
        </p:nvSpPr>
        <p:spPr>
          <a:xfrm>
            <a:off x="6470778" y="3418734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Min</a:t>
            </a:r>
            <a:r>
              <a:rPr lang="en-US" b="1" baseline="-25000" dirty="0" err="1"/>
              <a:t>W</a:t>
            </a:r>
            <a:r>
              <a:rPr lang="en-US" b="1" baseline="-25000" dirty="0"/>
              <a:t> </a:t>
            </a:r>
            <a:r>
              <a:rPr lang="en-US" b="1" dirty="0"/>
              <a:t>(J(W)</a:t>
            </a:r>
            <a:r>
              <a:rPr lang="en-US" b="1" baseline="-25000" dirty="0"/>
              <a:t>MLE</a:t>
            </a:r>
            <a:r>
              <a:rPr lang="en-US" b="1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0B7DCA-461B-41E2-8525-7B5CC2A01082}"/>
              </a:ext>
            </a:extLst>
          </p:cNvPr>
          <p:cNvSpPr txBox="1"/>
          <p:nvPr/>
        </p:nvSpPr>
        <p:spPr>
          <a:xfrm>
            <a:off x="3529677" y="5291857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Initial 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65ADB7-E99E-44DE-B7D9-29D5130490EB}"/>
              </a:ext>
            </a:extLst>
          </p:cNvPr>
          <p:cNvSpPr txBox="1"/>
          <p:nvPr/>
        </p:nvSpPr>
        <p:spPr>
          <a:xfrm>
            <a:off x="3216041" y="3623411"/>
            <a:ext cx="1276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Nonzero parameter</a:t>
            </a:r>
          </a:p>
          <a:p>
            <a:r>
              <a:rPr lang="en-US" b="1" dirty="0"/>
              <a:t>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F0A30C-8395-47CD-8B18-D3B7483F9CD6}"/>
              </a:ext>
            </a:extLst>
          </p:cNvPr>
          <p:cNvSpPr txBox="1"/>
          <p:nvPr/>
        </p:nvSpPr>
        <p:spPr>
          <a:xfrm>
            <a:off x="5336316" y="6072263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Contours of ||W||</a:t>
            </a:r>
            <a:r>
              <a:rPr lang="en-US" b="1" baseline="30000" dirty="0"/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0C8DE0-1400-440A-A3E0-908B576018D7}"/>
              </a:ext>
            </a:extLst>
          </p:cNvPr>
          <p:cNvCxnSpPr>
            <a:stCxn id="20" idx="1"/>
          </p:cNvCxnSpPr>
          <p:nvPr/>
        </p:nvCxnSpPr>
        <p:spPr>
          <a:xfrm flipH="1" flipV="1">
            <a:off x="5125839" y="6072263"/>
            <a:ext cx="210477" cy="1846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57250EB-4453-41D1-A5B2-971EC1DCFE5C}"/>
              </a:ext>
            </a:extLst>
          </p:cNvPr>
          <p:cNvSpPr txBox="1"/>
          <p:nvPr/>
        </p:nvSpPr>
        <p:spPr>
          <a:xfrm>
            <a:off x="1773958" y="2443254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Contours of J(W)</a:t>
            </a:r>
            <a:r>
              <a:rPr lang="en-US" b="1" baseline="-25000" dirty="0"/>
              <a:t>MLE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798057A-A3E0-4CBA-8E85-979A28EC8E3A}"/>
              </a:ext>
            </a:extLst>
          </p:cNvPr>
          <p:cNvCxnSpPr>
            <a:cxnSpLocks/>
          </p:cNvCxnSpPr>
          <p:nvPr/>
        </p:nvCxnSpPr>
        <p:spPr>
          <a:xfrm>
            <a:off x="3751157" y="2711503"/>
            <a:ext cx="505868" cy="69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F11354C-5ED3-4C4E-91F4-6DE19FEDA8C4}"/>
              </a:ext>
            </a:extLst>
          </p:cNvPr>
          <p:cNvSpPr txBox="1"/>
          <p:nvPr/>
        </p:nvSpPr>
        <p:spPr>
          <a:xfrm>
            <a:off x="7187118" y="5309318"/>
            <a:ext cx="255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Domain of Overfitting</a:t>
            </a:r>
            <a:endParaRPr lang="en-US" b="1" baseline="300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F4E34A-FB5E-4F79-9143-A4D8122C4654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8054609" y="4640315"/>
            <a:ext cx="411252" cy="6690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D8F302-ECF8-4D91-9EDC-A41B2FA9F035}"/>
              </a:ext>
            </a:extLst>
          </p:cNvPr>
          <p:cNvCxnSpPr>
            <a:cxnSpLocks/>
          </p:cNvCxnSpPr>
          <p:nvPr/>
        </p:nvCxnSpPr>
        <p:spPr>
          <a:xfrm flipV="1">
            <a:off x="4624661" y="4121458"/>
            <a:ext cx="17041" cy="12154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741056D-5DAF-419B-A3AF-959BAF82D9C7}"/>
              </a:ext>
            </a:extLst>
          </p:cNvPr>
          <p:cNvCxnSpPr>
            <a:cxnSpLocks/>
          </p:cNvCxnSpPr>
          <p:nvPr/>
        </p:nvCxnSpPr>
        <p:spPr>
          <a:xfrm flipH="1">
            <a:off x="3418348" y="4172035"/>
            <a:ext cx="1206313" cy="1114669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CC9648-A9DD-44E6-830A-CAB04BC09FB1}"/>
              </a:ext>
            </a:extLst>
          </p:cNvPr>
          <p:cNvCxnSpPr>
            <a:cxnSpLocks/>
          </p:cNvCxnSpPr>
          <p:nvPr/>
        </p:nvCxnSpPr>
        <p:spPr>
          <a:xfrm>
            <a:off x="4633181" y="4172035"/>
            <a:ext cx="1379014" cy="1150507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4D62CDD-596B-4B4E-A38A-C64E34DD1D91}"/>
              </a:ext>
            </a:extLst>
          </p:cNvPr>
          <p:cNvCxnSpPr>
            <a:cxnSpLocks/>
          </p:cNvCxnSpPr>
          <p:nvPr/>
        </p:nvCxnSpPr>
        <p:spPr>
          <a:xfrm flipV="1">
            <a:off x="4677535" y="5307455"/>
            <a:ext cx="1313944" cy="1187958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2BCE547-ADC1-4EC3-A6B2-754EB8DEE0AF}"/>
              </a:ext>
            </a:extLst>
          </p:cNvPr>
          <p:cNvCxnSpPr>
            <a:cxnSpLocks/>
          </p:cNvCxnSpPr>
          <p:nvPr/>
        </p:nvCxnSpPr>
        <p:spPr>
          <a:xfrm>
            <a:off x="3340100" y="5322542"/>
            <a:ext cx="1340070" cy="1172871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2429F1A-56A7-C2FB-FE58-6D00A456CA07}"/>
              </a:ext>
            </a:extLst>
          </p:cNvPr>
          <p:cNvSpPr/>
          <p:nvPr/>
        </p:nvSpPr>
        <p:spPr>
          <a:xfrm>
            <a:off x="3949334" y="3321102"/>
            <a:ext cx="2881312" cy="1981200"/>
          </a:xfrm>
          <a:custGeom>
            <a:avLst/>
            <a:gdLst>
              <a:gd name="connsiteX0" fmla="*/ 0 w 2881312"/>
              <a:gd name="connsiteY0" fmla="*/ 1981200 h 1981200"/>
              <a:gd name="connsiteX1" fmla="*/ 66675 w 2881312"/>
              <a:gd name="connsiteY1" fmla="*/ 1414463 h 1981200"/>
              <a:gd name="connsiteX2" fmla="*/ 280987 w 2881312"/>
              <a:gd name="connsiteY2" fmla="*/ 1081088 h 1981200"/>
              <a:gd name="connsiteX3" fmla="*/ 409575 w 2881312"/>
              <a:gd name="connsiteY3" fmla="*/ 981075 h 1981200"/>
              <a:gd name="connsiteX4" fmla="*/ 690562 w 2881312"/>
              <a:gd name="connsiteY4" fmla="*/ 785813 h 1981200"/>
              <a:gd name="connsiteX5" fmla="*/ 1109662 w 2881312"/>
              <a:gd name="connsiteY5" fmla="*/ 523875 h 1981200"/>
              <a:gd name="connsiteX6" fmla="*/ 1538287 w 2881312"/>
              <a:gd name="connsiteY6" fmla="*/ 290513 h 1981200"/>
              <a:gd name="connsiteX7" fmla="*/ 2076450 w 2881312"/>
              <a:gd name="connsiteY7" fmla="*/ 95250 h 1981200"/>
              <a:gd name="connsiteX8" fmla="*/ 2657475 w 2881312"/>
              <a:gd name="connsiteY8" fmla="*/ 14288 h 1981200"/>
              <a:gd name="connsiteX9" fmla="*/ 2881312 w 2881312"/>
              <a:gd name="connsiteY9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81312" h="1981200">
                <a:moveTo>
                  <a:pt x="0" y="1981200"/>
                </a:moveTo>
                <a:cubicBezTo>
                  <a:pt x="9922" y="1772841"/>
                  <a:pt x="19844" y="1564482"/>
                  <a:pt x="66675" y="1414463"/>
                </a:cubicBezTo>
                <a:cubicBezTo>
                  <a:pt x="113506" y="1264444"/>
                  <a:pt x="223837" y="1153319"/>
                  <a:pt x="280987" y="1081088"/>
                </a:cubicBezTo>
                <a:cubicBezTo>
                  <a:pt x="338137" y="1008857"/>
                  <a:pt x="341313" y="1030287"/>
                  <a:pt x="409575" y="981075"/>
                </a:cubicBezTo>
                <a:cubicBezTo>
                  <a:pt x="477838" y="931862"/>
                  <a:pt x="573881" y="862013"/>
                  <a:pt x="690562" y="785813"/>
                </a:cubicBezTo>
                <a:cubicBezTo>
                  <a:pt x="807243" y="709613"/>
                  <a:pt x="968375" y="606425"/>
                  <a:pt x="1109662" y="523875"/>
                </a:cubicBezTo>
                <a:cubicBezTo>
                  <a:pt x="1250950" y="441325"/>
                  <a:pt x="1377156" y="361950"/>
                  <a:pt x="1538287" y="290513"/>
                </a:cubicBezTo>
                <a:cubicBezTo>
                  <a:pt x="1699418" y="219076"/>
                  <a:pt x="1889919" y="141287"/>
                  <a:pt x="2076450" y="95250"/>
                </a:cubicBezTo>
                <a:cubicBezTo>
                  <a:pt x="2262981" y="49212"/>
                  <a:pt x="2523331" y="30163"/>
                  <a:pt x="2657475" y="14288"/>
                </a:cubicBezTo>
                <a:cubicBezTo>
                  <a:pt x="2791619" y="-1587"/>
                  <a:pt x="2846387" y="3969"/>
                  <a:pt x="2881312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5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/>
      <p:bldP spid="18" grpId="0"/>
      <p:bldP spid="19" grpId="0"/>
      <p:bldP spid="20" grpId="0"/>
      <p:bldP spid="22" grpId="0"/>
      <p:bldP spid="24" grpId="0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Early Stopping as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28979780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ACB4-B9E3-4F36-AD20-90DB48B7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Early Stopping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FE1B3-C1E3-45C1-A27C-6D150E2EF3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09040"/>
            <a:ext cx="11525250" cy="2578839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Early stopping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is an old and simple idea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Stop updating the model weights before the model becomes overfit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Early stopping is analogous to l2 regularization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We can formulate the regularized loss function as: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B9239D-BE8C-4CC9-A732-8EFFE196F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43" y="3620780"/>
            <a:ext cx="5858217" cy="55498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70CF2D-3973-4F1B-8A66-94FE285E8451}"/>
              </a:ext>
            </a:extLst>
          </p:cNvPr>
          <p:cNvSpPr txBox="1">
            <a:spLocks/>
          </p:cNvSpPr>
          <p:nvPr/>
        </p:nvSpPr>
        <p:spPr>
          <a:xfrm>
            <a:off x="379514" y="4283469"/>
            <a:ext cx="11525250" cy="702390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is the regularization hyperparameter</a:t>
            </a:r>
          </a:p>
        </p:txBody>
      </p:sp>
    </p:spTree>
    <p:extLst>
      <p:ext uri="{BB962C8B-B14F-4D97-AF65-F5344CB8AC3E}">
        <p14:creationId xmlns:p14="http://schemas.microsoft.com/office/powerpoint/2010/main" val="218112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ACB4-B9E3-4F36-AD20-90DB48B7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Early Stopping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FE1B3-C1E3-45C1-A27C-6D150E2EF3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8696" y="847040"/>
            <a:ext cx="11525250" cy="68720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Early stopping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has a simple geometric interpretation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AA082BA-EB53-450A-9708-669911063833}"/>
              </a:ext>
            </a:extLst>
          </p:cNvPr>
          <p:cNvSpPr/>
          <p:nvPr/>
        </p:nvSpPr>
        <p:spPr>
          <a:xfrm>
            <a:off x="4364757" y="2006651"/>
            <a:ext cx="5386388" cy="292417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E7CBAA-16F5-4CA5-8EE0-415531189D47}"/>
              </a:ext>
            </a:extLst>
          </p:cNvPr>
          <p:cNvCxnSpPr/>
          <p:nvPr/>
        </p:nvCxnSpPr>
        <p:spPr>
          <a:xfrm>
            <a:off x="3903974" y="1332966"/>
            <a:ext cx="66583" cy="547308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51B113-5937-470D-876D-BC3C9CAD41E2}"/>
              </a:ext>
            </a:extLst>
          </p:cNvPr>
          <p:cNvCxnSpPr>
            <a:cxnSpLocks/>
          </p:cNvCxnSpPr>
          <p:nvPr/>
        </p:nvCxnSpPr>
        <p:spPr>
          <a:xfrm flipH="1">
            <a:off x="2211022" y="5311827"/>
            <a:ext cx="70008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D0D688B-A5F9-4189-858B-AC5D38DC7DF9}"/>
              </a:ext>
            </a:extLst>
          </p:cNvPr>
          <p:cNvSpPr/>
          <p:nvPr/>
        </p:nvSpPr>
        <p:spPr>
          <a:xfrm>
            <a:off x="3373996" y="4737946"/>
            <a:ext cx="1193122" cy="1147762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53B47B-6FEC-48CF-8C0A-8450347BB5E2}"/>
              </a:ext>
            </a:extLst>
          </p:cNvPr>
          <p:cNvSpPr/>
          <p:nvPr/>
        </p:nvSpPr>
        <p:spPr>
          <a:xfrm>
            <a:off x="3025409" y="4396237"/>
            <a:ext cx="1885950" cy="1831179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6513A7-18F1-4175-AEF3-83201E43ECD1}"/>
              </a:ext>
            </a:extLst>
          </p:cNvPr>
          <p:cNvSpPr/>
          <p:nvPr/>
        </p:nvSpPr>
        <p:spPr>
          <a:xfrm>
            <a:off x="2708380" y="3989845"/>
            <a:ext cx="2547938" cy="2652709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9914B7-4715-4792-8438-A00B4B6A6468}"/>
              </a:ext>
            </a:extLst>
          </p:cNvPr>
          <p:cNvSpPr/>
          <p:nvPr/>
        </p:nvSpPr>
        <p:spPr>
          <a:xfrm>
            <a:off x="5887671" y="3021308"/>
            <a:ext cx="1885950" cy="76675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00EE73-9D9D-4117-9AE0-0F2DA763E7DE}"/>
              </a:ext>
            </a:extLst>
          </p:cNvPr>
          <p:cNvSpPr/>
          <p:nvPr/>
        </p:nvSpPr>
        <p:spPr>
          <a:xfrm>
            <a:off x="5323108" y="2673402"/>
            <a:ext cx="3224212" cy="146683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EF104E-2458-455D-A81E-83B89879BAA8}"/>
              </a:ext>
            </a:extLst>
          </p:cNvPr>
          <p:cNvSpPr/>
          <p:nvPr/>
        </p:nvSpPr>
        <p:spPr>
          <a:xfrm>
            <a:off x="4830050" y="2359077"/>
            <a:ext cx="4252912" cy="221931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E404D6D-2867-4C06-ABF8-A942256FEEF8}"/>
              </a:ext>
            </a:extLst>
          </p:cNvPr>
          <p:cNvSpPr/>
          <p:nvPr/>
        </p:nvSpPr>
        <p:spPr>
          <a:xfrm>
            <a:off x="3970557" y="1701855"/>
            <a:ext cx="6174789" cy="3533765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1D0DBBFF-5F27-4820-945B-990B8C6DC854}"/>
              </a:ext>
            </a:extLst>
          </p:cNvPr>
          <p:cNvSpPr/>
          <p:nvPr/>
        </p:nvSpPr>
        <p:spPr>
          <a:xfrm>
            <a:off x="6723490" y="3178224"/>
            <a:ext cx="304800" cy="29051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4FC2539-58AD-46D9-BE27-C9A08A9E3534}"/>
              </a:ext>
            </a:extLst>
          </p:cNvPr>
          <p:cNvSpPr/>
          <p:nvPr/>
        </p:nvSpPr>
        <p:spPr>
          <a:xfrm>
            <a:off x="3949334" y="3321102"/>
            <a:ext cx="2881312" cy="1981200"/>
          </a:xfrm>
          <a:custGeom>
            <a:avLst/>
            <a:gdLst>
              <a:gd name="connsiteX0" fmla="*/ 0 w 2881312"/>
              <a:gd name="connsiteY0" fmla="*/ 1981200 h 1981200"/>
              <a:gd name="connsiteX1" fmla="*/ 66675 w 2881312"/>
              <a:gd name="connsiteY1" fmla="*/ 1414463 h 1981200"/>
              <a:gd name="connsiteX2" fmla="*/ 280987 w 2881312"/>
              <a:gd name="connsiteY2" fmla="*/ 1081088 h 1981200"/>
              <a:gd name="connsiteX3" fmla="*/ 409575 w 2881312"/>
              <a:gd name="connsiteY3" fmla="*/ 981075 h 1981200"/>
              <a:gd name="connsiteX4" fmla="*/ 690562 w 2881312"/>
              <a:gd name="connsiteY4" fmla="*/ 785813 h 1981200"/>
              <a:gd name="connsiteX5" fmla="*/ 1109662 w 2881312"/>
              <a:gd name="connsiteY5" fmla="*/ 523875 h 1981200"/>
              <a:gd name="connsiteX6" fmla="*/ 1538287 w 2881312"/>
              <a:gd name="connsiteY6" fmla="*/ 290513 h 1981200"/>
              <a:gd name="connsiteX7" fmla="*/ 2076450 w 2881312"/>
              <a:gd name="connsiteY7" fmla="*/ 95250 h 1981200"/>
              <a:gd name="connsiteX8" fmla="*/ 2657475 w 2881312"/>
              <a:gd name="connsiteY8" fmla="*/ 14288 h 1981200"/>
              <a:gd name="connsiteX9" fmla="*/ 2881312 w 2881312"/>
              <a:gd name="connsiteY9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81312" h="1981200">
                <a:moveTo>
                  <a:pt x="0" y="1981200"/>
                </a:moveTo>
                <a:cubicBezTo>
                  <a:pt x="9922" y="1772841"/>
                  <a:pt x="19844" y="1564482"/>
                  <a:pt x="66675" y="1414463"/>
                </a:cubicBezTo>
                <a:cubicBezTo>
                  <a:pt x="113506" y="1264444"/>
                  <a:pt x="223837" y="1153319"/>
                  <a:pt x="280987" y="1081088"/>
                </a:cubicBezTo>
                <a:cubicBezTo>
                  <a:pt x="338137" y="1008857"/>
                  <a:pt x="341313" y="1030287"/>
                  <a:pt x="409575" y="981075"/>
                </a:cubicBezTo>
                <a:cubicBezTo>
                  <a:pt x="477838" y="931862"/>
                  <a:pt x="573881" y="862013"/>
                  <a:pt x="690562" y="785813"/>
                </a:cubicBezTo>
                <a:cubicBezTo>
                  <a:pt x="807243" y="709613"/>
                  <a:pt x="968375" y="606425"/>
                  <a:pt x="1109662" y="523875"/>
                </a:cubicBezTo>
                <a:cubicBezTo>
                  <a:pt x="1250950" y="441325"/>
                  <a:pt x="1377156" y="361950"/>
                  <a:pt x="1538287" y="290513"/>
                </a:cubicBezTo>
                <a:cubicBezTo>
                  <a:pt x="1699418" y="219076"/>
                  <a:pt x="1889919" y="141287"/>
                  <a:pt x="2076450" y="95250"/>
                </a:cubicBezTo>
                <a:cubicBezTo>
                  <a:pt x="2262981" y="49212"/>
                  <a:pt x="2523331" y="30163"/>
                  <a:pt x="2657475" y="14288"/>
                </a:cubicBezTo>
                <a:cubicBezTo>
                  <a:pt x="2791619" y="-1587"/>
                  <a:pt x="2846387" y="3969"/>
                  <a:pt x="2881312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0C5D52F-7CA8-490E-B819-8E0AC110B2F2}"/>
              </a:ext>
            </a:extLst>
          </p:cNvPr>
          <p:cNvSpPr/>
          <p:nvPr/>
        </p:nvSpPr>
        <p:spPr>
          <a:xfrm>
            <a:off x="4506292" y="4012244"/>
            <a:ext cx="228600" cy="25599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DF7164-17F4-47EA-B0FD-4EF2F7BCC52D}"/>
              </a:ext>
            </a:extLst>
          </p:cNvPr>
          <p:cNvSpPr txBox="1"/>
          <p:nvPr/>
        </p:nvSpPr>
        <p:spPr>
          <a:xfrm>
            <a:off x="6470778" y="3418734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Min</a:t>
            </a:r>
            <a:r>
              <a:rPr lang="en-US" b="1" baseline="-25000" dirty="0" err="1"/>
              <a:t>W</a:t>
            </a:r>
            <a:r>
              <a:rPr lang="en-US" b="1" baseline="-25000" dirty="0"/>
              <a:t> </a:t>
            </a:r>
            <a:r>
              <a:rPr lang="en-US" b="1" dirty="0"/>
              <a:t>(J(W)</a:t>
            </a:r>
            <a:r>
              <a:rPr lang="en-US" b="1" baseline="-25000" dirty="0"/>
              <a:t>MLE</a:t>
            </a:r>
            <a:r>
              <a:rPr lang="en-US" b="1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0B7DCA-461B-41E2-8525-7B5CC2A01082}"/>
              </a:ext>
            </a:extLst>
          </p:cNvPr>
          <p:cNvSpPr txBox="1"/>
          <p:nvPr/>
        </p:nvSpPr>
        <p:spPr>
          <a:xfrm>
            <a:off x="3918261" y="5337894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Initial 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65ADB7-E99E-44DE-B7D9-29D5130490EB}"/>
              </a:ext>
            </a:extLst>
          </p:cNvPr>
          <p:cNvSpPr txBox="1"/>
          <p:nvPr/>
        </p:nvSpPr>
        <p:spPr>
          <a:xfrm>
            <a:off x="4330288" y="4235130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Early stopping point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F0A30C-8395-47CD-8B18-D3B7483F9CD6}"/>
              </a:ext>
            </a:extLst>
          </p:cNvPr>
          <p:cNvSpPr txBox="1"/>
          <p:nvPr/>
        </p:nvSpPr>
        <p:spPr>
          <a:xfrm>
            <a:off x="5278998" y="6042750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Contours of ||W||</a:t>
            </a:r>
            <a:r>
              <a:rPr lang="en-US" b="1" baseline="30000" dirty="0"/>
              <a:t>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0C8DE0-1400-440A-A3E0-908B576018D7}"/>
              </a:ext>
            </a:extLst>
          </p:cNvPr>
          <p:cNvCxnSpPr>
            <a:stCxn id="20" idx="1"/>
          </p:cNvCxnSpPr>
          <p:nvPr/>
        </p:nvCxnSpPr>
        <p:spPr>
          <a:xfrm flipH="1" flipV="1">
            <a:off x="5068521" y="6042750"/>
            <a:ext cx="210477" cy="1846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57250EB-4453-41D1-A5B2-971EC1DCFE5C}"/>
              </a:ext>
            </a:extLst>
          </p:cNvPr>
          <p:cNvSpPr txBox="1"/>
          <p:nvPr/>
        </p:nvSpPr>
        <p:spPr>
          <a:xfrm>
            <a:off x="1773958" y="2443254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Contours of J(W)</a:t>
            </a:r>
            <a:r>
              <a:rPr lang="en-US" b="1" baseline="-25000" dirty="0"/>
              <a:t>MLE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798057A-A3E0-4CBA-8E85-979A28EC8E3A}"/>
              </a:ext>
            </a:extLst>
          </p:cNvPr>
          <p:cNvCxnSpPr>
            <a:cxnSpLocks/>
          </p:cNvCxnSpPr>
          <p:nvPr/>
        </p:nvCxnSpPr>
        <p:spPr>
          <a:xfrm>
            <a:off x="3751157" y="2711503"/>
            <a:ext cx="505868" cy="69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F11354C-5ED3-4C4E-91F4-6DE19FEDA8C4}"/>
              </a:ext>
            </a:extLst>
          </p:cNvPr>
          <p:cNvSpPr txBox="1"/>
          <p:nvPr/>
        </p:nvSpPr>
        <p:spPr>
          <a:xfrm>
            <a:off x="7187118" y="5309318"/>
            <a:ext cx="255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Domain of Overfitting</a:t>
            </a:r>
            <a:endParaRPr lang="en-US" b="1" baseline="300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F4E34A-FB5E-4F79-9143-A4D8122C4654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8054609" y="4640315"/>
            <a:ext cx="411252" cy="6690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70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2" grpId="0"/>
      <p:bldP spid="2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Dropout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3712794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B827-F6AD-4E54-8E82-11D59781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Dropout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51D7-F8DE-4733-8FDF-5B8E115018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Overfit deep network models tend to suffer from a problem of co-adaptation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With limited training data weight tensors become adapted to the training data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Such a model is unlikely to generalize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We need a way to break the co-adaptation of the weight tensor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Note: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Recently, some researchers have questioned the co-adaptation theory, but there is no consensus for an alternative theory 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62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B827-F6AD-4E54-8E82-11D59781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Dropout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51D7-F8DE-4733-8FDF-5B8E115018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8696" y="1039611"/>
            <a:ext cx="11525250" cy="5290388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Dropout regularization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is a conceptually simple method unique to deep learning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At each step of the gradient decent some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fraction, p, of the weights are dropped-out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of each layer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result is a series of models trained for each dropout sample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final model is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geometric mean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the individual models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Weight values are clipped in a small range as a further regularization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Result is an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ensemble model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full details see the readable paper by Srivastava et. al., 2014 </a:t>
            </a:r>
            <a:r>
              <a:rPr lang="en-US" sz="2800" dirty="0">
                <a:hlinkClick r:id="rId2"/>
              </a:rPr>
              <a:t>http://www.cs.toronto.edu/~rsalakhu/papers/srivastava14a.pdf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25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B827-F6AD-4E54-8E82-11D59781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Dropout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51D7-F8DE-4733-8FDF-5B8E115018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7236" y="1245702"/>
            <a:ext cx="11525250" cy="57166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Let’s look at a simple example of a network with one hidden layer: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D30B78-2222-4252-B595-4B7C11F57150}"/>
              </a:ext>
            </a:extLst>
          </p:cNvPr>
          <p:cNvSpPr/>
          <p:nvPr/>
        </p:nvSpPr>
        <p:spPr>
          <a:xfrm>
            <a:off x="4872020" y="2187960"/>
            <a:ext cx="460559" cy="4143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FAE59D2-7CFE-4B28-876E-6342E7BCCF53}"/>
              </a:ext>
            </a:extLst>
          </p:cNvPr>
          <p:cNvSpPr/>
          <p:nvPr/>
        </p:nvSpPr>
        <p:spPr>
          <a:xfrm>
            <a:off x="3887656" y="2691328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58BF8B-B90C-4F9E-937E-595B3922FBAE}"/>
              </a:ext>
            </a:extLst>
          </p:cNvPr>
          <p:cNvSpPr/>
          <p:nvPr/>
        </p:nvSpPr>
        <p:spPr>
          <a:xfrm>
            <a:off x="4513764" y="2692465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2D7A64-E1E7-4384-B939-68278FC2F616}"/>
              </a:ext>
            </a:extLst>
          </p:cNvPr>
          <p:cNvSpPr/>
          <p:nvPr/>
        </p:nvSpPr>
        <p:spPr>
          <a:xfrm>
            <a:off x="4404539" y="3321435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EB204C8-F2CE-4D5C-8440-534D447C3067}"/>
              </a:ext>
            </a:extLst>
          </p:cNvPr>
          <p:cNvSpPr/>
          <p:nvPr/>
        </p:nvSpPr>
        <p:spPr>
          <a:xfrm>
            <a:off x="5253745" y="3321435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52C480-2A70-40D3-9F37-D265BBA2F997}"/>
              </a:ext>
            </a:extLst>
          </p:cNvPr>
          <p:cNvCxnSpPr>
            <a:cxnSpLocks/>
            <a:stCxn id="5" idx="7"/>
            <a:endCxn id="4" idx="2"/>
          </p:cNvCxnSpPr>
          <p:nvPr/>
        </p:nvCxnSpPr>
        <p:spPr>
          <a:xfrm flipV="1">
            <a:off x="4355137" y="2395129"/>
            <a:ext cx="516883" cy="36733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325B18-FB35-4F30-B1B5-A32C8FC6AF29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V="1">
            <a:off x="4593971" y="2541620"/>
            <a:ext cx="345496" cy="22198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1B4F7B-765A-44AC-AF03-BA35649EA5EB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H="1" flipV="1">
            <a:off x="4161500" y="3177103"/>
            <a:ext cx="516883" cy="14433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D7B723-1F30-47AB-84E6-C3472D80CC3E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4787608" y="3178240"/>
            <a:ext cx="739981" cy="14319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F7DFF2-F233-4C9C-AA6B-8ECF48EBD09B}"/>
              </a:ext>
            </a:extLst>
          </p:cNvPr>
          <p:cNvCxnSpPr>
            <a:cxnSpLocks/>
            <a:stCxn id="8" idx="1"/>
            <a:endCxn id="5" idx="5"/>
          </p:cNvCxnSpPr>
          <p:nvPr/>
        </p:nvCxnSpPr>
        <p:spPr>
          <a:xfrm flipH="1" flipV="1">
            <a:off x="4355137" y="3105963"/>
            <a:ext cx="978815" cy="28661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A41DD7-0DF0-49EF-9E49-B42F5931CD8D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4593971" y="3107100"/>
            <a:ext cx="230966" cy="27592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AF6E3FD-A3CD-44AC-AB55-F5D88E893FBD}"/>
              </a:ext>
            </a:extLst>
          </p:cNvPr>
          <p:cNvSpPr/>
          <p:nvPr/>
        </p:nvSpPr>
        <p:spPr>
          <a:xfrm>
            <a:off x="5167960" y="2674352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BAD44A9-0F98-4DB3-A791-B750243F3E35}"/>
              </a:ext>
            </a:extLst>
          </p:cNvPr>
          <p:cNvSpPr/>
          <p:nvPr/>
        </p:nvSpPr>
        <p:spPr>
          <a:xfrm>
            <a:off x="5822156" y="2706454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9CB43AE-9AA9-46D2-AB7B-1D44D813DE81}"/>
              </a:ext>
            </a:extLst>
          </p:cNvPr>
          <p:cNvCxnSpPr>
            <a:cxnSpLocks/>
            <a:stCxn id="15" idx="0"/>
            <a:endCxn id="4" idx="5"/>
          </p:cNvCxnSpPr>
          <p:nvPr/>
        </p:nvCxnSpPr>
        <p:spPr>
          <a:xfrm flipH="1" flipV="1">
            <a:off x="5265132" y="2541620"/>
            <a:ext cx="176672" cy="13273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CD5AE45-8BBD-40DD-866D-32A8361AA14C}"/>
              </a:ext>
            </a:extLst>
          </p:cNvPr>
          <p:cNvCxnSpPr>
            <a:cxnSpLocks/>
            <a:stCxn id="16" idx="1"/>
            <a:endCxn id="4" idx="6"/>
          </p:cNvCxnSpPr>
          <p:nvPr/>
        </p:nvCxnSpPr>
        <p:spPr>
          <a:xfrm flipH="1" flipV="1">
            <a:off x="5332579" y="2395129"/>
            <a:ext cx="569784" cy="38246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CE8428-5105-43E1-8189-97B844DA7BA4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4872020" y="3088987"/>
            <a:ext cx="376147" cy="30358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074930E-951A-442C-B036-9DE21A4BF7CA}"/>
              </a:ext>
            </a:extLst>
          </p:cNvPr>
          <p:cNvCxnSpPr>
            <a:cxnSpLocks/>
            <a:stCxn id="8" idx="7"/>
            <a:endCxn id="16" idx="4"/>
          </p:cNvCxnSpPr>
          <p:nvPr/>
        </p:nvCxnSpPr>
        <p:spPr>
          <a:xfrm flipV="1">
            <a:off x="5721226" y="3192229"/>
            <a:ext cx="374774" cy="2003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08D0C1-4B19-4357-8740-3244F7F7BCD6}"/>
              </a:ext>
            </a:extLst>
          </p:cNvPr>
          <p:cNvCxnSpPr>
            <a:cxnSpLocks/>
            <a:stCxn id="8" idx="0"/>
            <a:endCxn id="15" idx="4"/>
          </p:cNvCxnSpPr>
          <p:nvPr/>
        </p:nvCxnSpPr>
        <p:spPr>
          <a:xfrm flipH="1" flipV="1">
            <a:off x="5441804" y="3160127"/>
            <a:ext cx="85785" cy="16130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6D3362-8879-4110-86AB-5C3F44FEBF3F}"/>
              </a:ext>
            </a:extLst>
          </p:cNvPr>
          <p:cNvCxnSpPr>
            <a:cxnSpLocks/>
            <a:stCxn id="7" idx="7"/>
            <a:endCxn id="16" idx="3"/>
          </p:cNvCxnSpPr>
          <p:nvPr/>
        </p:nvCxnSpPr>
        <p:spPr>
          <a:xfrm flipV="1">
            <a:off x="4872020" y="3121089"/>
            <a:ext cx="1030343" cy="27148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9629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B827-F6AD-4E54-8E82-11D59781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Dropout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51D7-F8DE-4733-8FDF-5B8E115018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7236" y="973745"/>
            <a:ext cx="11525250" cy="51215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are six of the possible models with 2 hidden units: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697D5C-3B56-4330-916B-207CCAD2BFFE}"/>
              </a:ext>
            </a:extLst>
          </p:cNvPr>
          <p:cNvSpPr/>
          <p:nvPr/>
        </p:nvSpPr>
        <p:spPr>
          <a:xfrm>
            <a:off x="2644088" y="1746885"/>
            <a:ext cx="460559" cy="4143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42981B3-3CCE-4BDF-84D0-F2BE40C777A3}"/>
              </a:ext>
            </a:extLst>
          </p:cNvPr>
          <p:cNvSpPr/>
          <p:nvPr/>
        </p:nvSpPr>
        <p:spPr>
          <a:xfrm>
            <a:off x="2176607" y="2880360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E635669-0F51-48FB-91B1-CA5DED1DFD88}"/>
              </a:ext>
            </a:extLst>
          </p:cNvPr>
          <p:cNvSpPr/>
          <p:nvPr/>
        </p:nvSpPr>
        <p:spPr>
          <a:xfrm>
            <a:off x="3025813" y="2880360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C48F8D9-499A-43E4-9F53-79AA5E5F173C}"/>
              </a:ext>
            </a:extLst>
          </p:cNvPr>
          <p:cNvSpPr/>
          <p:nvPr/>
        </p:nvSpPr>
        <p:spPr>
          <a:xfrm>
            <a:off x="2940028" y="2233277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E5AA8A1-2A38-4204-8DB1-F5DA8B6C6029}"/>
              </a:ext>
            </a:extLst>
          </p:cNvPr>
          <p:cNvSpPr/>
          <p:nvPr/>
        </p:nvSpPr>
        <p:spPr>
          <a:xfrm>
            <a:off x="3594224" y="2265379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DA1C878-02D3-408F-A8A3-87C833D52989}"/>
              </a:ext>
            </a:extLst>
          </p:cNvPr>
          <p:cNvCxnSpPr>
            <a:cxnSpLocks/>
            <a:stCxn id="26" idx="0"/>
            <a:endCxn id="23" idx="5"/>
          </p:cNvCxnSpPr>
          <p:nvPr/>
        </p:nvCxnSpPr>
        <p:spPr>
          <a:xfrm flipH="1" flipV="1">
            <a:off x="3037200" y="2100545"/>
            <a:ext cx="176672" cy="13273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E03D1AE-C973-45D5-A11C-1E213EDCCFEC}"/>
              </a:ext>
            </a:extLst>
          </p:cNvPr>
          <p:cNvCxnSpPr>
            <a:cxnSpLocks/>
            <a:stCxn id="27" idx="1"/>
            <a:endCxn id="23" idx="6"/>
          </p:cNvCxnSpPr>
          <p:nvPr/>
        </p:nvCxnSpPr>
        <p:spPr>
          <a:xfrm flipH="1" flipV="1">
            <a:off x="3104647" y="1954054"/>
            <a:ext cx="569784" cy="38246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2C6B30-6C78-4929-B89C-0D71263F262E}"/>
              </a:ext>
            </a:extLst>
          </p:cNvPr>
          <p:cNvCxnSpPr>
            <a:cxnSpLocks/>
            <a:stCxn id="24" idx="7"/>
            <a:endCxn id="26" idx="3"/>
          </p:cNvCxnSpPr>
          <p:nvPr/>
        </p:nvCxnSpPr>
        <p:spPr>
          <a:xfrm flipV="1">
            <a:off x="2644088" y="2647912"/>
            <a:ext cx="376147" cy="30358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E82BF7-908B-4D07-A1BB-CC2794E4C5E4}"/>
              </a:ext>
            </a:extLst>
          </p:cNvPr>
          <p:cNvCxnSpPr>
            <a:cxnSpLocks/>
            <a:stCxn id="25" idx="7"/>
            <a:endCxn id="27" idx="4"/>
          </p:cNvCxnSpPr>
          <p:nvPr/>
        </p:nvCxnSpPr>
        <p:spPr>
          <a:xfrm flipV="1">
            <a:off x="3493294" y="2751154"/>
            <a:ext cx="374774" cy="2003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544F57F-EC3E-4CAF-BACF-E7B8953A4774}"/>
              </a:ext>
            </a:extLst>
          </p:cNvPr>
          <p:cNvCxnSpPr>
            <a:cxnSpLocks/>
            <a:stCxn id="25" idx="0"/>
            <a:endCxn id="26" idx="4"/>
          </p:cNvCxnSpPr>
          <p:nvPr/>
        </p:nvCxnSpPr>
        <p:spPr>
          <a:xfrm flipH="1" flipV="1">
            <a:off x="3213872" y="2719052"/>
            <a:ext cx="85785" cy="16130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ADED465-AF7A-4660-B7DD-4BCD4A4FB3B3}"/>
              </a:ext>
            </a:extLst>
          </p:cNvPr>
          <p:cNvCxnSpPr>
            <a:cxnSpLocks/>
            <a:stCxn id="24" idx="7"/>
            <a:endCxn id="27" idx="3"/>
          </p:cNvCxnSpPr>
          <p:nvPr/>
        </p:nvCxnSpPr>
        <p:spPr>
          <a:xfrm flipV="1">
            <a:off x="2644088" y="2680014"/>
            <a:ext cx="1030343" cy="27148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6D6ABF08-194F-40A4-BAEF-11875850B037}"/>
              </a:ext>
            </a:extLst>
          </p:cNvPr>
          <p:cNvSpPr/>
          <p:nvPr/>
        </p:nvSpPr>
        <p:spPr>
          <a:xfrm>
            <a:off x="5304410" y="1778987"/>
            <a:ext cx="460559" cy="4143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C82FE78-E6AC-4082-8B4F-70C7ECB27ADE}"/>
              </a:ext>
            </a:extLst>
          </p:cNvPr>
          <p:cNvSpPr/>
          <p:nvPr/>
        </p:nvSpPr>
        <p:spPr>
          <a:xfrm>
            <a:off x="4946154" y="2283492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F9ECB5C-BEDA-4441-8D09-2EDFA953EE65}"/>
              </a:ext>
            </a:extLst>
          </p:cNvPr>
          <p:cNvSpPr/>
          <p:nvPr/>
        </p:nvSpPr>
        <p:spPr>
          <a:xfrm>
            <a:off x="4836929" y="2912462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04FC4F3-8C46-4B37-911B-2186D07624A0}"/>
              </a:ext>
            </a:extLst>
          </p:cNvPr>
          <p:cNvSpPr/>
          <p:nvPr/>
        </p:nvSpPr>
        <p:spPr>
          <a:xfrm>
            <a:off x="5686135" y="2912462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65276EE-A49B-44B8-A9FF-A7F50E7745B3}"/>
              </a:ext>
            </a:extLst>
          </p:cNvPr>
          <p:cNvCxnSpPr>
            <a:cxnSpLocks/>
            <a:stCxn id="35" idx="1"/>
            <a:endCxn id="34" idx="3"/>
          </p:cNvCxnSpPr>
          <p:nvPr/>
        </p:nvCxnSpPr>
        <p:spPr>
          <a:xfrm flipV="1">
            <a:off x="5026361" y="2132647"/>
            <a:ext cx="345496" cy="22198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921FAE-1324-4171-A96A-E1163D16B4E1}"/>
              </a:ext>
            </a:extLst>
          </p:cNvPr>
          <p:cNvCxnSpPr>
            <a:cxnSpLocks/>
            <a:stCxn id="37" idx="0"/>
            <a:endCxn id="35" idx="4"/>
          </p:cNvCxnSpPr>
          <p:nvPr/>
        </p:nvCxnSpPr>
        <p:spPr>
          <a:xfrm flipH="1" flipV="1">
            <a:off x="5219998" y="2769267"/>
            <a:ext cx="739981" cy="14319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B904B3D-373D-41D9-B30B-00E5154F7581}"/>
              </a:ext>
            </a:extLst>
          </p:cNvPr>
          <p:cNvCxnSpPr>
            <a:cxnSpLocks/>
            <a:endCxn id="35" idx="3"/>
          </p:cNvCxnSpPr>
          <p:nvPr/>
        </p:nvCxnSpPr>
        <p:spPr>
          <a:xfrm flipH="1" flipV="1">
            <a:off x="5026361" y="2698127"/>
            <a:ext cx="230966" cy="27592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9E15E28-EE19-4C7A-87CE-1ACE242F88C0}"/>
              </a:ext>
            </a:extLst>
          </p:cNvPr>
          <p:cNvSpPr/>
          <p:nvPr/>
        </p:nvSpPr>
        <p:spPr>
          <a:xfrm>
            <a:off x="6254546" y="2297481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D057BA6-0BAE-4E2F-8DD4-5652E3186DC4}"/>
              </a:ext>
            </a:extLst>
          </p:cNvPr>
          <p:cNvCxnSpPr>
            <a:cxnSpLocks/>
            <a:stCxn id="41" idx="1"/>
            <a:endCxn id="34" idx="6"/>
          </p:cNvCxnSpPr>
          <p:nvPr/>
        </p:nvCxnSpPr>
        <p:spPr>
          <a:xfrm flipH="1" flipV="1">
            <a:off x="5764969" y="1986156"/>
            <a:ext cx="569784" cy="38246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AC20E95-F2B1-4331-A578-B03A732926C6}"/>
              </a:ext>
            </a:extLst>
          </p:cNvPr>
          <p:cNvCxnSpPr>
            <a:cxnSpLocks/>
            <a:stCxn id="37" idx="7"/>
            <a:endCxn id="41" idx="4"/>
          </p:cNvCxnSpPr>
          <p:nvPr/>
        </p:nvCxnSpPr>
        <p:spPr>
          <a:xfrm flipV="1">
            <a:off x="6153616" y="2783256"/>
            <a:ext cx="374774" cy="2003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00A7A57-8101-4800-ACB6-9B18026D7ACB}"/>
              </a:ext>
            </a:extLst>
          </p:cNvPr>
          <p:cNvCxnSpPr>
            <a:cxnSpLocks/>
            <a:stCxn id="36" idx="7"/>
            <a:endCxn id="41" idx="3"/>
          </p:cNvCxnSpPr>
          <p:nvPr/>
        </p:nvCxnSpPr>
        <p:spPr>
          <a:xfrm flipV="1">
            <a:off x="5304410" y="2712116"/>
            <a:ext cx="1030343" cy="27148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ACDCE49D-C7BB-4131-BA9F-587F62D1B5E7}"/>
              </a:ext>
            </a:extLst>
          </p:cNvPr>
          <p:cNvSpPr/>
          <p:nvPr/>
        </p:nvSpPr>
        <p:spPr>
          <a:xfrm>
            <a:off x="7964732" y="1811089"/>
            <a:ext cx="460559" cy="4143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5FCD115-4E5E-4CDA-ACE4-4AE731A4B1F8}"/>
              </a:ext>
            </a:extLst>
          </p:cNvPr>
          <p:cNvSpPr/>
          <p:nvPr/>
        </p:nvSpPr>
        <p:spPr>
          <a:xfrm>
            <a:off x="7606476" y="2315594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2F6587C-3B86-48E7-A0C8-BBB5EFB9C497}"/>
              </a:ext>
            </a:extLst>
          </p:cNvPr>
          <p:cNvSpPr/>
          <p:nvPr/>
        </p:nvSpPr>
        <p:spPr>
          <a:xfrm>
            <a:off x="7497251" y="2944564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2A98208-B63F-4265-82AD-4E7270C56709}"/>
              </a:ext>
            </a:extLst>
          </p:cNvPr>
          <p:cNvSpPr/>
          <p:nvPr/>
        </p:nvSpPr>
        <p:spPr>
          <a:xfrm>
            <a:off x="8346457" y="2944564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769939A-B113-4EF5-938E-A3FAB3A773A3}"/>
              </a:ext>
            </a:extLst>
          </p:cNvPr>
          <p:cNvCxnSpPr>
            <a:cxnSpLocks/>
            <a:stCxn id="46" idx="1"/>
            <a:endCxn id="45" idx="3"/>
          </p:cNvCxnSpPr>
          <p:nvPr/>
        </p:nvCxnSpPr>
        <p:spPr>
          <a:xfrm flipV="1">
            <a:off x="7686683" y="2164749"/>
            <a:ext cx="345496" cy="22198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E45452F-7F22-4BEF-9BEE-FCC8E62F6C9B}"/>
              </a:ext>
            </a:extLst>
          </p:cNvPr>
          <p:cNvCxnSpPr>
            <a:cxnSpLocks/>
            <a:stCxn id="48" idx="0"/>
            <a:endCxn id="46" idx="4"/>
          </p:cNvCxnSpPr>
          <p:nvPr/>
        </p:nvCxnSpPr>
        <p:spPr>
          <a:xfrm flipH="1" flipV="1">
            <a:off x="7880320" y="2801369"/>
            <a:ext cx="739981" cy="14319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5FCBEB6-DC52-4DFC-BF17-DE066A1EAD55}"/>
              </a:ext>
            </a:extLst>
          </p:cNvPr>
          <p:cNvCxnSpPr>
            <a:cxnSpLocks/>
            <a:endCxn id="46" idx="3"/>
          </p:cNvCxnSpPr>
          <p:nvPr/>
        </p:nvCxnSpPr>
        <p:spPr>
          <a:xfrm flipH="1" flipV="1">
            <a:off x="7686683" y="2730229"/>
            <a:ext cx="230966" cy="27592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5DB1716-988D-4A04-B181-02127D3C431D}"/>
              </a:ext>
            </a:extLst>
          </p:cNvPr>
          <p:cNvSpPr/>
          <p:nvPr/>
        </p:nvSpPr>
        <p:spPr>
          <a:xfrm>
            <a:off x="8260672" y="2297481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C323C0D-21E2-4AC4-9077-B3A93718965F}"/>
              </a:ext>
            </a:extLst>
          </p:cNvPr>
          <p:cNvCxnSpPr>
            <a:cxnSpLocks/>
            <a:stCxn id="52" idx="0"/>
            <a:endCxn id="45" idx="5"/>
          </p:cNvCxnSpPr>
          <p:nvPr/>
        </p:nvCxnSpPr>
        <p:spPr>
          <a:xfrm flipH="1" flipV="1">
            <a:off x="8357844" y="2164749"/>
            <a:ext cx="176672" cy="13273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FC376FF-6C96-4EA5-B4B5-1449F908D2F5}"/>
              </a:ext>
            </a:extLst>
          </p:cNvPr>
          <p:cNvCxnSpPr>
            <a:cxnSpLocks/>
            <a:stCxn id="47" idx="7"/>
            <a:endCxn id="52" idx="3"/>
          </p:cNvCxnSpPr>
          <p:nvPr/>
        </p:nvCxnSpPr>
        <p:spPr>
          <a:xfrm flipV="1">
            <a:off x="7964732" y="2712116"/>
            <a:ext cx="376147" cy="30358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A495079-723A-4389-BCC3-D41E31C56127}"/>
              </a:ext>
            </a:extLst>
          </p:cNvPr>
          <p:cNvCxnSpPr>
            <a:cxnSpLocks/>
            <a:stCxn id="48" idx="0"/>
            <a:endCxn id="52" idx="4"/>
          </p:cNvCxnSpPr>
          <p:nvPr/>
        </p:nvCxnSpPr>
        <p:spPr>
          <a:xfrm flipH="1" flipV="1">
            <a:off x="8534516" y="2783256"/>
            <a:ext cx="85785" cy="16130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E4012B3D-C7B0-45C5-BE25-AAAE290627F9}"/>
              </a:ext>
            </a:extLst>
          </p:cNvPr>
          <p:cNvSpPr/>
          <p:nvPr/>
        </p:nvSpPr>
        <p:spPr>
          <a:xfrm>
            <a:off x="2778807" y="3684465"/>
            <a:ext cx="460559" cy="4143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A554F68-0D9B-4AE6-B155-66DEB3BB0E53}"/>
              </a:ext>
            </a:extLst>
          </p:cNvPr>
          <p:cNvSpPr/>
          <p:nvPr/>
        </p:nvSpPr>
        <p:spPr>
          <a:xfrm>
            <a:off x="1794443" y="4187833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DE09A09-B739-4F94-8919-890DF83151F5}"/>
              </a:ext>
            </a:extLst>
          </p:cNvPr>
          <p:cNvSpPr/>
          <p:nvPr/>
        </p:nvSpPr>
        <p:spPr>
          <a:xfrm>
            <a:off x="2311326" y="4817940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A764506-123B-4C98-A067-75F2A498123D}"/>
              </a:ext>
            </a:extLst>
          </p:cNvPr>
          <p:cNvSpPr/>
          <p:nvPr/>
        </p:nvSpPr>
        <p:spPr>
          <a:xfrm>
            <a:off x="3160532" y="4817940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2E912D7-4A56-4618-BC8F-F3D1A8F65396}"/>
              </a:ext>
            </a:extLst>
          </p:cNvPr>
          <p:cNvCxnSpPr>
            <a:cxnSpLocks/>
            <a:stCxn id="57" idx="7"/>
            <a:endCxn id="56" idx="2"/>
          </p:cNvCxnSpPr>
          <p:nvPr/>
        </p:nvCxnSpPr>
        <p:spPr>
          <a:xfrm flipV="1">
            <a:off x="2261924" y="3891634"/>
            <a:ext cx="516883" cy="36733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2396BE8-AD4D-42B1-BAF3-1C9EDC99B8D5}"/>
              </a:ext>
            </a:extLst>
          </p:cNvPr>
          <p:cNvCxnSpPr>
            <a:cxnSpLocks/>
            <a:stCxn id="58" idx="0"/>
            <a:endCxn id="57" idx="4"/>
          </p:cNvCxnSpPr>
          <p:nvPr/>
        </p:nvCxnSpPr>
        <p:spPr>
          <a:xfrm flipH="1" flipV="1">
            <a:off x="2068287" y="4673608"/>
            <a:ext cx="516883" cy="14433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A1D1A8D-3CFA-4970-AF22-9FF19C2788D1}"/>
              </a:ext>
            </a:extLst>
          </p:cNvPr>
          <p:cNvCxnSpPr>
            <a:cxnSpLocks/>
            <a:stCxn id="59" idx="1"/>
            <a:endCxn id="57" idx="5"/>
          </p:cNvCxnSpPr>
          <p:nvPr/>
        </p:nvCxnSpPr>
        <p:spPr>
          <a:xfrm flipH="1" flipV="1">
            <a:off x="2261924" y="4602468"/>
            <a:ext cx="978815" cy="28661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862F142E-3A54-44F9-A5FB-08D09B60FD61}"/>
              </a:ext>
            </a:extLst>
          </p:cNvPr>
          <p:cNvSpPr/>
          <p:nvPr/>
        </p:nvSpPr>
        <p:spPr>
          <a:xfrm>
            <a:off x="3728943" y="4202959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61B2915-B978-4461-A272-6557630E882F}"/>
              </a:ext>
            </a:extLst>
          </p:cNvPr>
          <p:cNvCxnSpPr>
            <a:cxnSpLocks/>
            <a:stCxn id="63" idx="1"/>
            <a:endCxn id="56" idx="6"/>
          </p:cNvCxnSpPr>
          <p:nvPr/>
        </p:nvCxnSpPr>
        <p:spPr>
          <a:xfrm flipH="1" flipV="1">
            <a:off x="3239366" y="3891634"/>
            <a:ext cx="569784" cy="38246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94C7CAB-5A25-4ABC-8AF1-0F8FA364FB31}"/>
              </a:ext>
            </a:extLst>
          </p:cNvPr>
          <p:cNvCxnSpPr>
            <a:cxnSpLocks/>
            <a:stCxn id="59" idx="7"/>
            <a:endCxn id="63" idx="4"/>
          </p:cNvCxnSpPr>
          <p:nvPr/>
        </p:nvCxnSpPr>
        <p:spPr>
          <a:xfrm flipV="1">
            <a:off x="3628013" y="4688734"/>
            <a:ext cx="374774" cy="2003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733A225-063A-436A-976B-5FCDD2C462B2}"/>
              </a:ext>
            </a:extLst>
          </p:cNvPr>
          <p:cNvCxnSpPr>
            <a:cxnSpLocks/>
            <a:stCxn id="58" idx="7"/>
            <a:endCxn id="63" idx="3"/>
          </p:cNvCxnSpPr>
          <p:nvPr/>
        </p:nvCxnSpPr>
        <p:spPr>
          <a:xfrm flipV="1">
            <a:off x="2778807" y="4617594"/>
            <a:ext cx="1030343" cy="27148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2F43BAE6-F51D-4842-827E-935F45363297}"/>
              </a:ext>
            </a:extLst>
          </p:cNvPr>
          <p:cNvSpPr/>
          <p:nvPr/>
        </p:nvSpPr>
        <p:spPr>
          <a:xfrm>
            <a:off x="5384617" y="3716567"/>
            <a:ext cx="460559" cy="4143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A5D4327-C879-4C15-A7B4-712C0C419B38}"/>
              </a:ext>
            </a:extLst>
          </p:cNvPr>
          <p:cNvSpPr/>
          <p:nvPr/>
        </p:nvSpPr>
        <p:spPr>
          <a:xfrm>
            <a:off x="4400253" y="4219935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E6561E4-1443-40ED-8285-F93776DAE6C8}"/>
              </a:ext>
            </a:extLst>
          </p:cNvPr>
          <p:cNvSpPr/>
          <p:nvPr/>
        </p:nvSpPr>
        <p:spPr>
          <a:xfrm>
            <a:off x="4917136" y="4850042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A5472B1-03E9-4EDD-B862-D6693D26C70F}"/>
              </a:ext>
            </a:extLst>
          </p:cNvPr>
          <p:cNvSpPr/>
          <p:nvPr/>
        </p:nvSpPr>
        <p:spPr>
          <a:xfrm>
            <a:off x="5766342" y="4850042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A44BFF7-8410-4A0E-8895-2E60BA19E166}"/>
              </a:ext>
            </a:extLst>
          </p:cNvPr>
          <p:cNvCxnSpPr>
            <a:cxnSpLocks/>
            <a:stCxn id="68" idx="7"/>
            <a:endCxn id="67" idx="2"/>
          </p:cNvCxnSpPr>
          <p:nvPr/>
        </p:nvCxnSpPr>
        <p:spPr>
          <a:xfrm flipV="1">
            <a:off x="4867734" y="3923736"/>
            <a:ext cx="516883" cy="36733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42B1457-29E0-424E-9AAE-5E57B6FD3A95}"/>
              </a:ext>
            </a:extLst>
          </p:cNvPr>
          <p:cNvCxnSpPr>
            <a:cxnSpLocks/>
            <a:stCxn id="69" idx="0"/>
            <a:endCxn id="68" idx="4"/>
          </p:cNvCxnSpPr>
          <p:nvPr/>
        </p:nvCxnSpPr>
        <p:spPr>
          <a:xfrm flipH="1" flipV="1">
            <a:off x="4674097" y="4705710"/>
            <a:ext cx="516883" cy="14433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2966B2F-9DD9-4A48-B95B-B0AE1C92F1B5}"/>
              </a:ext>
            </a:extLst>
          </p:cNvPr>
          <p:cNvCxnSpPr>
            <a:cxnSpLocks/>
            <a:stCxn id="70" idx="1"/>
            <a:endCxn id="68" idx="5"/>
          </p:cNvCxnSpPr>
          <p:nvPr/>
        </p:nvCxnSpPr>
        <p:spPr>
          <a:xfrm flipH="1" flipV="1">
            <a:off x="4867734" y="4634570"/>
            <a:ext cx="978815" cy="28661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220F4BB3-9C8F-4C11-B70F-78D585AE8BD4}"/>
              </a:ext>
            </a:extLst>
          </p:cNvPr>
          <p:cNvSpPr/>
          <p:nvPr/>
        </p:nvSpPr>
        <p:spPr>
          <a:xfrm>
            <a:off x="5680557" y="4202959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DC4A6E3-54C8-451E-86CD-4415D08193D0}"/>
              </a:ext>
            </a:extLst>
          </p:cNvPr>
          <p:cNvCxnSpPr>
            <a:cxnSpLocks/>
            <a:stCxn id="74" idx="0"/>
            <a:endCxn id="67" idx="5"/>
          </p:cNvCxnSpPr>
          <p:nvPr/>
        </p:nvCxnSpPr>
        <p:spPr>
          <a:xfrm flipH="1" flipV="1">
            <a:off x="5777729" y="4070227"/>
            <a:ext cx="176672" cy="13273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385F8F7-F5C8-4944-8A72-6ACB29EFE224}"/>
              </a:ext>
            </a:extLst>
          </p:cNvPr>
          <p:cNvCxnSpPr>
            <a:cxnSpLocks/>
            <a:stCxn id="69" idx="7"/>
            <a:endCxn id="74" idx="3"/>
          </p:cNvCxnSpPr>
          <p:nvPr/>
        </p:nvCxnSpPr>
        <p:spPr>
          <a:xfrm flipV="1">
            <a:off x="5384617" y="4617594"/>
            <a:ext cx="376147" cy="30358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125B2DB-EECF-430B-91B7-74A864ABE17A}"/>
              </a:ext>
            </a:extLst>
          </p:cNvPr>
          <p:cNvCxnSpPr>
            <a:cxnSpLocks/>
            <a:stCxn id="70" idx="0"/>
            <a:endCxn id="74" idx="4"/>
          </p:cNvCxnSpPr>
          <p:nvPr/>
        </p:nvCxnSpPr>
        <p:spPr>
          <a:xfrm flipH="1" flipV="1">
            <a:off x="5954401" y="4688734"/>
            <a:ext cx="85785" cy="16130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45FD0260-65C9-464A-BC15-319AB003AB4F}"/>
              </a:ext>
            </a:extLst>
          </p:cNvPr>
          <p:cNvSpPr/>
          <p:nvPr/>
        </p:nvSpPr>
        <p:spPr>
          <a:xfrm>
            <a:off x="8113262" y="3699591"/>
            <a:ext cx="460559" cy="4143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5527E0C-925F-47F2-BD4B-F3446ABFC7E2}"/>
              </a:ext>
            </a:extLst>
          </p:cNvPr>
          <p:cNvSpPr/>
          <p:nvPr/>
        </p:nvSpPr>
        <p:spPr>
          <a:xfrm>
            <a:off x="7128898" y="4202959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E9A494C-526B-4109-BE75-5EC69D334E75}"/>
              </a:ext>
            </a:extLst>
          </p:cNvPr>
          <p:cNvSpPr/>
          <p:nvPr/>
        </p:nvSpPr>
        <p:spPr>
          <a:xfrm>
            <a:off x="7755006" y="4204096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E2C5AAC-4D6B-4F47-BC53-4F33DB383576}"/>
              </a:ext>
            </a:extLst>
          </p:cNvPr>
          <p:cNvSpPr/>
          <p:nvPr/>
        </p:nvSpPr>
        <p:spPr>
          <a:xfrm>
            <a:off x="7645781" y="4833066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E0FEE23-1155-42F6-9943-AA8CAD095D48}"/>
              </a:ext>
            </a:extLst>
          </p:cNvPr>
          <p:cNvSpPr/>
          <p:nvPr/>
        </p:nvSpPr>
        <p:spPr>
          <a:xfrm>
            <a:off x="8494987" y="4833066"/>
            <a:ext cx="547688" cy="485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A3C3B1-29CC-423F-8A27-BF87E7472493}"/>
              </a:ext>
            </a:extLst>
          </p:cNvPr>
          <p:cNvCxnSpPr>
            <a:cxnSpLocks/>
            <a:stCxn id="79" idx="7"/>
            <a:endCxn id="78" idx="2"/>
          </p:cNvCxnSpPr>
          <p:nvPr/>
        </p:nvCxnSpPr>
        <p:spPr>
          <a:xfrm flipV="1">
            <a:off x="7596379" y="3906760"/>
            <a:ext cx="516883" cy="36733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DD15905-DF69-4D74-BFCF-CC1005B44D20}"/>
              </a:ext>
            </a:extLst>
          </p:cNvPr>
          <p:cNvCxnSpPr>
            <a:cxnSpLocks/>
            <a:stCxn id="80" idx="1"/>
            <a:endCxn id="78" idx="3"/>
          </p:cNvCxnSpPr>
          <p:nvPr/>
        </p:nvCxnSpPr>
        <p:spPr>
          <a:xfrm flipV="1">
            <a:off x="7835213" y="4053251"/>
            <a:ext cx="345496" cy="22198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019E952-8048-40D0-B4BE-89176066FA2B}"/>
              </a:ext>
            </a:extLst>
          </p:cNvPr>
          <p:cNvCxnSpPr>
            <a:cxnSpLocks/>
            <a:stCxn id="81" idx="0"/>
            <a:endCxn id="79" idx="4"/>
          </p:cNvCxnSpPr>
          <p:nvPr/>
        </p:nvCxnSpPr>
        <p:spPr>
          <a:xfrm flipH="1" flipV="1">
            <a:off x="7402742" y="4688734"/>
            <a:ext cx="516883" cy="14433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B801113-CBE3-4089-9271-8D6528099ED8}"/>
              </a:ext>
            </a:extLst>
          </p:cNvPr>
          <p:cNvCxnSpPr>
            <a:cxnSpLocks/>
            <a:stCxn id="82" idx="0"/>
            <a:endCxn id="80" idx="4"/>
          </p:cNvCxnSpPr>
          <p:nvPr/>
        </p:nvCxnSpPr>
        <p:spPr>
          <a:xfrm flipH="1" flipV="1">
            <a:off x="8028850" y="4689871"/>
            <a:ext cx="739981" cy="14319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CD149C8-684E-4B58-9234-A42398997F79}"/>
              </a:ext>
            </a:extLst>
          </p:cNvPr>
          <p:cNvCxnSpPr>
            <a:cxnSpLocks/>
            <a:stCxn id="82" idx="1"/>
            <a:endCxn id="79" idx="5"/>
          </p:cNvCxnSpPr>
          <p:nvPr/>
        </p:nvCxnSpPr>
        <p:spPr>
          <a:xfrm flipH="1" flipV="1">
            <a:off x="7596379" y="4617594"/>
            <a:ext cx="978815" cy="28661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D6FD110-F0C0-439C-810A-D4B43BC045B0}"/>
              </a:ext>
            </a:extLst>
          </p:cNvPr>
          <p:cNvCxnSpPr>
            <a:cxnSpLocks/>
            <a:endCxn id="80" idx="3"/>
          </p:cNvCxnSpPr>
          <p:nvPr/>
        </p:nvCxnSpPr>
        <p:spPr>
          <a:xfrm flipH="1" flipV="1">
            <a:off x="7835213" y="4618731"/>
            <a:ext cx="230966" cy="27592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93E69586-1A19-4F1C-B562-012D49B5E3B0}"/>
              </a:ext>
            </a:extLst>
          </p:cNvPr>
          <p:cNvSpPr txBox="1">
            <a:spLocks/>
          </p:cNvSpPr>
          <p:nvPr/>
        </p:nvSpPr>
        <p:spPr>
          <a:xfrm>
            <a:off x="379514" y="5852359"/>
            <a:ext cx="11525250" cy="512155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Can also sample models with 1 or 3 hidden units: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34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34" grpId="0" animBg="1"/>
      <p:bldP spid="35" grpId="0" animBg="1"/>
      <p:bldP spid="36" grpId="0" animBg="1"/>
      <p:bldP spid="37" grpId="0" animBg="1"/>
      <p:bldP spid="41" grpId="0" animBg="1"/>
      <p:bldP spid="45" grpId="0" animBg="1"/>
      <p:bldP spid="46" grpId="0" animBg="1"/>
      <p:bldP spid="47" grpId="0" animBg="1"/>
      <p:bldP spid="48" grpId="0" animBg="1"/>
      <p:bldP spid="52" grpId="0" animBg="1"/>
      <p:bldP spid="56" grpId="0" animBg="1"/>
      <p:bldP spid="57" grpId="0" animBg="1"/>
      <p:bldP spid="58" grpId="0" animBg="1"/>
      <p:bldP spid="59" grpId="0" animBg="1"/>
      <p:bldP spid="63" grpId="0" animBg="1"/>
      <p:bldP spid="67" grpId="0" animBg="1"/>
      <p:bldP spid="68" grpId="0" animBg="1"/>
      <p:bldP spid="69" grpId="0" animBg="1"/>
      <p:bldP spid="70" grpId="0" animBg="1"/>
      <p:bldP spid="74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B827-F6AD-4E54-8E82-11D59781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Dropout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51D7-F8DE-4733-8FDF-5B8E115018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8696" y="1039611"/>
            <a:ext cx="11525250" cy="529038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partial derivatives for backpropagation be computed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with dropout regularization?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probability of a weight being in a given model is: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forward propagation equations then become: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530479-1D78-4908-A9EB-4121E401A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26" y="2615364"/>
            <a:ext cx="3053778" cy="630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8FF867-4439-4EA2-ADF6-E37F5BE72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317" y="3834825"/>
            <a:ext cx="2701620" cy="6916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BBD9EC-B945-4F40-B5C6-D2F43FD70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238" y="4631563"/>
            <a:ext cx="4798382" cy="664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8A11CE-EA04-401F-AC8F-3B440C9B2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9120" y="5480781"/>
            <a:ext cx="2917936" cy="66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9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B827-F6AD-4E54-8E82-11D59781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Dropout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51D7-F8DE-4733-8FDF-5B8E115018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8696" y="932035"/>
            <a:ext cx="11525250" cy="529038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partial derivatives for backpropagation be computed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with dropout regularization?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We need partial derivatives of 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the dropout layer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is linear, and the derivatives with respect to the weights are: 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          , in which case the partial derivative = 1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          , in which case the partial derivative = 0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u="sng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8A11CE-EA04-401F-AC8F-3B440C9B2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648" y="2655001"/>
            <a:ext cx="3139513" cy="715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DFBE0E-8D9D-4883-A612-4C607FBF5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535" y="4732201"/>
            <a:ext cx="1019608" cy="4870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4285A5-ABC8-4220-8F76-E504227A7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535" y="5269044"/>
            <a:ext cx="1019608" cy="44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7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Batch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4323975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5565E-0BBD-47F6-AFDE-8A8826310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Batch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E686C-9E4A-4E92-A621-E08A30C303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982461"/>
            <a:ext cx="11525250" cy="5378334"/>
          </a:xfrm>
        </p:spPr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deep neural networks there is a high chance that units in a hidden layer have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large range of output values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Causes shifts in the covariance of the output values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Leads to difficulty computing the gradient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Slows convergence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 solution is to normalize the output of the hidden layers in the network as a batch  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simple idea can be really effective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more details see Sergey and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Szegedy</a:t>
            </a:r>
            <a:r>
              <a:rPr lang="en-US" sz="2800" u="sng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2015:   </a:t>
            </a:r>
            <a:r>
              <a:rPr lang="en-US" sz="2800" dirty="0">
                <a:hlinkClick r:id="rId2"/>
              </a:rPr>
              <a:t> https://arxiv.org/pdf/1502.03167.pdf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80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Quadratic Optimization and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33195215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323215" y="1030410"/>
            <a:ext cx="11525250" cy="19047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Gradient descent is a widely used optimization method for machine learning </a:t>
            </a:r>
          </a:p>
          <a:p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Neural networks </a:t>
            </a:r>
            <a:r>
              <a:rPr lang="en-GB" sz="33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learn weights </a:t>
            </a:r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using the backpropagation algorithm</a:t>
            </a:r>
          </a:p>
          <a:p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Weights are learned using the </a:t>
            </a:r>
            <a:r>
              <a:rPr lang="en-GB" sz="33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gradient descent </a:t>
            </a:r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method</a:t>
            </a:r>
          </a:p>
          <a:p>
            <a:pPr marL="0" indent="0">
              <a:buNone/>
            </a:pPr>
            <a:endParaRPr lang="en-GB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53" y="212492"/>
            <a:ext cx="11903845" cy="67437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"/>
              </a:rPr>
              <a:t>Optimization for Deep Neural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DEE622-8C35-4DB4-B794-B6E2F7712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267" y="2943075"/>
            <a:ext cx="3998093" cy="53650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AB5799-6570-4E90-B8AE-204B1A7924BC}"/>
              </a:ext>
            </a:extLst>
          </p:cNvPr>
          <p:cNvSpPr txBox="1">
            <a:spLocks/>
          </p:cNvSpPr>
          <p:nvPr/>
        </p:nvSpPr>
        <p:spPr>
          <a:xfrm>
            <a:off x="666750" y="3506987"/>
            <a:ext cx="11525250" cy="613039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0D0A0E-2CEB-4EFD-84EF-EC6F562A2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771" y="4044304"/>
            <a:ext cx="9540687" cy="535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CAF85C-9EFC-4742-8876-560204CB6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033" y="5784956"/>
            <a:ext cx="5161727" cy="435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DD7EF9-9C34-4A7E-8694-17D5DF44A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033" y="4554892"/>
            <a:ext cx="6213287" cy="511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08976E-3C91-4554-A528-1AE95B1198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967" y="5151325"/>
            <a:ext cx="9280993" cy="54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7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400" y="1014120"/>
            <a:ext cx="11525250" cy="77219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Ideally, the loss function, J(W),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convex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with respect to the weights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702B459-14B8-4D94-9214-2AAEF2A7FA80}"/>
              </a:ext>
            </a:extLst>
          </p:cNvPr>
          <p:cNvSpPr/>
          <p:nvPr/>
        </p:nvSpPr>
        <p:spPr>
          <a:xfrm>
            <a:off x="3670299" y="1966913"/>
            <a:ext cx="5386388" cy="292417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525096C-052B-4E78-9F1F-315853EC8BD0}"/>
              </a:ext>
            </a:extLst>
          </p:cNvPr>
          <p:cNvSpPr/>
          <p:nvPr/>
        </p:nvSpPr>
        <p:spPr>
          <a:xfrm>
            <a:off x="5193213" y="2981570"/>
            <a:ext cx="1885950" cy="76675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8DE6EA8-00F3-493C-89C3-C6ACBA14FAAE}"/>
              </a:ext>
            </a:extLst>
          </p:cNvPr>
          <p:cNvSpPr/>
          <p:nvPr/>
        </p:nvSpPr>
        <p:spPr>
          <a:xfrm>
            <a:off x="4628650" y="2633664"/>
            <a:ext cx="3224212" cy="146683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5DAEE0-DA1B-44BB-8859-8D524D4E580A}"/>
              </a:ext>
            </a:extLst>
          </p:cNvPr>
          <p:cNvSpPr/>
          <p:nvPr/>
        </p:nvSpPr>
        <p:spPr>
          <a:xfrm>
            <a:off x="4135592" y="2319339"/>
            <a:ext cx="4252912" cy="221931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80B1703-7A3C-4161-9EF3-BF994E9D632D}"/>
              </a:ext>
            </a:extLst>
          </p:cNvPr>
          <p:cNvSpPr/>
          <p:nvPr/>
        </p:nvSpPr>
        <p:spPr>
          <a:xfrm>
            <a:off x="3276099" y="1662117"/>
            <a:ext cx="6174789" cy="3533765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7E1532C4-1CE1-419D-890E-8DB69ABEB34A}"/>
              </a:ext>
            </a:extLst>
          </p:cNvPr>
          <p:cNvSpPr/>
          <p:nvPr/>
        </p:nvSpPr>
        <p:spPr>
          <a:xfrm>
            <a:off x="5952625" y="3153179"/>
            <a:ext cx="304800" cy="29051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6F39CCC-4F3F-4F2D-893A-26ED97E1BBD1}"/>
              </a:ext>
            </a:extLst>
          </p:cNvPr>
          <p:cNvSpPr/>
          <p:nvPr/>
        </p:nvSpPr>
        <p:spPr>
          <a:xfrm>
            <a:off x="4533492" y="3269674"/>
            <a:ext cx="1562508" cy="1043168"/>
          </a:xfrm>
          <a:custGeom>
            <a:avLst/>
            <a:gdLst>
              <a:gd name="connsiteX0" fmla="*/ 0 w 2881312"/>
              <a:gd name="connsiteY0" fmla="*/ 1981200 h 1981200"/>
              <a:gd name="connsiteX1" fmla="*/ 66675 w 2881312"/>
              <a:gd name="connsiteY1" fmla="*/ 1414463 h 1981200"/>
              <a:gd name="connsiteX2" fmla="*/ 280987 w 2881312"/>
              <a:gd name="connsiteY2" fmla="*/ 1081088 h 1981200"/>
              <a:gd name="connsiteX3" fmla="*/ 409575 w 2881312"/>
              <a:gd name="connsiteY3" fmla="*/ 981075 h 1981200"/>
              <a:gd name="connsiteX4" fmla="*/ 690562 w 2881312"/>
              <a:gd name="connsiteY4" fmla="*/ 785813 h 1981200"/>
              <a:gd name="connsiteX5" fmla="*/ 1109662 w 2881312"/>
              <a:gd name="connsiteY5" fmla="*/ 523875 h 1981200"/>
              <a:gd name="connsiteX6" fmla="*/ 1538287 w 2881312"/>
              <a:gd name="connsiteY6" fmla="*/ 290513 h 1981200"/>
              <a:gd name="connsiteX7" fmla="*/ 2076450 w 2881312"/>
              <a:gd name="connsiteY7" fmla="*/ 95250 h 1981200"/>
              <a:gd name="connsiteX8" fmla="*/ 2657475 w 2881312"/>
              <a:gd name="connsiteY8" fmla="*/ 14288 h 1981200"/>
              <a:gd name="connsiteX9" fmla="*/ 2881312 w 2881312"/>
              <a:gd name="connsiteY9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81312" h="1981200">
                <a:moveTo>
                  <a:pt x="0" y="1981200"/>
                </a:moveTo>
                <a:cubicBezTo>
                  <a:pt x="9922" y="1772841"/>
                  <a:pt x="19844" y="1564482"/>
                  <a:pt x="66675" y="1414463"/>
                </a:cubicBezTo>
                <a:cubicBezTo>
                  <a:pt x="113506" y="1264444"/>
                  <a:pt x="223837" y="1153319"/>
                  <a:pt x="280987" y="1081088"/>
                </a:cubicBezTo>
                <a:cubicBezTo>
                  <a:pt x="338137" y="1008857"/>
                  <a:pt x="341313" y="1030287"/>
                  <a:pt x="409575" y="981075"/>
                </a:cubicBezTo>
                <a:cubicBezTo>
                  <a:pt x="477838" y="931862"/>
                  <a:pt x="573881" y="862013"/>
                  <a:pt x="690562" y="785813"/>
                </a:cubicBezTo>
                <a:cubicBezTo>
                  <a:pt x="807243" y="709613"/>
                  <a:pt x="968375" y="606425"/>
                  <a:pt x="1109662" y="523875"/>
                </a:cubicBezTo>
                <a:cubicBezTo>
                  <a:pt x="1250950" y="441325"/>
                  <a:pt x="1377156" y="361950"/>
                  <a:pt x="1538287" y="290513"/>
                </a:cubicBezTo>
                <a:cubicBezTo>
                  <a:pt x="1699418" y="219076"/>
                  <a:pt x="1889919" y="141287"/>
                  <a:pt x="2076450" y="95250"/>
                </a:cubicBezTo>
                <a:cubicBezTo>
                  <a:pt x="2262981" y="49212"/>
                  <a:pt x="2523331" y="30163"/>
                  <a:pt x="2657475" y="14288"/>
                </a:cubicBezTo>
                <a:cubicBezTo>
                  <a:pt x="2791619" y="-1587"/>
                  <a:pt x="2846387" y="3969"/>
                  <a:pt x="2881312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9DBCA7-E539-4023-B682-091BE9398AF3}"/>
              </a:ext>
            </a:extLst>
          </p:cNvPr>
          <p:cNvSpPr/>
          <p:nvPr/>
        </p:nvSpPr>
        <p:spPr>
          <a:xfrm>
            <a:off x="4419192" y="4124905"/>
            <a:ext cx="228600" cy="25599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A4605B-A78C-4C14-9B1A-B2AFB2EC3D36}"/>
              </a:ext>
            </a:extLst>
          </p:cNvPr>
          <p:cNvSpPr txBox="1"/>
          <p:nvPr/>
        </p:nvSpPr>
        <p:spPr>
          <a:xfrm>
            <a:off x="5776320" y="337899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Min</a:t>
            </a:r>
            <a:r>
              <a:rPr lang="en-US" b="1" baseline="-25000" dirty="0" err="1"/>
              <a:t>W</a:t>
            </a:r>
            <a:r>
              <a:rPr lang="en-US" b="1" baseline="-25000" dirty="0"/>
              <a:t> </a:t>
            </a:r>
            <a:r>
              <a:rPr lang="en-US" b="1" dirty="0"/>
              <a:t>(J(W)</a:t>
            </a:r>
            <a:r>
              <a:rPr lang="en-US" b="1" baseline="-25000" dirty="0"/>
              <a:t>MLE</a:t>
            </a:r>
            <a:r>
              <a:rPr lang="en-US" b="1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CDE45-59F1-43D6-AB3C-25F693201FE3}"/>
              </a:ext>
            </a:extLst>
          </p:cNvPr>
          <p:cNvSpPr txBox="1"/>
          <p:nvPr/>
        </p:nvSpPr>
        <p:spPr>
          <a:xfrm>
            <a:off x="4690470" y="4106339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Initial 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C5277B-E800-4DEE-81BE-DA5FDB9E48DA}"/>
              </a:ext>
            </a:extLst>
          </p:cNvPr>
          <p:cNvSpPr txBox="1"/>
          <p:nvPr/>
        </p:nvSpPr>
        <p:spPr>
          <a:xfrm>
            <a:off x="1079500" y="240351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Contours of J(W)</a:t>
            </a:r>
            <a:r>
              <a:rPr lang="en-US" b="1" baseline="-25000" dirty="0"/>
              <a:t>MLE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E04833-58CD-4469-8F76-F336664E4D29}"/>
              </a:ext>
            </a:extLst>
          </p:cNvPr>
          <p:cNvCxnSpPr>
            <a:cxnSpLocks/>
          </p:cNvCxnSpPr>
          <p:nvPr/>
        </p:nvCxnSpPr>
        <p:spPr>
          <a:xfrm>
            <a:off x="3056699" y="2671765"/>
            <a:ext cx="505868" cy="69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DC1A57B-5EA4-4FA2-BA51-80686BB248F6}"/>
              </a:ext>
            </a:extLst>
          </p:cNvPr>
          <p:cNvSpPr txBox="1">
            <a:spLocks/>
          </p:cNvSpPr>
          <p:nvPr/>
        </p:nvSpPr>
        <p:spPr>
          <a:xfrm>
            <a:off x="373563" y="5274866"/>
            <a:ext cx="11525250" cy="84275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Convex loss function has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one unique minimum</a:t>
            </a:r>
          </a:p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Convergence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for convex loss function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guaranteed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548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84" y="202998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DB1773-97C0-4D9B-B51C-C848496FF8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2557" y="1043140"/>
            <a:ext cx="11525250" cy="88024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Expand loss function to understand convergence properties of gradient descent: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F1660B-29CE-4C57-9749-F57F7956A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78" y="1923385"/>
            <a:ext cx="11087738" cy="78425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8B2713A-3472-497D-839D-53D0A06D7457}"/>
              </a:ext>
            </a:extLst>
          </p:cNvPr>
          <p:cNvSpPr txBox="1">
            <a:spLocks/>
          </p:cNvSpPr>
          <p:nvPr/>
        </p:nvSpPr>
        <p:spPr>
          <a:xfrm>
            <a:off x="333375" y="2751877"/>
            <a:ext cx="11525250" cy="559359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3D6D14-6205-4069-9279-9E763C577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394" y="3395274"/>
            <a:ext cx="5905326" cy="5177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85841B-1FB1-4A89-AA98-BAAEBCA3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0323" y="3934300"/>
            <a:ext cx="3842758" cy="6022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B93A92-479D-41D8-BD79-5A57892D6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6735" y="4652315"/>
            <a:ext cx="4065905" cy="56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8659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779338"/>
            <a:ext cx="11525250" cy="67586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you understand the Hessian matrix?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D69748C-EDED-4AAB-AD86-7D400B7E4749}"/>
              </a:ext>
            </a:extLst>
          </p:cNvPr>
          <p:cNvSpPr txBox="1">
            <a:spLocks/>
          </p:cNvSpPr>
          <p:nvPr/>
        </p:nvSpPr>
        <p:spPr>
          <a:xfrm>
            <a:off x="379514" y="4994156"/>
            <a:ext cx="11525250" cy="67586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Hessian is the matrix of all derivatives of the gradient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Properties of the Hessian determine convergence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44212-239D-47F5-AC87-0B41B5A72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738" y="1405891"/>
            <a:ext cx="6773862" cy="343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3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2735" y="1069533"/>
            <a:ext cx="11525250" cy="60369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we solve this convex optimization problem?</a:t>
            </a: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15766-B762-4202-BF0A-5C7EA2540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40" y="1673225"/>
            <a:ext cx="11630387" cy="8226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55A808-E10B-4B1E-A54E-3E25D5ACD065}"/>
              </a:ext>
            </a:extLst>
          </p:cNvPr>
          <p:cNvSpPr txBox="1">
            <a:spLocks/>
          </p:cNvSpPr>
          <p:nvPr/>
        </p:nvSpPr>
        <p:spPr>
          <a:xfrm>
            <a:off x="292734" y="2367502"/>
            <a:ext cx="11713153" cy="60369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Given a step size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we can rewrite the above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quadradic equation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DDEAD4-CCD5-4CA2-9D50-AEFE2D95B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719" y="2874902"/>
            <a:ext cx="6639125" cy="87921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9143E7-C711-4F12-B23A-DE339F8108C7}"/>
              </a:ext>
            </a:extLst>
          </p:cNvPr>
          <p:cNvSpPr txBox="1">
            <a:spLocks/>
          </p:cNvSpPr>
          <p:nvPr/>
        </p:nvSpPr>
        <p:spPr>
          <a:xfrm>
            <a:off x="333375" y="3675602"/>
            <a:ext cx="11525250" cy="60369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minimum occurs where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gradient is 0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8D41DE-0DA7-41ED-8F3E-976874D12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192" y="4289827"/>
            <a:ext cx="3881968" cy="60369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29AF9C4-4E2C-465A-9B56-EFC83E84D33E}"/>
              </a:ext>
            </a:extLst>
          </p:cNvPr>
          <p:cNvSpPr txBox="1">
            <a:spLocks/>
          </p:cNvSpPr>
          <p:nvPr/>
        </p:nvSpPr>
        <p:spPr>
          <a:xfrm>
            <a:off x="379514" y="4893519"/>
            <a:ext cx="11525250" cy="60369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And, with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optimal step size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B063E0-9994-4A53-A92A-603B98FF7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5314" y="5180038"/>
            <a:ext cx="2365692" cy="121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1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066799"/>
            <a:ext cx="11525250" cy="4944035"/>
          </a:xfrm>
        </p:spPr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Real-world loss functions are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typically not convex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can be multiple minimums and maximums;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multi-modal loss function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Finding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globally optimal solution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is hard!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minimum reached by an optimizer depends on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starting value of W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practice, we are happy with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good local solution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if not, the globally optimal solution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First order optimization found to perform as well, or better, than second order</a:t>
            </a: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80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Batch Gradient Descent Algorithms</a:t>
            </a:r>
          </a:p>
        </p:txBody>
      </p:sp>
    </p:spTree>
    <p:extLst>
      <p:ext uri="{BB962C8B-B14F-4D97-AF65-F5344CB8AC3E}">
        <p14:creationId xmlns:p14="http://schemas.microsoft.com/office/powerpoint/2010/main" val="21872696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Batch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080135"/>
            <a:ext cx="11525250" cy="565785"/>
          </a:xfrm>
        </p:spPr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Recall the basic gradient descent equation: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46E0CD-0240-490F-B6BE-F6F0942E1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767" y="1645921"/>
            <a:ext cx="4127633" cy="553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6CF179-45C2-4112-95F9-68E3650EB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73" y="2830749"/>
            <a:ext cx="8832027" cy="495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ED2F79-DD9A-4B7D-950C-9B48A7C1E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201" y="4029121"/>
            <a:ext cx="4803119" cy="4056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F30A66-623A-4B6D-AC0D-F02CAAFB2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573" y="3406797"/>
            <a:ext cx="8683625" cy="51405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0370B45-92CE-4543-8071-C746FF2C701A}"/>
              </a:ext>
            </a:extLst>
          </p:cNvPr>
          <p:cNvSpPr txBox="1">
            <a:spLocks/>
          </p:cNvSpPr>
          <p:nvPr/>
        </p:nvSpPr>
        <p:spPr>
          <a:xfrm>
            <a:off x="379514" y="2184391"/>
            <a:ext cx="11525250" cy="565785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29A627-2919-4967-897B-5A55C5BDC824}"/>
              </a:ext>
            </a:extLst>
          </p:cNvPr>
          <p:cNvSpPr txBox="1">
            <a:spLocks/>
          </p:cNvSpPr>
          <p:nvPr/>
        </p:nvSpPr>
        <p:spPr>
          <a:xfrm>
            <a:off x="379514" y="4598987"/>
            <a:ext cx="11525250" cy="565785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gradients of the multi-layer NN are computed using the chain rule</a:t>
            </a:r>
          </a:p>
        </p:txBody>
      </p:sp>
    </p:spTree>
    <p:extLst>
      <p:ext uri="{BB962C8B-B14F-4D97-AF65-F5344CB8AC3E}">
        <p14:creationId xmlns:p14="http://schemas.microsoft.com/office/powerpoint/2010/main" val="323299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0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Batch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080135"/>
            <a:ext cx="11525250" cy="565785"/>
          </a:xfrm>
        </p:spPr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Can we use the gradient descent equation directly?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Yes, we can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Iterate the weight tensor relation until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stopping criteria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or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error tolerance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is reached:</a:t>
            </a:r>
          </a:p>
          <a:p>
            <a:pPr marL="2743200" lvl="2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||W</a:t>
            </a:r>
            <a:r>
              <a:rPr lang="en-US" sz="2800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t+1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lang="en-US" sz="2800" baseline="30000" dirty="0" err="1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|| &lt; tolerance 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But;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Must compute the gradient for all weights at one time as a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batch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at each step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Does not scale if there are a large number of weights</a:t>
            </a:r>
          </a:p>
        </p:txBody>
      </p:sp>
    </p:spTree>
    <p:extLst>
      <p:ext uri="{BB962C8B-B14F-4D97-AF65-F5344CB8AC3E}">
        <p14:creationId xmlns:p14="http://schemas.microsoft.com/office/powerpoint/2010/main" val="274284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Stochastic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15136168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3" y="991552"/>
            <a:ext cx="11359495" cy="461200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Need a highly scalable gradient descent algorithm</a:t>
            </a:r>
          </a:p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is just such a method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weight tensor update for stochastic gradient descent follows this relationship: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00C27-2E17-4182-8F16-90D773019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331" y="3215640"/>
            <a:ext cx="4588949" cy="83787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928695-C8E3-4107-A182-E0E2E30AF97F}"/>
              </a:ext>
            </a:extLst>
          </p:cNvPr>
          <p:cNvSpPr txBox="1">
            <a:spLocks/>
          </p:cNvSpPr>
          <p:nvPr/>
        </p:nvSpPr>
        <p:spPr>
          <a:xfrm>
            <a:off x="272396" y="3935694"/>
            <a:ext cx="11525250" cy="663604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046" lvl="1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Where:</a:t>
            </a:r>
          </a:p>
          <a:p>
            <a:pPr marL="457046" lvl="1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is the Bernoulli sampled mini-batch</a:t>
            </a:r>
          </a:p>
          <a:p>
            <a:pPr marL="457046" lvl="1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 is the expected value of the gradient given the Bernoulli</a:t>
            </a:r>
          </a:p>
          <a:p>
            <a:pPr marL="457046" lvl="1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 sample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D58561-EB66-4CAA-8ABF-27EA17D71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902" y="4515181"/>
            <a:ext cx="866097" cy="4596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877A56-6EA0-411A-87B0-C6E975E74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40" y="4935176"/>
            <a:ext cx="1082038" cy="58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4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183005"/>
            <a:ext cx="11525250" cy="461200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is massively scalable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is known to converge well in practice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Empirically, using mini-batch samples provide a better exploration of the loss function space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Can help solution escape from small local gradient problems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Sampling is dependent on mini-batch size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14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183005"/>
            <a:ext cx="11525250" cy="4612005"/>
          </a:xfrm>
        </p:spPr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algorithm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Random_sort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(cases)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while(grad &gt;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stopping_criteria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		mini-batch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sample_next_n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(cases)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		grad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compute_expected_grad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mini_batch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		weights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update_weights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(weights, grad)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Notice that the addition rounds repeat the samples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 practice this does not create much bias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For large samples this may not happen</a:t>
            </a:r>
          </a:p>
          <a:p>
            <a:pPr marL="0" indent="0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49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Improving Convergence of SGD</a:t>
            </a:r>
          </a:p>
        </p:txBody>
      </p:sp>
    </p:spTree>
    <p:extLst>
      <p:ext uri="{BB962C8B-B14F-4D97-AF65-F5344CB8AC3E}">
        <p14:creationId xmlns:p14="http://schemas.microsoft.com/office/powerpoint/2010/main" val="35173288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with Momentum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57262"/>
            <a:ext cx="11525250" cy="422624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Momentum improves convergence of SGD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is slow to converge if flat spots in the gradient are encountered – Hessian with small eigenvalues 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What is a solution? 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Add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momentum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 the gradient;</a:t>
            </a:r>
          </a:p>
          <a:p>
            <a:pPr marL="457046" lvl="1" indent="0"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Where: </a:t>
            </a:r>
          </a:p>
          <a:p>
            <a:pPr marL="457046" lvl="1" indent="0">
              <a:buNone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Analogy with Newtonian mechanics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Momentum maintains the trajectory of the descent through flat gradient regions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2306ED-BA57-4AC2-A4EF-363812B42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409" y="3306376"/>
            <a:ext cx="3169909" cy="3591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3946D1-014D-470C-AF81-93144D0E7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8651" y="3772535"/>
            <a:ext cx="2099248" cy="353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456E21-5558-47EF-A6B3-CCABE83A5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651" y="4221481"/>
            <a:ext cx="2205989" cy="31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1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with Momentum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4820" y="1062990"/>
            <a:ext cx="11525250" cy="61150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Letting the mass be 1.0 update the weight tensor in  two steps: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68825E-800D-44EA-B027-6CE0B0380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23061"/>
            <a:ext cx="6238240" cy="123627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C77B7C-9A75-4F8C-A96E-3AA1A62FC17A}"/>
              </a:ext>
            </a:extLst>
          </p:cNvPr>
          <p:cNvSpPr txBox="1">
            <a:spLocks/>
          </p:cNvSpPr>
          <p:nvPr/>
        </p:nvSpPr>
        <p:spPr>
          <a:xfrm>
            <a:off x="609600" y="2817495"/>
            <a:ext cx="11525250" cy="611505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30FFA5-3183-4292-8B2B-EC2231424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048" y="2884363"/>
            <a:ext cx="3763225" cy="4076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BC691F-1EC7-4EC8-AE35-8BBBB1ED8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1" y="3367968"/>
            <a:ext cx="5291332" cy="3000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5B812D-2ACB-4526-BED6-5B84A61C9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151" y="3699239"/>
            <a:ext cx="2813050" cy="35925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EBBA345-14A0-4D2A-8013-8A34CE2F7C6F}"/>
              </a:ext>
            </a:extLst>
          </p:cNvPr>
          <p:cNvSpPr txBox="1">
            <a:spLocks/>
          </p:cNvSpPr>
          <p:nvPr/>
        </p:nvSpPr>
        <p:spPr>
          <a:xfrm>
            <a:off x="534670" y="4266247"/>
            <a:ext cx="11525250" cy="611505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Notice the algorithm now has two 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249161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uiExpand="1" build="p"/>
      <p:bldP spid="12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Adaptive 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4815" y="902970"/>
            <a:ext cx="11525250" cy="558927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we improve convergence with a variable learning rate?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 single learning rate is not likely to be optimal</a:t>
            </a:r>
          </a:p>
          <a:p>
            <a:pPr marL="857115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Far from the minimum, a large learning rate speeds convergence</a:t>
            </a:r>
          </a:p>
          <a:p>
            <a:pPr marL="857115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Near the minimum a small learning rate prevents over-shooting the minimum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Use a manually created learning schedule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Introduces additional hyperparameters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Use an adaptive algorithm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Learning rate is adjusted based on the estimates of the gradient</a:t>
            </a:r>
          </a:p>
        </p:txBody>
      </p:sp>
    </p:spTree>
    <p:extLst>
      <p:ext uri="{BB962C8B-B14F-4D97-AF65-F5344CB8AC3E}">
        <p14:creationId xmlns:p14="http://schemas.microsoft.com/office/powerpoint/2010/main" val="176068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Selecting Initial Weight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4815" y="902970"/>
            <a:ext cx="11525250" cy="5303520"/>
          </a:xfrm>
        </p:spPr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prevent weights from becoming linearly dependent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initial values must be randomly selected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Otherwise, some weight values are never learned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Simple truncated Gaussian or Uniform distributed values work well in practice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This process is referred as adding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fuzz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to the initial values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Many other initialization schemes have been developed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For example, see the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Keras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 initializers documentation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24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Appendix: Review of Eigenvectors and Eigenvalues</a:t>
            </a:r>
          </a:p>
        </p:txBody>
      </p:sp>
    </p:spTree>
    <p:extLst>
      <p:ext uri="{BB962C8B-B14F-4D97-AF65-F5344CB8AC3E}">
        <p14:creationId xmlns:p14="http://schemas.microsoft.com/office/powerpoint/2010/main" val="26206297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characteristic roots or characteristic values of a linear system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Start with a square n x n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A,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vector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 x: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Then, an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has the property: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F38E3-1B3F-436C-97BF-63AD5ED66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64" y="2613017"/>
            <a:ext cx="4475709" cy="22675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1B4C32-37D6-4341-BA80-631043D4F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182" y="2617521"/>
            <a:ext cx="1653578" cy="2383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EA1668-3240-481F-9ADA-8EBE27A38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411" y="5848341"/>
            <a:ext cx="1554513" cy="38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9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characteristic roots or characteristic values of a linear system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Rewrite the eigenvalue relationship: 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see that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is a root of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we can rearrange as follows: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A1668-3240-481F-9ADA-8EBE27A38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391" y="2602221"/>
            <a:ext cx="1554513" cy="388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ECF0E-4535-45CF-9C92-AF8E6CAD2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391" y="3185218"/>
            <a:ext cx="5064260" cy="1775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533CD-4735-4F33-89BD-8EFA70FAB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763" y="5611626"/>
            <a:ext cx="2446991" cy="341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F4DAA7-9F50-47C2-9B46-BABFA5B1A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696" y="6056341"/>
            <a:ext cx="2597382" cy="41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2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characteristic roots or characteristic values of a linear system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 n x n matrix A will have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 eigenvalues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Find eigenvalues by solving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Find n roots of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determinant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more detail on determinants see: 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https://en.wikipedia.org/wiki/Determinant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F4DAA7-9F50-47C2-9B46-BABFA5B1A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311" y="3267421"/>
            <a:ext cx="2597382" cy="413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2F8876-69CB-4798-BDF2-B1C4264CC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626" y="4514842"/>
            <a:ext cx="2597382" cy="3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53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a left and right eigenvector for each eigenvalue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right eigenvector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has the following relationship to the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and eigenvalue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Notice that the right eigenvector is to the right of the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0DD0EB-E14E-4A1D-996D-436AD5067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71" y="3631177"/>
            <a:ext cx="2178233" cy="495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F57897-AE9D-486D-83E1-C440D9F29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444" y="4192895"/>
            <a:ext cx="3240350" cy="49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5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also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left eigenvector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with the following relationship to the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and eigenvalue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Notice that the left eigenvector is to the left of the 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15EF6-4D4E-465E-B270-AC40CCF10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115" y="3135083"/>
            <a:ext cx="2013625" cy="461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10A768-FA1A-480B-8B3A-E17398600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138" y="3759245"/>
            <a:ext cx="2714332" cy="6204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B5F11F-C2D8-4B13-859C-75C34FC23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304" y="4576426"/>
            <a:ext cx="3280490" cy="56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6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l2 norm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of any eigenvector is 1: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property means that the matrix of n eigenvectors,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Q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unitary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full rank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matrix, each eigenvector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orthogonal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 every other eigenvector, and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linearly independent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Thus, for diagonal matrix of n eigenvalues,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an n x n matrix,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can be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factored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D5A706-AE59-4938-9034-7B4C6590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756" y="2615553"/>
            <a:ext cx="4894368" cy="499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52BD74-B5D4-4FC4-850F-4480FD65D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05" y="5846514"/>
            <a:ext cx="1974133" cy="49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81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Given the eigenvalue-eigenvector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factorization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the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inverse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can be found: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And, A to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Nth power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can be computed: 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You can find more on eigenvalue-eigenvector decomposition: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https://en.wikipedia.org/wiki/Eigendecomposition_of_a_matrix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2BD74-B5D4-4FC4-850F-4480FD65D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30" y="2581264"/>
            <a:ext cx="1974133" cy="499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C9548-E9C3-465E-A619-8DA19A7E5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763" y="3851910"/>
            <a:ext cx="2745261" cy="422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630BCD-6C5E-41B8-8898-00E90F59C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763" y="5046355"/>
            <a:ext cx="2560006" cy="53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2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characteristic roots or characteristic values of a linear system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Start with a square n x n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A,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vector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 x: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Then, an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has the property: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F38E3-1B3F-436C-97BF-63AD5ED66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64" y="2613017"/>
            <a:ext cx="4475709" cy="22675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1B4C32-37D6-4341-BA80-631043D4F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182" y="2617521"/>
            <a:ext cx="1653578" cy="2383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EA1668-3240-481F-9ADA-8EBE27A38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411" y="5848341"/>
            <a:ext cx="1554513" cy="38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4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characteristic roots or characteristic values of a linear system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Rewrite the eigenvalue relationship: 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see that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is a root of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we can rearrange as follows: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A1668-3240-481F-9ADA-8EBE27A38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391" y="2602221"/>
            <a:ext cx="1554513" cy="388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ECF0E-4535-45CF-9C92-AF8E6CAD2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391" y="3185218"/>
            <a:ext cx="5064260" cy="1775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533CD-4735-4F33-89BD-8EFA70FAB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763" y="5611626"/>
            <a:ext cx="2446991" cy="341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F4DAA7-9F50-47C2-9B46-BABFA5B1A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696" y="6056341"/>
            <a:ext cx="2597382" cy="41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57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characteristic roots or characteristic values of a linear system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 n x n matrix A will have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 eigenvalues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Find eigenvalues by solving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Solve n equations involving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determinant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more detail on determinants see: 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https://en.wikipedia.org/wiki/Determinant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F4DAA7-9F50-47C2-9B46-BABFA5B1A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311" y="3267421"/>
            <a:ext cx="2597382" cy="413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2F8876-69CB-4798-BDF2-B1C4264CC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626" y="4514842"/>
            <a:ext cx="2597382" cy="3596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329F0C-D518-49F7-8185-35E76D9B129C}"/>
              </a:ext>
            </a:extLst>
          </p:cNvPr>
          <p:cNvSpPr txBox="1"/>
          <p:nvPr/>
        </p:nvSpPr>
        <p:spPr>
          <a:xfrm>
            <a:off x="1281953" y="6595077"/>
            <a:ext cx="88840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Copyright 2020, Stephen F Elston.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88217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a left and right eigenvector for each eigenvalue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right eigenvector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has the following relationship to the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and eigenvalue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Notice that the right eigenvector is to the right of the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0DD0EB-E14E-4A1D-996D-436AD5067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71" y="3631177"/>
            <a:ext cx="2178233" cy="495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F57897-AE9D-486D-83E1-C440D9F29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444" y="4192895"/>
            <a:ext cx="3240350" cy="49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5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also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left eigenvector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with the following relationship to the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and eigenvalue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Notice that the right eigenvector is to the right of the 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15EF6-4D4E-465E-B270-AC40CCF10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115" y="3135083"/>
            <a:ext cx="2013625" cy="461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10A768-FA1A-480B-8B3A-E17398600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138" y="3759245"/>
            <a:ext cx="2714332" cy="6204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B5F11F-C2D8-4B13-859C-75C34FC23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304" y="4576426"/>
            <a:ext cx="3280490" cy="56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1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l2 norm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of any eigenvector is 1: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property means that the matrix of n eigenvectors,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Q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unitary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full rank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matrix, each eigenvector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orthogonal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 every other eigenvector, and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linearly independent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Thus, for diagonal matrix of n eigenvalues,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an n x n matrix,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can be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factored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D5A706-AE59-4938-9034-7B4C6590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756" y="2615553"/>
            <a:ext cx="4894368" cy="499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52BD74-B5D4-4FC4-850F-4480FD65D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05" y="5846514"/>
            <a:ext cx="1974133" cy="49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184" y="767117"/>
            <a:ext cx="11525250" cy="5803374"/>
          </a:xfrm>
        </p:spPr>
        <p:txBody>
          <a:bodyPr/>
          <a:lstStyle/>
          <a:p>
            <a:pPr marL="0" indent="1828800">
              <a:buNone/>
            </a:pPr>
            <a:r>
              <a:rPr lang="en-US" sz="2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Warning! – Advanced concepts ahead</a:t>
            </a:r>
          </a:p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Given the eigenvalue-eigenvector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factorization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the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inverse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can be found: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You can find more on eigenvalue-eigenvector decomposition: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https://en.wikipedia.org/wiki/Eigendecomposition_of_a_matrix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2BD74-B5D4-4FC4-850F-4480FD65D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668" y="3105300"/>
            <a:ext cx="1974133" cy="499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C9548-E9C3-465E-A619-8DA19A7E5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440" y="4291334"/>
            <a:ext cx="2745261" cy="42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21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1E57C78B9F604FB8BAD296D1460E2A" ma:contentTypeVersion="1" ma:contentTypeDescription="Create a new document." ma:contentTypeScope="" ma:versionID="fb382fe2362acd2155f454904f478e4d">
  <xsd:schema xmlns:xsd="http://www.w3.org/2001/XMLSchema" xmlns:xs="http://www.w3.org/2001/XMLSchema" xmlns:p="http://schemas.microsoft.com/office/2006/metadata/properties" xmlns:ns3="636b0322-90fb-440c-9cbc-22749e7231e9" targetNamespace="http://schemas.microsoft.com/office/2006/metadata/properties" ma:root="true" ma:fieldsID="b9887c63ce4710c1aeb75a5f03aecb69" ns3:_="">
    <xsd:import namespace="636b0322-90fb-440c-9cbc-22749e7231e9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b0322-90fb-440c-9cbc-22749e7231e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A13EC-1D3C-4D6F-8D1C-E8A452CFC7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25FDD9-4C58-4084-9F89-0E6ADD6FFF55}">
  <ds:schemaRefs>
    <ds:schemaRef ds:uri="http://purl.org/dc/terms/"/>
    <ds:schemaRef ds:uri="http://schemas.microsoft.com/office/2006/documentManagement/types"/>
    <ds:schemaRef ds:uri="636b0322-90fb-440c-9cbc-22749e7231e9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6DB243D-F585-435F-A2EA-E3678FDD33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6b0322-90fb-440c-9cbc-22749e7231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23704</TotalTime>
  <Words>4204</Words>
  <Application>Microsoft Office PowerPoint</Application>
  <PresentationFormat>Widescreen</PresentationFormat>
  <Paragraphs>664</Paragraphs>
  <Slides>94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94</vt:i4>
      </vt:variant>
    </vt:vector>
  </HeadingPairs>
  <TitlesOfParts>
    <vt:vector size="108" baseType="lpstr">
      <vt:lpstr>Arial</vt:lpstr>
      <vt:lpstr>Calibri</vt:lpstr>
      <vt:lpstr>Calibri Light</vt:lpstr>
      <vt:lpstr>Cambria Math</vt:lpstr>
      <vt:lpstr>Courier New</vt:lpstr>
      <vt:lpstr>Forte</vt:lpstr>
      <vt:lpstr>Gill Sans</vt:lpstr>
      <vt:lpstr>Segoe</vt:lpstr>
      <vt:lpstr>Segoe UI</vt:lpstr>
      <vt:lpstr>Segoe UI Light</vt:lpstr>
      <vt:lpstr>Symbol</vt:lpstr>
      <vt:lpstr>Wingdings</vt:lpstr>
      <vt:lpstr>1_Office Theme</vt:lpstr>
      <vt:lpstr>Office Theme</vt:lpstr>
      <vt:lpstr>CSCI E-25 Computer Vision</vt:lpstr>
      <vt:lpstr>Optimization and regularization for ML</vt:lpstr>
      <vt:lpstr>Optimization and regularization for ML</vt:lpstr>
      <vt:lpstr>Optimization and regularization for ML</vt:lpstr>
      <vt:lpstr>Optimization and Regularization for Deep Neural Networks</vt:lpstr>
      <vt:lpstr> Introduction to Optimization and Regularization for Machine Learning</vt:lpstr>
      <vt:lpstr>Optimization for Machine Learning</vt:lpstr>
      <vt:lpstr> Regularization for Machine Learning</vt:lpstr>
      <vt:lpstr>    Introduction to Regularization for Deep Learning</vt:lpstr>
      <vt:lpstr>PowerPoint Presentation</vt:lpstr>
      <vt:lpstr>Optimization for Deep Neural Networks</vt:lpstr>
      <vt:lpstr>Local Convergence of Gradient Descent</vt:lpstr>
      <vt:lpstr>Local Convergence of Gradient Descent</vt:lpstr>
      <vt:lpstr>Local Convergence of Gradient Descent</vt:lpstr>
      <vt:lpstr>Local Convergence of Gradient Descent</vt:lpstr>
      <vt:lpstr>Local Convergence of Gradient Descent</vt:lpstr>
      <vt:lpstr>PowerPoint Presentation</vt:lpstr>
      <vt:lpstr>The Nature of Gradients</vt:lpstr>
      <vt:lpstr>The Nature of Gradients</vt:lpstr>
      <vt:lpstr>The Nature of Gradients</vt:lpstr>
      <vt:lpstr>The Nature of Gradients</vt:lpstr>
      <vt:lpstr>Vanishing and Exploding Gradient Problems</vt:lpstr>
      <vt:lpstr>Vanishing and Exploding Gradient Problems</vt:lpstr>
      <vt:lpstr>Vanishing and Exploding Gradient Problems</vt:lpstr>
      <vt:lpstr>Convex vs. Non-Convex Optimization</vt:lpstr>
      <vt:lpstr>Convex vs. Non-Convex Optimization</vt:lpstr>
      <vt:lpstr>Convex vs. Non-Convex Optimization</vt:lpstr>
      <vt:lpstr> Regularization for Machine Learning</vt:lpstr>
      <vt:lpstr>PowerPoint Presentation</vt:lpstr>
      <vt:lpstr>l2 Regularization</vt:lpstr>
      <vt:lpstr>l2 Regularization</vt:lpstr>
      <vt:lpstr>l2 Regularization</vt:lpstr>
      <vt:lpstr>L2 Regularization</vt:lpstr>
      <vt:lpstr>l2 Regularization</vt:lpstr>
      <vt:lpstr>l2 Regularization</vt:lpstr>
      <vt:lpstr>PowerPoint Presentation</vt:lpstr>
      <vt:lpstr>Eigenvalues and Regularization</vt:lpstr>
      <vt:lpstr>Eigenvalues and Regularization</vt:lpstr>
      <vt:lpstr>Eigenvalues and Regularization</vt:lpstr>
      <vt:lpstr>Eigenvalues and Regularization</vt:lpstr>
      <vt:lpstr>Eigenvalues and Regularization</vt:lpstr>
      <vt:lpstr>Eigenvalues and Regularization</vt:lpstr>
      <vt:lpstr>Eigenvalues and Regularization</vt:lpstr>
      <vt:lpstr>PowerPoint Presentation</vt:lpstr>
      <vt:lpstr>l1 Regularization</vt:lpstr>
      <vt:lpstr>l1 Regularization</vt:lpstr>
      <vt:lpstr>l1 Regularization</vt:lpstr>
      <vt:lpstr>L1 Regularization</vt:lpstr>
      <vt:lpstr>PowerPoint Presentation</vt:lpstr>
      <vt:lpstr>Early Stopping</vt:lpstr>
      <vt:lpstr>Early Stopping</vt:lpstr>
      <vt:lpstr>PowerPoint Presentation</vt:lpstr>
      <vt:lpstr>Dropout regularization</vt:lpstr>
      <vt:lpstr>Dropout regularization</vt:lpstr>
      <vt:lpstr>Dropout regularization</vt:lpstr>
      <vt:lpstr>Dropout regularization</vt:lpstr>
      <vt:lpstr>Dropout regularization</vt:lpstr>
      <vt:lpstr>Dropout regularization</vt:lpstr>
      <vt:lpstr>PowerPoint Presentation</vt:lpstr>
      <vt:lpstr>Batch Normalization</vt:lpstr>
      <vt:lpstr>PowerPoint Presentation</vt:lpstr>
      <vt:lpstr>Optimization for Deep Neural Networks</vt:lpstr>
      <vt:lpstr>Local Convergence of Gradient Descent</vt:lpstr>
      <vt:lpstr>Local Convergence of Gradient Descent</vt:lpstr>
      <vt:lpstr>Local Convergence of Gradient Descent</vt:lpstr>
      <vt:lpstr>Local Convergence of Gradient Descent</vt:lpstr>
      <vt:lpstr>Local Convergence of Gradient Descent</vt:lpstr>
      <vt:lpstr>PowerPoint Presentation</vt:lpstr>
      <vt:lpstr>Batch Gradient Descent</vt:lpstr>
      <vt:lpstr>Batch Gradient Descent</vt:lpstr>
      <vt:lpstr>PowerPoint Presentation</vt:lpstr>
      <vt:lpstr>Stochastic Gradient Descent</vt:lpstr>
      <vt:lpstr>Stochastic Gradient Descent</vt:lpstr>
      <vt:lpstr>Stochastic Gradient Descent</vt:lpstr>
      <vt:lpstr>PowerPoint Presentation</vt:lpstr>
      <vt:lpstr>Stochastic Gradient Descent with Momentum</vt:lpstr>
      <vt:lpstr>Stochastic Gradient Descent with Momentum</vt:lpstr>
      <vt:lpstr>Adaptive Stochastic Gradient Descent</vt:lpstr>
      <vt:lpstr>Selecting Initial Weight Values</vt:lpstr>
      <vt:lpstr>PowerPoint Presentation</vt:lpstr>
      <vt:lpstr>Review of Eigenvalues</vt:lpstr>
      <vt:lpstr>Review of Eigenvalues</vt:lpstr>
      <vt:lpstr>Review of Eigenvalues</vt:lpstr>
      <vt:lpstr>Review of Eigenvalues and Eigenvectors</vt:lpstr>
      <vt:lpstr>Review of Eigenvalues and Eigenvectors</vt:lpstr>
      <vt:lpstr>Review of Eigenvalues and Eigenvectors</vt:lpstr>
      <vt:lpstr>Review of Eigenvalues and Eigenvectors</vt:lpstr>
      <vt:lpstr>Review of Eigenvalues</vt:lpstr>
      <vt:lpstr>Review of Eigenvalues</vt:lpstr>
      <vt:lpstr>Review of Eigenvalues</vt:lpstr>
      <vt:lpstr>Review of Eigenvalues and Eigenvectors</vt:lpstr>
      <vt:lpstr>Review of Eigenvalues and Eigenvectors</vt:lpstr>
      <vt:lpstr>Review of Eigenvalues and Eigenvectors</vt:lpstr>
      <vt:lpstr>Review of Eigenvalues and Eigenvectors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Gartland</dc:creator>
  <cp:lastModifiedBy>Stephen Elston</cp:lastModifiedBy>
  <cp:revision>576</cp:revision>
  <cp:lastPrinted>2019-03-10T03:16:43Z</cp:lastPrinted>
  <dcterms:created xsi:type="dcterms:W3CDTF">2013-02-15T23:12:42Z</dcterms:created>
  <dcterms:modified xsi:type="dcterms:W3CDTF">2026-02-18T01:16:10Z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0x010100391E57C78B9F604FB8BAD296D1460E2A</vt:lpwstr>
  </property>
  <property fmtid="{D5CDD505-2E9C-101B-9397-08002B2CF9AE}" pid="3" name="IsMyDocuments">
    <vt:bool>true</vt:bool>
  </property>
  <property fmtid="{D5CDD505-2E9C-101B-9397-08002B2CF9AE}" pid="4" name="Related Type Document">
    <vt:lpwstr/>
  </property>
  <property fmtid="{D5CDD505-2E9C-101B-9397-08002B2CF9AE}" pid="5" name="Document Tag">
    <vt:lpwstr>24;#Content Templates|bdbbc9aa-4892-4816-9e36-bf1120da60e9</vt:lpwstr>
  </property>
  <property fmtid="{D5CDD505-2E9C-101B-9397-08002B2CF9AE}" pid="6" name="TaxKeyword">
    <vt:lpwstr/>
  </property>
  <property fmtid="{D5CDD505-2E9C-101B-9397-08002B2CF9AE}" pid="7" name="DocVizPreviewMetadata_Count">
    <vt:i4>12</vt:i4>
  </property>
  <property fmtid="{D5CDD505-2E9C-101B-9397-08002B2CF9AE}" pid="8" name="DocVizPreviewMetadata_0">
    <vt:lpwstr>300x168x2</vt:lpwstr>
  </property>
</Properties>
</file>